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5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67" r:id="rId3"/>
    <p:sldId id="258" r:id="rId4"/>
    <p:sldId id="259" r:id="rId5"/>
    <p:sldId id="260" r:id="rId6"/>
    <p:sldId id="268" r:id="rId7"/>
    <p:sldId id="271" r:id="rId8"/>
    <p:sldId id="269" r:id="rId9"/>
    <p:sldId id="270" r:id="rId10"/>
    <p:sldId id="261" r:id="rId11"/>
    <p:sldId id="262" r:id="rId12"/>
    <p:sldId id="263" r:id="rId13"/>
    <p:sldId id="264" r:id="rId14"/>
    <p:sldId id="266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82" r:id="rId23"/>
    <p:sldId id="283" r:id="rId24"/>
    <p:sldId id="28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95"/>
    <p:restoredTop sz="86146"/>
  </p:normalViewPr>
  <p:slideViewPr>
    <p:cSldViewPr snapToGrid="0">
      <p:cViewPr varScale="1">
        <p:scale>
          <a:sx n="105" d="100"/>
          <a:sy n="105" d="100"/>
        </p:scale>
        <p:origin x="9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5.svg"/><Relationship Id="rId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5.sv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B47569-B8E0-482F-AC69-3E078B0DBEE9}" type="doc">
      <dgm:prSet loTypeId="urn:microsoft.com/office/officeart/2018/5/layout/IconLeafLabelList" loCatId="icon" qsTypeId="urn:microsoft.com/office/officeart/2005/8/quickstyle/simple1#2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7660BC32-5BCD-4261-85A0-DC8B1F918DCA}">
      <dgm:prSet custT="1"/>
      <dgm:spPr/>
      <dgm:t>
        <a:bodyPr/>
        <a:lstStyle/>
        <a:p>
          <a:pPr>
            <a:defRPr cap="all"/>
          </a:pPr>
          <a:r>
            <a:rPr lang="es-CL" sz="2000" dirty="0"/>
            <a:t>¿Cuáles son las diferencias de género en la estructura y función del cerebro?</a:t>
          </a:r>
          <a:endParaRPr lang="en-US" sz="2000" dirty="0"/>
        </a:p>
      </dgm:t>
    </dgm:pt>
    <dgm:pt modelId="{CF50C155-3AF4-4412-8E03-F13582F6010A}" type="parTrans" cxnId="{DC21987E-74A7-4957-8534-FD537A7A5D20}">
      <dgm:prSet/>
      <dgm:spPr/>
      <dgm:t>
        <a:bodyPr/>
        <a:lstStyle/>
        <a:p>
          <a:endParaRPr lang="en-US"/>
        </a:p>
      </dgm:t>
    </dgm:pt>
    <dgm:pt modelId="{BB3110E9-B0AE-4ACA-BFD3-66DED32673D0}" type="sibTrans" cxnId="{DC21987E-74A7-4957-8534-FD537A7A5D20}">
      <dgm:prSet/>
      <dgm:spPr/>
      <dgm:t>
        <a:bodyPr/>
        <a:lstStyle/>
        <a:p>
          <a:endParaRPr lang="en-US"/>
        </a:p>
      </dgm:t>
    </dgm:pt>
    <dgm:pt modelId="{566C133D-A724-4023-9799-AF7B4E157812}">
      <dgm:prSet custT="1"/>
      <dgm:spPr/>
      <dgm:t>
        <a:bodyPr/>
        <a:lstStyle/>
        <a:p>
          <a:pPr>
            <a:defRPr cap="all"/>
          </a:pPr>
          <a:r>
            <a:rPr lang="es-CL" sz="2000" dirty="0"/>
            <a:t>¿Cuáles son las implicancias de estas diferencias en la cognición y aptitudes?</a:t>
          </a:r>
          <a:endParaRPr lang="en-US" sz="2000" dirty="0"/>
        </a:p>
      </dgm:t>
    </dgm:pt>
    <dgm:pt modelId="{6772E520-C030-45B9-9113-E08338A2775F}" type="parTrans" cxnId="{0C3934C6-057B-4F98-A68C-A9973BA28E5A}">
      <dgm:prSet/>
      <dgm:spPr/>
      <dgm:t>
        <a:bodyPr/>
        <a:lstStyle/>
        <a:p>
          <a:endParaRPr lang="en-US"/>
        </a:p>
      </dgm:t>
    </dgm:pt>
    <dgm:pt modelId="{EFADAAA5-4E74-4E2B-B16C-345B045DC89F}" type="sibTrans" cxnId="{0C3934C6-057B-4F98-A68C-A9973BA28E5A}">
      <dgm:prSet/>
      <dgm:spPr/>
      <dgm:t>
        <a:bodyPr/>
        <a:lstStyle/>
        <a:p>
          <a:endParaRPr lang="en-US"/>
        </a:p>
      </dgm:t>
    </dgm:pt>
    <dgm:pt modelId="{F99B9ABC-C53E-43F1-BB52-7FCA5C64A6F2}" type="pres">
      <dgm:prSet presAssocID="{41B47569-B8E0-482F-AC69-3E078B0DBEE9}" presName="root" presStyleCnt="0">
        <dgm:presLayoutVars>
          <dgm:dir/>
          <dgm:resizeHandles val="exact"/>
        </dgm:presLayoutVars>
      </dgm:prSet>
      <dgm:spPr/>
    </dgm:pt>
    <dgm:pt modelId="{898ACE3A-B867-411A-85B2-24E4CB043207}" type="pres">
      <dgm:prSet presAssocID="{7660BC32-5BCD-4261-85A0-DC8B1F918DCA}" presName="compNode" presStyleCnt="0"/>
      <dgm:spPr/>
    </dgm:pt>
    <dgm:pt modelId="{DF1D7952-6CC5-4A8C-9EFE-B9ECD8EFAB47}" type="pres">
      <dgm:prSet presAssocID="{7660BC32-5BCD-4261-85A0-DC8B1F918DCA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8D06165D-C7B7-40EA-B115-875F8F182DBC}" type="pres">
      <dgm:prSet presAssocID="{7660BC32-5BCD-4261-85A0-DC8B1F918DCA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1E8F5841-6B8B-4698-B206-F2CD40134616}" type="pres">
      <dgm:prSet presAssocID="{7660BC32-5BCD-4261-85A0-DC8B1F918DCA}" presName="spaceRect" presStyleCnt="0"/>
      <dgm:spPr/>
    </dgm:pt>
    <dgm:pt modelId="{D33E2E54-CD3F-42A9-90E8-666AA6068E4F}" type="pres">
      <dgm:prSet presAssocID="{7660BC32-5BCD-4261-85A0-DC8B1F918DCA}" presName="textRect" presStyleLbl="revTx" presStyleIdx="0" presStyleCnt="2">
        <dgm:presLayoutVars>
          <dgm:chMax val="1"/>
          <dgm:chPref val="1"/>
        </dgm:presLayoutVars>
      </dgm:prSet>
      <dgm:spPr/>
    </dgm:pt>
    <dgm:pt modelId="{00FE7C0E-C173-4EA9-98A9-98B482DD2A5F}" type="pres">
      <dgm:prSet presAssocID="{BB3110E9-B0AE-4ACA-BFD3-66DED32673D0}" presName="sibTrans" presStyleCnt="0"/>
      <dgm:spPr/>
    </dgm:pt>
    <dgm:pt modelId="{303595A5-B89A-4018-B074-83BAFBE1F190}" type="pres">
      <dgm:prSet presAssocID="{566C133D-A724-4023-9799-AF7B4E157812}" presName="compNode" presStyleCnt="0"/>
      <dgm:spPr/>
    </dgm:pt>
    <dgm:pt modelId="{49E2538F-F663-4720-939A-B59E4EE26BF0}" type="pres">
      <dgm:prSet presAssocID="{566C133D-A724-4023-9799-AF7B4E157812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996E7799-C28D-4DC4-8591-C129960D75CA}" type="pres">
      <dgm:prSet presAssocID="{566C133D-A724-4023-9799-AF7B4E157812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542DA2C-4F33-4346-AC6C-52F8EDCDFB3C}" type="pres">
      <dgm:prSet presAssocID="{566C133D-A724-4023-9799-AF7B4E157812}" presName="spaceRect" presStyleCnt="0"/>
      <dgm:spPr/>
    </dgm:pt>
    <dgm:pt modelId="{C91E16B0-B4EB-497B-997A-C09F432520BA}" type="pres">
      <dgm:prSet presAssocID="{566C133D-A724-4023-9799-AF7B4E15781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BAB0F15-1B1C-45B0-823A-54A537B04AF9}" type="presOf" srcId="{566C133D-A724-4023-9799-AF7B4E157812}" destId="{C91E16B0-B4EB-497B-997A-C09F432520BA}" srcOrd="0" destOrd="0" presId="urn:microsoft.com/office/officeart/2018/5/layout/IconLeafLabelList"/>
    <dgm:cxn modelId="{B151F947-2518-405F-A1B5-9BB5555577D1}" type="presOf" srcId="{41B47569-B8E0-482F-AC69-3E078B0DBEE9}" destId="{F99B9ABC-C53E-43F1-BB52-7FCA5C64A6F2}" srcOrd="0" destOrd="0" presId="urn:microsoft.com/office/officeart/2018/5/layout/IconLeafLabelList"/>
    <dgm:cxn modelId="{81760B69-0B39-4677-8CEB-17D3B92A1FD5}" type="presOf" srcId="{7660BC32-5BCD-4261-85A0-DC8B1F918DCA}" destId="{D33E2E54-CD3F-42A9-90E8-666AA6068E4F}" srcOrd="0" destOrd="0" presId="urn:microsoft.com/office/officeart/2018/5/layout/IconLeafLabelList"/>
    <dgm:cxn modelId="{DC21987E-74A7-4957-8534-FD537A7A5D20}" srcId="{41B47569-B8E0-482F-AC69-3E078B0DBEE9}" destId="{7660BC32-5BCD-4261-85A0-DC8B1F918DCA}" srcOrd="0" destOrd="0" parTransId="{CF50C155-3AF4-4412-8E03-F13582F6010A}" sibTransId="{BB3110E9-B0AE-4ACA-BFD3-66DED32673D0}"/>
    <dgm:cxn modelId="{0C3934C6-057B-4F98-A68C-A9973BA28E5A}" srcId="{41B47569-B8E0-482F-AC69-3E078B0DBEE9}" destId="{566C133D-A724-4023-9799-AF7B4E157812}" srcOrd="1" destOrd="0" parTransId="{6772E520-C030-45B9-9113-E08338A2775F}" sibTransId="{EFADAAA5-4E74-4E2B-B16C-345B045DC89F}"/>
    <dgm:cxn modelId="{85A78CDA-D147-4F5C-BB2B-EFC333B05AF8}" type="presParOf" srcId="{F99B9ABC-C53E-43F1-BB52-7FCA5C64A6F2}" destId="{898ACE3A-B867-411A-85B2-24E4CB043207}" srcOrd="0" destOrd="0" presId="urn:microsoft.com/office/officeart/2018/5/layout/IconLeafLabelList"/>
    <dgm:cxn modelId="{304796D8-3612-470E-838E-35BA1B51AF53}" type="presParOf" srcId="{898ACE3A-B867-411A-85B2-24E4CB043207}" destId="{DF1D7952-6CC5-4A8C-9EFE-B9ECD8EFAB47}" srcOrd="0" destOrd="0" presId="urn:microsoft.com/office/officeart/2018/5/layout/IconLeafLabelList"/>
    <dgm:cxn modelId="{30E1B395-B8FC-4FA6-9BDB-F761A20E9AFF}" type="presParOf" srcId="{898ACE3A-B867-411A-85B2-24E4CB043207}" destId="{8D06165D-C7B7-40EA-B115-875F8F182DBC}" srcOrd="1" destOrd="0" presId="urn:microsoft.com/office/officeart/2018/5/layout/IconLeafLabelList"/>
    <dgm:cxn modelId="{BD1E9F0B-D1D5-47E0-BD88-4B45F8166019}" type="presParOf" srcId="{898ACE3A-B867-411A-85B2-24E4CB043207}" destId="{1E8F5841-6B8B-4698-B206-F2CD40134616}" srcOrd="2" destOrd="0" presId="urn:microsoft.com/office/officeart/2018/5/layout/IconLeafLabelList"/>
    <dgm:cxn modelId="{EFE9CF44-9078-47D6-B2EF-3CF2B1D634ED}" type="presParOf" srcId="{898ACE3A-B867-411A-85B2-24E4CB043207}" destId="{D33E2E54-CD3F-42A9-90E8-666AA6068E4F}" srcOrd="3" destOrd="0" presId="urn:microsoft.com/office/officeart/2018/5/layout/IconLeafLabelList"/>
    <dgm:cxn modelId="{8FCCF0AC-CF68-4926-A389-A5D7E51B7FBE}" type="presParOf" srcId="{F99B9ABC-C53E-43F1-BB52-7FCA5C64A6F2}" destId="{00FE7C0E-C173-4EA9-98A9-98B482DD2A5F}" srcOrd="1" destOrd="0" presId="urn:microsoft.com/office/officeart/2018/5/layout/IconLeafLabelList"/>
    <dgm:cxn modelId="{A00D2033-7951-4BA4-803A-B5C01D031216}" type="presParOf" srcId="{F99B9ABC-C53E-43F1-BB52-7FCA5C64A6F2}" destId="{303595A5-B89A-4018-B074-83BAFBE1F190}" srcOrd="2" destOrd="0" presId="urn:microsoft.com/office/officeart/2018/5/layout/IconLeafLabelList"/>
    <dgm:cxn modelId="{6A449D5D-B8EF-456E-A0DE-BAB2D8C7EB99}" type="presParOf" srcId="{303595A5-B89A-4018-B074-83BAFBE1F190}" destId="{49E2538F-F663-4720-939A-B59E4EE26BF0}" srcOrd="0" destOrd="0" presId="urn:microsoft.com/office/officeart/2018/5/layout/IconLeafLabelList"/>
    <dgm:cxn modelId="{4E1D4189-8CB2-4005-BF38-0E4429E058A4}" type="presParOf" srcId="{303595A5-B89A-4018-B074-83BAFBE1F190}" destId="{996E7799-C28D-4DC4-8591-C129960D75CA}" srcOrd="1" destOrd="0" presId="urn:microsoft.com/office/officeart/2018/5/layout/IconLeafLabelList"/>
    <dgm:cxn modelId="{7AAB3D86-1AB9-4684-B96D-B23ACC08BD53}" type="presParOf" srcId="{303595A5-B89A-4018-B074-83BAFBE1F190}" destId="{7542DA2C-4F33-4346-AC6C-52F8EDCDFB3C}" srcOrd="2" destOrd="0" presId="urn:microsoft.com/office/officeart/2018/5/layout/IconLeafLabelList"/>
    <dgm:cxn modelId="{B8DD1AA1-BAF9-49B6-90C3-494032A3D90F}" type="presParOf" srcId="{303595A5-B89A-4018-B074-83BAFBE1F190}" destId="{C91E16B0-B4EB-497B-997A-C09F432520BA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744FCF9-CE15-4639-AF49-4037BB000D64}" type="doc">
      <dgm:prSet loTypeId="urn:microsoft.com/office/officeart/2018/5/layout/CenteredIconLabelDescriptionList" loCatId="icon" qsTypeId="urn:microsoft.com/office/officeart/2005/8/quickstyle/simple1#3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714CDBF-3434-4DF5-BC59-EAED9E5A1425}">
      <dgm:prSet/>
      <dgm:spPr/>
      <dgm:t>
        <a:bodyPr/>
        <a:lstStyle/>
        <a:p>
          <a:pPr>
            <a:defRPr b="1"/>
          </a:pPr>
          <a:r>
            <a:rPr lang="es-CL"/>
            <a:t>Diferencias biológicas: Lateralidad del cerebro</a:t>
          </a:r>
          <a:endParaRPr lang="en-US"/>
        </a:p>
      </dgm:t>
    </dgm:pt>
    <dgm:pt modelId="{5E9C755B-DEA9-4F1D-B127-2594865D3930}" type="parTrans" cxnId="{29B3B8DD-80DD-40D9-8E29-49364F30A67E}">
      <dgm:prSet/>
      <dgm:spPr/>
      <dgm:t>
        <a:bodyPr/>
        <a:lstStyle/>
        <a:p>
          <a:endParaRPr lang="en-US"/>
        </a:p>
      </dgm:t>
    </dgm:pt>
    <dgm:pt modelId="{592A3342-0356-451D-B321-19FB9DCF0A30}" type="sibTrans" cxnId="{29B3B8DD-80DD-40D9-8E29-49364F30A67E}">
      <dgm:prSet/>
      <dgm:spPr/>
      <dgm:t>
        <a:bodyPr/>
        <a:lstStyle/>
        <a:p>
          <a:endParaRPr lang="en-US"/>
        </a:p>
      </dgm:t>
    </dgm:pt>
    <dgm:pt modelId="{F9AA1E92-283B-446A-ADE0-AE32227EB5F0}">
      <dgm:prSet/>
      <dgm:spPr/>
      <dgm:t>
        <a:bodyPr/>
        <a:lstStyle/>
        <a:p>
          <a:pPr>
            <a:defRPr b="1"/>
          </a:pPr>
          <a:r>
            <a:rPr lang="es-CL" dirty="0"/>
            <a:t>Diferencias de género en habilidad: </a:t>
          </a:r>
          <a:endParaRPr lang="en-US" dirty="0"/>
        </a:p>
      </dgm:t>
    </dgm:pt>
    <dgm:pt modelId="{2CD719EB-D8D1-4E34-8331-27763B71A62A}" type="parTrans" cxnId="{391BEF59-7538-4520-906F-398EA84A2652}">
      <dgm:prSet/>
      <dgm:spPr/>
      <dgm:t>
        <a:bodyPr/>
        <a:lstStyle/>
        <a:p>
          <a:endParaRPr lang="en-US"/>
        </a:p>
      </dgm:t>
    </dgm:pt>
    <dgm:pt modelId="{D95B1A19-6375-4E95-B579-595F3F5782AA}" type="sibTrans" cxnId="{391BEF59-7538-4520-906F-398EA84A2652}">
      <dgm:prSet/>
      <dgm:spPr/>
      <dgm:t>
        <a:bodyPr/>
        <a:lstStyle/>
        <a:p>
          <a:endParaRPr lang="en-US"/>
        </a:p>
      </dgm:t>
    </dgm:pt>
    <dgm:pt modelId="{0E8182FB-57BB-4B9B-B768-452D3E76EFE2}">
      <dgm:prSet/>
      <dgm:spPr/>
      <dgm:t>
        <a:bodyPr/>
        <a:lstStyle/>
        <a:p>
          <a:r>
            <a:rPr lang="es-CL"/>
            <a:t>Pequeñas diferencias en pruebas de habilidad</a:t>
          </a:r>
          <a:endParaRPr lang="en-US"/>
        </a:p>
      </dgm:t>
    </dgm:pt>
    <dgm:pt modelId="{61A2EA81-7774-43CA-B384-EC49BA779183}" type="parTrans" cxnId="{11A0B220-A0C8-4450-A1BF-E221D4B17D66}">
      <dgm:prSet/>
      <dgm:spPr/>
      <dgm:t>
        <a:bodyPr/>
        <a:lstStyle/>
        <a:p>
          <a:endParaRPr lang="en-US"/>
        </a:p>
      </dgm:t>
    </dgm:pt>
    <dgm:pt modelId="{7D4010E2-CB96-4EAC-855C-CCAB2BCA1EAD}" type="sibTrans" cxnId="{11A0B220-A0C8-4450-A1BF-E221D4B17D66}">
      <dgm:prSet/>
      <dgm:spPr/>
      <dgm:t>
        <a:bodyPr/>
        <a:lstStyle/>
        <a:p>
          <a:endParaRPr lang="en-US"/>
        </a:p>
      </dgm:t>
    </dgm:pt>
    <dgm:pt modelId="{A32F4848-F34A-4B2A-966D-4DFD7A7EC042}">
      <dgm:prSet/>
      <dgm:spPr/>
      <dgm:t>
        <a:bodyPr/>
        <a:lstStyle/>
        <a:p>
          <a:r>
            <a:rPr lang="es-CL"/>
            <a:t>Variación entre países</a:t>
          </a:r>
          <a:endParaRPr lang="en-US"/>
        </a:p>
      </dgm:t>
    </dgm:pt>
    <dgm:pt modelId="{43737CC9-E0D5-48D6-B851-FC8CB3F66430}" type="parTrans" cxnId="{919FCED2-73A6-4417-955D-71FF99B464ED}">
      <dgm:prSet/>
      <dgm:spPr/>
      <dgm:t>
        <a:bodyPr/>
        <a:lstStyle/>
        <a:p>
          <a:endParaRPr lang="en-US"/>
        </a:p>
      </dgm:t>
    </dgm:pt>
    <dgm:pt modelId="{0F3778FE-CEBB-404A-841A-87F05F0AF592}" type="sibTrans" cxnId="{919FCED2-73A6-4417-955D-71FF99B464ED}">
      <dgm:prSet/>
      <dgm:spPr/>
      <dgm:t>
        <a:bodyPr/>
        <a:lstStyle/>
        <a:p>
          <a:endParaRPr lang="en-US"/>
        </a:p>
      </dgm:t>
    </dgm:pt>
    <dgm:pt modelId="{FBD71A4D-AD25-4525-93DA-F2BEA4E15943}">
      <dgm:prSet/>
      <dgm:spPr/>
      <dgm:t>
        <a:bodyPr/>
        <a:lstStyle/>
        <a:p>
          <a:pPr>
            <a:defRPr b="1"/>
          </a:pPr>
          <a:r>
            <a:rPr lang="es-CL"/>
            <a:t>Diferencias de género en decisiones de carrera</a:t>
          </a:r>
          <a:endParaRPr lang="en-US"/>
        </a:p>
      </dgm:t>
    </dgm:pt>
    <dgm:pt modelId="{55A5DB5F-9D88-4383-9D5B-2C0CFEDC2C56}" type="parTrans" cxnId="{F77E7ECE-A3B3-498B-A2F3-FDF8AEAF8FD0}">
      <dgm:prSet/>
      <dgm:spPr/>
      <dgm:t>
        <a:bodyPr/>
        <a:lstStyle/>
        <a:p>
          <a:endParaRPr lang="en-US"/>
        </a:p>
      </dgm:t>
    </dgm:pt>
    <dgm:pt modelId="{5B9BBC62-68AD-46B4-BB57-8718562AC717}" type="sibTrans" cxnId="{F77E7ECE-A3B3-498B-A2F3-FDF8AEAF8FD0}">
      <dgm:prSet/>
      <dgm:spPr/>
      <dgm:t>
        <a:bodyPr/>
        <a:lstStyle/>
        <a:p>
          <a:endParaRPr lang="en-US"/>
        </a:p>
      </dgm:t>
    </dgm:pt>
    <dgm:pt modelId="{FC3EAC29-672D-4DD1-9AD8-1FFC66D4F851}">
      <dgm:prSet/>
      <dgm:spPr/>
      <dgm:t>
        <a:bodyPr/>
        <a:lstStyle/>
        <a:p>
          <a:r>
            <a:rPr lang="es-CL"/>
            <a:t>Grandes diferencias</a:t>
          </a:r>
          <a:endParaRPr lang="en-US"/>
        </a:p>
      </dgm:t>
    </dgm:pt>
    <dgm:pt modelId="{5FB4B9BB-6329-492E-AF2E-24E3AF6033E7}" type="parTrans" cxnId="{BC66B6D4-7395-48D1-A244-435A5C8899FF}">
      <dgm:prSet/>
      <dgm:spPr/>
      <dgm:t>
        <a:bodyPr/>
        <a:lstStyle/>
        <a:p>
          <a:endParaRPr lang="en-US"/>
        </a:p>
      </dgm:t>
    </dgm:pt>
    <dgm:pt modelId="{E27D6E54-3467-4AB4-9DED-F23D9F8FDB5B}" type="sibTrans" cxnId="{BC66B6D4-7395-48D1-A244-435A5C8899FF}">
      <dgm:prSet/>
      <dgm:spPr/>
      <dgm:t>
        <a:bodyPr/>
        <a:lstStyle/>
        <a:p>
          <a:endParaRPr lang="en-US"/>
        </a:p>
      </dgm:t>
    </dgm:pt>
    <dgm:pt modelId="{7F22F99A-D20E-4EB0-8E57-7F12654BD57D}" type="pres">
      <dgm:prSet presAssocID="{9744FCF9-CE15-4639-AF49-4037BB000D64}" presName="root" presStyleCnt="0">
        <dgm:presLayoutVars>
          <dgm:dir/>
          <dgm:resizeHandles val="exact"/>
        </dgm:presLayoutVars>
      </dgm:prSet>
      <dgm:spPr/>
    </dgm:pt>
    <dgm:pt modelId="{F2687C46-E0DB-46BB-B61C-F41F3D89DB79}" type="pres">
      <dgm:prSet presAssocID="{1714CDBF-3434-4DF5-BC59-EAED9E5A1425}" presName="compNode" presStyleCnt="0"/>
      <dgm:spPr/>
    </dgm:pt>
    <dgm:pt modelId="{BEB58DD3-E22E-4FFF-8ADB-BC440D979388}" type="pres">
      <dgm:prSet presAssocID="{1714CDBF-3434-4DF5-BC59-EAED9E5A142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243544C6-846B-4DC7-9EE4-147B1296BFF8}" type="pres">
      <dgm:prSet presAssocID="{1714CDBF-3434-4DF5-BC59-EAED9E5A1425}" presName="iconSpace" presStyleCnt="0"/>
      <dgm:spPr/>
    </dgm:pt>
    <dgm:pt modelId="{2A9784CC-797B-4A23-BD36-F6A9CCB55488}" type="pres">
      <dgm:prSet presAssocID="{1714CDBF-3434-4DF5-BC59-EAED9E5A1425}" presName="parTx" presStyleLbl="revTx" presStyleIdx="0" presStyleCnt="6">
        <dgm:presLayoutVars>
          <dgm:chMax val="0"/>
          <dgm:chPref val="0"/>
        </dgm:presLayoutVars>
      </dgm:prSet>
      <dgm:spPr/>
    </dgm:pt>
    <dgm:pt modelId="{99371B45-8A28-4E99-BA1B-DBCF0413EF10}" type="pres">
      <dgm:prSet presAssocID="{1714CDBF-3434-4DF5-BC59-EAED9E5A1425}" presName="txSpace" presStyleCnt="0"/>
      <dgm:spPr/>
    </dgm:pt>
    <dgm:pt modelId="{549A5467-3A05-407D-8E59-174952C232EF}" type="pres">
      <dgm:prSet presAssocID="{1714CDBF-3434-4DF5-BC59-EAED9E5A1425}" presName="desTx" presStyleLbl="revTx" presStyleIdx="1" presStyleCnt="6">
        <dgm:presLayoutVars/>
      </dgm:prSet>
      <dgm:spPr/>
    </dgm:pt>
    <dgm:pt modelId="{FA185E66-6DB1-4E18-99DA-A6C4354CD52C}" type="pres">
      <dgm:prSet presAssocID="{592A3342-0356-451D-B321-19FB9DCF0A30}" presName="sibTrans" presStyleCnt="0"/>
      <dgm:spPr/>
    </dgm:pt>
    <dgm:pt modelId="{232E03EE-5020-4531-90CD-D42DA76A9DB1}" type="pres">
      <dgm:prSet presAssocID="{F9AA1E92-283B-446A-ADE0-AE32227EB5F0}" presName="compNode" presStyleCnt="0"/>
      <dgm:spPr/>
    </dgm:pt>
    <dgm:pt modelId="{54F47E54-4A06-4211-BFDE-8077CDD65FAF}" type="pres">
      <dgm:prSet presAssocID="{F9AA1E92-283B-446A-ADE0-AE32227EB5F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ABB0A5B4-D7AD-439F-99B0-7401F40D6FFB}" type="pres">
      <dgm:prSet presAssocID="{F9AA1E92-283B-446A-ADE0-AE32227EB5F0}" presName="iconSpace" presStyleCnt="0"/>
      <dgm:spPr/>
    </dgm:pt>
    <dgm:pt modelId="{186834A8-868A-4B51-B730-9CFA6D4D9711}" type="pres">
      <dgm:prSet presAssocID="{F9AA1E92-283B-446A-ADE0-AE32227EB5F0}" presName="parTx" presStyleLbl="revTx" presStyleIdx="2" presStyleCnt="6">
        <dgm:presLayoutVars>
          <dgm:chMax val="0"/>
          <dgm:chPref val="0"/>
        </dgm:presLayoutVars>
      </dgm:prSet>
      <dgm:spPr/>
    </dgm:pt>
    <dgm:pt modelId="{2A14E9D0-9FD4-4CD2-BCE0-0993FBE68826}" type="pres">
      <dgm:prSet presAssocID="{F9AA1E92-283B-446A-ADE0-AE32227EB5F0}" presName="txSpace" presStyleCnt="0"/>
      <dgm:spPr/>
    </dgm:pt>
    <dgm:pt modelId="{20D237C9-17F9-4C6A-AE6E-31239BCB1D9C}" type="pres">
      <dgm:prSet presAssocID="{F9AA1E92-283B-446A-ADE0-AE32227EB5F0}" presName="desTx" presStyleLbl="revTx" presStyleIdx="3" presStyleCnt="6">
        <dgm:presLayoutVars/>
      </dgm:prSet>
      <dgm:spPr/>
    </dgm:pt>
    <dgm:pt modelId="{70225832-F99C-40FF-B387-0ACD12AE1A35}" type="pres">
      <dgm:prSet presAssocID="{D95B1A19-6375-4E95-B579-595F3F5782AA}" presName="sibTrans" presStyleCnt="0"/>
      <dgm:spPr/>
    </dgm:pt>
    <dgm:pt modelId="{83536E0A-F2DA-4B4E-BCB9-E86E4DDF50BD}" type="pres">
      <dgm:prSet presAssocID="{FBD71A4D-AD25-4525-93DA-F2BEA4E15943}" presName="compNode" presStyleCnt="0"/>
      <dgm:spPr/>
    </dgm:pt>
    <dgm:pt modelId="{5F5C5A0C-A0D9-4A32-842B-E689CA9E0835}" type="pres">
      <dgm:prSet presAssocID="{FBD71A4D-AD25-4525-93DA-F2BEA4E1594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1FFBD224-D1BA-4166-B6D3-0DD5649E1244}" type="pres">
      <dgm:prSet presAssocID="{FBD71A4D-AD25-4525-93DA-F2BEA4E15943}" presName="iconSpace" presStyleCnt="0"/>
      <dgm:spPr/>
    </dgm:pt>
    <dgm:pt modelId="{03D815E6-4C9C-4D06-8BC8-69E9EB66995A}" type="pres">
      <dgm:prSet presAssocID="{FBD71A4D-AD25-4525-93DA-F2BEA4E15943}" presName="parTx" presStyleLbl="revTx" presStyleIdx="4" presStyleCnt="6">
        <dgm:presLayoutVars>
          <dgm:chMax val="0"/>
          <dgm:chPref val="0"/>
        </dgm:presLayoutVars>
      </dgm:prSet>
      <dgm:spPr/>
    </dgm:pt>
    <dgm:pt modelId="{512C23AE-5CBA-4244-AF77-1F5B286A8904}" type="pres">
      <dgm:prSet presAssocID="{FBD71A4D-AD25-4525-93DA-F2BEA4E15943}" presName="txSpace" presStyleCnt="0"/>
      <dgm:spPr/>
    </dgm:pt>
    <dgm:pt modelId="{3A7E5FBA-E57B-4444-A6D1-CC0BE815BF55}" type="pres">
      <dgm:prSet presAssocID="{FBD71A4D-AD25-4525-93DA-F2BEA4E15943}" presName="desTx" presStyleLbl="revTx" presStyleIdx="5" presStyleCnt="6">
        <dgm:presLayoutVars/>
      </dgm:prSet>
      <dgm:spPr/>
    </dgm:pt>
  </dgm:ptLst>
  <dgm:cxnLst>
    <dgm:cxn modelId="{AF452A14-B9AE-4ADF-895F-C2E8A8390B96}" type="presOf" srcId="{FBD71A4D-AD25-4525-93DA-F2BEA4E15943}" destId="{03D815E6-4C9C-4D06-8BC8-69E9EB66995A}" srcOrd="0" destOrd="0" presId="urn:microsoft.com/office/officeart/2018/5/layout/CenteredIconLabelDescriptionList"/>
    <dgm:cxn modelId="{C7FDF618-3AA3-455C-B73D-773D9F360142}" type="presOf" srcId="{A32F4848-F34A-4B2A-966D-4DFD7A7EC042}" destId="{20D237C9-17F9-4C6A-AE6E-31239BCB1D9C}" srcOrd="0" destOrd="1" presId="urn:microsoft.com/office/officeart/2018/5/layout/CenteredIconLabelDescriptionList"/>
    <dgm:cxn modelId="{11A0B220-A0C8-4450-A1BF-E221D4B17D66}" srcId="{F9AA1E92-283B-446A-ADE0-AE32227EB5F0}" destId="{0E8182FB-57BB-4B9B-B768-452D3E76EFE2}" srcOrd="0" destOrd="0" parTransId="{61A2EA81-7774-43CA-B384-EC49BA779183}" sibTransId="{7D4010E2-CB96-4EAC-855C-CCAB2BCA1EAD}"/>
    <dgm:cxn modelId="{AF17373D-A984-4346-92C7-823204995845}" type="presOf" srcId="{0E8182FB-57BB-4B9B-B768-452D3E76EFE2}" destId="{20D237C9-17F9-4C6A-AE6E-31239BCB1D9C}" srcOrd="0" destOrd="0" presId="urn:microsoft.com/office/officeart/2018/5/layout/CenteredIconLabelDescriptionList"/>
    <dgm:cxn modelId="{6EA6B04B-0D39-41CE-B5F5-20F7E76CA091}" type="presOf" srcId="{9744FCF9-CE15-4639-AF49-4037BB000D64}" destId="{7F22F99A-D20E-4EB0-8E57-7F12654BD57D}" srcOrd="0" destOrd="0" presId="urn:microsoft.com/office/officeart/2018/5/layout/CenteredIconLabelDescriptionList"/>
    <dgm:cxn modelId="{391BEF59-7538-4520-906F-398EA84A2652}" srcId="{9744FCF9-CE15-4639-AF49-4037BB000D64}" destId="{F9AA1E92-283B-446A-ADE0-AE32227EB5F0}" srcOrd="1" destOrd="0" parTransId="{2CD719EB-D8D1-4E34-8331-27763B71A62A}" sibTransId="{D95B1A19-6375-4E95-B579-595F3F5782AA}"/>
    <dgm:cxn modelId="{50721067-9C28-459E-B731-FABA4F734146}" type="presOf" srcId="{F9AA1E92-283B-446A-ADE0-AE32227EB5F0}" destId="{186834A8-868A-4B51-B730-9CFA6D4D9711}" srcOrd="0" destOrd="0" presId="urn:microsoft.com/office/officeart/2018/5/layout/CenteredIconLabelDescriptionList"/>
    <dgm:cxn modelId="{F77E7ECE-A3B3-498B-A2F3-FDF8AEAF8FD0}" srcId="{9744FCF9-CE15-4639-AF49-4037BB000D64}" destId="{FBD71A4D-AD25-4525-93DA-F2BEA4E15943}" srcOrd="2" destOrd="0" parTransId="{55A5DB5F-9D88-4383-9D5B-2C0CFEDC2C56}" sibTransId="{5B9BBC62-68AD-46B4-BB57-8718562AC717}"/>
    <dgm:cxn modelId="{919FCED2-73A6-4417-955D-71FF99B464ED}" srcId="{F9AA1E92-283B-446A-ADE0-AE32227EB5F0}" destId="{A32F4848-F34A-4B2A-966D-4DFD7A7EC042}" srcOrd="1" destOrd="0" parTransId="{43737CC9-E0D5-48D6-B851-FC8CB3F66430}" sibTransId="{0F3778FE-CEBB-404A-841A-87F05F0AF592}"/>
    <dgm:cxn modelId="{BC66B6D4-7395-48D1-A244-435A5C8899FF}" srcId="{FBD71A4D-AD25-4525-93DA-F2BEA4E15943}" destId="{FC3EAC29-672D-4DD1-9AD8-1FFC66D4F851}" srcOrd="0" destOrd="0" parTransId="{5FB4B9BB-6329-492E-AF2E-24E3AF6033E7}" sibTransId="{E27D6E54-3467-4AB4-9DED-F23D9F8FDB5B}"/>
    <dgm:cxn modelId="{29B3B8DD-80DD-40D9-8E29-49364F30A67E}" srcId="{9744FCF9-CE15-4639-AF49-4037BB000D64}" destId="{1714CDBF-3434-4DF5-BC59-EAED9E5A1425}" srcOrd="0" destOrd="0" parTransId="{5E9C755B-DEA9-4F1D-B127-2594865D3930}" sibTransId="{592A3342-0356-451D-B321-19FB9DCF0A30}"/>
    <dgm:cxn modelId="{AEBDA2DE-34BF-4EAB-B52B-F8F5C4612022}" type="presOf" srcId="{FC3EAC29-672D-4DD1-9AD8-1FFC66D4F851}" destId="{3A7E5FBA-E57B-4444-A6D1-CC0BE815BF55}" srcOrd="0" destOrd="0" presId="urn:microsoft.com/office/officeart/2018/5/layout/CenteredIconLabelDescriptionList"/>
    <dgm:cxn modelId="{7E5163DF-3855-4797-8A16-6B599BDDAEE5}" type="presOf" srcId="{1714CDBF-3434-4DF5-BC59-EAED9E5A1425}" destId="{2A9784CC-797B-4A23-BD36-F6A9CCB55488}" srcOrd="0" destOrd="0" presId="urn:microsoft.com/office/officeart/2018/5/layout/CenteredIconLabelDescriptionList"/>
    <dgm:cxn modelId="{A6CE8B8D-0A5B-4DC8-87F0-E2889C139460}" type="presParOf" srcId="{7F22F99A-D20E-4EB0-8E57-7F12654BD57D}" destId="{F2687C46-E0DB-46BB-B61C-F41F3D89DB79}" srcOrd="0" destOrd="0" presId="urn:microsoft.com/office/officeart/2018/5/layout/CenteredIconLabelDescriptionList"/>
    <dgm:cxn modelId="{0BB9A17E-9A58-4DD2-8C41-9FE4B57786C6}" type="presParOf" srcId="{F2687C46-E0DB-46BB-B61C-F41F3D89DB79}" destId="{BEB58DD3-E22E-4FFF-8ADB-BC440D979388}" srcOrd="0" destOrd="0" presId="urn:microsoft.com/office/officeart/2018/5/layout/CenteredIconLabelDescriptionList"/>
    <dgm:cxn modelId="{85A59997-69F6-4C74-8738-279F65A6EC40}" type="presParOf" srcId="{F2687C46-E0DB-46BB-B61C-F41F3D89DB79}" destId="{243544C6-846B-4DC7-9EE4-147B1296BFF8}" srcOrd="1" destOrd="0" presId="urn:microsoft.com/office/officeart/2018/5/layout/CenteredIconLabelDescriptionList"/>
    <dgm:cxn modelId="{A428993C-DD98-493E-A704-F4B9C82F936F}" type="presParOf" srcId="{F2687C46-E0DB-46BB-B61C-F41F3D89DB79}" destId="{2A9784CC-797B-4A23-BD36-F6A9CCB55488}" srcOrd="2" destOrd="0" presId="urn:microsoft.com/office/officeart/2018/5/layout/CenteredIconLabelDescriptionList"/>
    <dgm:cxn modelId="{70043EB8-6527-4BD4-B626-45381AD58189}" type="presParOf" srcId="{F2687C46-E0DB-46BB-B61C-F41F3D89DB79}" destId="{99371B45-8A28-4E99-BA1B-DBCF0413EF10}" srcOrd="3" destOrd="0" presId="urn:microsoft.com/office/officeart/2018/5/layout/CenteredIconLabelDescriptionList"/>
    <dgm:cxn modelId="{D929A5AE-ECBE-471F-A461-B0E03D6583BF}" type="presParOf" srcId="{F2687C46-E0DB-46BB-B61C-F41F3D89DB79}" destId="{549A5467-3A05-407D-8E59-174952C232EF}" srcOrd="4" destOrd="0" presId="urn:microsoft.com/office/officeart/2018/5/layout/CenteredIconLabelDescriptionList"/>
    <dgm:cxn modelId="{FAE097AA-4841-4FA7-8698-371EEFCD3EC9}" type="presParOf" srcId="{7F22F99A-D20E-4EB0-8E57-7F12654BD57D}" destId="{FA185E66-6DB1-4E18-99DA-A6C4354CD52C}" srcOrd="1" destOrd="0" presId="urn:microsoft.com/office/officeart/2018/5/layout/CenteredIconLabelDescriptionList"/>
    <dgm:cxn modelId="{4AD398C7-0917-406D-B0E1-A01276166464}" type="presParOf" srcId="{7F22F99A-D20E-4EB0-8E57-7F12654BD57D}" destId="{232E03EE-5020-4531-90CD-D42DA76A9DB1}" srcOrd="2" destOrd="0" presId="urn:microsoft.com/office/officeart/2018/5/layout/CenteredIconLabelDescriptionList"/>
    <dgm:cxn modelId="{DC2B0E8E-BFF9-4BA5-887A-6E2104CC1F45}" type="presParOf" srcId="{232E03EE-5020-4531-90CD-D42DA76A9DB1}" destId="{54F47E54-4A06-4211-BFDE-8077CDD65FAF}" srcOrd="0" destOrd="0" presId="urn:microsoft.com/office/officeart/2018/5/layout/CenteredIconLabelDescriptionList"/>
    <dgm:cxn modelId="{F6F4D140-1E4E-4816-80B1-255275EF40FE}" type="presParOf" srcId="{232E03EE-5020-4531-90CD-D42DA76A9DB1}" destId="{ABB0A5B4-D7AD-439F-99B0-7401F40D6FFB}" srcOrd="1" destOrd="0" presId="urn:microsoft.com/office/officeart/2018/5/layout/CenteredIconLabelDescriptionList"/>
    <dgm:cxn modelId="{C5289231-70E3-488C-91F9-94DF7C5F3316}" type="presParOf" srcId="{232E03EE-5020-4531-90CD-D42DA76A9DB1}" destId="{186834A8-868A-4B51-B730-9CFA6D4D9711}" srcOrd="2" destOrd="0" presId="urn:microsoft.com/office/officeart/2018/5/layout/CenteredIconLabelDescriptionList"/>
    <dgm:cxn modelId="{503DC296-B71E-48BF-8FA3-7EFAE4EC256D}" type="presParOf" srcId="{232E03EE-5020-4531-90CD-D42DA76A9DB1}" destId="{2A14E9D0-9FD4-4CD2-BCE0-0993FBE68826}" srcOrd="3" destOrd="0" presId="urn:microsoft.com/office/officeart/2018/5/layout/CenteredIconLabelDescriptionList"/>
    <dgm:cxn modelId="{E66493AA-3DEA-41D5-991B-613FEF66483A}" type="presParOf" srcId="{232E03EE-5020-4531-90CD-D42DA76A9DB1}" destId="{20D237C9-17F9-4C6A-AE6E-31239BCB1D9C}" srcOrd="4" destOrd="0" presId="urn:microsoft.com/office/officeart/2018/5/layout/CenteredIconLabelDescriptionList"/>
    <dgm:cxn modelId="{8B11DAF2-E91E-45E3-99F0-7ECB5E3C445E}" type="presParOf" srcId="{7F22F99A-D20E-4EB0-8E57-7F12654BD57D}" destId="{70225832-F99C-40FF-B387-0ACD12AE1A35}" srcOrd="3" destOrd="0" presId="urn:microsoft.com/office/officeart/2018/5/layout/CenteredIconLabelDescriptionList"/>
    <dgm:cxn modelId="{FAFD9273-9D7E-4080-98D0-B65E25885111}" type="presParOf" srcId="{7F22F99A-D20E-4EB0-8E57-7F12654BD57D}" destId="{83536E0A-F2DA-4B4E-BCB9-E86E4DDF50BD}" srcOrd="4" destOrd="0" presId="urn:microsoft.com/office/officeart/2018/5/layout/CenteredIconLabelDescriptionList"/>
    <dgm:cxn modelId="{C5062E2D-E42C-4EBF-9E06-3BE01D8A5883}" type="presParOf" srcId="{83536E0A-F2DA-4B4E-BCB9-E86E4DDF50BD}" destId="{5F5C5A0C-A0D9-4A32-842B-E689CA9E0835}" srcOrd="0" destOrd="0" presId="urn:microsoft.com/office/officeart/2018/5/layout/CenteredIconLabelDescriptionList"/>
    <dgm:cxn modelId="{B1FECA7F-8094-48F6-8169-409AEEF9C023}" type="presParOf" srcId="{83536E0A-F2DA-4B4E-BCB9-E86E4DDF50BD}" destId="{1FFBD224-D1BA-4166-B6D3-0DD5649E1244}" srcOrd="1" destOrd="0" presId="urn:microsoft.com/office/officeart/2018/5/layout/CenteredIconLabelDescriptionList"/>
    <dgm:cxn modelId="{65F9608B-121D-4B68-BBE5-06F2ECF6A86C}" type="presParOf" srcId="{83536E0A-F2DA-4B4E-BCB9-E86E4DDF50BD}" destId="{03D815E6-4C9C-4D06-8BC8-69E9EB66995A}" srcOrd="2" destOrd="0" presId="urn:microsoft.com/office/officeart/2018/5/layout/CenteredIconLabelDescriptionList"/>
    <dgm:cxn modelId="{FED83325-90E4-42EC-A3A7-D4613ADC2175}" type="presParOf" srcId="{83536E0A-F2DA-4B4E-BCB9-E86E4DDF50BD}" destId="{512C23AE-5CBA-4244-AF77-1F5B286A8904}" srcOrd="3" destOrd="0" presId="urn:microsoft.com/office/officeart/2018/5/layout/CenteredIconLabelDescriptionList"/>
    <dgm:cxn modelId="{4697F9E3-2B1A-4813-8319-F713D5D4A835}" type="presParOf" srcId="{83536E0A-F2DA-4B4E-BCB9-E86E4DDF50BD}" destId="{3A7E5FBA-E57B-4444-A6D1-CC0BE815BF5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C2716F1-A5AE-4160-9544-D29786AB9F64}" type="doc">
      <dgm:prSet loTypeId="urn:microsoft.com/office/officeart/2018/5/layout/CenteredIconLabelDescriptionList" loCatId="icon" qsTypeId="urn:microsoft.com/office/officeart/2005/8/quickstyle/simple1#4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A32C9DF-A508-46FA-99FE-613B58870867}">
      <dgm:prSet/>
      <dgm:spPr/>
      <dgm:t>
        <a:bodyPr/>
        <a:lstStyle/>
        <a:p>
          <a:pPr>
            <a:defRPr b="1"/>
          </a:pPr>
          <a:r>
            <a:rPr lang="es-CL" dirty="0"/>
            <a:t>Diferencias en cantidad de </a:t>
          </a:r>
          <a:r>
            <a:rPr lang="es-CL"/>
            <a:t>diferentes hormonas </a:t>
          </a:r>
          <a:r>
            <a:rPr lang="es-CL" dirty="0"/>
            <a:t>en el cuerpo.</a:t>
          </a:r>
          <a:endParaRPr lang="en-US" dirty="0"/>
        </a:p>
      </dgm:t>
    </dgm:pt>
    <dgm:pt modelId="{AA6CB7B3-7619-4B3D-AD5F-2C73BF5E462F}" type="parTrans" cxnId="{BCCFFF39-21A0-46E6-9BC8-473ACE960E2C}">
      <dgm:prSet/>
      <dgm:spPr/>
      <dgm:t>
        <a:bodyPr/>
        <a:lstStyle/>
        <a:p>
          <a:endParaRPr lang="en-US"/>
        </a:p>
      </dgm:t>
    </dgm:pt>
    <dgm:pt modelId="{BC4E9F4E-883F-4CBA-B1F5-58BCBF360B09}" type="sibTrans" cxnId="{BCCFFF39-21A0-46E6-9BC8-473ACE960E2C}">
      <dgm:prSet/>
      <dgm:spPr/>
      <dgm:t>
        <a:bodyPr/>
        <a:lstStyle/>
        <a:p>
          <a:endParaRPr lang="en-US"/>
        </a:p>
      </dgm:t>
    </dgm:pt>
    <dgm:pt modelId="{7CE918D7-0B4C-4527-9581-6C7225D5AE99}">
      <dgm:prSet/>
      <dgm:spPr/>
      <dgm:t>
        <a:bodyPr/>
        <a:lstStyle/>
        <a:p>
          <a:pPr>
            <a:defRPr b="1"/>
          </a:pPr>
          <a:r>
            <a:rPr lang="es-CL" dirty="0"/>
            <a:t>Lógica: </a:t>
          </a:r>
        </a:p>
        <a:p>
          <a:pPr>
            <a:defRPr b="1"/>
          </a:pPr>
          <a:r>
            <a:rPr lang="es-CL" dirty="0"/>
            <a:t>Mayores niveles de testosterona causan mayor agresividad en los hombres.</a:t>
          </a:r>
          <a:endParaRPr lang="en-US" dirty="0"/>
        </a:p>
      </dgm:t>
    </dgm:pt>
    <dgm:pt modelId="{3A9BE979-6905-4C45-BFA2-C81669D70246}" type="parTrans" cxnId="{D9B7DB87-21D6-467A-8418-FD395D7D75F7}">
      <dgm:prSet/>
      <dgm:spPr/>
      <dgm:t>
        <a:bodyPr/>
        <a:lstStyle/>
        <a:p>
          <a:endParaRPr lang="en-US"/>
        </a:p>
      </dgm:t>
    </dgm:pt>
    <dgm:pt modelId="{3D639D12-FA87-45B7-88B4-3CE7F99FB9C2}" type="sibTrans" cxnId="{D9B7DB87-21D6-467A-8418-FD395D7D75F7}">
      <dgm:prSet/>
      <dgm:spPr/>
      <dgm:t>
        <a:bodyPr/>
        <a:lstStyle/>
        <a:p>
          <a:endParaRPr lang="en-US"/>
        </a:p>
      </dgm:t>
    </dgm:pt>
    <dgm:pt modelId="{25ED596E-2C13-4C96-90DB-2AC806B92AF3}">
      <dgm:prSet/>
      <dgm:spPr/>
      <dgm:t>
        <a:bodyPr/>
        <a:lstStyle/>
        <a:p>
          <a:pPr>
            <a:defRPr b="1"/>
          </a:pPr>
          <a:r>
            <a:rPr lang="es-CL" dirty="0"/>
            <a:t>¿Evidencia? </a:t>
          </a:r>
        </a:p>
        <a:p>
          <a:pPr>
            <a:defRPr b="1"/>
          </a:pPr>
          <a:r>
            <a:rPr lang="es-CL" dirty="0"/>
            <a:t>Dos problemas</a:t>
          </a:r>
          <a:endParaRPr lang="en-US" dirty="0"/>
        </a:p>
      </dgm:t>
    </dgm:pt>
    <dgm:pt modelId="{DB59FD96-3304-4A06-835B-BCB651F46FDB}" type="parTrans" cxnId="{224E1EE8-4DAB-4050-853F-7B92310D6C0E}">
      <dgm:prSet/>
      <dgm:spPr/>
      <dgm:t>
        <a:bodyPr/>
        <a:lstStyle/>
        <a:p>
          <a:endParaRPr lang="en-US"/>
        </a:p>
      </dgm:t>
    </dgm:pt>
    <dgm:pt modelId="{F10BF61E-4AA0-4E42-BB4A-160968F90A41}" type="sibTrans" cxnId="{224E1EE8-4DAB-4050-853F-7B92310D6C0E}">
      <dgm:prSet/>
      <dgm:spPr/>
      <dgm:t>
        <a:bodyPr/>
        <a:lstStyle/>
        <a:p>
          <a:endParaRPr lang="en-US"/>
        </a:p>
      </dgm:t>
    </dgm:pt>
    <dgm:pt modelId="{CCEE2A02-E267-47A4-9C41-2E0E3929CD97}">
      <dgm:prSet custT="1"/>
      <dgm:spPr/>
      <dgm:t>
        <a:bodyPr/>
        <a:lstStyle/>
        <a:p>
          <a:r>
            <a:rPr lang="es-CL" sz="1400" dirty="0"/>
            <a:t>Inyecciones y castración. La testosterona tiene un “efecto permisivo”.</a:t>
          </a:r>
          <a:endParaRPr lang="en-US" sz="1400" dirty="0"/>
        </a:p>
      </dgm:t>
    </dgm:pt>
    <dgm:pt modelId="{BD48C50F-40D1-43E4-88A7-D34789687716}" type="parTrans" cxnId="{74189233-323A-432E-A113-F53EB57EE030}">
      <dgm:prSet/>
      <dgm:spPr/>
      <dgm:t>
        <a:bodyPr/>
        <a:lstStyle/>
        <a:p>
          <a:endParaRPr lang="en-US"/>
        </a:p>
      </dgm:t>
    </dgm:pt>
    <dgm:pt modelId="{BF805F83-C35A-4143-B48A-72065D8B3CA8}" type="sibTrans" cxnId="{74189233-323A-432E-A113-F53EB57EE030}">
      <dgm:prSet/>
      <dgm:spPr/>
      <dgm:t>
        <a:bodyPr/>
        <a:lstStyle/>
        <a:p>
          <a:endParaRPr lang="en-US"/>
        </a:p>
      </dgm:t>
    </dgm:pt>
    <dgm:pt modelId="{F4491603-D668-448B-9F40-135E6DC96F3F}">
      <dgm:prSet custT="1"/>
      <dgm:spPr/>
      <dgm:t>
        <a:bodyPr/>
        <a:lstStyle/>
        <a:p>
          <a:r>
            <a:rPr lang="es-CL" sz="1400" dirty="0"/>
            <a:t>Dirección de causalidad.</a:t>
          </a:r>
          <a:endParaRPr lang="en-US" sz="1400" dirty="0"/>
        </a:p>
      </dgm:t>
    </dgm:pt>
    <dgm:pt modelId="{E9C2F8BA-9EF0-421D-A2F8-AF4780260823}" type="parTrans" cxnId="{90193987-4863-48F3-9BDC-5706498E7158}">
      <dgm:prSet/>
      <dgm:spPr/>
      <dgm:t>
        <a:bodyPr/>
        <a:lstStyle/>
        <a:p>
          <a:endParaRPr lang="en-US"/>
        </a:p>
      </dgm:t>
    </dgm:pt>
    <dgm:pt modelId="{0BEA89FB-CCCC-44E1-B82C-9941B2E0B761}" type="sibTrans" cxnId="{90193987-4863-48F3-9BDC-5706498E7158}">
      <dgm:prSet/>
      <dgm:spPr/>
      <dgm:t>
        <a:bodyPr/>
        <a:lstStyle/>
        <a:p>
          <a:endParaRPr lang="en-US"/>
        </a:p>
      </dgm:t>
    </dgm:pt>
    <dgm:pt modelId="{6ABD8809-6AEE-43E2-84CC-3338BAF5E678}" type="pres">
      <dgm:prSet presAssocID="{9C2716F1-A5AE-4160-9544-D29786AB9F64}" presName="root" presStyleCnt="0">
        <dgm:presLayoutVars>
          <dgm:dir/>
          <dgm:resizeHandles val="exact"/>
        </dgm:presLayoutVars>
      </dgm:prSet>
      <dgm:spPr/>
    </dgm:pt>
    <dgm:pt modelId="{B4E6CC6D-CD4E-4B7D-A9A6-E0C68DCAB3B0}" type="pres">
      <dgm:prSet presAssocID="{DA32C9DF-A508-46FA-99FE-613B58870867}" presName="compNode" presStyleCnt="0"/>
      <dgm:spPr/>
    </dgm:pt>
    <dgm:pt modelId="{14146EE6-90FC-48E9-A1AF-94207C6567BD}" type="pres">
      <dgm:prSet presAssocID="{DA32C9DF-A508-46FA-99FE-613B5887086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0357AAA9-AC8C-4605-B597-5899F8760BDF}" type="pres">
      <dgm:prSet presAssocID="{DA32C9DF-A508-46FA-99FE-613B58870867}" presName="iconSpace" presStyleCnt="0"/>
      <dgm:spPr/>
    </dgm:pt>
    <dgm:pt modelId="{FAEC269F-F36D-4FA7-96F0-400DECFC1628}" type="pres">
      <dgm:prSet presAssocID="{DA32C9DF-A508-46FA-99FE-613B58870867}" presName="parTx" presStyleLbl="revTx" presStyleIdx="0" presStyleCnt="6">
        <dgm:presLayoutVars>
          <dgm:chMax val="0"/>
          <dgm:chPref val="0"/>
        </dgm:presLayoutVars>
      </dgm:prSet>
      <dgm:spPr/>
    </dgm:pt>
    <dgm:pt modelId="{0D7210D6-38AB-4C2C-BE52-CF1F7257E99D}" type="pres">
      <dgm:prSet presAssocID="{DA32C9DF-A508-46FA-99FE-613B58870867}" presName="txSpace" presStyleCnt="0"/>
      <dgm:spPr/>
    </dgm:pt>
    <dgm:pt modelId="{FA884B25-4F5A-4129-9D9D-D35C2617C934}" type="pres">
      <dgm:prSet presAssocID="{DA32C9DF-A508-46FA-99FE-613B58870867}" presName="desTx" presStyleLbl="revTx" presStyleIdx="1" presStyleCnt="6">
        <dgm:presLayoutVars/>
      </dgm:prSet>
      <dgm:spPr/>
    </dgm:pt>
    <dgm:pt modelId="{C5F7A2F2-0EEC-4C72-884B-2D2A6B0673D2}" type="pres">
      <dgm:prSet presAssocID="{BC4E9F4E-883F-4CBA-B1F5-58BCBF360B09}" presName="sibTrans" presStyleCnt="0"/>
      <dgm:spPr/>
    </dgm:pt>
    <dgm:pt modelId="{0D3C9919-BCCF-4171-8354-C3BFA6F16E02}" type="pres">
      <dgm:prSet presAssocID="{7CE918D7-0B4C-4527-9581-6C7225D5AE99}" presName="compNode" presStyleCnt="0"/>
      <dgm:spPr/>
    </dgm:pt>
    <dgm:pt modelId="{292D8F4A-CC31-410E-A3DD-73D4C23207B0}" type="pres">
      <dgm:prSet presAssocID="{7CE918D7-0B4C-4527-9581-6C7225D5AE99}" presName="iconRect" presStyleLbl="nod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ing Glove with solid fill"/>
        </a:ext>
      </dgm:extLst>
    </dgm:pt>
    <dgm:pt modelId="{00182613-FAAE-4C12-97DE-511B534EFB99}" type="pres">
      <dgm:prSet presAssocID="{7CE918D7-0B4C-4527-9581-6C7225D5AE99}" presName="iconSpace" presStyleCnt="0"/>
      <dgm:spPr/>
    </dgm:pt>
    <dgm:pt modelId="{8074DB7E-15DA-4934-AE5C-B05F4CAEDBC4}" type="pres">
      <dgm:prSet presAssocID="{7CE918D7-0B4C-4527-9581-6C7225D5AE99}" presName="parTx" presStyleLbl="revTx" presStyleIdx="2" presStyleCnt="6">
        <dgm:presLayoutVars>
          <dgm:chMax val="0"/>
          <dgm:chPref val="0"/>
        </dgm:presLayoutVars>
      </dgm:prSet>
      <dgm:spPr/>
    </dgm:pt>
    <dgm:pt modelId="{7CDF5594-04D5-4D4B-9DC2-A5AD3BEE24CC}" type="pres">
      <dgm:prSet presAssocID="{7CE918D7-0B4C-4527-9581-6C7225D5AE99}" presName="txSpace" presStyleCnt="0"/>
      <dgm:spPr/>
    </dgm:pt>
    <dgm:pt modelId="{4B6735E1-AF85-4137-865B-A5111A331FFF}" type="pres">
      <dgm:prSet presAssocID="{7CE918D7-0B4C-4527-9581-6C7225D5AE99}" presName="desTx" presStyleLbl="revTx" presStyleIdx="3" presStyleCnt="6">
        <dgm:presLayoutVars/>
      </dgm:prSet>
      <dgm:spPr/>
    </dgm:pt>
    <dgm:pt modelId="{721F0433-DBD6-4528-8137-3350BEB67457}" type="pres">
      <dgm:prSet presAssocID="{3D639D12-FA87-45B7-88B4-3CE7F99FB9C2}" presName="sibTrans" presStyleCnt="0"/>
      <dgm:spPr/>
    </dgm:pt>
    <dgm:pt modelId="{659BE73D-67BC-47AC-9AE8-7C07A38EEDD2}" type="pres">
      <dgm:prSet presAssocID="{25ED596E-2C13-4C96-90DB-2AC806B92AF3}" presName="compNode" presStyleCnt="0"/>
      <dgm:spPr/>
    </dgm:pt>
    <dgm:pt modelId="{04DBA8A7-77F9-4A96-A5C7-7015033D4EE7}" type="pres">
      <dgm:prSet presAssocID="{25ED596E-2C13-4C96-90DB-2AC806B92AF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cle Arm"/>
        </a:ext>
      </dgm:extLst>
    </dgm:pt>
    <dgm:pt modelId="{2CDC2A64-26A9-410E-9BDC-4CE8F2874306}" type="pres">
      <dgm:prSet presAssocID="{25ED596E-2C13-4C96-90DB-2AC806B92AF3}" presName="iconSpace" presStyleCnt="0"/>
      <dgm:spPr/>
    </dgm:pt>
    <dgm:pt modelId="{C2A03AB6-BD90-4396-A9BD-20C8845B8CFA}" type="pres">
      <dgm:prSet presAssocID="{25ED596E-2C13-4C96-90DB-2AC806B92AF3}" presName="parTx" presStyleLbl="revTx" presStyleIdx="4" presStyleCnt="6">
        <dgm:presLayoutVars>
          <dgm:chMax val="0"/>
          <dgm:chPref val="0"/>
        </dgm:presLayoutVars>
      </dgm:prSet>
      <dgm:spPr/>
    </dgm:pt>
    <dgm:pt modelId="{40F5EC90-A0C6-486C-A847-A4353580A22F}" type="pres">
      <dgm:prSet presAssocID="{25ED596E-2C13-4C96-90DB-2AC806B92AF3}" presName="txSpace" presStyleCnt="0"/>
      <dgm:spPr/>
    </dgm:pt>
    <dgm:pt modelId="{4C0349B2-9CC7-40B9-B3A8-446339A4A679}" type="pres">
      <dgm:prSet presAssocID="{25ED596E-2C13-4C96-90DB-2AC806B92AF3}" presName="desTx" presStyleLbl="revTx" presStyleIdx="5" presStyleCnt="6">
        <dgm:presLayoutVars/>
      </dgm:prSet>
      <dgm:spPr/>
    </dgm:pt>
  </dgm:ptLst>
  <dgm:cxnLst>
    <dgm:cxn modelId="{06F45102-6698-4AD7-8F40-8A337E91D225}" type="presOf" srcId="{F4491603-D668-448B-9F40-135E6DC96F3F}" destId="{4C0349B2-9CC7-40B9-B3A8-446339A4A679}" srcOrd="0" destOrd="1" presId="urn:microsoft.com/office/officeart/2018/5/layout/CenteredIconLabelDescriptionList"/>
    <dgm:cxn modelId="{1DD17A05-FC50-4034-B946-CAF2B6D72207}" type="presOf" srcId="{7CE918D7-0B4C-4527-9581-6C7225D5AE99}" destId="{8074DB7E-15DA-4934-AE5C-B05F4CAEDBC4}" srcOrd="0" destOrd="0" presId="urn:microsoft.com/office/officeart/2018/5/layout/CenteredIconLabelDescriptionList"/>
    <dgm:cxn modelId="{8F374A0E-9970-484C-B6C8-9B07867A33F7}" type="presOf" srcId="{CCEE2A02-E267-47A4-9C41-2E0E3929CD97}" destId="{4C0349B2-9CC7-40B9-B3A8-446339A4A679}" srcOrd="0" destOrd="0" presId="urn:microsoft.com/office/officeart/2018/5/layout/CenteredIconLabelDescriptionList"/>
    <dgm:cxn modelId="{74189233-323A-432E-A113-F53EB57EE030}" srcId="{25ED596E-2C13-4C96-90DB-2AC806B92AF3}" destId="{CCEE2A02-E267-47A4-9C41-2E0E3929CD97}" srcOrd="0" destOrd="0" parTransId="{BD48C50F-40D1-43E4-88A7-D34789687716}" sibTransId="{BF805F83-C35A-4143-B48A-72065D8B3CA8}"/>
    <dgm:cxn modelId="{BCCFFF39-21A0-46E6-9BC8-473ACE960E2C}" srcId="{9C2716F1-A5AE-4160-9544-D29786AB9F64}" destId="{DA32C9DF-A508-46FA-99FE-613B58870867}" srcOrd="0" destOrd="0" parTransId="{AA6CB7B3-7619-4B3D-AD5F-2C73BF5E462F}" sibTransId="{BC4E9F4E-883F-4CBA-B1F5-58BCBF360B09}"/>
    <dgm:cxn modelId="{4D026959-20BF-418E-8076-5DC8398EBED0}" type="presOf" srcId="{25ED596E-2C13-4C96-90DB-2AC806B92AF3}" destId="{C2A03AB6-BD90-4396-A9BD-20C8845B8CFA}" srcOrd="0" destOrd="0" presId="urn:microsoft.com/office/officeart/2018/5/layout/CenteredIconLabelDescriptionList"/>
    <dgm:cxn modelId="{90193987-4863-48F3-9BDC-5706498E7158}" srcId="{25ED596E-2C13-4C96-90DB-2AC806B92AF3}" destId="{F4491603-D668-448B-9F40-135E6DC96F3F}" srcOrd="1" destOrd="0" parTransId="{E9C2F8BA-9EF0-421D-A2F8-AF4780260823}" sibTransId="{0BEA89FB-CCCC-44E1-B82C-9941B2E0B761}"/>
    <dgm:cxn modelId="{D9B7DB87-21D6-467A-8418-FD395D7D75F7}" srcId="{9C2716F1-A5AE-4160-9544-D29786AB9F64}" destId="{7CE918D7-0B4C-4527-9581-6C7225D5AE99}" srcOrd="1" destOrd="0" parTransId="{3A9BE979-6905-4C45-BFA2-C81669D70246}" sibTransId="{3D639D12-FA87-45B7-88B4-3CE7F99FB9C2}"/>
    <dgm:cxn modelId="{2041EFBE-F27E-4158-959C-13065078A3E0}" type="presOf" srcId="{DA32C9DF-A508-46FA-99FE-613B58870867}" destId="{FAEC269F-F36D-4FA7-96F0-400DECFC1628}" srcOrd="0" destOrd="0" presId="urn:microsoft.com/office/officeart/2018/5/layout/CenteredIconLabelDescriptionList"/>
    <dgm:cxn modelId="{32E09FC8-5599-4D61-99E1-750E28AB1F0A}" type="presOf" srcId="{9C2716F1-A5AE-4160-9544-D29786AB9F64}" destId="{6ABD8809-6AEE-43E2-84CC-3338BAF5E678}" srcOrd="0" destOrd="0" presId="urn:microsoft.com/office/officeart/2018/5/layout/CenteredIconLabelDescriptionList"/>
    <dgm:cxn modelId="{224E1EE8-4DAB-4050-853F-7B92310D6C0E}" srcId="{9C2716F1-A5AE-4160-9544-D29786AB9F64}" destId="{25ED596E-2C13-4C96-90DB-2AC806B92AF3}" srcOrd="2" destOrd="0" parTransId="{DB59FD96-3304-4A06-835B-BCB651F46FDB}" sibTransId="{F10BF61E-4AA0-4E42-BB4A-160968F90A41}"/>
    <dgm:cxn modelId="{F2BC4490-B622-40F2-8BA6-1BA2610B2F11}" type="presParOf" srcId="{6ABD8809-6AEE-43E2-84CC-3338BAF5E678}" destId="{B4E6CC6D-CD4E-4B7D-A9A6-E0C68DCAB3B0}" srcOrd="0" destOrd="0" presId="urn:microsoft.com/office/officeart/2018/5/layout/CenteredIconLabelDescriptionList"/>
    <dgm:cxn modelId="{D876BE77-4011-4AB0-9C48-CA54B36EE029}" type="presParOf" srcId="{B4E6CC6D-CD4E-4B7D-A9A6-E0C68DCAB3B0}" destId="{14146EE6-90FC-48E9-A1AF-94207C6567BD}" srcOrd="0" destOrd="0" presId="urn:microsoft.com/office/officeart/2018/5/layout/CenteredIconLabelDescriptionList"/>
    <dgm:cxn modelId="{58BA3C89-203A-4484-B974-AD108DB4CCE9}" type="presParOf" srcId="{B4E6CC6D-CD4E-4B7D-A9A6-E0C68DCAB3B0}" destId="{0357AAA9-AC8C-4605-B597-5899F8760BDF}" srcOrd="1" destOrd="0" presId="urn:microsoft.com/office/officeart/2018/5/layout/CenteredIconLabelDescriptionList"/>
    <dgm:cxn modelId="{C0C73052-D808-42BE-996A-D58E99C76278}" type="presParOf" srcId="{B4E6CC6D-CD4E-4B7D-A9A6-E0C68DCAB3B0}" destId="{FAEC269F-F36D-4FA7-96F0-400DECFC1628}" srcOrd="2" destOrd="0" presId="urn:microsoft.com/office/officeart/2018/5/layout/CenteredIconLabelDescriptionList"/>
    <dgm:cxn modelId="{0F5424C5-0E64-4876-B3AB-BF9B6BD5C2FA}" type="presParOf" srcId="{B4E6CC6D-CD4E-4B7D-A9A6-E0C68DCAB3B0}" destId="{0D7210D6-38AB-4C2C-BE52-CF1F7257E99D}" srcOrd="3" destOrd="0" presId="urn:microsoft.com/office/officeart/2018/5/layout/CenteredIconLabelDescriptionList"/>
    <dgm:cxn modelId="{56F163CD-D833-40DA-8869-C0E18E78999D}" type="presParOf" srcId="{B4E6CC6D-CD4E-4B7D-A9A6-E0C68DCAB3B0}" destId="{FA884B25-4F5A-4129-9D9D-D35C2617C934}" srcOrd="4" destOrd="0" presId="urn:microsoft.com/office/officeart/2018/5/layout/CenteredIconLabelDescriptionList"/>
    <dgm:cxn modelId="{420CE3B5-83BD-45BB-932D-DD75B7451CBD}" type="presParOf" srcId="{6ABD8809-6AEE-43E2-84CC-3338BAF5E678}" destId="{C5F7A2F2-0EEC-4C72-884B-2D2A6B0673D2}" srcOrd="1" destOrd="0" presId="urn:microsoft.com/office/officeart/2018/5/layout/CenteredIconLabelDescriptionList"/>
    <dgm:cxn modelId="{26D4C914-A948-4688-9880-25A6469EB678}" type="presParOf" srcId="{6ABD8809-6AEE-43E2-84CC-3338BAF5E678}" destId="{0D3C9919-BCCF-4171-8354-C3BFA6F16E02}" srcOrd="2" destOrd="0" presId="urn:microsoft.com/office/officeart/2018/5/layout/CenteredIconLabelDescriptionList"/>
    <dgm:cxn modelId="{CE9871C5-1637-45DD-A39B-C8209E998B6C}" type="presParOf" srcId="{0D3C9919-BCCF-4171-8354-C3BFA6F16E02}" destId="{292D8F4A-CC31-410E-A3DD-73D4C23207B0}" srcOrd="0" destOrd="0" presId="urn:microsoft.com/office/officeart/2018/5/layout/CenteredIconLabelDescriptionList"/>
    <dgm:cxn modelId="{31926F55-C20F-4B11-820F-BCD29CB93611}" type="presParOf" srcId="{0D3C9919-BCCF-4171-8354-C3BFA6F16E02}" destId="{00182613-FAAE-4C12-97DE-511B534EFB99}" srcOrd="1" destOrd="0" presId="urn:microsoft.com/office/officeart/2018/5/layout/CenteredIconLabelDescriptionList"/>
    <dgm:cxn modelId="{5B16B6DB-EF1A-4C2A-B95C-D9690F8BDE69}" type="presParOf" srcId="{0D3C9919-BCCF-4171-8354-C3BFA6F16E02}" destId="{8074DB7E-15DA-4934-AE5C-B05F4CAEDBC4}" srcOrd="2" destOrd="0" presId="urn:microsoft.com/office/officeart/2018/5/layout/CenteredIconLabelDescriptionList"/>
    <dgm:cxn modelId="{D95A3C87-DC0A-4321-AC30-216E69A19E69}" type="presParOf" srcId="{0D3C9919-BCCF-4171-8354-C3BFA6F16E02}" destId="{7CDF5594-04D5-4D4B-9DC2-A5AD3BEE24CC}" srcOrd="3" destOrd="0" presId="urn:microsoft.com/office/officeart/2018/5/layout/CenteredIconLabelDescriptionList"/>
    <dgm:cxn modelId="{2A4B3795-D56D-4FA6-B986-CD35325842CD}" type="presParOf" srcId="{0D3C9919-BCCF-4171-8354-C3BFA6F16E02}" destId="{4B6735E1-AF85-4137-865B-A5111A331FFF}" srcOrd="4" destOrd="0" presId="urn:microsoft.com/office/officeart/2018/5/layout/CenteredIconLabelDescriptionList"/>
    <dgm:cxn modelId="{CF8935B3-B85F-49E3-A79E-3EC5AE734A19}" type="presParOf" srcId="{6ABD8809-6AEE-43E2-84CC-3338BAF5E678}" destId="{721F0433-DBD6-4528-8137-3350BEB67457}" srcOrd="3" destOrd="0" presId="urn:microsoft.com/office/officeart/2018/5/layout/CenteredIconLabelDescriptionList"/>
    <dgm:cxn modelId="{357ACDF3-5558-43D0-980B-16C3C3CF1B4A}" type="presParOf" srcId="{6ABD8809-6AEE-43E2-84CC-3338BAF5E678}" destId="{659BE73D-67BC-47AC-9AE8-7C07A38EEDD2}" srcOrd="4" destOrd="0" presId="urn:microsoft.com/office/officeart/2018/5/layout/CenteredIconLabelDescriptionList"/>
    <dgm:cxn modelId="{E823185B-D958-44CD-A144-505ED49E2F58}" type="presParOf" srcId="{659BE73D-67BC-47AC-9AE8-7C07A38EEDD2}" destId="{04DBA8A7-77F9-4A96-A5C7-7015033D4EE7}" srcOrd="0" destOrd="0" presId="urn:microsoft.com/office/officeart/2018/5/layout/CenteredIconLabelDescriptionList"/>
    <dgm:cxn modelId="{A3D14E19-FA26-4EEA-B070-A361AEBE49C0}" type="presParOf" srcId="{659BE73D-67BC-47AC-9AE8-7C07A38EEDD2}" destId="{2CDC2A64-26A9-410E-9BDC-4CE8F2874306}" srcOrd="1" destOrd="0" presId="urn:microsoft.com/office/officeart/2018/5/layout/CenteredIconLabelDescriptionList"/>
    <dgm:cxn modelId="{A58B9765-B74B-4603-8A05-C0531C5719A8}" type="presParOf" srcId="{659BE73D-67BC-47AC-9AE8-7C07A38EEDD2}" destId="{C2A03AB6-BD90-4396-A9BD-20C8845B8CFA}" srcOrd="2" destOrd="0" presId="urn:microsoft.com/office/officeart/2018/5/layout/CenteredIconLabelDescriptionList"/>
    <dgm:cxn modelId="{E878BA65-2234-40A7-BFCD-7204E5EE4F7D}" type="presParOf" srcId="{659BE73D-67BC-47AC-9AE8-7C07A38EEDD2}" destId="{40F5EC90-A0C6-486C-A847-A4353580A22F}" srcOrd="3" destOrd="0" presId="urn:microsoft.com/office/officeart/2018/5/layout/CenteredIconLabelDescriptionList"/>
    <dgm:cxn modelId="{E9B21B63-046B-4C04-AB8A-37904FECE504}" type="presParOf" srcId="{659BE73D-67BC-47AC-9AE8-7C07A38EEDD2}" destId="{4C0349B2-9CC7-40B9-B3A8-446339A4A67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21C1705-72E6-4AF0-A308-3E84F86AAAB9}" type="doc">
      <dgm:prSet loTypeId="urn:microsoft.com/office/officeart/2018/2/layout/IconLabelList" loCatId="icon" qsTypeId="urn:microsoft.com/office/officeart/2005/8/quickstyle/simple1#5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B801EB6-E133-4817-9E86-81889B86544A}">
      <dgm:prSet/>
      <dgm:spPr/>
      <dgm:t>
        <a:bodyPr/>
        <a:lstStyle/>
        <a:p>
          <a:r>
            <a:rPr lang="es-CL" dirty="0"/>
            <a:t>Socialización temprana</a:t>
          </a:r>
          <a:endParaRPr lang="en-US" dirty="0"/>
        </a:p>
      </dgm:t>
    </dgm:pt>
    <dgm:pt modelId="{A22A16F1-2D61-4EE8-99BB-D33E1ECB8EC1}" type="parTrans" cxnId="{043B2887-4927-4FB6-8C89-7B19D732AEFF}">
      <dgm:prSet/>
      <dgm:spPr/>
      <dgm:t>
        <a:bodyPr/>
        <a:lstStyle/>
        <a:p>
          <a:endParaRPr lang="en-US"/>
        </a:p>
      </dgm:t>
    </dgm:pt>
    <dgm:pt modelId="{A8BFD221-2B57-4A9F-822F-6596B6CFDF4C}" type="sibTrans" cxnId="{043B2887-4927-4FB6-8C89-7B19D732AEFF}">
      <dgm:prSet/>
      <dgm:spPr/>
      <dgm:t>
        <a:bodyPr/>
        <a:lstStyle/>
        <a:p>
          <a:endParaRPr lang="en-US"/>
        </a:p>
      </dgm:t>
    </dgm:pt>
    <dgm:pt modelId="{0B8C5197-D396-4C56-BF8A-389327B17CB4}">
      <dgm:prSet/>
      <dgm:spPr/>
      <dgm:t>
        <a:bodyPr/>
        <a:lstStyle/>
        <a:p>
          <a:r>
            <a:rPr lang="es-CL"/>
            <a:t>Amenaza de estereotipo</a:t>
          </a:r>
          <a:endParaRPr lang="en-US"/>
        </a:p>
      </dgm:t>
    </dgm:pt>
    <dgm:pt modelId="{133BEC2A-2131-4910-BCB3-6513F000CA2F}" type="parTrans" cxnId="{B76286A9-4FE3-4847-8D2F-3159BEEB4847}">
      <dgm:prSet/>
      <dgm:spPr/>
      <dgm:t>
        <a:bodyPr/>
        <a:lstStyle/>
        <a:p>
          <a:endParaRPr lang="en-US"/>
        </a:p>
      </dgm:t>
    </dgm:pt>
    <dgm:pt modelId="{D46938A8-AD36-4B66-81A0-076D6BB44025}" type="sibTrans" cxnId="{B76286A9-4FE3-4847-8D2F-3159BEEB4847}">
      <dgm:prSet/>
      <dgm:spPr/>
      <dgm:t>
        <a:bodyPr/>
        <a:lstStyle/>
        <a:p>
          <a:endParaRPr lang="en-US"/>
        </a:p>
      </dgm:t>
    </dgm:pt>
    <dgm:pt modelId="{17D38A50-311F-4579-9E3A-163639843C93}" type="pres">
      <dgm:prSet presAssocID="{221C1705-72E6-4AF0-A308-3E84F86AAAB9}" presName="root" presStyleCnt="0">
        <dgm:presLayoutVars>
          <dgm:dir/>
          <dgm:resizeHandles val="exact"/>
        </dgm:presLayoutVars>
      </dgm:prSet>
      <dgm:spPr/>
    </dgm:pt>
    <dgm:pt modelId="{10334A4A-2EC1-4A56-9F0D-97A64C829004}" type="pres">
      <dgm:prSet presAssocID="{AB801EB6-E133-4817-9E86-81889B86544A}" presName="compNode" presStyleCnt="0"/>
      <dgm:spPr/>
    </dgm:pt>
    <dgm:pt modelId="{342205CE-3CD5-4C43-A7EC-D002892CC436}" type="pres">
      <dgm:prSet presAssocID="{AB801EB6-E133-4817-9E86-81889B86544A}" presName="iconRect" presStyleLbl="node1" presStyleIdx="0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by with solid fill"/>
        </a:ext>
      </dgm:extLst>
    </dgm:pt>
    <dgm:pt modelId="{A4C8A608-139D-48FE-96C9-7989A9DDDF62}" type="pres">
      <dgm:prSet presAssocID="{AB801EB6-E133-4817-9E86-81889B86544A}" presName="spaceRect" presStyleCnt="0"/>
      <dgm:spPr/>
    </dgm:pt>
    <dgm:pt modelId="{69E51B53-798E-456A-9979-A5BEB1A65318}" type="pres">
      <dgm:prSet presAssocID="{AB801EB6-E133-4817-9E86-81889B86544A}" presName="textRect" presStyleLbl="revTx" presStyleIdx="0" presStyleCnt="2">
        <dgm:presLayoutVars>
          <dgm:chMax val="1"/>
          <dgm:chPref val="1"/>
        </dgm:presLayoutVars>
      </dgm:prSet>
      <dgm:spPr/>
    </dgm:pt>
    <dgm:pt modelId="{F461157F-6657-4169-9D50-F4B843C37633}" type="pres">
      <dgm:prSet presAssocID="{A8BFD221-2B57-4A9F-822F-6596B6CFDF4C}" presName="sibTrans" presStyleCnt="0"/>
      <dgm:spPr/>
    </dgm:pt>
    <dgm:pt modelId="{EB46D719-19FE-441C-8113-5DF940BDF6C5}" type="pres">
      <dgm:prSet presAssocID="{0B8C5197-D396-4C56-BF8A-389327B17CB4}" presName="compNode" presStyleCnt="0"/>
      <dgm:spPr/>
    </dgm:pt>
    <dgm:pt modelId="{7EEF7129-1C34-4E0C-9F67-DCF19542ABC4}" type="pres">
      <dgm:prSet presAssocID="{0B8C5197-D396-4C56-BF8A-389327B17CB4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496E6E4A-6A31-4705-AAFD-7CA4B36540E4}" type="pres">
      <dgm:prSet presAssocID="{0B8C5197-D396-4C56-BF8A-389327B17CB4}" presName="spaceRect" presStyleCnt="0"/>
      <dgm:spPr/>
    </dgm:pt>
    <dgm:pt modelId="{32683997-70F5-45B8-86BD-E105799DCB7E}" type="pres">
      <dgm:prSet presAssocID="{0B8C5197-D396-4C56-BF8A-389327B17CB4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43B2887-4927-4FB6-8C89-7B19D732AEFF}" srcId="{221C1705-72E6-4AF0-A308-3E84F86AAAB9}" destId="{AB801EB6-E133-4817-9E86-81889B86544A}" srcOrd="0" destOrd="0" parTransId="{A22A16F1-2D61-4EE8-99BB-D33E1ECB8EC1}" sibTransId="{A8BFD221-2B57-4A9F-822F-6596B6CFDF4C}"/>
    <dgm:cxn modelId="{C494C79B-0E2E-4463-B67F-41E980828E80}" type="presOf" srcId="{AB801EB6-E133-4817-9E86-81889B86544A}" destId="{69E51B53-798E-456A-9979-A5BEB1A65318}" srcOrd="0" destOrd="0" presId="urn:microsoft.com/office/officeart/2018/2/layout/IconLabelList"/>
    <dgm:cxn modelId="{B76286A9-4FE3-4847-8D2F-3159BEEB4847}" srcId="{221C1705-72E6-4AF0-A308-3E84F86AAAB9}" destId="{0B8C5197-D396-4C56-BF8A-389327B17CB4}" srcOrd="1" destOrd="0" parTransId="{133BEC2A-2131-4910-BCB3-6513F000CA2F}" sibTransId="{D46938A8-AD36-4B66-81A0-076D6BB44025}"/>
    <dgm:cxn modelId="{7F44EDDE-E0E7-4399-B483-5DB82CCAB5F8}" type="presOf" srcId="{0B8C5197-D396-4C56-BF8A-389327B17CB4}" destId="{32683997-70F5-45B8-86BD-E105799DCB7E}" srcOrd="0" destOrd="0" presId="urn:microsoft.com/office/officeart/2018/2/layout/IconLabelList"/>
    <dgm:cxn modelId="{9912ABF5-7B24-4CD7-B599-0A69A440810E}" type="presOf" srcId="{221C1705-72E6-4AF0-A308-3E84F86AAAB9}" destId="{17D38A50-311F-4579-9E3A-163639843C93}" srcOrd="0" destOrd="0" presId="urn:microsoft.com/office/officeart/2018/2/layout/IconLabelList"/>
    <dgm:cxn modelId="{4E21D308-EBA1-4DDB-B541-FB94789B0743}" type="presParOf" srcId="{17D38A50-311F-4579-9E3A-163639843C93}" destId="{10334A4A-2EC1-4A56-9F0D-97A64C829004}" srcOrd="0" destOrd="0" presId="urn:microsoft.com/office/officeart/2018/2/layout/IconLabelList"/>
    <dgm:cxn modelId="{1C04FAB7-5FBD-4314-99C1-36411E6200AC}" type="presParOf" srcId="{10334A4A-2EC1-4A56-9F0D-97A64C829004}" destId="{342205CE-3CD5-4C43-A7EC-D002892CC436}" srcOrd="0" destOrd="0" presId="urn:microsoft.com/office/officeart/2018/2/layout/IconLabelList"/>
    <dgm:cxn modelId="{F53715D6-3910-429D-867C-C2266AC77CFA}" type="presParOf" srcId="{10334A4A-2EC1-4A56-9F0D-97A64C829004}" destId="{A4C8A608-139D-48FE-96C9-7989A9DDDF62}" srcOrd="1" destOrd="0" presId="urn:microsoft.com/office/officeart/2018/2/layout/IconLabelList"/>
    <dgm:cxn modelId="{55718DA8-2B31-41AD-AC4D-EF8BF1B635DF}" type="presParOf" srcId="{10334A4A-2EC1-4A56-9F0D-97A64C829004}" destId="{69E51B53-798E-456A-9979-A5BEB1A65318}" srcOrd="2" destOrd="0" presId="urn:microsoft.com/office/officeart/2018/2/layout/IconLabelList"/>
    <dgm:cxn modelId="{D99C2DCC-BD06-4BDB-83F1-4F2AE6948477}" type="presParOf" srcId="{17D38A50-311F-4579-9E3A-163639843C93}" destId="{F461157F-6657-4169-9D50-F4B843C37633}" srcOrd="1" destOrd="0" presId="urn:microsoft.com/office/officeart/2018/2/layout/IconLabelList"/>
    <dgm:cxn modelId="{724915A1-C392-4568-B51A-94FA7B5F7419}" type="presParOf" srcId="{17D38A50-311F-4579-9E3A-163639843C93}" destId="{EB46D719-19FE-441C-8113-5DF940BDF6C5}" srcOrd="2" destOrd="0" presId="urn:microsoft.com/office/officeart/2018/2/layout/IconLabelList"/>
    <dgm:cxn modelId="{5F5023FC-6054-4900-B02B-E94A98A5FC71}" type="presParOf" srcId="{EB46D719-19FE-441C-8113-5DF940BDF6C5}" destId="{7EEF7129-1C34-4E0C-9F67-DCF19542ABC4}" srcOrd="0" destOrd="0" presId="urn:microsoft.com/office/officeart/2018/2/layout/IconLabelList"/>
    <dgm:cxn modelId="{6264F9FD-2CE7-44BC-B22A-096B36E7C026}" type="presParOf" srcId="{EB46D719-19FE-441C-8113-5DF940BDF6C5}" destId="{496E6E4A-6A31-4705-AAFD-7CA4B36540E4}" srcOrd="1" destOrd="0" presId="urn:microsoft.com/office/officeart/2018/2/layout/IconLabelList"/>
    <dgm:cxn modelId="{ED250E13-5A81-41E8-A086-03963F316F6B}" type="presParOf" srcId="{EB46D719-19FE-441C-8113-5DF940BDF6C5}" destId="{32683997-70F5-45B8-86BD-E105799DCB7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68A7BCF-1480-4842-B331-DF8F4A690F5E}" type="doc">
      <dgm:prSet loTypeId="urn:microsoft.com/office/officeart/2005/8/layout/process1" loCatId="" qsTypeId="urn:microsoft.com/office/officeart/2005/8/quickstyle/simple1#6" qsCatId="simple" csTypeId="urn:microsoft.com/office/officeart/2005/8/colors/accent1_2#1" csCatId="accent1" phldr="1"/>
      <dgm:spPr/>
    </dgm:pt>
    <dgm:pt modelId="{46C4446A-61B6-994F-8102-EA783E1F049F}">
      <dgm:prSet phldrT="[Texto]"/>
      <dgm:spPr/>
      <dgm:t>
        <a:bodyPr/>
        <a:lstStyle/>
        <a:p>
          <a:r>
            <a:rPr lang="es-ES" dirty="0"/>
            <a:t>Creencias estereotípicas</a:t>
          </a:r>
        </a:p>
      </dgm:t>
    </dgm:pt>
    <dgm:pt modelId="{B0A536AC-931C-424C-A8CE-BAEB2352005E}" type="parTrans" cxnId="{265C324F-7812-424B-BCCE-63AEA379A92C}">
      <dgm:prSet/>
      <dgm:spPr/>
      <dgm:t>
        <a:bodyPr/>
        <a:lstStyle/>
        <a:p>
          <a:endParaRPr lang="es-ES"/>
        </a:p>
      </dgm:t>
    </dgm:pt>
    <dgm:pt modelId="{533BAD6C-7CD5-734D-9A86-E34F49933040}" type="sibTrans" cxnId="{265C324F-7812-424B-BCCE-63AEA379A92C}">
      <dgm:prSet/>
      <dgm:spPr/>
      <dgm:t>
        <a:bodyPr/>
        <a:lstStyle/>
        <a:p>
          <a:endParaRPr lang="es-ES"/>
        </a:p>
      </dgm:t>
    </dgm:pt>
    <dgm:pt modelId="{AC288C85-78E1-0746-B455-ACE6E74242B5}">
      <dgm:prSet phldrT="[Texto]"/>
      <dgm:spPr/>
      <dgm:t>
        <a:bodyPr/>
        <a:lstStyle/>
        <a:p>
          <a:r>
            <a:rPr lang="es-ES" dirty="0"/>
            <a:t>Evaluación de competencia</a:t>
          </a:r>
        </a:p>
      </dgm:t>
    </dgm:pt>
    <dgm:pt modelId="{750FD836-8BB6-B843-A068-E2268133A293}" type="parTrans" cxnId="{4A7310C5-25EA-9040-9B04-A174078A8CE8}">
      <dgm:prSet/>
      <dgm:spPr/>
      <dgm:t>
        <a:bodyPr/>
        <a:lstStyle/>
        <a:p>
          <a:endParaRPr lang="es-ES"/>
        </a:p>
      </dgm:t>
    </dgm:pt>
    <dgm:pt modelId="{11CB6B84-3FBF-FC47-883B-2DDC0F6A40B1}" type="sibTrans" cxnId="{4A7310C5-25EA-9040-9B04-A174078A8CE8}">
      <dgm:prSet/>
      <dgm:spPr/>
      <dgm:t>
        <a:bodyPr/>
        <a:lstStyle/>
        <a:p>
          <a:endParaRPr lang="es-ES"/>
        </a:p>
      </dgm:t>
    </dgm:pt>
    <dgm:pt modelId="{338084E2-329D-1F41-9D32-2AB878C98903}" type="pres">
      <dgm:prSet presAssocID="{868A7BCF-1480-4842-B331-DF8F4A690F5E}" presName="Name0" presStyleCnt="0">
        <dgm:presLayoutVars>
          <dgm:dir/>
          <dgm:resizeHandles val="exact"/>
        </dgm:presLayoutVars>
      </dgm:prSet>
      <dgm:spPr/>
    </dgm:pt>
    <dgm:pt modelId="{171C887C-45D2-EC49-90AA-EC85702E673E}" type="pres">
      <dgm:prSet presAssocID="{46C4446A-61B6-994F-8102-EA783E1F049F}" presName="node" presStyleLbl="node1" presStyleIdx="0" presStyleCnt="2">
        <dgm:presLayoutVars>
          <dgm:bulletEnabled val="1"/>
        </dgm:presLayoutVars>
      </dgm:prSet>
      <dgm:spPr/>
    </dgm:pt>
    <dgm:pt modelId="{7FFF6EB3-F782-984C-9911-15704C719F52}" type="pres">
      <dgm:prSet presAssocID="{533BAD6C-7CD5-734D-9A86-E34F49933040}" presName="sibTrans" presStyleLbl="sibTrans2D1" presStyleIdx="0" presStyleCnt="1"/>
      <dgm:spPr/>
    </dgm:pt>
    <dgm:pt modelId="{701E1238-B7F9-F444-8DA5-C52E630646F7}" type="pres">
      <dgm:prSet presAssocID="{533BAD6C-7CD5-734D-9A86-E34F49933040}" presName="connectorText" presStyleLbl="sibTrans2D1" presStyleIdx="0" presStyleCnt="1"/>
      <dgm:spPr/>
    </dgm:pt>
    <dgm:pt modelId="{D04DB88F-3B54-104D-818A-C5AEB734DE6C}" type="pres">
      <dgm:prSet presAssocID="{AC288C85-78E1-0746-B455-ACE6E74242B5}" presName="node" presStyleLbl="node1" presStyleIdx="1" presStyleCnt="2">
        <dgm:presLayoutVars>
          <dgm:bulletEnabled val="1"/>
        </dgm:presLayoutVars>
      </dgm:prSet>
      <dgm:spPr/>
    </dgm:pt>
  </dgm:ptLst>
  <dgm:cxnLst>
    <dgm:cxn modelId="{7D468832-07A2-F44F-81E8-8EED54C9386A}" type="presOf" srcId="{AC288C85-78E1-0746-B455-ACE6E74242B5}" destId="{D04DB88F-3B54-104D-818A-C5AEB734DE6C}" srcOrd="0" destOrd="0" presId="urn:microsoft.com/office/officeart/2005/8/layout/process1"/>
    <dgm:cxn modelId="{B4A75D33-EAE0-794D-8F31-7C569C0539B7}" type="presOf" srcId="{868A7BCF-1480-4842-B331-DF8F4A690F5E}" destId="{338084E2-329D-1F41-9D32-2AB878C98903}" srcOrd="0" destOrd="0" presId="urn:microsoft.com/office/officeart/2005/8/layout/process1"/>
    <dgm:cxn modelId="{265C324F-7812-424B-BCCE-63AEA379A92C}" srcId="{868A7BCF-1480-4842-B331-DF8F4A690F5E}" destId="{46C4446A-61B6-994F-8102-EA783E1F049F}" srcOrd="0" destOrd="0" parTransId="{B0A536AC-931C-424C-A8CE-BAEB2352005E}" sibTransId="{533BAD6C-7CD5-734D-9A86-E34F49933040}"/>
    <dgm:cxn modelId="{56BB6C7F-662C-F74D-9408-E271FFD042C5}" type="presOf" srcId="{533BAD6C-7CD5-734D-9A86-E34F49933040}" destId="{701E1238-B7F9-F444-8DA5-C52E630646F7}" srcOrd="1" destOrd="0" presId="urn:microsoft.com/office/officeart/2005/8/layout/process1"/>
    <dgm:cxn modelId="{F896B997-74E0-CF47-9E0C-CC0B78B359DF}" type="presOf" srcId="{46C4446A-61B6-994F-8102-EA783E1F049F}" destId="{171C887C-45D2-EC49-90AA-EC85702E673E}" srcOrd="0" destOrd="0" presId="urn:microsoft.com/office/officeart/2005/8/layout/process1"/>
    <dgm:cxn modelId="{4A7310C5-25EA-9040-9B04-A174078A8CE8}" srcId="{868A7BCF-1480-4842-B331-DF8F4A690F5E}" destId="{AC288C85-78E1-0746-B455-ACE6E74242B5}" srcOrd="1" destOrd="0" parTransId="{750FD836-8BB6-B843-A068-E2268133A293}" sibTransId="{11CB6B84-3FBF-FC47-883B-2DDC0F6A40B1}"/>
    <dgm:cxn modelId="{4CB4A7FB-160E-F841-8824-53EBDF2057E6}" type="presOf" srcId="{533BAD6C-7CD5-734D-9A86-E34F49933040}" destId="{7FFF6EB3-F782-984C-9911-15704C719F52}" srcOrd="0" destOrd="0" presId="urn:microsoft.com/office/officeart/2005/8/layout/process1"/>
    <dgm:cxn modelId="{1279E65D-6CA6-584D-8B96-A2581DB7445A}" type="presParOf" srcId="{338084E2-329D-1F41-9D32-2AB878C98903}" destId="{171C887C-45D2-EC49-90AA-EC85702E673E}" srcOrd="0" destOrd="0" presId="urn:microsoft.com/office/officeart/2005/8/layout/process1"/>
    <dgm:cxn modelId="{71913F4D-F116-D04A-88CC-1ABEA205F037}" type="presParOf" srcId="{338084E2-329D-1F41-9D32-2AB878C98903}" destId="{7FFF6EB3-F782-984C-9911-15704C719F52}" srcOrd="1" destOrd="0" presId="urn:microsoft.com/office/officeart/2005/8/layout/process1"/>
    <dgm:cxn modelId="{C85DF1DE-CE01-1444-8244-BF22DAC12BFA}" type="presParOf" srcId="{7FFF6EB3-F782-984C-9911-15704C719F52}" destId="{701E1238-B7F9-F444-8DA5-C52E630646F7}" srcOrd="0" destOrd="0" presId="urn:microsoft.com/office/officeart/2005/8/layout/process1"/>
    <dgm:cxn modelId="{1A3CF350-051C-A84E-8F35-7088CD810A49}" type="presParOf" srcId="{338084E2-329D-1F41-9D32-2AB878C98903}" destId="{D04DB88F-3B54-104D-818A-C5AEB734DE6C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6C77105-0886-4ECC-8EBC-671689502C41}" type="doc">
      <dgm:prSet loTypeId="urn:microsoft.com/office/officeart/2018/2/layout/IconCircleList" loCatId="icon" qsTypeId="urn:microsoft.com/office/officeart/2005/8/quickstyle/simple1#7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10A1D761-5F16-4FDA-9025-150344B50C01}">
      <dgm:prSet/>
      <dgm:spPr/>
      <dgm:t>
        <a:bodyPr/>
        <a:lstStyle/>
        <a:p>
          <a:r>
            <a:rPr lang="es-CL"/>
            <a:t>Cuando son salientes, los estereotipos interfieren con la capacidad de memoria de trabajo.</a:t>
          </a:r>
          <a:endParaRPr lang="en-US"/>
        </a:p>
      </dgm:t>
    </dgm:pt>
    <dgm:pt modelId="{3AFC9CB0-4C10-41F7-88F4-7BA57A1661A4}" type="parTrans" cxnId="{88BBACF4-1AD3-4F61-A45B-E04B9816414C}">
      <dgm:prSet/>
      <dgm:spPr/>
      <dgm:t>
        <a:bodyPr/>
        <a:lstStyle/>
        <a:p>
          <a:endParaRPr lang="en-US"/>
        </a:p>
      </dgm:t>
    </dgm:pt>
    <dgm:pt modelId="{F5364DAF-5EE2-4D7D-B764-5361B0FB9B5D}" type="sibTrans" cxnId="{88BBACF4-1AD3-4F61-A45B-E04B9816414C}">
      <dgm:prSet/>
      <dgm:spPr/>
      <dgm:t>
        <a:bodyPr/>
        <a:lstStyle/>
        <a:p>
          <a:endParaRPr lang="en-US"/>
        </a:p>
      </dgm:t>
    </dgm:pt>
    <dgm:pt modelId="{FABB56C0-5BD2-4EB3-BC56-4C1D6B021CC5}">
      <dgm:prSet/>
      <dgm:spPr/>
      <dgm:t>
        <a:bodyPr/>
        <a:lstStyle/>
        <a:p>
          <a:r>
            <a:rPr lang="es-CL" dirty="0"/>
            <a:t>Los efectos tienden a ser mayores entre las personas de alto desempeño.</a:t>
          </a:r>
          <a:endParaRPr lang="en-US" dirty="0"/>
        </a:p>
      </dgm:t>
    </dgm:pt>
    <dgm:pt modelId="{EDD5CC8D-A8BF-46B1-B585-9B86A6DBEFC2}" type="parTrans" cxnId="{1E3C15F2-DCEE-49D0-A460-C5C91C004613}">
      <dgm:prSet/>
      <dgm:spPr/>
      <dgm:t>
        <a:bodyPr/>
        <a:lstStyle/>
        <a:p>
          <a:endParaRPr lang="en-US"/>
        </a:p>
      </dgm:t>
    </dgm:pt>
    <dgm:pt modelId="{A347558A-DE75-4FE0-BE4D-A0E93FBF5497}" type="sibTrans" cxnId="{1E3C15F2-DCEE-49D0-A460-C5C91C004613}">
      <dgm:prSet/>
      <dgm:spPr/>
      <dgm:t>
        <a:bodyPr/>
        <a:lstStyle/>
        <a:p>
          <a:endParaRPr lang="en-US"/>
        </a:p>
      </dgm:t>
    </dgm:pt>
    <dgm:pt modelId="{89507DCC-2039-4E81-9A43-7F7FCE5ECDD9}">
      <dgm:prSet/>
      <dgm:spPr/>
      <dgm:t>
        <a:bodyPr/>
        <a:lstStyle/>
        <a:p>
          <a:r>
            <a:rPr lang="es-CL"/>
            <a:t>Generalmente ocurre mediante estar consciente del estereotipo</a:t>
          </a:r>
          <a:endParaRPr lang="en-US"/>
        </a:p>
      </dgm:t>
    </dgm:pt>
    <dgm:pt modelId="{540B9929-E732-4320-BE87-1F8F73513EB9}" type="parTrans" cxnId="{D5961B5F-FEE7-4C4F-9985-CC1CC91F6AAB}">
      <dgm:prSet/>
      <dgm:spPr/>
      <dgm:t>
        <a:bodyPr/>
        <a:lstStyle/>
        <a:p>
          <a:endParaRPr lang="en-US"/>
        </a:p>
      </dgm:t>
    </dgm:pt>
    <dgm:pt modelId="{D799493E-3B02-4B26-939B-6BE7BB42FA64}" type="sibTrans" cxnId="{D5961B5F-FEE7-4C4F-9985-CC1CC91F6AAB}">
      <dgm:prSet/>
      <dgm:spPr/>
      <dgm:t>
        <a:bodyPr/>
        <a:lstStyle/>
        <a:p>
          <a:endParaRPr lang="en-US"/>
        </a:p>
      </dgm:t>
    </dgm:pt>
    <dgm:pt modelId="{54A35CC1-3B62-4DC0-9163-353E892F57CF}">
      <dgm:prSet/>
      <dgm:spPr/>
      <dgm:t>
        <a:bodyPr/>
        <a:lstStyle/>
        <a:p>
          <a:r>
            <a:rPr lang="es-CL"/>
            <a:t>Los efectos son situacionales – cuando las creencias que son salientes cambian, también cambia el desempeño.	</a:t>
          </a:r>
          <a:endParaRPr lang="en-US"/>
        </a:p>
      </dgm:t>
    </dgm:pt>
    <dgm:pt modelId="{D51DDAF5-BC08-4CA6-B864-121CFE95A32A}" type="parTrans" cxnId="{86A8897C-1C60-4C9F-8BAC-66A925CFED2C}">
      <dgm:prSet/>
      <dgm:spPr/>
      <dgm:t>
        <a:bodyPr/>
        <a:lstStyle/>
        <a:p>
          <a:endParaRPr lang="en-US"/>
        </a:p>
      </dgm:t>
    </dgm:pt>
    <dgm:pt modelId="{74E03511-241D-46F4-9C25-5CC5607E45DA}" type="sibTrans" cxnId="{86A8897C-1C60-4C9F-8BAC-66A925CFED2C}">
      <dgm:prSet/>
      <dgm:spPr/>
      <dgm:t>
        <a:bodyPr/>
        <a:lstStyle/>
        <a:p>
          <a:endParaRPr lang="en-US"/>
        </a:p>
      </dgm:t>
    </dgm:pt>
    <dgm:pt modelId="{D584DFC9-387A-49E5-939A-390DCF0A3118}" type="pres">
      <dgm:prSet presAssocID="{F6C77105-0886-4ECC-8EBC-671689502C41}" presName="root" presStyleCnt="0">
        <dgm:presLayoutVars>
          <dgm:dir/>
          <dgm:resizeHandles val="exact"/>
        </dgm:presLayoutVars>
      </dgm:prSet>
      <dgm:spPr/>
    </dgm:pt>
    <dgm:pt modelId="{0F0660F7-01B2-41BD-A5BB-7E61320C5F15}" type="pres">
      <dgm:prSet presAssocID="{F6C77105-0886-4ECC-8EBC-671689502C41}" presName="container" presStyleCnt="0">
        <dgm:presLayoutVars>
          <dgm:dir/>
          <dgm:resizeHandles val="exact"/>
        </dgm:presLayoutVars>
      </dgm:prSet>
      <dgm:spPr/>
    </dgm:pt>
    <dgm:pt modelId="{87F20781-1670-4B5B-AE0D-2515076C7380}" type="pres">
      <dgm:prSet presAssocID="{10A1D761-5F16-4FDA-9025-150344B50C01}" presName="compNode" presStyleCnt="0"/>
      <dgm:spPr/>
    </dgm:pt>
    <dgm:pt modelId="{8D904242-EB7C-4576-9AD4-AFD2B2D8EA87}" type="pres">
      <dgm:prSet presAssocID="{10A1D761-5F16-4FDA-9025-150344B50C01}" presName="iconBgRect" presStyleLbl="bgShp" presStyleIdx="0" presStyleCnt="4"/>
      <dgm:spPr/>
    </dgm:pt>
    <dgm:pt modelId="{73189EF9-9354-402B-AAE2-5F592806BFE2}" type="pres">
      <dgm:prSet presAssocID="{10A1D761-5F16-4FDA-9025-150344B50C0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36233DE-68B6-4FAD-9DC9-46241E29C624}" type="pres">
      <dgm:prSet presAssocID="{10A1D761-5F16-4FDA-9025-150344B50C01}" presName="spaceRect" presStyleCnt="0"/>
      <dgm:spPr/>
    </dgm:pt>
    <dgm:pt modelId="{F6F14118-613F-468D-B51D-E3EA2A5A8A68}" type="pres">
      <dgm:prSet presAssocID="{10A1D761-5F16-4FDA-9025-150344B50C01}" presName="textRect" presStyleLbl="revTx" presStyleIdx="0" presStyleCnt="4">
        <dgm:presLayoutVars>
          <dgm:chMax val="1"/>
          <dgm:chPref val="1"/>
        </dgm:presLayoutVars>
      </dgm:prSet>
      <dgm:spPr/>
    </dgm:pt>
    <dgm:pt modelId="{DEE58B2B-5612-4AAE-A5CB-293AA388EAE6}" type="pres">
      <dgm:prSet presAssocID="{F5364DAF-5EE2-4D7D-B764-5361B0FB9B5D}" presName="sibTrans" presStyleLbl="sibTrans2D1" presStyleIdx="0" presStyleCnt="0"/>
      <dgm:spPr/>
    </dgm:pt>
    <dgm:pt modelId="{6F3C6F4F-49C0-4872-92BC-D8623E5AA060}" type="pres">
      <dgm:prSet presAssocID="{FABB56C0-5BD2-4EB3-BC56-4C1D6B021CC5}" presName="compNode" presStyleCnt="0"/>
      <dgm:spPr/>
    </dgm:pt>
    <dgm:pt modelId="{BB116E82-AA0D-4ACB-8AFB-62C0CCF22393}" type="pres">
      <dgm:prSet presAssocID="{FABB56C0-5BD2-4EB3-BC56-4C1D6B021CC5}" presName="iconBgRect" presStyleLbl="bgShp" presStyleIdx="1" presStyleCnt="4"/>
      <dgm:spPr/>
    </dgm:pt>
    <dgm:pt modelId="{712A15C1-C085-4222-B619-094567E44AC4}" type="pres">
      <dgm:prSet presAssocID="{FABB56C0-5BD2-4EB3-BC56-4C1D6B021CC5}" presName="iconRect" presStyleLbl="node1" presStyleIdx="1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dge 7 with solid fill"/>
        </a:ext>
      </dgm:extLst>
    </dgm:pt>
    <dgm:pt modelId="{BD6FEA21-D097-4B92-929A-B15E1F031E9E}" type="pres">
      <dgm:prSet presAssocID="{FABB56C0-5BD2-4EB3-BC56-4C1D6B021CC5}" presName="spaceRect" presStyleCnt="0"/>
      <dgm:spPr/>
    </dgm:pt>
    <dgm:pt modelId="{70BC5070-3932-4D41-80E7-FFF36C9CFA1B}" type="pres">
      <dgm:prSet presAssocID="{FABB56C0-5BD2-4EB3-BC56-4C1D6B021CC5}" presName="textRect" presStyleLbl="revTx" presStyleIdx="1" presStyleCnt="4">
        <dgm:presLayoutVars>
          <dgm:chMax val="1"/>
          <dgm:chPref val="1"/>
        </dgm:presLayoutVars>
      </dgm:prSet>
      <dgm:spPr/>
    </dgm:pt>
    <dgm:pt modelId="{CD2FDFB6-5AB0-48AD-8C6B-CF5CBE98DBD3}" type="pres">
      <dgm:prSet presAssocID="{A347558A-DE75-4FE0-BE4D-A0E93FBF5497}" presName="sibTrans" presStyleLbl="sibTrans2D1" presStyleIdx="0" presStyleCnt="0"/>
      <dgm:spPr/>
    </dgm:pt>
    <dgm:pt modelId="{86D7EC7D-C8EA-4F33-8A51-46F7318154B4}" type="pres">
      <dgm:prSet presAssocID="{89507DCC-2039-4E81-9A43-7F7FCE5ECDD9}" presName="compNode" presStyleCnt="0"/>
      <dgm:spPr/>
    </dgm:pt>
    <dgm:pt modelId="{2538BFD1-F529-4A59-B0F6-683B0E9C9BE0}" type="pres">
      <dgm:prSet presAssocID="{89507DCC-2039-4E81-9A43-7F7FCE5ECDD9}" presName="iconBgRect" presStyleLbl="bgShp" presStyleIdx="2" presStyleCnt="4"/>
      <dgm:spPr/>
    </dgm:pt>
    <dgm:pt modelId="{60E2C051-8385-4D70-ADC9-EB2095EC5E2E}" type="pres">
      <dgm:prSet presAssocID="{89507DCC-2039-4E81-9A43-7F7FCE5ECDD9}" presName="iconRect" presStyleLbl="node1" presStyleIdx="2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 with solid fill"/>
        </a:ext>
      </dgm:extLst>
    </dgm:pt>
    <dgm:pt modelId="{EFCC518A-DAAC-40C3-BCAE-8F25625BCB8E}" type="pres">
      <dgm:prSet presAssocID="{89507DCC-2039-4E81-9A43-7F7FCE5ECDD9}" presName="spaceRect" presStyleCnt="0"/>
      <dgm:spPr/>
    </dgm:pt>
    <dgm:pt modelId="{4413E4F2-36AC-47C4-A98C-73547B97C37A}" type="pres">
      <dgm:prSet presAssocID="{89507DCC-2039-4E81-9A43-7F7FCE5ECDD9}" presName="textRect" presStyleLbl="revTx" presStyleIdx="2" presStyleCnt="4">
        <dgm:presLayoutVars>
          <dgm:chMax val="1"/>
          <dgm:chPref val="1"/>
        </dgm:presLayoutVars>
      </dgm:prSet>
      <dgm:spPr/>
    </dgm:pt>
    <dgm:pt modelId="{22D7A99D-ABB9-4AD1-B9EF-FAEF65647645}" type="pres">
      <dgm:prSet presAssocID="{D799493E-3B02-4B26-939B-6BE7BB42FA64}" presName="sibTrans" presStyleLbl="sibTrans2D1" presStyleIdx="0" presStyleCnt="0"/>
      <dgm:spPr/>
    </dgm:pt>
    <dgm:pt modelId="{6F1B258E-B3A7-42A5-8830-6AE81A67EA78}" type="pres">
      <dgm:prSet presAssocID="{54A35CC1-3B62-4DC0-9163-353E892F57CF}" presName="compNode" presStyleCnt="0"/>
      <dgm:spPr/>
    </dgm:pt>
    <dgm:pt modelId="{D1B43F9F-9728-46F0-9DF5-82F921A75C5F}" type="pres">
      <dgm:prSet presAssocID="{54A35CC1-3B62-4DC0-9163-353E892F57CF}" presName="iconBgRect" presStyleLbl="bgShp" presStyleIdx="3" presStyleCnt="4"/>
      <dgm:spPr/>
    </dgm:pt>
    <dgm:pt modelId="{242F30A3-2996-46F9-9699-93D7DE3A3980}" type="pres">
      <dgm:prSet presAssocID="{54A35CC1-3B62-4DC0-9163-353E892F57C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AC0E1FE7-803E-4340-B119-2B2F51D4B75A}" type="pres">
      <dgm:prSet presAssocID="{54A35CC1-3B62-4DC0-9163-353E892F57CF}" presName="spaceRect" presStyleCnt="0"/>
      <dgm:spPr/>
    </dgm:pt>
    <dgm:pt modelId="{E0FBC3B8-6FC4-4A57-9094-448B9532D784}" type="pres">
      <dgm:prSet presAssocID="{54A35CC1-3B62-4DC0-9163-353E892F57C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D14C402-2D6E-4C3B-BC14-4A2EF5BEEAFF}" type="presOf" srcId="{D799493E-3B02-4B26-939B-6BE7BB42FA64}" destId="{22D7A99D-ABB9-4AD1-B9EF-FAEF65647645}" srcOrd="0" destOrd="0" presId="urn:microsoft.com/office/officeart/2018/2/layout/IconCircleList"/>
    <dgm:cxn modelId="{6E56583F-C67E-41DD-938F-363775AD6B6C}" type="presOf" srcId="{54A35CC1-3B62-4DC0-9163-353E892F57CF}" destId="{E0FBC3B8-6FC4-4A57-9094-448B9532D784}" srcOrd="0" destOrd="0" presId="urn:microsoft.com/office/officeart/2018/2/layout/IconCircleList"/>
    <dgm:cxn modelId="{396BB34F-F2B9-4ED0-9297-3F109F219314}" type="presOf" srcId="{A347558A-DE75-4FE0-BE4D-A0E93FBF5497}" destId="{CD2FDFB6-5AB0-48AD-8C6B-CF5CBE98DBD3}" srcOrd="0" destOrd="0" presId="urn:microsoft.com/office/officeart/2018/2/layout/IconCircleList"/>
    <dgm:cxn modelId="{D5961B5F-FEE7-4C4F-9985-CC1CC91F6AAB}" srcId="{F6C77105-0886-4ECC-8EBC-671689502C41}" destId="{89507DCC-2039-4E81-9A43-7F7FCE5ECDD9}" srcOrd="2" destOrd="0" parTransId="{540B9929-E732-4320-BE87-1F8F73513EB9}" sibTransId="{D799493E-3B02-4B26-939B-6BE7BB42FA64}"/>
    <dgm:cxn modelId="{86A8897C-1C60-4C9F-8BAC-66A925CFED2C}" srcId="{F6C77105-0886-4ECC-8EBC-671689502C41}" destId="{54A35CC1-3B62-4DC0-9163-353E892F57CF}" srcOrd="3" destOrd="0" parTransId="{D51DDAF5-BC08-4CA6-B864-121CFE95A32A}" sibTransId="{74E03511-241D-46F4-9C25-5CC5607E45DA}"/>
    <dgm:cxn modelId="{165B1090-1EFA-40D9-B992-2707068D2A83}" type="presOf" srcId="{FABB56C0-5BD2-4EB3-BC56-4C1D6B021CC5}" destId="{70BC5070-3932-4D41-80E7-FFF36C9CFA1B}" srcOrd="0" destOrd="0" presId="urn:microsoft.com/office/officeart/2018/2/layout/IconCircleList"/>
    <dgm:cxn modelId="{5E91A4A5-D19B-470A-A32A-53D3E2DEAD57}" type="presOf" srcId="{10A1D761-5F16-4FDA-9025-150344B50C01}" destId="{F6F14118-613F-468D-B51D-E3EA2A5A8A68}" srcOrd="0" destOrd="0" presId="urn:microsoft.com/office/officeart/2018/2/layout/IconCircleList"/>
    <dgm:cxn modelId="{AFA61CC9-7160-4DAC-B15B-D368DD4D3CE3}" type="presOf" srcId="{89507DCC-2039-4E81-9A43-7F7FCE5ECDD9}" destId="{4413E4F2-36AC-47C4-A98C-73547B97C37A}" srcOrd="0" destOrd="0" presId="urn:microsoft.com/office/officeart/2018/2/layout/IconCircleList"/>
    <dgm:cxn modelId="{026754C9-C411-4C9C-BB78-9662C202B692}" type="presOf" srcId="{F5364DAF-5EE2-4D7D-B764-5361B0FB9B5D}" destId="{DEE58B2B-5612-4AAE-A5CB-293AA388EAE6}" srcOrd="0" destOrd="0" presId="urn:microsoft.com/office/officeart/2018/2/layout/IconCircleList"/>
    <dgm:cxn modelId="{1E3C15F2-DCEE-49D0-A460-C5C91C004613}" srcId="{F6C77105-0886-4ECC-8EBC-671689502C41}" destId="{FABB56C0-5BD2-4EB3-BC56-4C1D6B021CC5}" srcOrd="1" destOrd="0" parTransId="{EDD5CC8D-A8BF-46B1-B585-9B86A6DBEFC2}" sibTransId="{A347558A-DE75-4FE0-BE4D-A0E93FBF5497}"/>
    <dgm:cxn modelId="{88BBACF4-1AD3-4F61-A45B-E04B9816414C}" srcId="{F6C77105-0886-4ECC-8EBC-671689502C41}" destId="{10A1D761-5F16-4FDA-9025-150344B50C01}" srcOrd="0" destOrd="0" parTransId="{3AFC9CB0-4C10-41F7-88F4-7BA57A1661A4}" sibTransId="{F5364DAF-5EE2-4D7D-B764-5361B0FB9B5D}"/>
    <dgm:cxn modelId="{D6EC52F7-A91C-494E-8399-153B88D24952}" type="presOf" srcId="{F6C77105-0886-4ECC-8EBC-671689502C41}" destId="{D584DFC9-387A-49E5-939A-390DCF0A3118}" srcOrd="0" destOrd="0" presId="urn:microsoft.com/office/officeart/2018/2/layout/IconCircleList"/>
    <dgm:cxn modelId="{7D2F6F7B-009B-4950-A92E-A4CFD7F9A4A7}" type="presParOf" srcId="{D584DFC9-387A-49E5-939A-390DCF0A3118}" destId="{0F0660F7-01B2-41BD-A5BB-7E61320C5F15}" srcOrd="0" destOrd="0" presId="urn:microsoft.com/office/officeart/2018/2/layout/IconCircleList"/>
    <dgm:cxn modelId="{DC9C63DF-65EA-4034-B2EF-A9482C500510}" type="presParOf" srcId="{0F0660F7-01B2-41BD-A5BB-7E61320C5F15}" destId="{87F20781-1670-4B5B-AE0D-2515076C7380}" srcOrd="0" destOrd="0" presId="urn:microsoft.com/office/officeart/2018/2/layout/IconCircleList"/>
    <dgm:cxn modelId="{67884DBD-456A-4983-8836-6FFE420DE805}" type="presParOf" srcId="{87F20781-1670-4B5B-AE0D-2515076C7380}" destId="{8D904242-EB7C-4576-9AD4-AFD2B2D8EA87}" srcOrd="0" destOrd="0" presId="urn:microsoft.com/office/officeart/2018/2/layout/IconCircleList"/>
    <dgm:cxn modelId="{A5B1E05C-E549-41FF-B252-03B59FC12187}" type="presParOf" srcId="{87F20781-1670-4B5B-AE0D-2515076C7380}" destId="{73189EF9-9354-402B-AAE2-5F592806BFE2}" srcOrd="1" destOrd="0" presId="urn:microsoft.com/office/officeart/2018/2/layout/IconCircleList"/>
    <dgm:cxn modelId="{99DC5BEC-4DA3-47F8-ACF1-EBF72703839E}" type="presParOf" srcId="{87F20781-1670-4B5B-AE0D-2515076C7380}" destId="{636233DE-68B6-4FAD-9DC9-46241E29C624}" srcOrd="2" destOrd="0" presId="urn:microsoft.com/office/officeart/2018/2/layout/IconCircleList"/>
    <dgm:cxn modelId="{C77E062E-F5B7-4116-A1CF-80D30333CC91}" type="presParOf" srcId="{87F20781-1670-4B5B-AE0D-2515076C7380}" destId="{F6F14118-613F-468D-B51D-E3EA2A5A8A68}" srcOrd="3" destOrd="0" presId="urn:microsoft.com/office/officeart/2018/2/layout/IconCircleList"/>
    <dgm:cxn modelId="{06CC24F1-03B1-40F5-AE1E-13B45C217412}" type="presParOf" srcId="{0F0660F7-01B2-41BD-A5BB-7E61320C5F15}" destId="{DEE58B2B-5612-4AAE-A5CB-293AA388EAE6}" srcOrd="1" destOrd="0" presId="urn:microsoft.com/office/officeart/2018/2/layout/IconCircleList"/>
    <dgm:cxn modelId="{ED153F7E-8D70-4B17-A8F9-F37A831AE536}" type="presParOf" srcId="{0F0660F7-01B2-41BD-A5BB-7E61320C5F15}" destId="{6F3C6F4F-49C0-4872-92BC-D8623E5AA060}" srcOrd="2" destOrd="0" presId="urn:microsoft.com/office/officeart/2018/2/layout/IconCircleList"/>
    <dgm:cxn modelId="{857B8CFD-A257-41FE-AD68-3633C764CD61}" type="presParOf" srcId="{6F3C6F4F-49C0-4872-92BC-D8623E5AA060}" destId="{BB116E82-AA0D-4ACB-8AFB-62C0CCF22393}" srcOrd="0" destOrd="0" presId="urn:microsoft.com/office/officeart/2018/2/layout/IconCircleList"/>
    <dgm:cxn modelId="{BEF81B18-5408-40D3-9DC2-CFFC55C11682}" type="presParOf" srcId="{6F3C6F4F-49C0-4872-92BC-D8623E5AA060}" destId="{712A15C1-C085-4222-B619-094567E44AC4}" srcOrd="1" destOrd="0" presId="urn:microsoft.com/office/officeart/2018/2/layout/IconCircleList"/>
    <dgm:cxn modelId="{30F8B537-167D-4720-A975-008E4CA8B3DF}" type="presParOf" srcId="{6F3C6F4F-49C0-4872-92BC-D8623E5AA060}" destId="{BD6FEA21-D097-4B92-929A-B15E1F031E9E}" srcOrd="2" destOrd="0" presId="urn:microsoft.com/office/officeart/2018/2/layout/IconCircleList"/>
    <dgm:cxn modelId="{A061870F-1157-48D9-8DDA-3D746F3C0243}" type="presParOf" srcId="{6F3C6F4F-49C0-4872-92BC-D8623E5AA060}" destId="{70BC5070-3932-4D41-80E7-FFF36C9CFA1B}" srcOrd="3" destOrd="0" presId="urn:microsoft.com/office/officeart/2018/2/layout/IconCircleList"/>
    <dgm:cxn modelId="{86168398-66DA-4EB0-BF49-DAEB744CBAE6}" type="presParOf" srcId="{0F0660F7-01B2-41BD-A5BB-7E61320C5F15}" destId="{CD2FDFB6-5AB0-48AD-8C6B-CF5CBE98DBD3}" srcOrd="3" destOrd="0" presId="urn:microsoft.com/office/officeart/2018/2/layout/IconCircleList"/>
    <dgm:cxn modelId="{70077967-3C4F-48C6-8EEF-68219A069663}" type="presParOf" srcId="{0F0660F7-01B2-41BD-A5BB-7E61320C5F15}" destId="{86D7EC7D-C8EA-4F33-8A51-46F7318154B4}" srcOrd="4" destOrd="0" presId="urn:microsoft.com/office/officeart/2018/2/layout/IconCircleList"/>
    <dgm:cxn modelId="{0806BE9C-2E1E-4955-A083-12498FA54DBB}" type="presParOf" srcId="{86D7EC7D-C8EA-4F33-8A51-46F7318154B4}" destId="{2538BFD1-F529-4A59-B0F6-683B0E9C9BE0}" srcOrd="0" destOrd="0" presId="urn:microsoft.com/office/officeart/2018/2/layout/IconCircleList"/>
    <dgm:cxn modelId="{3D77B404-0E19-42BD-9D41-4E177A2876B9}" type="presParOf" srcId="{86D7EC7D-C8EA-4F33-8A51-46F7318154B4}" destId="{60E2C051-8385-4D70-ADC9-EB2095EC5E2E}" srcOrd="1" destOrd="0" presId="urn:microsoft.com/office/officeart/2018/2/layout/IconCircleList"/>
    <dgm:cxn modelId="{AC9712E0-2879-4C12-9F0F-ABC86D64136A}" type="presParOf" srcId="{86D7EC7D-C8EA-4F33-8A51-46F7318154B4}" destId="{EFCC518A-DAAC-40C3-BCAE-8F25625BCB8E}" srcOrd="2" destOrd="0" presId="urn:microsoft.com/office/officeart/2018/2/layout/IconCircleList"/>
    <dgm:cxn modelId="{8B54CC31-23A8-4043-8F8A-1A3F124A6368}" type="presParOf" srcId="{86D7EC7D-C8EA-4F33-8A51-46F7318154B4}" destId="{4413E4F2-36AC-47C4-A98C-73547B97C37A}" srcOrd="3" destOrd="0" presId="urn:microsoft.com/office/officeart/2018/2/layout/IconCircleList"/>
    <dgm:cxn modelId="{AF05686C-D2FA-47B2-98F4-39779E0216C8}" type="presParOf" srcId="{0F0660F7-01B2-41BD-A5BB-7E61320C5F15}" destId="{22D7A99D-ABB9-4AD1-B9EF-FAEF65647645}" srcOrd="5" destOrd="0" presId="urn:microsoft.com/office/officeart/2018/2/layout/IconCircleList"/>
    <dgm:cxn modelId="{C5CA669A-43ED-4776-A959-C545FDC7D9E7}" type="presParOf" srcId="{0F0660F7-01B2-41BD-A5BB-7E61320C5F15}" destId="{6F1B258E-B3A7-42A5-8830-6AE81A67EA78}" srcOrd="6" destOrd="0" presId="urn:microsoft.com/office/officeart/2018/2/layout/IconCircleList"/>
    <dgm:cxn modelId="{3787C8B8-4F88-481C-A9C1-4224ED4E38FE}" type="presParOf" srcId="{6F1B258E-B3A7-42A5-8830-6AE81A67EA78}" destId="{D1B43F9F-9728-46F0-9DF5-82F921A75C5F}" srcOrd="0" destOrd="0" presId="urn:microsoft.com/office/officeart/2018/2/layout/IconCircleList"/>
    <dgm:cxn modelId="{8B8DA5E9-AFBC-4B2B-A013-BC8292B431B9}" type="presParOf" srcId="{6F1B258E-B3A7-42A5-8830-6AE81A67EA78}" destId="{242F30A3-2996-46F9-9699-93D7DE3A3980}" srcOrd="1" destOrd="0" presId="urn:microsoft.com/office/officeart/2018/2/layout/IconCircleList"/>
    <dgm:cxn modelId="{3D905A88-91CB-4785-A9EE-601F49A364A1}" type="presParOf" srcId="{6F1B258E-B3A7-42A5-8830-6AE81A67EA78}" destId="{AC0E1FE7-803E-4340-B119-2B2F51D4B75A}" srcOrd="2" destOrd="0" presId="urn:microsoft.com/office/officeart/2018/2/layout/IconCircleList"/>
    <dgm:cxn modelId="{7C968257-6741-43BA-AF78-175382DCC30B}" type="presParOf" srcId="{6F1B258E-B3A7-42A5-8830-6AE81A67EA78}" destId="{E0FBC3B8-6FC4-4A57-9094-448B9532D78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1D7952-6CC5-4A8C-9EFE-B9ECD8EFAB47}">
      <dsp:nvSpPr>
        <dsp:cNvPr id="0" name=""/>
        <dsp:cNvSpPr/>
      </dsp:nvSpPr>
      <dsp:spPr>
        <a:xfrm>
          <a:off x="2250914" y="93902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06165D-C7B7-40EA-B115-875F8F182DBC}">
      <dsp:nvSpPr>
        <dsp:cNvPr id="0" name=""/>
        <dsp:cNvSpPr/>
      </dsp:nvSpPr>
      <dsp:spPr>
        <a:xfrm>
          <a:off x="2718914" y="561902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3E2E54-CD3F-42A9-90E8-666AA6068E4F}">
      <dsp:nvSpPr>
        <dsp:cNvPr id="0" name=""/>
        <dsp:cNvSpPr/>
      </dsp:nvSpPr>
      <dsp:spPr>
        <a:xfrm>
          <a:off x="1548914" y="2973902"/>
          <a:ext cx="3600000" cy="112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L" sz="2000" kern="1200" dirty="0"/>
            <a:t>¿Cuáles son las diferencias de género en la estructura y función del cerebro?</a:t>
          </a:r>
          <a:endParaRPr lang="en-US" sz="2000" kern="1200" dirty="0"/>
        </a:p>
      </dsp:txBody>
      <dsp:txXfrm>
        <a:off x="1548914" y="2973902"/>
        <a:ext cx="3600000" cy="1125000"/>
      </dsp:txXfrm>
    </dsp:sp>
    <dsp:sp modelId="{49E2538F-F663-4720-939A-B59E4EE26BF0}">
      <dsp:nvSpPr>
        <dsp:cNvPr id="0" name=""/>
        <dsp:cNvSpPr/>
      </dsp:nvSpPr>
      <dsp:spPr>
        <a:xfrm>
          <a:off x="6480914" y="93902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6E7799-C28D-4DC4-8591-C129960D75CA}">
      <dsp:nvSpPr>
        <dsp:cNvPr id="0" name=""/>
        <dsp:cNvSpPr/>
      </dsp:nvSpPr>
      <dsp:spPr>
        <a:xfrm>
          <a:off x="6948914" y="561902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1E16B0-B4EB-497B-997A-C09F432520BA}">
      <dsp:nvSpPr>
        <dsp:cNvPr id="0" name=""/>
        <dsp:cNvSpPr/>
      </dsp:nvSpPr>
      <dsp:spPr>
        <a:xfrm>
          <a:off x="5778914" y="2973902"/>
          <a:ext cx="3600000" cy="112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L" sz="2000" kern="1200" dirty="0"/>
            <a:t>¿Cuáles son las implicancias de estas diferencias en la cognición y aptitudes?</a:t>
          </a:r>
          <a:endParaRPr lang="en-US" sz="2000" kern="1200" dirty="0"/>
        </a:p>
      </dsp:txBody>
      <dsp:txXfrm>
        <a:off x="5778914" y="2973902"/>
        <a:ext cx="3600000" cy="1125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B58DD3-E22E-4FFF-8ADB-BC440D979388}">
      <dsp:nvSpPr>
        <dsp:cNvPr id="0" name=""/>
        <dsp:cNvSpPr/>
      </dsp:nvSpPr>
      <dsp:spPr>
        <a:xfrm>
          <a:off x="1061437" y="895986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9784CC-797B-4A23-BD36-F6A9CCB55488}">
      <dsp:nvSpPr>
        <dsp:cNvPr id="0" name=""/>
        <dsp:cNvSpPr/>
      </dsp:nvSpPr>
      <dsp:spPr>
        <a:xfrm>
          <a:off x="1582" y="2140605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L" sz="1700" kern="1200"/>
            <a:t>Diferencias biológicas: Lateralidad del cerebro</a:t>
          </a:r>
          <a:endParaRPr lang="en-US" sz="1700" kern="1200"/>
        </a:p>
      </dsp:txBody>
      <dsp:txXfrm>
        <a:off x="1582" y="2140605"/>
        <a:ext cx="3261093" cy="489164"/>
      </dsp:txXfrm>
    </dsp:sp>
    <dsp:sp modelId="{549A5467-3A05-407D-8E59-174952C232EF}">
      <dsp:nvSpPr>
        <dsp:cNvPr id="0" name=""/>
        <dsp:cNvSpPr/>
      </dsp:nvSpPr>
      <dsp:spPr>
        <a:xfrm>
          <a:off x="1582" y="2677786"/>
          <a:ext cx="3261093" cy="619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F47E54-4A06-4211-BFDE-8077CDD65FAF}">
      <dsp:nvSpPr>
        <dsp:cNvPr id="0" name=""/>
        <dsp:cNvSpPr/>
      </dsp:nvSpPr>
      <dsp:spPr>
        <a:xfrm>
          <a:off x="4893223" y="895986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6834A8-868A-4B51-B730-9CFA6D4D9711}">
      <dsp:nvSpPr>
        <dsp:cNvPr id="0" name=""/>
        <dsp:cNvSpPr/>
      </dsp:nvSpPr>
      <dsp:spPr>
        <a:xfrm>
          <a:off x="3833367" y="2140605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L" sz="1700" kern="1200" dirty="0"/>
            <a:t>Diferencias de género en habilidad: </a:t>
          </a:r>
          <a:endParaRPr lang="en-US" sz="1700" kern="1200" dirty="0"/>
        </a:p>
      </dsp:txBody>
      <dsp:txXfrm>
        <a:off x="3833367" y="2140605"/>
        <a:ext cx="3261093" cy="489164"/>
      </dsp:txXfrm>
    </dsp:sp>
    <dsp:sp modelId="{20D237C9-17F9-4C6A-AE6E-31239BCB1D9C}">
      <dsp:nvSpPr>
        <dsp:cNvPr id="0" name=""/>
        <dsp:cNvSpPr/>
      </dsp:nvSpPr>
      <dsp:spPr>
        <a:xfrm>
          <a:off x="3833367" y="2677786"/>
          <a:ext cx="3261093" cy="619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300" kern="1200"/>
            <a:t>Pequeñas diferencias en pruebas de habilidad</a:t>
          </a:r>
          <a:endParaRPr lang="en-US" sz="1300" kern="1200"/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300" kern="1200"/>
            <a:t>Variación entre países</a:t>
          </a:r>
          <a:endParaRPr lang="en-US" sz="1300" kern="1200"/>
        </a:p>
      </dsp:txBody>
      <dsp:txXfrm>
        <a:off x="3833367" y="2677786"/>
        <a:ext cx="3261093" cy="619032"/>
      </dsp:txXfrm>
    </dsp:sp>
    <dsp:sp modelId="{5F5C5A0C-A0D9-4A32-842B-E689CA9E0835}">
      <dsp:nvSpPr>
        <dsp:cNvPr id="0" name=""/>
        <dsp:cNvSpPr/>
      </dsp:nvSpPr>
      <dsp:spPr>
        <a:xfrm>
          <a:off x="8725008" y="895986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D815E6-4C9C-4D06-8BC8-69E9EB66995A}">
      <dsp:nvSpPr>
        <dsp:cNvPr id="0" name=""/>
        <dsp:cNvSpPr/>
      </dsp:nvSpPr>
      <dsp:spPr>
        <a:xfrm>
          <a:off x="7665152" y="2140605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L" sz="1700" kern="1200"/>
            <a:t>Diferencias de género en decisiones de carrera</a:t>
          </a:r>
          <a:endParaRPr lang="en-US" sz="1700" kern="1200"/>
        </a:p>
      </dsp:txBody>
      <dsp:txXfrm>
        <a:off x="7665152" y="2140605"/>
        <a:ext cx="3261093" cy="489164"/>
      </dsp:txXfrm>
    </dsp:sp>
    <dsp:sp modelId="{3A7E5FBA-E57B-4444-A6D1-CC0BE815BF55}">
      <dsp:nvSpPr>
        <dsp:cNvPr id="0" name=""/>
        <dsp:cNvSpPr/>
      </dsp:nvSpPr>
      <dsp:spPr>
        <a:xfrm>
          <a:off x="7665152" y="2677786"/>
          <a:ext cx="3261093" cy="619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300" kern="1200"/>
            <a:t>Grandes diferencias</a:t>
          </a:r>
          <a:endParaRPr lang="en-US" sz="1300" kern="1200"/>
        </a:p>
      </dsp:txBody>
      <dsp:txXfrm>
        <a:off x="7665152" y="2677786"/>
        <a:ext cx="3261093" cy="6190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146EE6-90FC-48E9-A1AF-94207C6567BD}">
      <dsp:nvSpPr>
        <dsp:cNvPr id="0" name=""/>
        <dsp:cNvSpPr/>
      </dsp:nvSpPr>
      <dsp:spPr>
        <a:xfrm>
          <a:off x="1061437" y="776804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EC269F-F36D-4FA7-96F0-400DECFC1628}">
      <dsp:nvSpPr>
        <dsp:cNvPr id="0" name=""/>
        <dsp:cNvSpPr/>
      </dsp:nvSpPr>
      <dsp:spPr>
        <a:xfrm>
          <a:off x="1582" y="2031673"/>
          <a:ext cx="3261093" cy="668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L" sz="1400" kern="1200" dirty="0"/>
            <a:t>Diferencias en cantidad de </a:t>
          </a:r>
          <a:r>
            <a:rPr lang="es-CL" sz="1400" kern="1200"/>
            <a:t>diferentes hormonas </a:t>
          </a:r>
          <a:r>
            <a:rPr lang="es-CL" sz="1400" kern="1200" dirty="0"/>
            <a:t>en el cuerpo.</a:t>
          </a:r>
          <a:endParaRPr lang="en-US" sz="1400" kern="1200" dirty="0"/>
        </a:p>
      </dsp:txBody>
      <dsp:txXfrm>
        <a:off x="1582" y="2031673"/>
        <a:ext cx="3261093" cy="668250"/>
      </dsp:txXfrm>
    </dsp:sp>
    <dsp:sp modelId="{FA884B25-4F5A-4129-9D9D-D35C2617C934}">
      <dsp:nvSpPr>
        <dsp:cNvPr id="0" name=""/>
        <dsp:cNvSpPr/>
      </dsp:nvSpPr>
      <dsp:spPr>
        <a:xfrm>
          <a:off x="1582" y="2752706"/>
          <a:ext cx="3261093" cy="663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2D8F4A-CC31-410E-A3DD-73D4C23207B0}">
      <dsp:nvSpPr>
        <dsp:cNvPr id="0" name=""/>
        <dsp:cNvSpPr/>
      </dsp:nvSpPr>
      <dsp:spPr>
        <a:xfrm>
          <a:off x="4893223" y="776804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74DB7E-15DA-4934-AE5C-B05F4CAEDBC4}">
      <dsp:nvSpPr>
        <dsp:cNvPr id="0" name=""/>
        <dsp:cNvSpPr/>
      </dsp:nvSpPr>
      <dsp:spPr>
        <a:xfrm>
          <a:off x="3833367" y="2031673"/>
          <a:ext cx="3261093" cy="668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L" sz="1400" kern="1200" dirty="0"/>
            <a:t>Lógica: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L" sz="1400" kern="1200" dirty="0"/>
            <a:t>Mayores niveles de testosterona causan mayor agresividad en los hombres.</a:t>
          </a:r>
          <a:endParaRPr lang="en-US" sz="1400" kern="1200" dirty="0"/>
        </a:p>
      </dsp:txBody>
      <dsp:txXfrm>
        <a:off x="3833367" y="2031673"/>
        <a:ext cx="3261093" cy="668250"/>
      </dsp:txXfrm>
    </dsp:sp>
    <dsp:sp modelId="{4B6735E1-AF85-4137-865B-A5111A331FFF}">
      <dsp:nvSpPr>
        <dsp:cNvPr id="0" name=""/>
        <dsp:cNvSpPr/>
      </dsp:nvSpPr>
      <dsp:spPr>
        <a:xfrm>
          <a:off x="3833367" y="2752706"/>
          <a:ext cx="3261093" cy="663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DBA8A7-77F9-4A96-A5C7-7015033D4EE7}">
      <dsp:nvSpPr>
        <dsp:cNvPr id="0" name=""/>
        <dsp:cNvSpPr/>
      </dsp:nvSpPr>
      <dsp:spPr>
        <a:xfrm>
          <a:off x="8725008" y="776804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A03AB6-BD90-4396-A9BD-20C8845B8CFA}">
      <dsp:nvSpPr>
        <dsp:cNvPr id="0" name=""/>
        <dsp:cNvSpPr/>
      </dsp:nvSpPr>
      <dsp:spPr>
        <a:xfrm>
          <a:off x="7665152" y="2031673"/>
          <a:ext cx="3261093" cy="668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L" sz="1400" kern="1200" dirty="0"/>
            <a:t>¿Evidencia?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L" sz="1400" kern="1200" dirty="0"/>
            <a:t>Dos problemas</a:t>
          </a:r>
          <a:endParaRPr lang="en-US" sz="1400" kern="1200" dirty="0"/>
        </a:p>
      </dsp:txBody>
      <dsp:txXfrm>
        <a:off x="7665152" y="2031673"/>
        <a:ext cx="3261093" cy="668250"/>
      </dsp:txXfrm>
    </dsp:sp>
    <dsp:sp modelId="{4C0349B2-9CC7-40B9-B3A8-446339A4A679}">
      <dsp:nvSpPr>
        <dsp:cNvPr id="0" name=""/>
        <dsp:cNvSpPr/>
      </dsp:nvSpPr>
      <dsp:spPr>
        <a:xfrm>
          <a:off x="7665152" y="2752706"/>
          <a:ext cx="3261093" cy="663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kern="1200" dirty="0"/>
            <a:t>Inyecciones y castración. La testosterona tiene un “efecto permisivo”.</a:t>
          </a:r>
          <a:endParaRPr lang="en-US" sz="14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kern="1200" dirty="0"/>
            <a:t>Dirección de causalidad.</a:t>
          </a:r>
          <a:endParaRPr lang="en-US" sz="1400" kern="1200" dirty="0"/>
        </a:p>
      </dsp:txBody>
      <dsp:txXfrm>
        <a:off x="7665152" y="2752706"/>
        <a:ext cx="3261093" cy="6632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2205CE-3CD5-4C43-A7EC-D002892CC436}">
      <dsp:nvSpPr>
        <dsp:cNvPr id="0" name=""/>
        <dsp:cNvSpPr/>
      </dsp:nvSpPr>
      <dsp:spPr>
        <a:xfrm>
          <a:off x="1953914" y="52929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E51B53-798E-456A-9979-A5BEB1A65318}">
      <dsp:nvSpPr>
        <dsp:cNvPr id="0" name=""/>
        <dsp:cNvSpPr/>
      </dsp:nvSpPr>
      <dsp:spPr>
        <a:xfrm>
          <a:off x="765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200" kern="1200" dirty="0"/>
            <a:t>Socialización temprana</a:t>
          </a:r>
          <a:endParaRPr lang="en-US" sz="3200" kern="1200" dirty="0"/>
        </a:p>
      </dsp:txBody>
      <dsp:txXfrm>
        <a:off x="765914" y="2943510"/>
        <a:ext cx="4320000" cy="720000"/>
      </dsp:txXfrm>
    </dsp:sp>
    <dsp:sp modelId="{7EEF7129-1C34-4E0C-9F67-DCF19542ABC4}">
      <dsp:nvSpPr>
        <dsp:cNvPr id="0" name=""/>
        <dsp:cNvSpPr/>
      </dsp:nvSpPr>
      <dsp:spPr>
        <a:xfrm>
          <a:off x="7029914" y="52929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683997-70F5-45B8-86BD-E105799DCB7E}">
      <dsp:nvSpPr>
        <dsp:cNvPr id="0" name=""/>
        <dsp:cNvSpPr/>
      </dsp:nvSpPr>
      <dsp:spPr>
        <a:xfrm>
          <a:off x="5841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200" kern="1200"/>
            <a:t>Amenaza de estereotipo</a:t>
          </a:r>
          <a:endParaRPr lang="en-US" sz="3200" kern="1200"/>
        </a:p>
      </dsp:txBody>
      <dsp:txXfrm>
        <a:off x="5841914" y="2943510"/>
        <a:ext cx="432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1C887C-45D2-EC49-90AA-EC85702E673E}">
      <dsp:nvSpPr>
        <dsp:cNvPr id="0" name=""/>
        <dsp:cNvSpPr/>
      </dsp:nvSpPr>
      <dsp:spPr>
        <a:xfrm>
          <a:off x="1860" y="447187"/>
          <a:ext cx="3967199" cy="23803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400" kern="1200" dirty="0"/>
            <a:t>Creencias estereotípicas</a:t>
          </a:r>
        </a:p>
      </dsp:txBody>
      <dsp:txXfrm>
        <a:off x="71577" y="516904"/>
        <a:ext cx="3827765" cy="2240885"/>
      </dsp:txXfrm>
    </dsp:sp>
    <dsp:sp modelId="{7FFF6EB3-F782-984C-9911-15704C719F52}">
      <dsp:nvSpPr>
        <dsp:cNvPr id="0" name=""/>
        <dsp:cNvSpPr/>
      </dsp:nvSpPr>
      <dsp:spPr>
        <a:xfrm>
          <a:off x="4365780" y="1145414"/>
          <a:ext cx="841046" cy="9838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3600" kern="1200"/>
        </a:p>
      </dsp:txBody>
      <dsp:txXfrm>
        <a:off x="4365780" y="1342187"/>
        <a:ext cx="588732" cy="590319"/>
      </dsp:txXfrm>
    </dsp:sp>
    <dsp:sp modelId="{D04DB88F-3B54-104D-818A-C5AEB734DE6C}">
      <dsp:nvSpPr>
        <dsp:cNvPr id="0" name=""/>
        <dsp:cNvSpPr/>
      </dsp:nvSpPr>
      <dsp:spPr>
        <a:xfrm>
          <a:off x="5555939" y="447187"/>
          <a:ext cx="3967199" cy="23803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400" kern="1200" dirty="0"/>
            <a:t>Evaluación de competencia</a:t>
          </a:r>
        </a:p>
      </dsp:txBody>
      <dsp:txXfrm>
        <a:off x="5625656" y="516904"/>
        <a:ext cx="3827765" cy="224088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904242-EB7C-4576-9AD4-AFD2B2D8EA87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189EF9-9354-402B-AAE2-5F592806BFE2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F14118-613F-468D-B51D-E3EA2A5A8A68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900" kern="1200"/>
            <a:t>Cuando son salientes, los estereotipos interfieren con la capacidad de memoria de trabajo.</a:t>
          </a:r>
          <a:endParaRPr lang="en-US" sz="1900" kern="1200"/>
        </a:p>
      </dsp:txBody>
      <dsp:txXfrm>
        <a:off x="1948202" y="368029"/>
        <a:ext cx="3233964" cy="1371985"/>
      </dsp:txXfrm>
    </dsp:sp>
    <dsp:sp modelId="{BB116E82-AA0D-4ACB-8AFB-62C0CCF22393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2A15C1-C085-4222-B619-094567E44AC4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BC5070-3932-4D41-80E7-FFF36C9CFA1B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900" kern="1200" dirty="0"/>
            <a:t>Los efectos tienden a ser mayores entre las personas de alto desempeño.</a:t>
          </a:r>
          <a:endParaRPr lang="en-US" sz="1900" kern="1200" dirty="0"/>
        </a:p>
      </dsp:txBody>
      <dsp:txXfrm>
        <a:off x="7411643" y="368029"/>
        <a:ext cx="3233964" cy="1371985"/>
      </dsp:txXfrm>
    </dsp:sp>
    <dsp:sp modelId="{2538BFD1-F529-4A59-B0F6-683B0E9C9BE0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E2C051-8385-4D70-ADC9-EB2095EC5E2E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13E4F2-36AC-47C4-A98C-73547B97C37A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900" kern="1200"/>
            <a:t>Generalmente ocurre mediante estar consciente del estereotipo</a:t>
          </a:r>
          <a:endParaRPr lang="en-US" sz="1900" kern="1200"/>
        </a:p>
      </dsp:txBody>
      <dsp:txXfrm>
        <a:off x="1948202" y="2452790"/>
        <a:ext cx="3233964" cy="1371985"/>
      </dsp:txXfrm>
    </dsp:sp>
    <dsp:sp modelId="{D1B43F9F-9728-46F0-9DF5-82F921A75C5F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2F30A3-2996-46F9-9699-93D7DE3A3980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FBC3B8-6FC4-4A57-9094-448B9532D784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900" kern="1200"/>
            <a:t>Los efectos son situacionales – cuando las creencias que son salientes cambian, también cambia el desempeño.	</a:t>
          </a:r>
          <a:endParaRPr lang="en-US" sz="1900" kern="1200"/>
        </a:p>
      </dsp:txBody>
      <dsp:txXfrm>
        <a:off x="7411643" y="2452790"/>
        <a:ext cx="3233964" cy="13719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BB7C96-2AC7-3848-A774-45B9868289DE}" type="datetimeFigureOut">
              <a:rPr lang="es-CL" smtClean="0"/>
              <a:t>26-08-26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159835-FE0A-4B40-A8C2-E668B8797A2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6567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10 min para discutir en parejas, revisando el articulo. 5 minutos para compa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159835-FE0A-4B40-A8C2-E668B8797A25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26962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 err="1"/>
              <a:t>Socializacion</a:t>
            </a:r>
            <a:r>
              <a:rPr lang="es-ES_tradnl" dirty="0"/>
              <a:t>: proceso que ocurre a lo largo de la vida donde aprendemos y </a:t>
            </a:r>
            <a:r>
              <a:rPr lang="es-ES_tradnl" dirty="0" err="1"/>
              <a:t>reparendemos</a:t>
            </a:r>
            <a:r>
              <a:rPr lang="es-ES_tradnl" dirty="0"/>
              <a:t> expectativas sociales y como negociarlas.</a:t>
            </a:r>
          </a:p>
          <a:p>
            <a:r>
              <a:rPr lang="es-ES_tradnl" dirty="0"/>
              <a:t>Socialización temprana: procesos que ocurre en la infancia-niñez. No es fija, puede y va cambiando en l </a:t>
            </a:r>
            <a:r>
              <a:rPr lang="es-ES_tradnl" dirty="0" err="1"/>
              <a:t>amedida</a:t>
            </a:r>
            <a:r>
              <a:rPr lang="es-ES_tradnl" dirty="0"/>
              <a:t> en que </a:t>
            </a:r>
            <a:r>
              <a:rPr lang="es-ES_tradnl" dirty="0" err="1"/>
              <a:t>seguimso</a:t>
            </a:r>
            <a:r>
              <a:rPr lang="es-ES_tradnl" dirty="0"/>
              <a:t> aprendiendo y actualizando las expectativas sociales.</a:t>
            </a:r>
          </a:p>
          <a:p>
            <a:r>
              <a:rPr lang="es-ES_tradnl" dirty="0"/>
              <a:t>Tendemos ver la socialización temprana como algo inmutable, pero no siempre es </a:t>
            </a:r>
            <a:r>
              <a:rPr lang="es-ES_tradnl" dirty="0" err="1"/>
              <a:t>asi</a:t>
            </a:r>
            <a:r>
              <a:rPr lang="es-ES_tradnl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159835-FE0A-4B40-A8C2-E668B8797A25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144095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159835-FE0A-4B40-A8C2-E668B8797A25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94652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 err="1">
                <a:solidFill>
                  <a:srgbClr val="131413"/>
                </a:solidFill>
                <a:effectLst/>
                <a:latin typeface="Times"/>
              </a:rPr>
              <a:t>Mostraron</a:t>
            </a:r>
            <a:r>
              <a:rPr lang="en-US" i="1" dirty="0">
                <a:solidFill>
                  <a:srgbClr val="131413"/>
                </a:solidFill>
                <a:effectLst/>
                <a:latin typeface="Times"/>
              </a:rPr>
              <a:t> dos </a:t>
            </a:r>
            <a:r>
              <a:rPr lang="en-US" i="1" dirty="0" err="1">
                <a:solidFill>
                  <a:srgbClr val="131413"/>
                </a:solidFill>
                <a:effectLst/>
                <a:latin typeface="Times"/>
              </a:rPr>
              <a:t>tareas</a:t>
            </a:r>
            <a:r>
              <a:rPr lang="en-US" i="1" dirty="0">
                <a:solidFill>
                  <a:srgbClr val="131413"/>
                </a:solidFill>
                <a:effectLst/>
                <a:latin typeface="Times"/>
              </a:rPr>
              <a:t> </a:t>
            </a:r>
            <a:r>
              <a:rPr lang="en-US" i="1" dirty="0" err="1">
                <a:solidFill>
                  <a:srgbClr val="131413"/>
                </a:solidFill>
                <a:effectLst/>
                <a:latin typeface="Times"/>
              </a:rPr>
              <a:t>una</a:t>
            </a:r>
            <a:r>
              <a:rPr lang="en-US" i="1" dirty="0">
                <a:solidFill>
                  <a:srgbClr val="131413"/>
                </a:solidFill>
                <a:effectLst/>
                <a:latin typeface="Times"/>
              </a:rPr>
              <a:t> de </a:t>
            </a:r>
            <a:r>
              <a:rPr lang="en-US" i="1" dirty="0" err="1">
                <a:solidFill>
                  <a:srgbClr val="131413"/>
                </a:solidFill>
                <a:effectLst/>
                <a:latin typeface="Times"/>
              </a:rPr>
              <a:t>lenguaje</a:t>
            </a:r>
            <a:r>
              <a:rPr lang="en-US" i="1" dirty="0">
                <a:solidFill>
                  <a:srgbClr val="131413"/>
                </a:solidFill>
                <a:effectLst/>
                <a:latin typeface="Times"/>
              </a:rPr>
              <a:t> y </a:t>
            </a:r>
            <a:r>
              <a:rPr lang="en-US" i="1" dirty="0" err="1">
                <a:solidFill>
                  <a:srgbClr val="131413"/>
                </a:solidFill>
                <a:effectLst/>
                <a:latin typeface="Times"/>
              </a:rPr>
              <a:t>una</a:t>
            </a:r>
            <a:r>
              <a:rPr lang="en-US" i="1" dirty="0">
                <a:solidFill>
                  <a:srgbClr val="131413"/>
                </a:solidFill>
                <a:effectLst/>
                <a:latin typeface="Times"/>
              </a:rPr>
              <a:t> de </a:t>
            </a:r>
            <a:r>
              <a:rPr lang="en-US" i="1" dirty="0" err="1">
                <a:solidFill>
                  <a:srgbClr val="131413"/>
                </a:solidFill>
                <a:effectLst/>
                <a:latin typeface="Times"/>
              </a:rPr>
              <a:t>matemáticas</a:t>
            </a:r>
            <a:endParaRPr lang="en-US" i="1" dirty="0">
              <a:solidFill>
                <a:srgbClr val="131413"/>
              </a:solidFill>
              <a:effectLst/>
              <a:latin typeface="Times"/>
            </a:endParaRPr>
          </a:p>
          <a:p>
            <a:r>
              <a:rPr lang="en-US" i="1" dirty="0" err="1">
                <a:solidFill>
                  <a:srgbClr val="131413"/>
                </a:solidFill>
                <a:effectLst/>
                <a:latin typeface="Times"/>
              </a:rPr>
              <a:t>Esta</a:t>
            </a:r>
            <a:r>
              <a:rPr lang="en-US" i="1" dirty="0">
                <a:solidFill>
                  <a:srgbClr val="131413"/>
                </a:solidFill>
                <a:effectLst/>
                <a:latin typeface="Times"/>
              </a:rPr>
              <a:t> es </a:t>
            </a:r>
            <a:r>
              <a:rPr lang="en-US" i="1" dirty="0" err="1">
                <a:solidFill>
                  <a:srgbClr val="131413"/>
                </a:solidFill>
                <a:effectLst/>
                <a:latin typeface="Times"/>
              </a:rPr>
              <a:t>una</a:t>
            </a:r>
            <a:r>
              <a:rPr lang="en-US" i="1" dirty="0">
                <a:solidFill>
                  <a:srgbClr val="131413"/>
                </a:solidFill>
                <a:effectLst/>
                <a:latin typeface="Times"/>
              </a:rPr>
              <a:t> </a:t>
            </a:r>
            <a:r>
              <a:rPr lang="en-US" i="1" dirty="0" err="1">
                <a:solidFill>
                  <a:srgbClr val="131413"/>
                </a:solidFill>
                <a:effectLst/>
                <a:latin typeface="Times"/>
              </a:rPr>
              <a:t>niña</a:t>
            </a:r>
            <a:r>
              <a:rPr lang="en-US" i="1" dirty="0">
                <a:solidFill>
                  <a:srgbClr val="131413"/>
                </a:solidFill>
                <a:effectLst/>
                <a:latin typeface="Times"/>
              </a:rPr>
              <a:t>. ¿</a:t>
            </a:r>
            <a:r>
              <a:rPr lang="en-US" i="1" dirty="0" err="1">
                <a:solidFill>
                  <a:srgbClr val="131413"/>
                </a:solidFill>
                <a:effectLst/>
                <a:latin typeface="Times"/>
              </a:rPr>
              <a:t>Qué</a:t>
            </a:r>
            <a:r>
              <a:rPr lang="en-US" i="1" dirty="0">
                <a:solidFill>
                  <a:srgbClr val="131413"/>
                </a:solidFill>
                <a:effectLst/>
                <a:latin typeface="Times"/>
              </a:rPr>
              <a:t> </a:t>
            </a:r>
            <a:r>
              <a:rPr lang="en-US" i="1" dirty="0" err="1">
                <a:solidFill>
                  <a:srgbClr val="131413"/>
                </a:solidFill>
                <a:effectLst/>
                <a:latin typeface="Times"/>
              </a:rPr>
              <a:t>tarea</a:t>
            </a:r>
            <a:r>
              <a:rPr lang="en-US" i="1" dirty="0">
                <a:solidFill>
                  <a:srgbClr val="131413"/>
                </a:solidFill>
                <a:effectLst/>
                <a:latin typeface="Times"/>
              </a:rPr>
              <a:t> </a:t>
            </a:r>
            <a:r>
              <a:rPr lang="en-US" i="1" dirty="0" err="1">
                <a:solidFill>
                  <a:srgbClr val="131413"/>
                </a:solidFill>
                <a:effectLst/>
                <a:latin typeface="Times"/>
              </a:rPr>
              <a:t>crees</a:t>
            </a:r>
            <a:r>
              <a:rPr lang="en-US" i="1" dirty="0">
                <a:solidFill>
                  <a:srgbClr val="131413"/>
                </a:solidFill>
                <a:effectLst/>
                <a:latin typeface="Times"/>
              </a:rPr>
              <a:t> que la </a:t>
            </a:r>
            <a:r>
              <a:rPr lang="en-US" i="1" dirty="0" err="1">
                <a:solidFill>
                  <a:srgbClr val="131413"/>
                </a:solidFill>
                <a:effectLst/>
                <a:latin typeface="Times"/>
              </a:rPr>
              <a:t>niña</a:t>
            </a:r>
            <a:r>
              <a:rPr lang="en-US" i="1" dirty="0">
                <a:solidFill>
                  <a:srgbClr val="131413"/>
                </a:solidFill>
                <a:effectLst/>
                <a:latin typeface="Times"/>
              </a:rPr>
              <a:t> </a:t>
            </a:r>
            <a:r>
              <a:rPr lang="en-US" i="1" dirty="0" err="1">
                <a:solidFill>
                  <a:srgbClr val="131413"/>
                </a:solidFill>
                <a:effectLst/>
                <a:latin typeface="Times"/>
              </a:rPr>
              <a:t>hace</a:t>
            </a:r>
            <a:endParaRPr lang="en-US" dirty="0">
              <a:solidFill>
                <a:srgbClr val="131413"/>
              </a:solidFill>
              <a:effectLst/>
              <a:latin typeface="Times"/>
            </a:endParaRPr>
          </a:p>
          <a:p>
            <a:r>
              <a:rPr lang="en-US" i="1" dirty="0" err="1">
                <a:solidFill>
                  <a:srgbClr val="131413"/>
                </a:solidFill>
                <a:effectLst/>
                <a:latin typeface="Times"/>
              </a:rPr>
              <a:t>mejor</a:t>
            </a:r>
            <a:r>
              <a:rPr lang="en-US" i="1" dirty="0">
                <a:solidFill>
                  <a:srgbClr val="131413"/>
                </a:solidFill>
                <a:effectLst/>
                <a:latin typeface="Times"/>
              </a:rPr>
              <a:t>?)</a:t>
            </a:r>
          </a:p>
          <a:p>
            <a:r>
              <a:rPr lang="en-US" i="1" dirty="0">
                <a:solidFill>
                  <a:srgbClr val="131413"/>
                </a:solidFill>
                <a:effectLst/>
                <a:latin typeface="Times"/>
              </a:rPr>
              <a:t>¿</a:t>
            </a:r>
            <a:r>
              <a:rPr lang="en-US" i="1" dirty="0" err="1">
                <a:solidFill>
                  <a:srgbClr val="131413"/>
                </a:solidFill>
                <a:effectLst/>
                <a:latin typeface="Times"/>
              </a:rPr>
              <a:t>Qué</a:t>
            </a:r>
            <a:r>
              <a:rPr lang="en-US" i="1" dirty="0">
                <a:solidFill>
                  <a:srgbClr val="131413"/>
                </a:solidFill>
                <a:effectLst/>
                <a:latin typeface="Times"/>
              </a:rPr>
              <a:t> </a:t>
            </a:r>
            <a:r>
              <a:rPr lang="en-US" i="1" dirty="0" err="1">
                <a:solidFill>
                  <a:srgbClr val="131413"/>
                </a:solidFill>
                <a:effectLst/>
                <a:latin typeface="Times"/>
              </a:rPr>
              <a:t>tarea</a:t>
            </a:r>
            <a:r>
              <a:rPr lang="en-US" i="1" dirty="0">
                <a:solidFill>
                  <a:srgbClr val="131413"/>
                </a:solidFill>
                <a:effectLst/>
                <a:latin typeface="Times"/>
              </a:rPr>
              <a:t> </a:t>
            </a:r>
            <a:r>
              <a:rPr lang="en-US" i="1" dirty="0" err="1">
                <a:solidFill>
                  <a:srgbClr val="131413"/>
                </a:solidFill>
                <a:effectLst/>
                <a:latin typeface="Times"/>
              </a:rPr>
              <a:t>crees</a:t>
            </a:r>
            <a:r>
              <a:rPr lang="en-US" i="1" dirty="0">
                <a:solidFill>
                  <a:srgbClr val="131413"/>
                </a:solidFill>
                <a:effectLst/>
                <a:latin typeface="Times"/>
              </a:rPr>
              <a:t> que le </a:t>
            </a:r>
            <a:r>
              <a:rPr lang="en-US" i="1" dirty="0" err="1">
                <a:solidFill>
                  <a:srgbClr val="131413"/>
                </a:solidFill>
                <a:effectLst/>
                <a:latin typeface="Times"/>
              </a:rPr>
              <a:t>gusta</a:t>
            </a:r>
            <a:r>
              <a:rPr lang="en-US" i="1" dirty="0">
                <a:solidFill>
                  <a:srgbClr val="131413"/>
                </a:solidFill>
                <a:effectLst/>
                <a:latin typeface="Times"/>
              </a:rPr>
              <a:t> </a:t>
            </a:r>
            <a:r>
              <a:rPr lang="en-US" i="1" dirty="0" err="1">
                <a:solidFill>
                  <a:srgbClr val="131413"/>
                </a:solidFill>
                <a:effectLst/>
                <a:latin typeface="Times"/>
              </a:rPr>
              <a:t>más</a:t>
            </a:r>
            <a:r>
              <a:rPr lang="en-US" i="1" dirty="0">
                <a:solidFill>
                  <a:srgbClr val="131413"/>
                </a:solidFill>
                <a:effectLst/>
                <a:latin typeface="Times"/>
              </a:rPr>
              <a:t>?</a:t>
            </a:r>
            <a:endParaRPr lang="en-US" dirty="0">
              <a:solidFill>
                <a:srgbClr val="131413"/>
              </a:solidFill>
              <a:effectLst/>
              <a:latin typeface="Times"/>
            </a:endParaRPr>
          </a:p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159835-FE0A-4B40-A8C2-E668B8797A25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399520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s-CL" dirty="0"/>
              <a:t>Memoria de trabajo: sistema cognitivo que almacena información de manera temporal, y que tiene capacidad limitada. Importante para el razonamiento y toma de decisiones.</a:t>
            </a:r>
          </a:p>
          <a:p>
            <a:pPr lvl="1"/>
            <a:r>
              <a:rPr lang="es-CL" dirty="0"/>
              <a:t>“</a:t>
            </a:r>
            <a:r>
              <a:rPr lang="es-CL" dirty="0" err="1"/>
              <a:t>When</a:t>
            </a:r>
            <a:r>
              <a:rPr lang="es-CL" dirty="0"/>
              <a:t> </a:t>
            </a:r>
            <a:r>
              <a:rPr lang="es-CL" dirty="0" err="1"/>
              <a:t>high</a:t>
            </a:r>
            <a:r>
              <a:rPr lang="es-CL" dirty="0"/>
              <a:t> </a:t>
            </a:r>
            <a:r>
              <a:rPr lang="es-CL" dirty="0" err="1"/>
              <a:t>powered</a:t>
            </a:r>
            <a:r>
              <a:rPr lang="es-CL" dirty="0"/>
              <a:t> </a:t>
            </a:r>
            <a:r>
              <a:rPr lang="es-CL" dirty="0" err="1"/>
              <a:t>people</a:t>
            </a:r>
            <a:r>
              <a:rPr lang="es-CL" dirty="0"/>
              <a:t> </a:t>
            </a:r>
            <a:r>
              <a:rPr lang="es-CL" dirty="0" err="1"/>
              <a:t>fail</a:t>
            </a:r>
            <a:r>
              <a:rPr lang="es-CL" dirty="0"/>
              <a:t>: </a:t>
            </a:r>
            <a:r>
              <a:rPr lang="es-CL" dirty="0" err="1"/>
              <a:t>Working</a:t>
            </a:r>
            <a:r>
              <a:rPr lang="es-CL" dirty="0"/>
              <a:t> </a:t>
            </a:r>
            <a:r>
              <a:rPr lang="es-CL" dirty="0" err="1"/>
              <a:t>memory</a:t>
            </a:r>
            <a:r>
              <a:rPr lang="es-CL" dirty="0"/>
              <a:t> and ‘</a:t>
            </a:r>
            <a:r>
              <a:rPr lang="es-CL" dirty="0" err="1"/>
              <a:t>choking</a:t>
            </a:r>
            <a:r>
              <a:rPr lang="es-CL" dirty="0"/>
              <a:t> </a:t>
            </a:r>
            <a:r>
              <a:rPr lang="es-CL" dirty="0" err="1"/>
              <a:t>under</a:t>
            </a:r>
            <a:r>
              <a:rPr lang="es-CL" dirty="0"/>
              <a:t> </a:t>
            </a:r>
            <a:r>
              <a:rPr lang="es-CL" dirty="0" err="1"/>
              <a:t>pressure</a:t>
            </a:r>
            <a:r>
              <a:rPr lang="es-CL" dirty="0"/>
              <a:t>’ in </a:t>
            </a:r>
            <a:r>
              <a:rPr lang="es-CL" dirty="0" err="1"/>
              <a:t>math</a:t>
            </a:r>
            <a:r>
              <a:rPr lang="es-CL" dirty="0"/>
              <a:t>.” </a:t>
            </a:r>
            <a:r>
              <a:rPr lang="es-CL" i="1" dirty="0" err="1"/>
              <a:t>Beilock</a:t>
            </a:r>
            <a:r>
              <a:rPr lang="es-CL" i="1" dirty="0"/>
              <a:t> and </a:t>
            </a:r>
            <a:r>
              <a:rPr lang="es-CL" i="1" dirty="0" err="1"/>
              <a:t>Carr</a:t>
            </a:r>
            <a:r>
              <a:rPr lang="es-CL" i="1" dirty="0"/>
              <a:t> 2005. </a:t>
            </a:r>
            <a:endParaRPr lang="es-CL" dirty="0"/>
          </a:p>
          <a:p>
            <a:pPr lvl="1"/>
            <a:r>
              <a:rPr lang="es-CL" dirty="0"/>
              <a:t>“Neural basis </a:t>
            </a:r>
            <a:r>
              <a:rPr lang="es-CL" dirty="0" err="1"/>
              <a:t>of</a:t>
            </a:r>
            <a:r>
              <a:rPr lang="es-CL" dirty="0"/>
              <a:t> </a:t>
            </a:r>
            <a:r>
              <a:rPr lang="es-CL" dirty="0" err="1"/>
              <a:t>stereotype-induced</a:t>
            </a:r>
            <a:r>
              <a:rPr lang="es-CL" dirty="0"/>
              <a:t> </a:t>
            </a:r>
            <a:r>
              <a:rPr lang="es-CL" dirty="0" err="1"/>
              <a:t>shifts</a:t>
            </a:r>
            <a:r>
              <a:rPr lang="es-CL" dirty="0"/>
              <a:t> in </a:t>
            </a:r>
            <a:r>
              <a:rPr lang="es-CL" dirty="0" err="1"/>
              <a:t>women’s</a:t>
            </a:r>
            <a:r>
              <a:rPr lang="es-CL" dirty="0"/>
              <a:t> mental </a:t>
            </a:r>
            <a:r>
              <a:rPr lang="es-CL" dirty="0" err="1"/>
              <a:t>rotation</a:t>
            </a:r>
            <a:r>
              <a:rPr lang="es-CL" dirty="0"/>
              <a:t> performance.” </a:t>
            </a:r>
            <a:r>
              <a:rPr lang="es-CL" i="1" dirty="0" err="1"/>
              <a:t>Wraga</a:t>
            </a:r>
            <a:r>
              <a:rPr lang="es-CL" i="1" dirty="0"/>
              <a:t> et al. 2006. </a:t>
            </a:r>
            <a:endParaRPr lang="es-CL" dirty="0"/>
          </a:p>
          <a:p>
            <a:pPr lvl="1"/>
            <a:r>
              <a:rPr lang="es-CL" dirty="0"/>
              <a:t>“</a:t>
            </a:r>
            <a:r>
              <a:rPr lang="es-CL" dirty="0" err="1"/>
              <a:t>Stereotype</a:t>
            </a:r>
            <a:r>
              <a:rPr lang="es-CL" dirty="0"/>
              <a:t> </a:t>
            </a:r>
            <a:r>
              <a:rPr lang="es-CL" dirty="0" err="1"/>
              <a:t>threat</a:t>
            </a:r>
            <a:r>
              <a:rPr lang="es-CL" dirty="0"/>
              <a:t>, </a:t>
            </a:r>
            <a:r>
              <a:rPr lang="es-CL" dirty="0" err="1"/>
              <a:t>inquiring</a:t>
            </a:r>
            <a:r>
              <a:rPr lang="es-CL" dirty="0"/>
              <a:t> </a:t>
            </a:r>
            <a:r>
              <a:rPr lang="es-CL" dirty="0" err="1"/>
              <a:t>about</a:t>
            </a:r>
            <a:r>
              <a:rPr lang="es-CL" dirty="0"/>
              <a:t> test </a:t>
            </a:r>
            <a:r>
              <a:rPr lang="es-CL" dirty="0" err="1"/>
              <a:t>takers</a:t>
            </a:r>
            <a:r>
              <a:rPr lang="es-CL" dirty="0"/>
              <a:t>’ </a:t>
            </a:r>
            <a:r>
              <a:rPr lang="es-CL" dirty="0" err="1"/>
              <a:t>ethnicity</a:t>
            </a:r>
            <a:r>
              <a:rPr lang="es-CL" dirty="0"/>
              <a:t> and </a:t>
            </a:r>
            <a:r>
              <a:rPr lang="es-CL" dirty="0" err="1"/>
              <a:t>gender</a:t>
            </a:r>
            <a:r>
              <a:rPr lang="es-CL" dirty="0"/>
              <a:t> and </a:t>
            </a:r>
            <a:r>
              <a:rPr lang="es-CL" dirty="0" err="1"/>
              <a:t>standardized</a:t>
            </a:r>
            <a:r>
              <a:rPr lang="es-CL" dirty="0"/>
              <a:t> test performance.” </a:t>
            </a:r>
            <a:r>
              <a:rPr lang="es-CL" i="1" dirty="0" err="1"/>
              <a:t>Stricker</a:t>
            </a:r>
            <a:r>
              <a:rPr lang="es-CL" i="1" dirty="0"/>
              <a:t> &amp; Wood 2004 </a:t>
            </a:r>
          </a:p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159835-FE0A-4B40-A8C2-E668B8797A25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13621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judge your performance with a harsher standard, you will make lower assessments of your own task ability. </a:t>
            </a:r>
            <a:endParaRPr lang="es-CL" dirty="0">
              <a:effectLst/>
            </a:endParaRP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159835-FE0A-4B40-A8C2-E668B8797A25}" type="slidenum">
              <a:rPr lang="es-CL" smtClean="0"/>
              <a:t>20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43623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23B19-3F82-3780-90AD-71D331AA6F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89D97F-D093-D631-C638-028A60FB6E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3F18D-F2A8-2E15-6582-D1BEC3B54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89C39-7BDC-B64F-910A-B7D780F08928}" type="datetimeFigureOut">
              <a:rPr lang="es-ES_tradnl" smtClean="0"/>
              <a:t>26/8/26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30736-9D7E-80C6-BE5D-5A0368A63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948E0-55F5-1673-674B-AD7065577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70092-EFC0-B54B-A567-0321F687330D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58181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E97CE-3BB8-0C26-DAA2-1BEEA47E3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C8E4-A0FF-1249-0A47-2886A5D68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B0BD4-CB79-F2C1-0CCC-72CC1CA7B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89C39-7BDC-B64F-910A-B7D780F08928}" type="datetimeFigureOut">
              <a:rPr lang="es-ES_tradnl" smtClean="0"/>
              <a:t>26/8/26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8FB84-11F4-4724-3A3E-C83A8A03E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664DF-A18B-B4B3-7F05-D53A9FFA3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70092-EFC0-B54B-A567-0321F687330D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7382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EBA6B-9D85-E30B-6B77-E345DB008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B4268-9F5D-71DE-9971-1AACF968F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170C7-5DB0-85F3-DB0F-DC08D9638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89C39-7BDC-B64F-910A-B7D780F08928}" type="datetimeFigureOut">
              <a:rPr lang="es-ES_tradnl" smtClean="0"/>
              <a:t>26/8/26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AD4C5-8D80-6830-855D-60F70D05E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F4843-A3F0-B967-6980-FA7F29000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70092-EFC0-B54B-A567-0321F687330D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89139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7E3E1-6894-B0DE-6AD3-5F3651760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1CE9D-7A0C-D099-596C-76B84A7A39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18B43A-E69B-CE0F-26B7-D7BEC56CF5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CDAFB6-76B8-F00F-3FC6-46727A7E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89C39-7BDC-B64F-910A-B7D780F08928}" type="datetimeFigureOut">
              <a:rPr lang="es-ES_tradnl" smtClean="0"/>
              <a:t>26/8/26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53433B-8CFB-6D21-9194-559FAE234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F419D3-C70A-EA1C-6F42-8C3062839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70092-EFC0-B54B-A567-0321F687330D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76368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7F9CD-476C-54EB-3B67-BFD6BEEDA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7E117-047F-012C-429E-CB98DF9C2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D27868-5F60-6B8A-4500-8ED8A03371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EC1C3E-B7A9-B183-BA00-F9BA5FC58C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4E71B2-13C7-B767-1634-BCD2D47C96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D27D51-3671-ECAB-08FD-279E34C3B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89C39-7BDC-B64F-910A-B7D780F08928}" type="datetimeFigureOut">
              <a:rPr lang="es-ES_tradnl" smtClean="0"/>
              <a:t>26/8/26</a:t>
            </a:fld>
            <a:endParaRPr lang="es-ES_trad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4C4C2B-4A96-104D-4934-AB0E7AA10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BCB9B9-798E-AEDA-B6D1-3C1675849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70092-EFC0-B54B-A567-0321F687330D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96809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335D2-C131-1345-2580-C1F11D0C9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A97CFC-035F-89AD-9400-6D2042C80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89C39-7BDC-B64F-910A-B7D780F08928}" type="datetimeFigureOut">
              <a:rPr lang="es-ES_tradnl" smtClean="0"/>
              <a:t>26/8/26</a:t>
            </a:fld>
            <a:endParaRPr lang="es-ES_trad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1E6E9-972F-25DD-44E9-EBB59198E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8B777-655F-3596-ADD6-02050FF67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70092-EFC0-B54B-A567-0321F687330D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03246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58CCEC-5584-E60C-AFF9-356165E17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89C39-7BDC-B64F-910A-B7D780F08928}" type="datetimeFigureOut">
              <a:rPr lang="es-ES_tradnl" smtClean="0"/>
              <a:t>26/8/26</a:t>
            </a:fld>
            <a:endParaRPr lang="es-ES_trad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705378-F12F-390A-F2FC-CEF85F4FB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35724-1359-F328-AC5B-5E6D10F85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70092-EFC0-B54B-A567-0321F687330D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42841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1F1E4-5867-4158-9380-0612A97C4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62875-A173-36E9-1917-52F3CAA78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172AF9-2AAB-643A-E38E-068590C7A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9ADBFB-94B6-DA83-529A-E3C44B3B1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89C39-7BDC-B64F-910A-B7D780F08928}" type="datetimeFigureOut">
              <a:rPr lang="es-ES_tradnl" smtClean="0"/>
              <a:t>26/8/26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78A237-71AB-5832-7003-D32154D46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C5B7E7-871C-DC8C-500F-B10D4C9FC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70092-EFC0-B54B-A567-0321F687330D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48338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348C5-3069-BD9D-ECA9-495C82577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75E97-BD26-4D18-0874-1732B468EB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6FB296-ECA0-6853-7D1F-28C3AA6F90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DCCE33-9463-C7A3-0894-AC67924F6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89C39-7BDC-B64F-910A-B7D780F08928}" type="datetimeFigureOut">
              <a:rPr lang="es-ES_tradnl" smtClean="0"/>
              <a:t>26/8/26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60340-48E7-6950-729B-6465EEBA6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5F16CE-A68D-06C8-16EC-54C28DE65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70092-EFC0-B54B-A567-0321F687330D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19493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003B1-2E69-F79E-A57E-2BFBDB91D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B780C6-95CC-726B-25F2-15BB2C71FD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3E7A6-E6B9-A62E-EA8C-C8FA10993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89C39-7BDC-B64F-910A-B7D780F08928}" type="datetimeFigureOut">
              <a:rPr lang="es-ES_tradnl" smtClean="0"/>
              <a:t>26/8/26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EED0E-9177-77F8-1214-7CA1E4759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C0C16-7FE3-94F1-1FEF-46762AE0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70092-EFC0-B54B-A567-0321F687330D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22819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EF0282-1C0B-138D-9752-EC5853A8D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522C30-80DB-9963-E13E-FEC66BEC4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83485-EA58-93E4-5D54-AC0730664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89C39-7BDC-B64F-910A-B7D780F08928}" type="datetimeFigureOut">
              <a:rPr lang="es-ES_tradnl" smtClean="0"/>
              <a:t>26/8/26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CB20B-D847-8B00-9F7B-383C8DF91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0EDD7-3BE0-7593-9618-F1FE3DE6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70092-EFC0-B54B-A567-0321F687330D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89102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83D6D5-7895-D4AA-1E63-19BCA2441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6DDAF-6A53-CAD3-78D4-5509A8EE9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8CA62-7E18-D6C8-C77E-8DC44FD9E4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A89C39-7BDC-B64F-910A-B7D780F08928}" type="datetimeFigureOut">
              <a:rPr lang="es-ES_tradnl" smtClean="0"/>
              <a:t>26/8/26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B93A3-44A8-DE5C-09CA-82B10D1DB9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78900-5AB9-65E6-ECA9-0FCE83C7C3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E70092-EFC0-B54B-A567-0321F687330D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41095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s.imperial.ac.uk/imperial-medicine/2019/03/20/how-can-we-build-a-better-balance-of-women-in-stem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nd/3.0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appingignorance.org/2017/05/10/sexual-differences-in-the-human-brain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nd/3.0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erson in a white coat holding a tablet&#10;&#10;Description automatically generated">
            <a:extLst>
              <a:ext uri="{FF2B5EF4-FFF2-40B4-BE49-F238E27FC236}">
                <a16:creationId xmlns:a16="http://schemas.microsoft.com/office/drawing/2014/main" id="{97222366-75CF-CA76-34AB-F7A7D4BCD0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3732" r="15810" b="462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9F0FF8-B216-573A-B8E8-FBC2C36D3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s-ES_tradnl" sz="4800"/>
              <a:t>Teorías que explican la desigualdad: Caso 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F51347-1000-66FF-4E85-6EFA1C6B95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s-ES_tradnl" sz="2000"/>
              <a:t>Sociología del Género - SOL191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EFBB7C-1893-7743-934F-4F9D2E2285A8}"/>
              </a:ext>
            </a:extLst>
          </p:cNvPr>
          <p:cNvSpPr txBox="1"/>
          <p:nvPr/>
        </p:nvSpPr>
        <p:spPr>
          <a:xfrm>
            <a:off x="9739085" y="6657945"/>
            <a:ext cx="2452915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s-ES_tradnl" sz="700">
                <a:solidFill>
                  <a:srgbClr val="FFFFFF"/>
                </a:solidFill>
                <a:hlinkClick r:id="rId3" tooltip="https://blogs.imperial.ac.uk/imperial-medicine/2019/03/20/how-can-we-build-a-better-balance-of-women-in-stem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s-ES_tradnl" sz="700">
                <a:solidFill>
                  <a:srgbClr val="FFFFFF"/>
                </a:solidFill>
              </a:rPr>
              <a:t> by Unknown Author is licensed under </a:t>
            </a:r>
            <a:r>
              <a:rPr lang="es-ES_tradnl" sz="700">
                <a:solidFill>
                  <a:srgbClr val="FFFFFF"/>
                </a:solidFill>
                <a:hlinkClick r:id="rId4" tooltip="https://creativecommons.org/licenses/by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BY-ND</a:t>
            </a:r>
            <a:endParaRPr lang="es-ES_tradnl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4801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4A71A8-122D-4645-8D4C-021DB1374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Mujeres en STEM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3B73A2-5692-7542-9B08-8F154257B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53% de la matrícula a la universidad son mujeres</a:t>
            </a:r>
          </a:p>
          <a:p>
            <a:r>
              <a:rPr lang="es-CL" dirty="0"/>
              <a:t>22% de la matrícula en STEM son mujeres</a:t>
            </a:r>
          </a:p>
          <a:p>
            <a:r>
              <a:rPr lang="es-CL" dirty="0"/>
              <a:t>7% de los/as titulados/as en STEM son mujeres</a:t>
            </a:r>
          </a:p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endParaRPr lang="es-CL" dirty="0"/>
          </a:p>
          <a:p>
            <a:pPr marL="0" indent="0" algn="ctr">
              <a:buNone/>
            </a:pPr>
            <a:r>
              <a:rPr lang="es-CL" sz="3600" dirty="0"/>
              <a:t>¿Por qué hay menos mujeres en STEM?</a:t>
            </a:r>
          </a:p>
          <a:p>
            <a:pPr lvl="1"/>
            <a:endParaRPr lang="es-CL" dirty="0"/>
          </a:p>
          <a:p>
            <a:pPr lvl="1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97028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970B756-BD28-AE4F-97A9-8E73D36F5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s-CL" sz="4000"/>
              <a:t>Teorías de género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A76997-B864-4D45-AAF7-76055C83B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s-CL" sz="2200" dirty="0"/>
              <a:t>Teorías que buscan explicar por qué hay diferencias y desigualdades de género en la sociedad.</a:t>
            </a:r>
          </a:p>
          <a:p>
            <a:pPr lvl="1"/>
            <a:r>
              <a:rPr lang="es-CL" sz="1800" dirty="0"/>
              <a:t>Biológicas: nivel micro.</a:t>
            </a:r>
          </a:p>
          <a:p>
            <a:pPr lvl="1"/>
            <a:r>
              <a:rPr lang="es-CL" sz="1800" dirty="0"/>
              <a:t>Psicológicas o de desarrollo: nivel micro.</a:t>
            </a:r>
          </a:p>
          <a:p>
            <a:pPr lvl="1"/>
            <a:r>
              <a:rPr lang="es-CL" sz="1800" dirty="0"/>
              <a:t>Sociológicas: nivel meso y macro.</a:t>
            </a:r>
            <a:endParaRPr lang="es-CL" sz="2200" dirty="0"/>
          </a:p>
          <a:p>
            <a:r>
              <a:rPr lang="es-CL" sz="2200" dirty="0"/>
              <a:t>De biológico, a psicológicas a sociológicas: va aumentando la percepción del género como maleable, y también refleja el orden cronológico en que se desarrollaron.</a:t>
            </a:r>
          </a:p>
          <a:p>
            <a:pPr marL="0" indent="0">
              <a:buNone/>
            </a:pPr>
            <a:endParaRPr lang="es-CL" sz="2200" dirty="0"/>
          </a:p>
        </p:txBody>
      </p:sp>
    </p:spTree>
    <p:extLst>
      <p:ext uri="{BB962C8B-B14F-4D97-AF65-F5344CB8AC3E}">
        <p14:creationId xmlns:p14="http://schemas.microsoft.com/office/powerpoint/2010/main" val="2599888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ombillas blancas con una amarilla que sobresale">
            <a:extLst>
              <a:ext uri="{FF2B5EF4-FFF2-40B4-BE49-F238E27FC236}">
                <a16:creationId xmlns:a16="http://schemas.microsoft.com/office/drawing/2014/main" id="{F2BEDACE-73FC-F899-60A7-3ADD6A6643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736" r="31605" b="-2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C672F6-C637-8546-B75D-D89D4217E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s-CL" sz="4000"/>
              <a:t>Evaluando las teorías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D37EDA-E2E2-5247-9FF1-E2053CD2A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6" y="2743200"/>
            <a:ext cx="5771883" cy="3496878"/>
          </a:xfrm>
        </p:spPr>
        <p:txBody>
          <a:bodyPr anchor="ctr">
            <a:normAutofit/>
          </a:bodyPr>
          <a:lstStyle/>
          <a:p>
            <a:r>
              <a:rPr lang="es-CL" sz="2400" dirty="0"/>
              <a:t>¿Cuál es la lógica detrás de la explicación?</a:t>
            </a:r>
          </a:p>
          <a:p>
            <a:r>
              <a:rPr lang="es-CL" sz="2400" dirty="0"/>
              <a:t>¿Hasta qué punto la teoría es apoyada empíricamente con evidencia?</a:t>
            </a:r>
          </a:p>
          <a:p>
            <a:r>
              <a:rPr lang="es-CL" sz="2400" dirty="0"/>
              <a:t>¿Cuánto poder explicativo tiene la teoría? ¿Está </a:t>
            </a:r>
            <a:r>
              <a:rPr lang="es-CL" sz="2400" i="1" dirty="0" err="1"/>
              <a:t>sobre-</a:t>
            </a:r>
            <a:r>
              <a:rPr lang="es-CL" sz="2400" dirty="0" err="1"/>
              <a:t>aplicada</a:t>
            </a:r>
            <a:r>
              <a:rPr lang="es-CL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89174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02D11E-ACE3-4F4F-925A-36785CBA9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s-CL" sz="3600" dirty="0"/>
              <a:t>Explicaciones biológicas: cerebros</a:t>
            </a:r>
          </a:p>
        </p:txBody>
      </p:sp>
      <p:pic>
        <p:nvPicPr>
          <p:cNvPr id="5" name="Picture 4" descr="A person and person's brain&#10;&#10;Description automatically generated">
            <a:extLst>
              <a:ext uri="{FF2B5EF4-FFF2-40B4-BE49-F238E27FC236}">
                <a16:creationId xmlns:a16="http://schemas.microsoft.com/office/drawing/2014/main" id="{BE9B6504-C2E4-37E0-8582-A5D97C28AFC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3658" b="42236"/>
          <a:stretch/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496DED-BB01-FA4A-A710-2FAAC5636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anchor="ctr">
            <a:normAutofit/>
          </a:bodyPr>
          <a:lstStyle/>
          <a:p>
            <a:r>
              <a:rPr lang="es-CL" sz="1800" dirty="0"/>
              <a:t>Diferencias en estructura y función cerebral</a:t>
            </a:r>
          </a:p>
          <a:p>
            <a:r>
              <a:rPr lang="es-CL" sz="1800" dirty="0"/>
              <a:t>Lógica: las diferencias cerebrales explican diferencias cognitivas, lo que lleva a diferencias en aptitudes. Las diferencias de género en aptitudes explican que hombres y mujeres usen diferentes posiciones en la sociedad.</a:t>
            </a:r>
          </a:p>
          <a:p>
            <a:endParaRPr lang="es-CL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32273D-B876-EE1E-4907-6659B4B4EF86}"/>
              </a:ext>
            </a:extLst>
          </p:cNvPr>
          <p:cNvSpPr txBox="1"/>
          <p:nvPr/>
        </p:nvSpPr>
        <p:spPr>
          <a:xfrm>
            <a:off x="9581991" y="6657945"/>
            <a:ext cx="2610009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s-ES_tradnl" sz="700">
                <a:solidFill>
                  <a:srgbClr val="FFFFFF"/>
                </a:solidFill>
                <a:hlinkClick r:id="rId3" tooltip="https://mappingignorance.org/2017/05/10/sexual-differences-in-the-human-brain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s-ES_tradnl" sz="700">
                <a:solidFill>
                  <a:srgbClr val="FFFFFF"/>
                </a:solidFill>
              </a:rPr>
              <a:t> by Unknown Author is licensed under </a:t>
            </a:r>
            <a:r>
              <a:rPr lang="es-ES_tradnl" sz="700">
                <a:solidFill>
                  <a:srgbClr val="FFFFFF"/>
                </a:solidFill>
                <a:hlinkClick r:id="rId4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es-ES_tradnl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721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F88EBA-0B5D-744C-92F1-F8A61F7C9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CL" sz="4000" dirty="0" err="1">
                <a:solidFill>
                  <a:srgbClr val="FFFFFF"/>
                </a:solidFill>
              </a:rPr>
              <a:t>Angier</a:t>
            </a:r>
            <a:r>
              <a:rPr lang="es-CL" sz="4000" dirty="0">
                <a:solidFill>
                  <a:srgbClr val="FFFFFF"/>
                </a:solidFill>
              </a:rPr>
              <a:t> &amp; Chang: Discusión en grupo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E88FD38C-E51F-0174-2815-D58BFC4281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285135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61583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2E416F-9AB5-1046-B233-DCED01314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endParaRPr lang="es-CL" sz="4000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AD040E05-56EC-EE22-15B1-A0891087DE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955832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6379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46FAF5-6EEA-4B46-B8DC-B6B619706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CL" sz="4000">
                <a:solidFill>
                  <a:srgbClr val="FFFFFF"/>
                </a:solidFill>
              </a:rPr>
              <a:t>Biológicas: hormonas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0E4C51F9-8B44-4FAE-100E-0533AD83EA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675011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5707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0AD5AB2-8147-AD40-B666-8320E2101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CL" sz="4000">
                <a:solidFill>
                  <a:srgbClr val="FFFFFF"/>
                </a:solidFill>
              </a:rPr>
              <a:t>Complicaciones con las teorías biológicas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0B5434-DFCD-0349-8056-C58AB60C2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1" y="2318197"/>
            <a:ext cx="10181230" cy="3683358"/>
          </a:xfrm>
        </p:spPr>
        <p:txBody>
          <a:bodyPr anchor="ctr">
            <a:normAutofit/>
          </a:bodyPr>
          <a:lstStyle/>
          <a:p>
            <a:r>
              <a:rPr lang="es-CL" dirty="0"/>
              <a:t>Lo social afecta lo biológico.</a:t>
            </a:r>
          </a:p>
          <a:p>
            <a:r>
              <a:rPr lang="es-CL" dirty="0"/>
              <a:t>Lo social también afecta como “vemos” lo biológico.</a:t>
            </a:r>
          </a:p>
          <a:p>
            <a:r>
              <a:rPr lang="es-CL" dirty="0"/>
              <a:t>Ejemplos sobre cómo los padres y madres explican o perciben los comportamientos o características de sus hijos/as.</a:t>
            </a:r>
          </a:p>
          <a:p>
            <a:r>
              <a:rPr lang="es-CL" dirty="0"/>
              <a:t>Efectos de los comportamientos de los padres y madres en el desarrollo cerebral de los niños/as.</a:t>
            </a:r>
          </a:p>
          <a:p>
            <a:pPr marL="0" indent="0">
              <a:buNone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992452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6D399FC-D279-1F45-BBF8-944C86CF7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CL" sz="4000" dirty="0">
                <a:solidFill>
                  <a:srgbClr val="FFFFFF"/>
                </a:solidFill>
              </a:rPr>
              <a:t>Teorías psicológicas o de desarrollo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14938D1F-323C-7FE9-9DA7-AB089F2A99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106395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47483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5CDD32-FD9C-4C48-AB4E-7BC07E258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s-CL" sz="4000" dirty="0"/>
              <a:t>Socialización temprana: </a:t>
            </a:r>
            <a:r>
              <a:rPr lang="es-CL" sz="2800" dirty="0"/>
              <a:t>Del Rio &amp; </a:t>
            </a:r>
            <a:r>
              <a:rPr lang="es-CL" sz="2800" dirty="0" err="1"/>
              <a:t>Strasser</a:t>
            </a:r>
            <a:r>
              <a:rPr lang="es-CL" sz="2800" dirty="0"/>
              <a:t> (2013)</a:t>
            </a:r>
            <a:endParaRPr lang="es-CL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931F99-A574-0142-8995-56918BF8F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s-CL" sz="2400" dirty="0"/>
              <a:t>Estudio experimental sobre creencias de preescolares en Santiago, Chile.</a:t>
            </a:r>
          </a:p>
          <a:p>
            <a:r>
              <a:rPr lang="es-CL" sz="2400" dirty="0"/>
              <a:t>81 participantes de tres escuelas de nivel socioeconómico medio.</a:t>
            </a:r>
          </a:p>
          <a:p>
            <a:r>
              <a:rPr lang="es-CL" sz="2400" dirty="0"/>
              <a:t>5 a 6 años.</a:t>
            </a:r>
          </a:p>
          <a:p>
            <a:endParaRPr lang="es-CL" sz="2400" dirty="0"/>
          </a:p>
        </p:txBody>
      </p:sp>
      <p:pic>
        <p:nvPicPr>
          <p:cNvPr id="5" name="Picture 4" descr="Números de plástico de juguete">
            <a:extLst>
              <a:ext uri="{FF2B5EF4-FFF2-40B4-BE49-F238E27FC236}">
                <a16:creationId xmlns:a16="http://schemas.microsoft.com/office/drawing/2014/main" id="{F9CE6FEB-E9C1-E340-F098-A8B2D510B2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002" r="27161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18214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28C30B9-F9C3-3F4B-A458-5D5F09BB3B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41227" y="778210"/>
            <a:ext cx="7365759" cy="5270758"/>
          </a:xfrm>
        </p:spPr>
      </p:pic>
    </p:spTree>
    <p:extLst>
      <p:ext uri="{BB962C8B-B14F-4D97-AF65-F5344CB8AC3E}">
        <p14:creationId xmlns:p14="http://schemas.microsoft.com/office/powerpoint/2010/main" val="185081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F4BD3F6-C7E4-ED4B-B249-2B66ABD506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6208" y="185455"/>
            <a:ext cx="5105137" cy="6366953"/>
          </a:xfr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5CD9DF9-EC7A-0844-A5CD-B5D634446564}"/>
              </a:ext>
            </a:extLst>
          </p:cNvPr>
          <p:cNvSpPr txBox="1"/>
          <p:nvPr/>
        </p:nvSpPr>
        <p:spPr>
          <a:xfrm>
            <a:off x="6304184" y="1179542"/>
            <a:ext cx="520201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CL" sz="2000" dirty="0"/>
              <a:t>Preferencia, facilidad, y alto desempeño: matemáticas y lenguaje son igualmente elegidos para el niño hipotético.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CL" sz="2000" dirty="0"/>
              <a:t>Pero para la niña hipotética, lenguaje tendió a ser preferido.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CL" sz="2000" dirty="0"/>
              <a:t>Disgusto, peor desempeño, y dificultad: se espera que la niña hipotética no le guste y le vaya peor en matemáticas que lenguaje.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CL" sz="2000" dirty="0"/>
              <a:t>No hay variación entre el género de los niños y niñas participantes.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CL" sz="2000" dirty="0"/>
              <a:t>Se evidencian creencias estereotípicas de género con respecto a preferencias y desempeño. ¿Dónde se formaron esas creencias?</a:t>
            </a:r>
          </a:p>
          <a:p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3335959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E3EA23-4535-3842-A8AA-CEA58EC1F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Amenaza de estereotipo</a:t>
            </a: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DA4F6837-567D-CC44-9253-3AB3BF5C16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0419011"/>
              </p:ext>
            </p:extLst>
          </p:nvPr>
        </p:nvGraphicFramePr>
        <p:xfrm>
          <a:off x="1333500" y="1690688"/>
          <a:ext cx="9525000" cy="32746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E168CA4F-4BC1-D24D-85AF-3DE214F4A90F}"/>
              </a:ext>
            </a:extLst>
          </p:cNvPr>
          <p:cNvSpPr txBox="1"/>
          <p:nvPr/>
        </p:nvSpPr>
        <p:spPr>
          <a:xfrm>
            <a:off x="1333500" y="4965383"/>
            <a:ext cx="83388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/>
              <a:t>¿Cómo?</a:t>
            </a:r>
          </a:p>
          <a:p>
            <a:r>
              <a:rPr lang="es-CL" sz="2800" dirty="0"/>
              <a:t>Los estereotipos impactan el </a:t>
            </a:r>
            <a:r>
              <a:rPr lang="es-CL" sz="2800" b="1" dirty="0"/>
              <a:t>desempeño</a:t>
            </a:r>
            <a:r>
              <a:rPr lang="es-CL" sz="2800" dirty="0"/>
              <a:t> y el </a:t>
            </a:r>
            <a:r>
              <a:rPr lang="es-CL" sz="2800" b="1" dirty="0"/>
              <a:t>estandar</a:t>
            </a:r>
            <a:r>
              <a:rPr lang="es-CL" sz="2800" dirty="0"/>
              <a:t> que usamos para evaluar el desempeño.</a:t>
            </a:r>
          </a:p>
        </p:txBody>
      </p:sp>
    </p:spTree>
    <p:extLst>
      <p:ext uri="{BB962C8B-B14F-4D97-AF65-F5344CB8AC3E}">
        <p14:creationId xmlns:p14="http://schemas.microsoft.com/office/powerpoint/2010/main" val="1301199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68A93F9-3B44-E948-B0C9-3CB0B94E1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CL" sz="4000">
                <a:solidFill>
                  <a:srgbClr val="FFFFFF"/>
                </a:solidFill>
              </a:rPr>
              <a:t>¿Cómo los estereotipos afectan el desempeño?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E618329A-9D8C-48D3-9F2E-DC80730C64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268470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58909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3E7CA2-A981-E248-A932-35B7A1BB7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Amenaza de estereotipo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3B6DF1-750E-964F-B05B-3350C3E9B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Los estereotipos negativos sobre el propio grupo, cuando salientes, llevan a un peor desempeño, incluso luego de controlar por el nivel de habilidad.</a:t>
            </a:r>
          </a:p>
          <a:p>
            <a:r>
              <a:rPr lang="es-CL" dirty="0"/>
              <a:t>Los estereotipos también afectan el estándar que usamos para decidir si nuestro desempeño es bueno o no.</a:t>
            </a:r>
          </a:p>
          <a:p>
            <a:r>
              <a:rPr lang="es-CL" dirty="0"/>
              <a:t>Cuando sabemos que otras personas no esperan que “personas como nosotras” sean buenas en una cierta tarea, juzgamos nuestro propio desempeño con un estándar más exigente.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60603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F8D609A-574D-1A49-80F3-D2E7F053E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s-CL" sz="3700"/>
              <a:t>Constraints into Preferences (Correll 2004)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038CFB-9032-6A49-96FA-7251ADA0C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264044"/>
            <a:ext cx="5457931" cy="4247427"/>
          </a:xfrm>
        </p:spPr>
        <p:txBody>
          <a:bodyPr anchor="ctr">
            <a:normAutofit lnSpcReduction="10000"/>
          </a:bodyPr>
          <a:lstStyle/>
          <a:p>
            <a:r>
              <a:rPr lang="es-CL" sz="2000" dirty="0"/>
              <a:t>80 estudiantes de pregrado: 40 mujeres, 40 hombres.</a:t>
            </a:r>
          </a:p>
          <a:p>
            <a:r>
              <a:rPr lang="es-CL" sz="2000" dirty="0"/>
              <a:t>Tarea “falsa”: prueba de habilidad en sensibilidad de contraste</a:t>
            </a:r>
          </a:p>
          <a:p>
            <a:r>
              <a:rPr lang="es-CL" sz="2000" dirty="0"/>
              <a:t>El desempeño se mantiene constante de manera experimental.</a:t>
            </a:r>
          </a:p>
          <a:p>
            <a:r>
              <a:rPr lang="es-CL" sz="2000" dirty="0"/>
              <a:t>Variables dependientes:</a:t>
            </a:r>
          </a:p>
          <a:p>
            <a:pPr lvl="1"/>
            <a:r>
              <a:rPr lang="es-CL" sz="2000" dirty="0"/>
              <a:t>Estándar de habilidad</a:t>
            </a:r>
          </a:p>
          <a:p>
            <a:pPr lvl="1"/>
            <a:r>
              <a:rPr lang="es-CL" sz="2000" dirty="0"/>
              <a:t>Auto-evaluación de competencia en la tarea</a:t>
            </a:r>
          </a:p>
          <a:p>
            <a:pPr lvl="1"/>
            <a:r>
              <a:rPr lang="es-CL" sz="2000" dirty="0"/>
              <a:t>Aspiraciones futuras</a:t>
            </a:r>
          </a:p>
          <a:p>
            <a:r>
              <a:rPr lang="es-CL" sz="2000" dirty="0"/>
              <a:t>Variable independiente:</a:t>
            </a:r>
          </a:p>
          <a:p>
            <a:pPr lvl="1"/>
            <a:r>
              <a:rPr lang="es-CL" sz="2000" dirty="0"/>
              <a:t>Creencia de género asociada a la tarea.</a:t>
            </a:r>
          </a:p>
        </p:txBody>
      </p:sp>
      <p:pic>
        <p:nvPicPr>
          <p:cNvPr id="5" name="Picture 4" descr="Bombilla en fondo amarillo con rayos de luz y cable pintados">
            <a:extLst>
              <a:ext uri="{FF2B5EF4-FFF2-40B4-BE49-F238E27FC236}">
                <a16:creationId xmlns:a16="http://schemas.microsoft.com/office/drawing/2014/main" id="{2C3CE40A-89D9-4FF6-B78F-9DD52D7F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250" r="3990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99192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A338D3-E694-7D48-AE88-CB39B892D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Prueba: Sensibilidad de contraste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87F1CE4-7FA2-A14A-842F-53EAE33B92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8685" y="1825625"/>
            <a:ext cx="5614629" cy="4351338"/>
          </a:xfrm>
        </p:spPr>
      </p:pic>
    </p:spTree>
    <p:extLst>
      <p:ext uri="{BB962C8B-B14F-4D97-AF65-F5344CB8AC3E}">
        <p14:creationId xmlns:p14="http://schemas.microsoft.com/office/powerpoint/2010/main" val="27810362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7C7F5A-9FF1-164B-ACC5-4A467D17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Estándar de habilidad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EE4B56-6958-7740-A47F-90D3A0AC6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89443" cy="4351338"/>
          </a:xfrm>
        </p:spPr>
        <p:txBody>
          <a:bodyPr/>
          <a:lstStyle/>
          <a:p>
            <a:pPr marL="0" indent="0">
              <a:buNone/>
            </a:pPr>
            <a:r>
              <a:rPr lang="es-CL" dirty="0"/>
              <a:t>¿Qué puntaje deberías haber obtenido en la prueba para estar seguro/a que definitivamente tienes un alto nivel de habilidad de sensibilidad de contraste?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94CEA2C5-9FE6-AA49-BF0D-A11BF757D6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691851"/>
              </p:ext>
            </p:extLst>
          </p:nvPr>
        </p:nvGraphicFramePr>
        <p:xfrm>
          <a:off x="5277395" y="1539550"/>
          <a:ext cx="6551439" cy="4102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3813">
                  <a:extLst>
                    <a:ext uri="{9D8B030D-6E8A-4147-A177-3AD203B41FA5}">
                      <a16:colId xmlns:a16="http://schemas.microsoft.com/office/drawing/2014/main" val="3571698384"/>
                    </a:ext>
                  </a:extLst>
                </a:gridCol>
                <a:gridCol w="2183813">
                  <a:extLst>
                    <a:ext uri="{9D8B030D-6E8A-4147-A177-3AD203B41FA5}">
                      <a16:colId xmlns:a16="http://schemas.microsoft.com/office/drawing/2014/main" val="1882809025"/>
                    </a:ext>
                  </a:extLst>
                </a:gridCol>
                <a:gridCol w="2183813">
                  <a:extLst>
                    <a:ext uri="{9D8B030D-6E8A-4147-A177-3AD203B41FA5}">
                      <a16:colId xmlns:a16="http://schemas.microsoft.com/office/drawing/2014/main" val="376961983"/>
                    </a:ext>
                  </a:extLst>
                </a:gridCol>
              </a:tblGrid>
              <a:tr h="423829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L" dirty="0"/>
                        <a:t>Estándar de habilidad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381453"/>
                  </a:ext>
                </a:extLst>
              </a:tr>
              <a:tr h="122622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CL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Condición experimental: lo que se les dice a los participantes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Hombres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Mujeres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286885"/>
                  </a:ext>
                </a:extLst>
              </a:tr>
              <a:tr h="1226221">
                <a:tc>
                  <a:txBody>
                    <a:bodyPr/>
                    <a:lstStyle/>
                    <a:p>
                      <a:pPr algn="l"/>
                      <a:r>
                        <a:rPr lang="es-CL" dirty="0"/>
                        <a:t>Hombres tienen mayor habilidad en la tarea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79.3%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88.9%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697244"/>
                  </a:ext>
                </a:extLst>
              </a:tr>
              <a:tr h="1226221">
                <a:tc>
                  <a:txBody>
                    <a:bodyPr/>
                    <a:lstStyle/>
                    <a:p>
                      <a:pPr algn="l"/>
                      <a:r>
                        <a:rPr lang="es-CL" dirty="0"/>
                        <a:t>No hay diferencia de género en habilidad en la tarea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83.1%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82.4%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637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6257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7884F5-8F5C-DE4B-A53B-AA59A9508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Auto-evaluación de habilidad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ED3624-1F44-7D4D-A520-6DFD16590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78048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sz="3200" dirty="0"/>
              <a:t>¿Qué tan bien crees que te fue?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D01333F-1F26-1E45-A9A4-DB3E0C6B32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845944"/>
              </p:ext>
            </p:extLst>
          </p:nvPr>
        </p:nvGraphicFramePr>
        <p:xfrm>
          <a:off x="5155660" y="1825625"/>
          <a:ext cx="6551439" cy="4102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3813">
                  <a:extLst>
                    <a:ext uri="{9D8B030D-6E8A-4147-A177-3AD203B41FA5}">
                      <a16:colId xmlns:a16="http://schemas.microsoft.com/office/drawing/2014/main" val="3571698384"/>
                    </a:ext>
                  </a:extLst>
                </a:gridCol>
                <a:gridCol w="2183813">
                  <a:extLst>
                    <a:ext uri="{9D8B030D-6E8A-4147-A177-3AD203B41FA5}">
                      <a16:colId xmlns:a16="http://schemas.microsoft.com/office/drawing/2014/main" val="1882809025"/>
                    </a:ext>
                  </a:extLst>
                </a:gridCol>
                <a:gridCol w="2183813">
                  <a:extLst>
                    <a:ext uri="{9D8B030D-6E8A-4147-A177-3AD203B41FA5}">
                      <a16:colId xmlns:a16="http://schemas.microsoft.com/office/drawing/2014/main" val="376961983"/>
                    </a:ext>
                  </a:extLst>
                </a:gridCol>
              </a:tblGrid>
              <a:tr h="423829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L" dirty="0"/>
                        <a:t>Auto-evaluación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381453"/>
                  </a:ext>
                </a:extLst>
              </a:tr>
              <a:tr h="122622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CL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Condición experimental: lo que se les dice a los participantes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Hombres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Mujeres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286885"/>
                  </a:ext>
                </a:extLst>
              </a:tr>
              <a:tr h="1226221">
                <a:tc>
                  <a:txBody>
                    <a:bodyPr/>
                    <a:lstStyle/>
                    <a:p>
                      <a:pPr algn="l"/>
                      <a:r>
                        <a:rPr lang="es-CL" dirty="0"/>
                        <a:t>Hombres tienen mayor habilidad en la tarea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55.3%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41.1%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697244"/>
                  </a:ext>
                </a:extLst>
              </a:tr>
              <a:tr h="1226221">
                <a:tc>
                  <a:txBody>
                    <a:bodyPr/>
                    <a:lstStyle/>
                    <a:p>
                      <a:pPr algn="l"/>
                      <a:r>
                        <a:rPr lang="es-CL" dirty="0"/>
                        <a:t>No hay diferencia de género en habilidad en la tarea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47.3%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47.1%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637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46953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8ED8F9-C740-A447-ADC9-9C45940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Auto-evaluaciones y aspiraciones futuras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5ED003-6085-F04C-B665-EF73098C4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Los hombres reportaron mayor aspiración por carreras que requieren la habilidad de la prueba experimental</a:t>
            </a:r>
          </a:p>
          <a:p>
            <a:pPr lvl="1"/>
            <a:r>
              <a:rPr lang="es-CL" dirty="0"/>
              <a:t>Pero SOLAMENTE cuando les dicen que los hombres tienen mayor nivel de habilidad.</a:t>
            </a:r>
          </a:p>
          <a:p>
            <a:r>
              <a:rPr lang="es-CL" dirty="0"/>
              <a:t>No hay diferencias de género en aspiraciones cuando les dicen que el género no está asociado al nivel de habilidad en la tarea.</a:t>
            </a:r>
          </a:p>
          <a:p>
            <a:r>
              <a:rPr lang="es-CL" dirty="0"/>
              <a:t>Demuestra que cuando las creencias cambian, también cambian los estándares de habilidad, las autoevaluaciones y las aspiraciones.</a:t>
            </a:r>
          </a:p>
        </p:txBody>
      </p:sp>
    </p:spTree>
    <p:extLst>
      <p:ext uri="{BB962C8B-B14F-4D97-AF65-F5344CB8AC3E}">
        <p14:creationId xmlns:p14="http://schemas.microsoft.com/office/powerpoint/2010/main" val="34818774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3435F1-2091-25DD-30BA-8DC0638F8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ES_tradnl" sz="4800"/>
              <a:t>Explicaciones sociológicas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E8A36-43B8-0B45-AD91-FA1EB202E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s-ES_tradnl" sz="2000" dirty="0" err="1"/>
              <a:t>Cheryan</a:t>
            </a:r>
            <a:r>
              <a:rPr lang="es-ES_tradnl" sz="2000" dirty="0"/>
              <a:t> et al. 2009</a:t>
            </a:r>
          </a:p>
          <a:p>
            <a:r>
              <a:rPr lang="es-ES_tradnl" sz="2000" i="1" dirty="0" err="1"/>
              <a:t>Ambient</a:t>
            </a:r>
            <a:r>
              <a:rPr lang="es-ES_tradnl" sz="2000" i="1" dirty="0"/>
              <a:t> </a:t>
            </a:r>
            <a:r>
              <a:rPr lang="es-ES_tradnl" sz="2000" i="1" dirty="0" err="1"/>
              <a:t>belonging</a:t>
            </a:r>
            <a:r>
              <a:rPr lang="es-ES_tradnl" sz="2000" i="1" dirty="0"/>
              <a:t> </a:t>
            </a:r>
            <a:r>
              <a:rPr lang="es-ES_tradnl" sz="2000" dirty="0"/>
              <a:t>o pertenencia en el ambiente.</a:t>
            </a:r>
          </a:p>
          <a:p>
            <a:r>
              <a:rPr lang="es-ES_tradnl" sz="2000" dirty="0"/>
              <a:t>Personas pueden decidir si unirse o no a un grupo sólo en base al ambiente física del grupo.</a:t>
            </a:r>
          </a:p>
          <a:p>
            <a:r>
              <a:rPr lang="es-ES_tradnl" sz="2000" dirty="0"/>
              <a:t>Cómo cambiar los objetos de una sala de computación puede afectar el comportamiento de estudiantes decidiendo si les interesa esa área o no.</a:t>
            </a:r>
          </a:p>
        </p:txBody>
      </p:sp>
      <p:pic>
        <p:nvPicPr>
          <p:cNvPr id="7" name="Picture 6" descr="A group of people sitting at a table with computers&#10;&#10;Description automatically generated">
            <a:extLst>
              <a:ext uri="{FF2B5EF4-FFF2-40B4-BE49-F238E27FC236}">
                <a16:creationId xmlns:a16="http://schemas.microsoft.com/office/drawing/2014/main" id="{06B6C86C-9512-5FA8-A68F-EFB86080AB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198" r="2" b="2"/>
          <a:stretch/>
        </p:blipFill>
        <p:spPr>
          <a:xfrm>
            <a:off x="5911532" y="2484255"/>
            <a:ext cx="5150277" cy="371424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6820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E891F-B6E3-2A21-1067-C3F9D7174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C1FE0-469C-462D-6E81-C59FC4599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62600" cy="4351338"/>
          </a:xfrm>
        </p:spPr>
        <p:txBody>
          <a:bodyPr>
            <a:normAutofit/>
          </a:bodyPr>
          <a:lstStyle/>
          <a:p>
            <a:r>
              <a:rPr lang="es-ES_tradnl" dirty="0"/>
              <a:t>Los estereotipos se </a:t>
            </a:r>
            <a:r>
              <a:rPr lang="es-ES_tradnl" b="1" dirty="0"/>
              <a:t>comunican a través de los objetos </a:t>
            </a:r>
            <a:r>
              <a:rPr lang="es-ES_tradnl" dirty="0"/>
              <a:t>que existen en el ambiente de un grupo.</a:t>
            </a:r>
          </a:p>
          <a:p>
            <a:r>
              <a:rPr lang="es-ES_tradnl" dirty="0"/>
              <a:t>En ambientes estereotípicamente de ciencias de computación o estereotípicamente masculinos, el interés de las mujeres por estudiar esta área disminuye.</a:t>
            </a:r>
          </a:p>
          <a:p>
            <a:endParaRPr lang="es-ES_tradnl" dirty="0"/>
          </a:p>
        </p:txBody>
      </p:sp>
      <p:pic>
        <p:nvPicPr>
          <p:cNvPr id="7" name="Picture 6" descr="A graph of a person and person&#10;&#10;Description automatically generated">
            <a:extLst>
              <a:ext uri="{FF2B5EF4-FFF2-40B4-BE49-F238E27FC236}">
                <a16:creationId xmlns:a16="http://schemas.microsoft.com/office/drawing/2014/main" id="{5E531D0C-F711-E59D-79B8-7919743DB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369" y="722360"/>
            <a:ext cx="5142911" cy="545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0432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8A611-6CA2-E397-F28A-C79AB4143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BD5F7-40DA-225A-9917-A21F66B8C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_tradnl" dirty="0"/>
          </a:p>
        </p:txBody>
      </p:sp>
      <p:pic>
        <p:nvPicPr>
          <p:cNvPr id="4" name="Picture 3" descr="A graph of a person and person&#10;&#10;Description automatically generated">
            <a:extLst>
              <a:ext uri="{FF2B5EF4-FFF2-40B4-BE49-F238E27FC236}">
                <a16:creationId xmlns:a16="http://schemas.microsoft.com/office/drawing/2014/main" id="{A7400398-AECC-D9D1-00ED-DF18B5D5B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368" y="740782"/>
            <a:ext cx="5685264" cy="537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242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2165</TotalTime>
  <Words>1300</Words>
  <Application>Microsoft Macintosh PowerPoint</Application>
  <PresentationFormat>Widescreen</PresentationFormat>
  <Paragraphs>138</Paragraphs>
  <Slides>24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Times</vt:lpstr>
      <vt:lpstr>Office Theme</vt:lpstr>
      <vt:lpstr>Teorías que explican la desigualdad: Caso STEM</vt:lpstr>
      <vt:lpstr>Mujeres en STEM</vt:lpstr>
      <vt:lpstr>Teorías de género</vt:lpstr>
      <vt:lpstr>Evaluando las teorías</vt:lpstr>
      <vt:lpstr>Explicaciones biológicas: cerebros</vt:lpstr>
      <vt:lpstr>Angier &amp; Chang: Discusión en grupo</vt:lpstr>
      <vt:lpstr>PowerPoint Presentation</vt:lpstr>
      <vt:lpstr>Biológicas: hormonas</vt:lpstr>
      <vt:lpstr>Complicaciones con las teorías biológicas</vt:lpstr>
      <vt:lpstr>Teorías psicológicas o de desarrollo</vt:lpstr>
      <vt:lpstr>Socialización temprana: Del Rio &amp; Strasser (2013)</vt:lpstr>
      <vt:lpstr>PowerPoint Presentation</vt:lpstr>
      <vt:lpstr>PowerPoint Presentation</vt:lpstr>
      <vt:lpstr>Amenaza de estereotipo</vt:lpstr>
      <vt:lpstr>¿Cómo los estereotipos afectan el desempeño?</vt:lpstr>
      <vt:lpstr>Amenaza de estereotipo</vt:lpstr>
      <vt:lpstr>Constraints into Preferences (Correll 2004)</vt:lpstr>
      <vt:lpstr>Prueba: Sensibilidad de contraste</vt:lpstr>
      <vt:lpstr>Estándar de habilidad</vt:lpstr>
      <vt:lpstr>Auto-evaluación de habilidad</vt:lpstr>
      <vt:lpstr>Auto-evaluaciones y aspiraciones futuras</vt:lpstr>
      <vt:lpstr>Explicaciones sociológicas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Teorías que explican la desigualdad: Caso STEM</dc:title>
  <dc:creator>Cabello-Hutt, Tania</dc:creator>
  <cp:lastModifiedBy>Tania Hutt</cp:lastModifiedBy>
  <cp:revision>20</cp:revision>
  <dcterms:created xsi:type="dcterms:W3CDTF">2024-02-09T23:42:58Z</dcterms:created>
  <dcterms:modified xsi:type="dcterms:W3CDTF">2026-08-26T05:08:39Z</dcterms:modified>
</cp:coreProperties>
</file>