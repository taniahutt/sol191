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2"/>
  </p:notesMasterIdLst>
  <p:sldIdLst>
    <p:sldId id="256" r:id="rId2"/>
    <p:sldId id="271" r:id="rId3"/>
    <p:sldId id="269" r:id="rId4"/>
    <p:sldId id="273" r:id="rId5"/>
    <p:sldId id="270" r:id="rId6"/>
    <p:sldId id="274" r:id="rId7"/>
    <p:sldId id="283" r:id="rId8"/>
    <p:sldId id="275" r:id="rId9"/>
    <p:sldId id="282" r:id="rId10"/>
    <p:sldId id="280" r:id="rId11"/>
    <p:sldId id="288" r:id="rId12"/>
    <p:sldId id="287" r:id="rId13"/>
    <p:sldId id="281" r:id="rId14"/>
    <p:sldId id="285" r:id="rId15"/>
    <p:sldId id="284" r:id="rId16"/>
    <p:sldId id="278" r:id="rId17"/>
    <p:sldId id="289" r:id="rId18"/>
    <p:sldId id="257" r:id="rId19"/>
    <p:sldId id="259" r:id="rId20"/>
    <p:sldId id="279" r:id="rId21"/>
    <p:sldId id="260" r:id="rId22"/>
    <p:sldId id="261" r:id="rId23"/>
    <p:sldId id="262" r:id="rId24"/>
    <p:sldId id="263" r:id="rId25"/>
    <p:sldId id="264" r:id="rId26"/>
    <p:sldId id="265" r:id="rId27"/>
    <p:sldId id="266" r:id="rId28"/>
    <p:sldId id="286" r:id="rId29"/>
    <p:sldId id="267" r:id="rId30"/>
    <p:sldId id="268" r:id="rId31"/>
  </p:sldIdLst>
  <p:sldSz cx="12192000" cy="6858000"/>
  <p:notesSz cx="9144000" cy="6858000"/>
  <p:custDataLst>
    <p:tags r:id="rId3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67192"/>
  </p:normalViewPr>
  <p:slideViewPr>
    <p:cSldViewPr snapToGrid="0">
      <p:cViewPr varScale="1">
        <p:scale>
          <a:sx n="83" d="100"/>
          <a:sy n="83" d="100"/>
        </p:scale>
        <p:origin x="1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_rels/data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 Id="rId5" Type="http://schemas.openxmlformats.org/officeDocument/2006/relationships/image" Target="../media/image12.svg"/><Relationship Id="rId4" Type="http://schemas.openxmlformats.org/officeDocument/2006/relationships/image" Target="../media/image1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 Id="rId5" Type="http://schemas.openxmlformats.org/officeDocument/2006/relationships/image" Target="../media/image12.svg"/><Relationship Id="rId4" Type="http://schemas.openxmlformats.org/officeDocument/2006/relationships/image" Target="../media/image11.svg"/></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6156268-F207-8F4B-8B7D-FA07756A14AD}" type="doc">
      <dgm:prSet loTypeId="urn:microsoft.com/office/officeart/2005/8/layout/process1" loCatId="process" qsTypeId="urn:microsoft.com/office/officeart/2005/8/quickstyle/simple1" qsCatId="simple" csTypeId="urn:microsoft.com/office/officeart/2005/8/colors/colorful4" csCatId="colorful" phldr="1"/>
      <dgm:spPr/>
      <dgm:t>
        <a:bodyPr/>
        <a:lstStyle/>
        <a:p>
          <a:endParaRPr lang="en-US"/>
        </a:p>
      </dgm:t>
    </dgm:pt>
    <dgm:pt modelId="{03E73A16-603B-AD4D-B19B-F25EAFC68CC9}">
      <dgm:prSet custT="1"/>
      <dgm:spPr/>
      <dgm:t>
        <a:bodyPr/>
        <a:lstStyle/>
        <a:p>
          <a:r>
            <a:rPr lang="es-ES_tradnl" sz="2000" dirty="0"/>
            <a:t>Bases: conceptos y perspectivas teóricas fundamentales (C1-6)</a:t>
          </a:r>
          <a:endParaRPr lang="en-CL" sz="2000" dirty="0"/>
        </a:p>
      </dgm:t>
    </dgm:pt>
    <dgm:pt modelId="{A339B6C8-EF2E-B94A-9C08-C445B091D653}" type="parTrans" cxnId="{196F95ED-CB3E-4145-A5A0-61745AE5E79F}">
      <dgm:prSet/>
      <dgm:spPr/>
      <dgm:t>
        <a:bodyPr/>
        <a:lstStyle/>
        <a:p>
          <a:endParaRPr lang="en-US" sz="2000"/>
        </a:p>
      </dgm:t>
    </dgm:pt>
    <dgm:pt modelId="{C79E9CC6-EC97-A043-AD5B-D3DD900D42C5}" type="sibTrans" cxnId="{196F95ED-CB3E-4145-A5A0-61745AE5E79F}">
      <dgm:prSet custT="1"/>
      <dgm:spPr/>
      <dgm:t>
        <a:bodyPr/>
        <a:lstStyle/>
        <a:p>
          <a:endParaRPr lang="en-US" sz="2000"/>
        </a:p>
      </dgm:t>
    </dgm:pt>
    <dgm:pt modelId="{4D780B6C-C701-5848-8012-EAC6E28B3EA7}">
      <dgm:prSet custT="1"/>
      <dgm:spPr/>
      <dgm:t>
        <a:bodyPr/>
        <a:lstStyle/>
        <a:p>
          <a:r>
            <a:rPr lang="es-ES_tradnl" sz="2000" dirty="0"/>
            <a:t>Aplicación de conceptos y teorías a diversos ámbitos de la vida social (C7-14)</a:t>
          </a:r>
          <a:endParaRPr lang="en-CL" sz="2000" dirty="0"/>
        </a:p>
      </dgm:t>
    </dgm:pt>
    <dgm:pt modelId="{7C3FC5F4-F0DA-4042-85EF-BD371F2BBD6A}" type="parTrans" cxnId="{ACAFE7EB-4339-994E-BE10-B84E59707BE3}">
      <dgm:prSet/>
      <dgm:spPr/>
      <dgm:t>
        <a:bodyPr/>
        <a:lstStyle/>
        <a:p>
          <a:endParaRPr lang="en-US" sz="2000"/>
        </a:p>
      </dgm:t>
    </dgm:pt>
    <dgm:pt modelId="{E401E39E-B0B6-8F42-9394-D2C225EE7813}" type="sibTrans" cxnId="{ACAFE7EB-4339-994E-BE10-B84E59707BE3}">
      <dgm:prSet/>
      <dgm:spPr/>
      <dgm:t>
        <a:bodyPr/>
        <a:lstStyle/>
        <a:p>
          <a:endParaRPr lang="en-US" sz="2000"/>
        </a:p>
      </dgm:t>
    </dgm:pt>
    <dgm:pt modelId="{0FFB416D-EA52-904B-824B-E50C2B67FC42}" type="pres">
      <dgm:prSet presAssocID="{26156268-F207-8F4B-8B7D-FA07756A14AD}" presName="Name0" presStyleCnt="0">
        <dgm:presLayoutVars>
          <dgm:dir/>
          <dgm:resizeHandles val="exact"/>
        </dgm:presLayoutVars>
      </dgm:prSet>
      <dgm:spPr/>
    </dgm:pt>
    <dgm:pt modelId="{D44908C7-FCDC-E945-868F-91CA997F3C23}" type="pres">
      <dgm:prSet presAssocID="{03E73A16-603B-AD4D-B19B-F25EAFC68CC9}" presName="node" presStyleLbl="node1" presStyleIdx="0" presStyleCnt="2" custLinFactNeighborX="4277" custLinFactNeighborY="-9551">
        <dgm:presLayoutVars>
          <dgm:bulletEnabled val="1"/>
        </dgm:presLayoutVars>
      </dgm:prSet>
      <dgm:spPr/>
    </dgm:pt>
    <dgm:pt modelId="{46DF3D97-F217-CE40-B88B-3DFAC05481BB}" type="pres">
      <dgm:prSet presAssocID="{C79E9CC6-EC97-A043-AD5B-D3DD900D42C5}" presName="sibTrans" presStyleLbl="sibTrans2D1" presStyleIdx="0" presStyleCnt="1"/>
      <dgm:spPr/>
    </dgm:pt>
    <dgm:pt modelId="{05D15972-3CD5-F540-A9C1-8F15B9A9D85A}" type="pres">
      <dgm:prSet presAssocID="{C79E9CC6-EC97-A043-AD5B-D3DD900D42C5}" presName="connectorText" presStyleLbl="sibTrans2D1" presStyleIdx="0" presStyleCnt="1"/>
      <dgm:spPr/>
    </dgm:pt>
    <dgm:pt modelId="{86ED2A72-794C-884D-8506-AA1AC3BA1955}" type="pres">
      <dgm:prSet presAssocID="{4D780B6C-C701-5848-8012-EAC6E28B3EA7}" presName="node" presStyleLbl="node1" presStyleIdx="1" presStyleCnt="2" custLinFactNeighborX="1456" custLinFactNeighborY="-377">
        <dgm:presLayoutVars>
          <dgm:bulletEnabled val="1"/>
        </dgm:presLayoutVars>
      </dgm:prSet>
      <dgm:spPr/>
    </dgm:pt>
  </dgm:ptLst>
  <dgm:cxnLst>
    <dgm:cxn modelId="{46B7EF50-7E91-CD40-8694-2018888EB7EB}" type="presOf" srcId="{C79E9CC6-EC97-A043-AD5B-D3DD900D42C5}" destId="{05D15972-3CD5-F540-A9C1-8F15B9A9D85A}" srcOrd="1" destOrd="0" presId="urn:microsoft.com/office/officeart/2005/8/layout/process1"/>
    <dgm:cxn modelId="{38221EB2-0B42-5E40-BBC4-7CD3AF133F69}" type="presOf" srcId="{03E73A16-603B-AD4D-B19B-F25EAFC68CC9}" destId="{D44908C7-FCDC-E945-868F-91CA997F3C23}" srcOrd="0" destOrd="0" presId="urn:microsoft.com/office/officeart/2005/8/layout/process1"/>
    <dgm:cxn modelId="{A03F73B8-40F8-4F46-B1BF-5687AD3BA96B}" type="presOf" srcId="{4D780B6C-C701-5848-8012-EAC6E28B3EA7}" destId="{86ED2A72-794C-884D-8506-AA1AC3BA1955}" srcOrd="0" destOrd="0" presId="urn:microsoft.com/office/officeart/2005/8/layout/process1"/>
    <dgm:cxn modelId="{33A17DC7-7132-EC49-AB27-47103FEC62AF}" type="presOf" srcId="{26156268-F207-8F4B-8B7D-FA07756A14AD}" destId="{0FFB416D-EA52-904B-824B-E50C2B67FC42}" srcOrd="0" destOrd="0" presId="urn:microsoft.com/office/officeart/2005/8/layout/process1"/>
    <dgm:cxn modelId="{ACAFE7EB-4339-994E-BE10-B84E59707BE3}" srcId="{26156268-F207-8F4B-8B7D-FA07756A14AD}" destId="{4D780B6C-C701-5848-8012-EAC6E28B3EA7}" srcOrd="1" destOrd="0" parTransId="{7C3FC5F4-F0DA-4042-85EF-BD371F2BBD6A}" sibTransId="{E401E39E-B0B6-8F42-9394-D2C225EE7813}"/>
    <dgm:cxn modelId="{196F95ED-CB3E-4145-A5A0-61745AE5E79F}" srcId="{26156268-F207-8F4B-8B7D-FA07756A14AD}" destId="{03E73A16-603B-AD4D-B19B-F25EAFC68CC9}" srcOrd="0" destOrd="0" parTransId="{A339B6C8-EF2E-B94A-9C08-C445B091D653}" sibTransId="{C79E9CC6-EC97-A043-AD5B-D3DD900D42C5}"/>
    <dgm:cxn modelId="{806907FB-49A0-A44B-A53E-6073A3390A66}" type="presOf" srcId="{C79E9CC6-EC97-A043-AD5B-D3DD900D42C5}" destId="{46DF3D97-F217-CE40-B88B-3DFAC05481BB}" srcOrd="0" destOrd="0" presId="urn:microsoft.com/office/officeart/2005/8/layout/process1"/>
    <dgm:cxn modelId="{555B6618-F421-F440-9A42-D36ED742356C}" type="presParOf" srcId="{0FFB416D-EA52-904B-824B-E50C2B67FC42}" destId="{D44908C7-FCDC-E945-868F-91CA997F3C23}" srcOrd="0" destOrd="0" presId="urn:microsoft.com/office/officeart/2005/8/layout/process1"/>
    <dgm:cxn modelId="{B88F4E0C-31A8-ED46-A654-6EBBDA3DD184}" type="presParOf" srcId="{0FFB416D-EA52-904B-824B-E50C2B67FC42}" destId="{46DF3D97-F217-CE40-B88B-3DFAC05481BB}" srcOrd="1" destOrd="0" presId="urn:microsoft.com/office/officeart/2005/8/layout/process1"/>
    <dgm:cxn modelId="{ECE82E59-B723-2140-90CE-EFBB2F51DA14}" type="presParOf" srcId="{46DF3D97-F217-CE40-B88B-3DFAC05481BB}" destId="{05D15972-3CD5-F540-A9C1-8F15B9A9D85A}" srcOrd="0" destOrd="0" presId="urn:microsoft.com/office/officeart/2005/8/layout/process1"/>
    <dgm:cxn modelId="{1B099AF5-0709-094D-80B7-D8AFB0F00374}" type="presParOf" srcId="{0FFB416D-EA52-904B-824B-E50C2B67FC42}" destId="{86ED2A72-794C-884D-8506-AA1AC3BA1955}"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56CAB13-ACE8-400B-B774-C31A6E3789A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E44882E7-A75B-42A8-A32E-C0950177351B}">
      <dgm:prSet/>
      <dgm:spPr/>
      <dgm:t>
        <a:bodyPr/>
        <a:lstStyle/>
        <a:p>
          <a:pPr>
            <a:lnSpc>
              <a:spcPct val="100000"/>
            </a:lnSpc>
          </a:pPr>
          <a:r>
            <a:rPr lang="en-US" b="1" dirty="0"/>
            <a:t>Abstract/</a:t>
          </a:r>
          <a:r>
            <a:rPr lang="en-US" b="1" dirty="0" err="1"/>
            <a:t>Resumen</a:t>
          </a:r>
          <a:r>
            <a:rPr lang="en-US" b="1" dirty="0"/>
            <a:t>: </a:t>
          </a:r>
          <a:r>
            <a:rPr lang="en-US" dirty="0"/>
            <a:t>Visión general de </a:t>
          </a:r>
          <a:r>
            <a:rPr lang="en-US" dirty="0" err="1"/>
            <a:t>todo</a:t>
          </a:r>
          <a:r>
            <a:rPr lang="en-US" dirty="0"/>
            <a:t> el </a:t>
          </a:r>
          <a:r>
            <a:rPr lang="en-US" dirty="0" err="1"/>
            <a:t>documento</a:t>
          </a:r>
          <a:r>
            <a:rPr lang="en-US" dirty="0"/>
            <a:t> </a:t>
          </a:r>
          <a:r>
            <a:rPr lang="en-US" b="1" dirty="0"/>
            <a:t>**Leer </a:t>
          </a:r>
          <a:r>
            <a:rPr lang="en-US" b="1" dirty="0" err="1"/>
            <a:t>siempre</a:t>
          </a:r>
          <a:r>
            <a:rPr lang="en-US" b="1" dirty="0"/>
            <a:t> y </a:t>
          </a:r>
          <a:r>
            <a:rPr lang="en-US" b="1" dirty="0" err="1"/>
            <a:t>en</a:t>
          </a:r>
          <a:r>
            <a:rPr lang="en-US" b="1" dirty="0"/>
            <a:t> </a:t>
          </a:r>
          <a:r>
            <a:rPr lang="en-US" b="1" dirty="0" err="1"/>
            <a:t>detalle</a:t>
          </a:r>
          <a:r>
            <a:rPr lang="en-US" b="1" dirty="0"/>
            <a:t>**</a:t>
          </a:r>
          <a:endParaRPr lang="en-US" dirty="0"/>
        </a:p>
      </dgm:t>
    </dgm:pt>
    <dgm:pt modelId="{DDF97323-40C2-4C3E-9032-E5628A40A444}" type="parTrans" cxnId="{0F3B6137-7FA4-436A-AC8F-193C2893186F}">
      <dgm:prSet/>
      <dgm:spPr/>
      <dgm:t>
        <a:bodyPr/>
        <a:lstStyle/>
        <a:p>
          <a:endParaRPr lang="en-US"/>
        </a:p>
      </dgm:t>
    </dgm:pt>
    <dgm:pt modelId="{664251F1-0350-4CCF-8395-8567F6C71253}" type="sibTrans" cxnId="{0F3B6137-7FA4-436A-AC8F-193C2893186F}">
      <dgm:prSet/>
      <dgm:spPr/>
      <dgm:t>
        <a:bodyPr/>
        <a:lstStyle/>
        <a:p>
          <a:endParaRPr lang="en-US"/>
        </a:p>
      </dgm:t>
    </dgm:pt>
    <dgm:pt modelId="{8916D93C-E529-4AB0-874F-19DAE9CF622C}">
      <dgm:prSet/>
      <dgm:spPr/>
      <dgm:t>
        <a:bodyPr/>
        <a:lstStyle/>
        <a:p>
          <a:pPr>
            <a:lnSpc>
              <a:spcPct val="100000"/>
            </a:lnSpc>
          </a:pPr>
          <a:r>
            <a:rPr lang="en-US" b="1"/>
            <a:t>Introducción: </a:t>
          </a:r>
          <a:r>
            <a:rPr lang="en-US"/>
            <a:t>Presentación del estudio, proporcionando información de fondo sobre lo que ya se ha hecho. </a:t>
          </a:r>
          <a:r>
            <a:rPr lang="en-US" b="1"/>
            <a:t>Escanear o leer las oraciones clave.</a:t>
          </a:r>
          <a:endParaRPr lang="en-US"/>
        </a:p>
      </dgm:t>
    </dgm:pt>
    <dgm:pt modelId="{0A8717B9-7D90-45ED-B783-35355D2D9B46}" type="parTrans" cxnId="{CA4E75D1-45E7-4F1B-AFDB-2802FCF7EB9E}">
      <dgm:prSet/>
      <dgm:spPr/>
      <dgm:t>
        <a:bodyPr/>
        <a:lstStyle/>
        <a:p>
          <a:endParaRPr lang="en-US"/>
        </a:p>
      </dgm:t>
    </dgm:pt>
    <dgm:pt modelId="{B1FDC996-77B7-4D78-9AC2-00321774E50F}" type="sibTrans" cxnId="{CA4E75D1-45E7-4F1B-AFDB-2802FCF7EB9E}">
      <dgm:prSet/>
      <dgm:spPr/>
      <dgm:t>
        <a:bodyPr/>
        <a:lstStyle/>
        <a:p>
          <a:endParaRPr lang="en-US"/>
        </a:p>
      </dgm:t>
    </dgm:pt>
    <dgm:pt modelId="{BA19AAEC-03F6-42C0-BBE4-8D3957EA61CC}">
      <dgm:prSet/>
      <dgm:spPr/>
      <dgm:t>
        <a:bodyPr/>
        <a:lstStyle/>
        <a:p>
          <a:pPr>
            <a:lnSpc>
              <a:spcPct val="100000"/>
            </a:lnSpc>
          </a:pPr>
          <a:r>
            <a:rPr lang="en-US" b="1" dirty="0" err="1"/>
            <a:t>Métodos</a:t>
          </a:r>
          <a:r>
            <a:rPr lang="en-US" b="1" dirty="0"/>
            <a:t>: </a:t>
          </a:r>
          <a:r>
            <a:rPr lang="en-US" dirty="0"/>
            <a:t>¿</a:t>
          </a:r>
          <a:r>
            <a:rPr lang="en-US" dirty="0" err="1"/>
            <a:t>Qué</a:t>
          </a:r>
          <a:r>
            <a:rPr lang="en-US" dirty="0"/>
            <a:t> </a:t>
          </a:r>
          <a:r>
            <a:rPr lang="en-US" dirty="0" err="1"/>
            <a:t>hicieron</a:t>
          </a:r>
          <a:r>
            <a:rPr lang="en-US" dirty="0"/>
            <a:t> </a:t>
          </a:r>
          <a:r>
            <a:rPr lang="en-US" dirty="0" err="1"/>
            <a:t>en</a:t>
          </a:r>
          <a:r>
            <a:rPr lang="en-US" dirty="0"/>
            <a:t> </a:t>
          </a:r>
          <a:r>
            <a:rPr lang="en-US" dirty="0" err="1"/>
            <a:t>el</a:t>
          </a:r>
          <a:r>
            <a:rPr lang="en-US" dirty="0"/>
            <a:t> </a:t>
          </a:r>
          <a:r>
            <a:rPr lang="en-US" dirty="0" err="1"/>
            <a:t>estudio</a:t>
          </a:r>
          <a:r>
            <a:rPr lang="en-US" dirty="0"/>
            <a:t>? </a:t>
          </a:r>
          <a:r>
            <a:rPr lang="en-US" b="1" dirty="0" err="1"/>
            <a:t>Escanear</a:t>
          </a:r>
          <a:r>
            <a:rPr lang="en-US" b="1" dirty="0"/>
            <a:t> o leer las </a:t>
          </a:r>
          <a:r>
            <a:rPr lang="en-US" b="1" dirty="0" err="1"/>
            <a:t>oraciones</a:t>
          </a:r>
          <a:r>
            <a:rPr lang="en-US" b="1" dirty="0"/>
            <a:t> clave.</a:t>
          </a:r>
          <a:endParaRPr lang="en-US" dirty="0"/>
        </a:p>
      </dgm:t>
    </dgm:pt>
    <dgm:pt modelId="{7CD66CC0-D0AF-4C16-BE7C-82052A4564ED}" type="parTrans" cxnId="{18D9D448-A44C-44C9-B974-627471D7124B}">
      <dgm:prSet/>
      <dgm:spPr/>
      <dgm:t>
        <a:bodyPr/>
        <a:lstStyle/>
        <a:p>
          <a:endParaRPr lang="en-US"/>
        </a:p>
      </dgm:t>
    </dgm:pt>
    <dgm:pt modelId="{FFCD61F6-78EE-449F-857B-0453A348DF19}" type="sibTrans" cxnId="{18D9D448-A44C-44C9-B974-627471D7124B}">
      <dgm:prSet/>
      <dgm:spPr/>
      <dgm:t>
        <a:bodyPr/>
        <a:lstStyle/>
        <a:p>
          <a:endParaRPr lang="en-US"/>
        </a:p>
      </dgm:t>
    </dgm:pt>
    <dgm:pt modelId="{4EAD683A-2388-49F2-A948-0C84377CA536}">
      <dgm:prSet/>
      <dgm:spPr/>
      <dgm:t>
        <a:bodyPr/>
        <a:lstStyle/>
        <a:p>
          <a:pPr>
            <a:lnSpc>
              <a:spcPct val="100000"/>
            </a:lnSpc>
          </a:pPr>
          <a:r>
            <a:rPr lang="en-US" b="1"/>
            <a:t>Resultados: </a:t>
          </a:r>
          <a:r>
            <a:rPr lang="en-US"/>
            <a:t>¿Qué encontraron? </a:t>
          </a:r>
          <a:r>
            <a:rPr lang="en-US" b="1"/>
            <a:t>Escanear o leer las oraciones clave.</a:t>
          </a:r>
          <a:endParaRPr lang="en-US"/>
        </a:p>
      </dgm:t>
    </dgm:pt>
    <dgm:pt modelId="{F166CC41-A62F-4B87-9ECA-138FCC50B006}" type="parTrans" cxnId="{D1E24033-C8E7-405E-B57B-E5AF3CFC10A8}">
      <dgm:prSet/>
      <dgm:spPr/>
      <dgm:t>
        <a:bodyPr/>
        <a:lstStyle/>
        <a:p>
          <a:endParaRPr lang="en-US"/>
        </a:p>
      </dgm:t>
    </dgm:pt>
    <dgm:pt modelId="{857718B8-68AF-4B8B-B389-11A1EA6DE595}" type="sibTrans" cxnId="{D1E24033-C8E7-405E-B57B-E5AF3CFC10A8}">
      <dgm:prSet/>
      <dgm:spPr/>
      <dgm:t>
        <a:bodyPr/>
        <a:lstStyle/>
        <a:p>
          <a:endParaRPr lang="en-US"/>
        </a:p>
      </dgm:t>
    </dgm:pt>
    <dgm:pt modelId="{EA69B7B3-315B-44B8-B68A-BF6A6B51FF5B}">
      <dgm:prSet/>
      <dgm:spPr/>
      <dgm:t>
        <a:bodyPr/>
        <a:lstStyle/>
        <a:p>
          <a:pPr>
            <a:lnSpc>
              <a:spcPct val="100000"/>
            </a:lnSpc>
          </a:pPr>
          <a:r>
            <a:rPr lang="en-US" b="1" dirty="0" err="1"/>
            <a:t>Discusión</a:t>
          </a:r>
          <a:r>
            <a:rPr lang="en-US" b="1" dirty="0"/>
            <a:t>/</a:t>
          </a:r>
          <a:r>
            <a:rPr lang="en-US" b="1" dirty="0" err="1"/>
            <a:t>Conclusión</a:t>
          </a:r>
          <a:r>
            <a:rPr lang="en-US" b="1" dirty="0"/>
            <a:t>: </a:t>
          </a:r>
          <a:r>
            <a:rPr lang="en-US" dirty="0"/>
            <a:t>¿</a:t>
          </a:r>
          <a:r>
            <a:rPr lang="en-US" dirty="0" err="1"/>
            <a:t>Cuáles</a:t>
          </a:r>
          <a:r>
            <a:rPr lang="en-US" dirty="0"/>
            <a:t> son las </a:t>
          </a:r>
          <a:r>
            <a:rPr lang="en-US" dirty="0" err="1"/>
            <a:t>conclusiones</a:t>
          </a:r>
          <a:r>
            <a:rPr lang="en-US" dirty="0"/>
            <a:t> </a:t>
          </a:r>
          <a:r>
            <a:rPr lang="en-US" dirty="0" err="1"/>
            <a:t>generales</a:t>
          </a:r>
          <a:r>
            <a:rPr lang="en-US" dirty="0"/>
            <a:t> que se </a:t>
          </a:r>
          <a:r>
            <a:rPr lang="en-US" dirty="0" err="1"/>
            <a:t>pueden</a:t>
          </a:r>
          <a:r>
            <a:rPr lang="en-US" dirty="0"/>
            <a:t> </a:t>
          </a:r>
          <a:r>
            <a:rPr lang="en-US" dirty="0" err="1"/>
            <a:t>extraer</a:t>
          </a:r>
          <a:r>
            <a:rPr lang="en-US" dirty="0"/>
            <a:t> y </a:t>
          </a:r>
          <a:r>
            <a:rPr lang="en-US" dirty="0" err="1"/>
            <a:t>por</a:t>
          </a:r>
          <a:r>
            <a:rPr lang="en-US" dirty="0"/>
            <a:t> </a:t>
          </a:r>
          <a:r>
            <a:rPr lang="en-US" dirty="0" err="1"/>
            <a:t>qué</a:t>
          </a:r>
          <a:r>
            <a:rPr lang="en-US" dirty="0"/>
            <a:t> es </a:t>
          </a:r>
          <a:r>
            <a:rPr lang="en-US" dirty="0" err="1"/>
            <a:t>esto</a:t>
          </a:r>
          <a:r>
            <a:rPr lang="en-US" dirty="0"/>
            <a:t> </a:t>
          </a:r>
          <a:r>
            <a:rPr lang="en-US" dirty="0" err="1"/>
            <a:t>importante</a:t>
          </a:r>
          <a:r>
            <a:rPr lang="en-US" b="0" dirty="0"/>
            <a:t>? </a:t>
          </a:r>
          <a:r>
            <a:rPr lang="en-US" b="1" dirty="0"/>
            <a:t>A menudo es </a:t>
          </a:r>
          <a:r>
            <a:rPr lang="en-US" b="1" dirty="0" err="1"/>
            <a:t>útil</a:t>
          </a:r>
          <a:r>
            <a:rPr lang="en-US" b="1" dirty="0"/>
            <a:t> leer </a:t>
          </a:r>
          <a:r>
            <a:rPr lang="en-US" b="1" dirty="0" err="1"/>
            <a:t>los</a:t>
          </a:r>
          <a:r>
            <a:rPr lang="en-US" b="1" dirty="0"/>
            <a:t> </a:t>
          </a:r>
          <a:r>
            <a:rPr lang="en-US" b="1" dirty="0" err="1"/>
            <a:t>primeros</a:t>
          </a:r>
          <a:r>
            <a:rPr lang="en-US" b="1" dirty="0"/>
            <a:t> </a:t>
          </a:r>
          <a:r>
            <a:rPr lang="en-US" b="1" dirty="0" err="1"/>
            <a:t>párrafos</a:t>
          </a:r>
          <a:r>
            <a:rPr lang="en-US" b="1" dirty="0"/>
            <a:t> y </a:t>
          </a:r>
          <a:r>
            <a:rPr lang="en-US" b="1" dirty="0" err="1"/>
            <a:t>luego</a:t>
          </a:r>
          <a:r>
            <a:rPr lang="en-US" b="1" dirty="0"/>
            <a:t> </a:t>
          </a:r>
          <a:r>
            <a:rPr lang="en-US" b="1" dirty="0" err="1"/>
            <a:t>escanear</a:t>
          </a:r>
          <a:r>
            <a:rPr lang="en-US" b="1" dirty="0"/>
            <a:t> o leer las </a:t>
          </a:r>
          <a:r>
            <a:rPr lang="en-US" b="1" dirty="0" err="1"/>
            <a:t>oraciones</a:t>
          </a:r>
          <a:r>
            <a:rPr lang="en-US" b="1" dirty="0"/>
            <a:t> clave.</a:t>
          </a:r>
          <a:endParaRPr lang="en-US" dirty="0"/>
        </a:p>
      </dgm:t>
    </dgm:pt>
    <dgm:pt modelId="{738AB271-7C9A-4284-8B10-F8C4837C8DF1}" type="parTrans" cxnId="{BCF63FB7-FABA-4D66-BC00-F7E080B6BCAD}">
      <dgm:prSet/>
      <dgm:spPr/>
      <dgm:t>
        <a:bodyPr/>
        <a:lstStyle/>
        <a:p>
          <a:endParaRPr lang="en-US"/>
        </a:p>
      </dgm:t>
    </dgm:pt>
    <dgm:pt modelId="{239FBFC9-3F2C-40A5-9E17-A210A0E757C0}" type="sibTrans" cxnId="{BCF63FB7-FABA-4D66-BC00-F7E080B6BCAD}">
      <dgm:prSet/>
      <dgm:spPr/>
      <dgm:t>
        <a:bodyPr/>
        <a:lstStyle/>
        <a:p>
          <a:endParaRPr lang="en-US"/>
        </a:p>
      </dgm:t>
    </dgm:pt>
    <dgm:pt modelId="{048D46DE-BAC1-46A6-B0D7-58AD1D8AAD01}" type="pres">
      <dgm:prSet presAssocID="{A56CAB13-ACE8-400B-B774-C31A6E3789AB}" presName="root" presStyleCnt="0">
        <dgm:presLayoutVars>
          <dgm:dir/>
          <dgm:resizeHandles val="exact"/>
        </dgm:presLayoutVars>
      </dgm:prSet>
      <dgm:spPr/>
    </dgm:pt>
    <dgm:pt modelId="{1D7570B5-DF41-40C3-BB45-6DB7D8E57AB3}" type="pres">
      <dgm:prSet presAssocID="{E44882E7-A75B-42A8-A32E-C0950177351B}" presName="compNode" presStyleCnt="0"/>
      <dgm:spPr/>
    </dgm:pt>
    <dgm:pt modelId="{C05FD1E8-0E71-4B78-8E95-FA11BB06C384}" type="pres">
      <dgm:prSet presAssocID="{E44882E7-A75B-42A8-A32E-C0950177351B}" presName="bgRect" presStyleLbl="bgShp" presStyleIdx="0" presStyleCnt="5"/>
      <dgm:spPr/>
    </dgm:pt>
    <dgm:pt modelId="{3EFA047A-F58C-4197-8022-6E8DDF0CD66C}" type="pres">
      <dgm:prSet presAssocID="{E44882E7-A75B-42A8-A32E-C0950177351B}"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Books"/>
        </a:ext>
      </dgm:extLst>
    </dgm:pt>
    <dgm:pt modelId="{17A9792C-EBF3-4FBD-B7DB-93F94280FCB6}" type="pres">
      <dgm:prSet presAssocID="{E44882E7-A75B-42A8-A32E-C0950177351B}" presName="spaceRect" presStyleCnt="0"/>
      <dgm:spPr/>
    </dgm:pt>
    <dgm:pt modelId="{A9598E79-D511-40E0-AC8B-DA0EA212D713}" type="pres">
      <dgm:prSet presAssocID="{E44882E7-A75B-42A8-A32E-C0950177351B}" presName="parTx" presStyleLbl="revTx" presStyleIdx="0" presStyleCnt="5">
        <dgm:presLayoutVars>
          <dgm:chMax val="0"/>
          <dgm:chPref val="0"/>
        </dgm:presLayoutVars>
      </dgm:prSet>
      <dgm:spPr/>
    </dgm:pt>
    <dgm:pt modelId="{C356D8C8-16D4-4CB1-8987-4125D5E21261}" type="pres">
      <dgm:prSet presAssocID="{664251F1-0350-4CCF-8395-8567F6C71253}" presName="sibTrans" presStyleCnt="0"/>
      <dgm:spPr/>
    </dgm:pt>
    <dgm:pt modelId="{989AB33C-73B1-42A1-B595-2B6A770813C8}" type="pres">
      <dgm:prSet presAssocID="{8916D93C-E529-4AB0-874F-19DAE9CF622C}" presName="compNode" presStyleCnt="0"/>
      <dgm:spPr/>
    </dgm:pt>
    <dgm:pt modelId="{B70D5C06-8326-48F3-A344-72B2558D35D6}" type="pres">
      <dgm:prSet presAssocID="{8916D93C-E529-4AB0-874F-19DAE9CF622C}" presName="bgRect" presStyleLbl="bgShp" presStyleIdx="1" presStyleCnt="5"/>
      <dgm:spPr/>
    </dgm:pt>
    <dgm:pt modelId="{0C4F2D05-E6CC-4DE8-8834-4B91311429EC}" type="pres">
      <dgm:prSet presAssocID="{8916D93C-E529-4AB0-874F-19DAE9CF622C}"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Lecturer"/>
        </a:ext>
      </dgm:extLst>
    </dgm:pt>
    <dgm:pt modelId="{B1F32223-B7C9-4B3F-91B7-1FF0E87C8868}" type="pres">
      <dgm:prSet presAssocID="{8916D93C-E529-4AB0-874F-19DAE9CF622C}" presName="spaceRect" presStyleCnt="0"/>
      <dgm:spPr/>
    </dgm:pt>
    <dgm:pt modelId="{FD8BF8B7-2A24-46E7-B264-12CCFA2C8609}" type="pres">
      <dgm:prSet presAssocID="{8916D93C-E529-4AB0-874F-19DAE9CF622C}" presName="parTx" presStyleLbl="revTx" presStyleIdx="1" presStyleCnt="5">
        <dgm:presLayoutVars>
          <dgm:chMax val="0"/>
          <dgm:chPref val="0"/>
        </dgm:presLayoutVars>
      </dgm:prSet>
      <dgm:spPr/>
    </dgm:pt>
    <dgm:pt modelId="{554E1C3C-CE88-4AAF-9ED7-0DAADDAA91FD}" type="pres">
      <dgm:prSet presAssocID="{B1FDC996-77B7-4D78-9AC2-00321774E50F}" presName="sibTrans" presStyleCnt="0"/>
      <dgm:spPr/>
    </dgm:pt>
    <dgm:pt modelId="{7CE4DCD4-CC6B-445C-8C4C-406E50D7EA05}" type="pres">
      <dgm:prSet presAssocID="{BA19AAEC-03F6-42C0-BBE4-8D3957EA61CC}" presName="compNode" presStyleCnt="0"/>
      <dgm:spPr/>
    </dgm:pt>
    <dgm:pt modelId="{CC1116C7-3E39-442B-BD83-E9BBBF21C49F}" type="pres">
      <dgm:prSet presAssocID="{BA19AAEC-03F6-42C0-BBE4-8D3957EA61CC}" presName="bgRect" presStyleLbl="bgShp" presStyleIdx="2" presStyleCnt="5"/>
      <dgm:spPr/>
    </dgm:pt>
    <dgm:pt modelId="{1589A7E3-5F43-4DE1-8402-C17D3604839F}" type="pres">
      <dgm:prSet presAssocID="{BA19AAEC-03F6-42C0-BBE4-8D3957EA61CC}" presName="iconRect" presStyleLbl="node1" presStyleIdx="2" presStyleCnt="5"/>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Alterations &amp; Tailoring with solid fill"/>
        </a:ext>
      </dgm:extLst>
    </dgm:pt>
    <dgm:pt modelId="{2BBF6B9F-7A3B-4D71-B0A5-16965F7A6F06}" type="pres">
      <dgm:prSet presAssocID="{BA19AAEC-03F6-42C0-BBE4-8D3957EA61CC}" presName="spaceRect" presStyleCnt="0"/>
      <dgm:spPr/>
    </dgm:pt>
    <dgm:pt modelId="{4D131DB9-A194-4B01-A435-6451DDF500A5}" type="pres">
      <dgm:prSet presAssocID="{BA19AAEC-03F6-42C0-BBE4-8D3957EA61CC}" presName="parTx" presStyleLbl="revTx" presStyleIdx="2" presStyleCnt="5">
        <dgm:presLayoutVars>
          <dgm:chMax val="0"/>
          <dgm:chPref val="0"/>
        </dgm:presLayoutVars>
      </dgm:prSet>
      <dgm:spPr/>
    </dgm:pt>
    <dgm:pt modelId="{48CD41A7-B402-4681-8CAF-22590E74900F}" type="pres">
      <dgm:prSet presAssocID="{FFCD61F6-78EE-449F-857B-0453A348DF19}" presName="sibTrans" presStyleCnt="0"/>
      <dgm:spPr/>
    </dgm:pt>
    <dgm:pt modelId="{6DFC77BC-A8DB-4158-A1DB-949663DF3606}" type="pres">
      <dgm:prSet presAssocID="{4EAD683A-2388-49F2-A948-0C84377CA536}" presName="compNode" presStyleCnt="0"/>
      <dgm:spPr/>
    </dgm:pt>
    <dgm:pt modelId="{A1ABF480-FA77-4B7D-8EBF-F7F0E35EAC46}" type="pres">
      <dgm:prSet presAssocID="{4EAD683A-2388-49F2-A948-0C84377CA536}" presName="bgRect" presStyleLbl="bgShp" presStyleIdx="3" presStyleCnt="5"/>
      <dgm:spPr/>
    </dgm:pt>
    <dgm:pt modelId="{9A5FA7D1-5D72-4D85-8DB3-CC7583AEA996}" type="pres">
      <dgm:prSet presAssocID="{4EAD683A-2388-49F2-A948-0C84377CA536}" presName="iconRect" presStyleLbl="node1" presStyleIdx="3" presStyleCnt="5"/>
      <dgm:spPr>
        <a:blipFill>
          <a:blip xmlns:r="http://schemas.openxmlformats.org/officeDocument/2006/relationships">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Bar chart outline"/>
        </a:ext>
      </dgm:extLst>
    </dgm:pt>
    <dgm:pt modelId="{03554AE3-3459-4A91-8E70-008F9304A804}" type="pres">
      <dgm:prSet presAssocID="{4EAD683A-2388-49F2-A948-0C84377CA536}" presName="spaceRect" presStyleCnt="0"/>
      <dgm:spPr/>
    </dgm:pt>
    <dgm:pt modelId="{F1D116EE-606E-44EA-9FBB-09D83DD49159}" type="pres">
      <dgm:prSet presAssocID="{4EAD683A-2388-49F2-A948-0C84377CA536}" presName="parTx" presStyleLbl="revTx" presStyleIdx="3" presStyleCnt="5">
        <dgm:presLayoutVars>
          <dgm:chMax val="0"/>
          <dgm:chPref val="0"/>
        </dgm:presLayoutVars>
      </dgm:prSet>
      <dgm:spPr/>
    </dgm:pt>
    <dgm:pt modelId="{7EF4DC7B-9907-4849-A8B3-EF0C2DC7D7FE}" type="pres">
      <dgm:prSet presAssocID="{857718B8-68AF-4B8B-B389-11A1EA6DE595}" presName="sibTrans" presStyleCnt="0"/>
      <dgm:spPr/>
    </dgm:pt>
    <dgm:pt modelId="{3A14D933-804F-4A6B-AC74-018B3F55D094}" type="pres">
      <dgm:prSet presAssocID="{EA69B7B3-315B-44B8-B68A-BF6A6B51FF5B}" presName="compNode" presStyleCnt="0"/>
      <dgm:spPr/>
    </dgm:pt>
    <dgm:pt modelId="{D39C9EC4-0C8C-4DD0-BD41-07195FD0402E}" type="pres">
      <dgm:prSet presAssocID="{EA69B7B3-315B-44B8-B68A-BF6A6B51FF5B}" presName="bgRect" presStyleLbl="bgShp" presStyleIdx="4" presStyleCnt="5"/>
      <dgm:spPr/>
    </dgm:pt>
    <dgm:pt modelId="{D49A5999-1125-41A8-9F2D-BCC86A6200CB}" type="pres">
      <dgm:prSet presAssocID="{EA69B7B3-315B-44B8-B68A-BF6A6B51FF5B}"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Head with Gears"/>
        </a:ext>
      </dgm:extLst>
    </dgm:pt>
    <dgm:pt modelId="{D99268BA-AE4B-47F6-9448-F5EFF3E54992}" type="pres">
      <dgm:prSet presAssocID="{EA69B7B3-315B-44B8-B68A-BF6A6B51FF5B}" presName="spaceRect" presStyleCnt="0"/>
      <dgm:spPr/>
    </dgm:pt>
    <dgm:pt modelId="{56C00967-ABE9-4E27-8C8C-7EAFD59F89D7}" type="pres">
      <dgm:prSet presAssocID="{EA69B7B3-315B-44B8-B68A-BF6A6B51FF5B}" presName="parTx" presStyleLbl="revTx" presStyleIdx="4" presStyleCnt="5">
        <dgm:presLayoutVars>
          <dgm:chMax val="0"/>
          <dgm:chPref val="0"/>
        </dgm:presLayoutVars>
      </dgm:prSet>
      <dgm:spPr/>
    </dgm:pt>
  </dgm:ptLst>
  <dgm:cxnLst>
    <dgm:cxn modelId="{A4E5C60B-07EB-422D-8C59-525002A76864}" type="presOf" srcId="{EA69B7B3-315B-44B8-B68A-BF6A6B51FF5B}" destId="{56C00967-ABE9-4E27-8C8C-7EAFD59F89D7}" srcOrd="0" destOrd="0" presId="urn:microsoft.com/office/officeart/2018/2/layout/IconVerticalSolidList"/>
    <dgm:cxn modelId="{346A901B-8487-4C6E-8109-AF12A8FDB9A3}" type="presOf" srcId="{A56CAB13-ACE8-400B-B774-C31A6E3789AB}" destId="{048D46DE-BAC1-46A6-B0D7-58AD1D8AAD01}" srcOrd="0" destOrd="0" presId="urn:microsoft.com/office/officeart/2018/2/layout/IconVerticalSolidList"/>
    <dgm:cxn modelId="{D1E24033-C8E7-405E-B57B-E5AF3CFC10A8}" srcId="{A56CAB13-ACE8-400B-B774-C31A6E3789AB}" destId="{4EAD683A-2388-49F2-A948-0C84377CA536}" srcOrd="3" destOrd="0" parTransId="{F166CC41-A62F-4B87-9ECA-138FCC50B006}" sibTransId="{857718B8-68AF-4B8B-B389-11A1EA6DE595}"/>
    <dgm:cxn modelId="{0F3B6137-7FA4-436A-AC8F-193C2893186F}" srcId="{A56CAB13-ACE8-400B-B774-C31A6E3789AB}" destId="{E44882E7-A75B-42A8-A32E-C0950177351B}" srcOrd="0" destOrd="0" parTransId="{DDF97323-40C2-4C3E-9032-E5628A40A444}" sibTransId="{664251F1-0350-4CCF-8395-8567F6C71253}"/>
    <dgm:cxn modelId="{18D9D448-A44C-44C9-B974-627471D7124B}" srcId="{A56CAB13-ACE8-400B-B774-C31A6E3789AB}" destId="{BA19AAEC-03F6-42C0-BBE4-8D3957EA61CC}" srcOrd="2" destOrd="0" parTransId="{7CD66CC0-D0AF-4C16-BE7C-82052A4564ED}" sibTransId="{FFCD61F6-78EE-449F-857B-0453A348DF19}"/>
    <dgm:cxn modelId="{1ACB5F69-69CB-4493-B74F-803A9AB4608E}" type="presOf" srcId="{4EAD683A-2388-49F2-A948-0C84377CA536}" destId="{F1D116EE-606E-44EA-9FBB-09D83DD49159}" srcOrd="0" destOrd="0" presId="urn:microsoft.com/office/officeart/2018/2/layout/IconVerticalSolidList"/>
    <dgm:cxn modelId="{187A2297-B814-4A1F-9D65-4600D7DF91C1}" type="presOf" srcId="{E44882E7-A75B-42A8-A32E-C0950177351B}" destId="{A9598E79-D511-40E0-AC8B-DA0EA212D713}" srcOrd="0" destOrd="0" presId="urn:microsoft.com/office/officeart/2018/2/layout/IconVerticalSolidList"/>
    <dgm:cxn modelId="{BCF63FB7-FABA-4D66-BC00-F7E080B6BCAD}" srcId="{A56CAB13-ACE8-400B-B774-C31A6E3789AB}" destId="{EA69B7B3-315B-44B8-B68A-BF6A6B51FF5B}" srcOrd="4" destOrd="0" parTransId="{738AB271-7C9A-4284-8B10-F8C4837C8DF1}" sibTransId="{239FBFC9-3F2C-40A5-9E17-A210A0E757C0}"/>
    <dgm:cxn modelId="{55D92CC4-AA6C-40AD-9782-F83BEACAC9EB}" type="presOf" srcId="{8916D93C-E529-4AB0-874F-19DAE9CF622C}" destId="{FD8BF8B7-2A24-46E7-B264-12CCFA2C8609}" srcOrd="0" destOrd="0" presId="urn:microsoft.com/office/officeart/2018/2/layout/IconVerticalSolidList"/>
    <dgm:cxn modelId="{8F5419D0-708B-404E-929E-BA6AD3F1F637}" type="presOf" srcId="{BA19AAEC-03F6-42C0-BBE4-8D3957EA61CC}" destId="{4D131DB9-A194-4B01-A435-6451DDF500A5}" srcOrd="0" destOrd="0" presId="urn:microsoft.com/office/officeart/2018/2/layout/IconVerticalSolidList"/>
    <dgm:cxn modelId="{CA4E75D1-45E7-4F1B-AFDB-2802FCF7EB9E}" srcId="{A56CAB13-ACE8-400B-B774-C31A6E3789AB}" destId="{8916D93C-E529-4AB0-874F-19DAE9CF622C}" srcOrd="1" destOrd="0" parTransId="{0A8717B9-7D90-45ED-B783-35355D2D9B46}" sibTransId="{B1FDC996-77B7-4D78-9AC2-00321774E50F}"/>
    <dgm:cxn modelId="{F066F133-B5E4-4FA9-8FAC-4272CE349037}" type="presParOf" srcId="{048D46DE-BAC1-46A6-B0D7-58AD1D8AAD01}" destId="{1D7570B5-DF41-40C3-BB45-6DB7D8E57AB3}" srcOrd="0" destOrd="0" presId="urn:microsoft.com/office/officeart/2018/2/layout/IconVerticalSolidList"/>
    <dgm:cxn modelId="{77D4703B-3A0E-48CB-BFEF-1FF117393503}" type="presParOf" srcId="{1D7570B5-DF41-40C3-BB45-6DB7D8E57AB3}" destId="{C05FD1E8-0E71-4B78-8E95-FA11BB06C384}" srcOrd="0" destOrd="0" presId="urn:microsoft.com/office/officeart/2018/2/layout/IconVerticalSolidList"/>
    <dgm:cxn modelId="{F0628B30-931A-4FC1-A0CC-C850B6D6741C}" type="presParOf" srcId="{1D7570B5-DF41-40C3-BB45-6DB7D8E57AB3}" destId="{3EFA047A-F58C-4197-8022-6E8DDF0CD66C}" srcOrd="1" destOrd="0" presId="urn:microsoft.com/office/officeart/2018/2/layout/IconVerticalSolidList"/>
    <dgm:cxn modelId="{08BC583F-26C6-45D1-808C-626C057D3FC0}" type="presParOf" srcId="{1D7570B5-DF41-40C3-BB45-6DB7D8E57AB3}" destId="{17A9792C-EBF3-4FBD-B7DB-93F94280FCB6}" srcOrd="2" destOrd="0" presId="urn:microsoft.com/office/officeart/2018/2/layout/IconVerticalSolidList"/>
    <dgm:cxn modelId="{60A0F9C0-7FD7-4AA0-A8F2-D259311C68BC}" type="presParOf" srcId="{1D7570B5-DF41-40C3-BB45-6DB7D8E57AB3}" destId="{A9598E79-D511-40E0-AC8B-DA0EA212D713}" srcOrd="3" destOrd="0" presId="urn:microsoft.com/office/officeart/2018/2/layout/IconVerticalSolidList"/>
    <dgm:cxn modelId="{AE2E7B97-050C-4C0E-8749-9B523A88A0CB}" type="presParOf" srcId="{048D46DE-BAC1-46A6-B0D7-58AD1D8AAD01}" destId="{C356D8C8-16D4-4CB1-8987-4125D5E21261}" srcOrd="1" destOrd="0" presId="urn:microsoft.com/office/officeart/2018/2/layout/IconVerticalSolidList"/>
    <dgm:cxn modelId="{1BFB90D0-4765-466D-80F9-41724AF04CC8}" type="presParOf" srcId="{048D46DE-BAC1-46A6-B0D7-58AD1D8AAD01}" destId="{989AB33C-73B1-42A1-B595-2B6A770813C8}" srcOrd="2" destOrd="0" presId="urn:microsoft.com/office/officeart/2018/2/layout/IconVerticalSolidList"/>
    <dgm:cxn modelId="{1B0F7ECC-F07C-442E-8748-EF616868F40E}" type="presParOf" srcId="{989AB33C-73B1-42A1-B595-2B6A770813C8}" destId="{B70D5C06-8326-48F3-A344-72B2558D35D6}" srcOrd="0" destOrd="0" presId="urn:microsoft.com/office/officeart/2018/2/layout/IconVerticalSolidList"/>
    <dgm:cxn modelId="{E527B4EB-BD2E-4FD5-BD58-5C7BD610FD2A}" type="presParOf" srcId="{989AB33C-73B1-42A1-B595-2B6A770813C8}" destId="{0C4F2D05-E6CC-4DE8-8834-4B91311429EC}" srcOrd="1" destOrd="0" presId="urn:microsoft.com/office/officeart/2018/2/layout/IconVerticalSolidList"/>
    <dgm:cxn modelId="{E2825009-BE59-4BDB-8FA1-F395FF50BA6C}" type="presParOf" srcId="{989AB33C-73B1-42A1-B595-2B6A770813C8}" destId="{B1F32223-B7C9-4B3F-91B7-1FF0E87C8868}" srcOrd="2" destOrd="0" presId="urn:microsoft.com/office/officeart/2018/2/layout/IconVerticalSolidList"/>
    <dgm:cxn modelId="{D8EDAA2A-2BE2-4EE0-8100-C14970C2246A}" type="presParOf" srcId="{989AB33C-73B1-42A1-B595-2B6A770813C8}" destId="{FD8BF8B7-2A24-46E7-B264-12CCFA2C8609}" srcOrd="3" destOrd="0" presId="urn:microsoft.com/office/officeart/2018/2/layout/IconVerticalSolidList"/>
    <dgm:cxn modelId="{EAD22074-3E27-45A4-8596-46C8074EECCB}" type="presParOf" srcId="{048D46DE-BAC1-46A6-B0D7-58AD1D8AAD01}" destId="{554E1C3C-CE88-4AAF-9ED7-0DAADDAA91FD}" srcOrd="3" destOrd="0" presId="urn:microsoft.com/office/officeart/2018/2/layout/IconVerticalSolidList"/>
    <dgm:cxn modelId="{87C05167-1DC2-4C57-A9DA-FA95921843E4}" type="presParOf" srcId="{048D46DE-BAC1-46A6-B0D7-58AD1D8AAD01}" destId="{7CE4DCD4-CC6B-445C-8C4C-406E50D7EA05}" srcOrd="4" destOrd="0" presId="urn:microsoft.com/office/officeart/2018/2/layout/IconVerticalSolidList"/>
    <dgm:cxn modelId="{3C22CA96-B444-42EC-B5F7-22629E768233}" type="presParOf" srcId="{7CE4DCD4-CC6B-445C-8C4C-406E50D7EA05}" destId="{CC1116C7-3E39-442B-BD83-E9BBBF21C49F}" srcOrd="0" destOrd="0" presId="urn:microsoft.com/office/officeart/2018/2/layout/IconVerticalSolidList"/>
    <dgm:cxn modelId="{E2214DD4-AD81-441C-91EF-B1183C050D2E}" type="presParOf" srcId="{7CE4DCD4-CC6B-445C-8C4C-406E50D7EA05}" destId="{1589A7E3-5F43-4DE1-8402-C17D3604839F}" srcOrd="1" destOrd="0" presId="urn:microsoft.com/office/officeart/2018/2/layout/IconVerticalSolidList"/>
    <dgm:cxn modelId="{31C849E7-C89E-47FD-BEA8-39CF0837CC79}" type="presParOf" srcId="{7CE4DCD4-CC6B-445C-8C4C-406E50D7EA05}" destId="{2BBF6B9F-7A3B-4D71-B0A5-16965F7A6F06}" srcOrd="2" destOrd="0" presId="urn:microsoft.com/office/officeart/2018/2/layout/IconVerticalSolidList"/>
    <dgm:cxn modelId="{651E036C-8189-46D8-A6AD-AE4BBD15B698}" type="presParOf" srcId="{7CE4DCD4-CC6B-445C-8C4C-406E50D7EA05}" destId="{4D131DB9-A194-4B01-A435-6451DDF500A5}" srcOrd="3" destOrd="0" presId="urn:microsoft.com/office/officeart/2018/2/layout/IconVerticalSolidList"/>
    <dgm:cxn modelId="{2822EF13-0D70-45EF-9A81-7C4809790F55}" type="presParOf" srcId="{048D46DE-BAC1-46A6-B0D7-58AD1D8AAD01}" destId="{48CD41A7-B402-4681-8CAF-22590E74900F}" srcOrd="5" destOrd="0" presId="urn:microsoft.com/office/officeart/2018/2/layout/IconVerticalSolidList"/>
    <dgm:cxn modelId="{F9EB8B4C-4F1F-4F31-93BE-AFE2CE625520}" type="presParOf" srcId="{048D46DE-BAC1-46A6-B0D7-58AD1D8AAD01}" destId="{6DFC77BC-A8DB-4158-A1DB-949663DF3606}" srcOrd="6" destOrd="0" presId="urn:microsoft.com/office/officeart/2018/2/layout/IconVerticalSolidList"/>
    <dgm:cxn modelId="{B6A0A73F-4C0C-4DC4-8C3D-B897173EEF19}" type="presParOf" srcId="{6DFC77BC-A8DB-4158-A1DB-949663DF3606}" destId="{A1ABF480-FA77-4B7D-8EBF-F7F0E35EAC46}" srcOrd="0" destOrd="0" presId="urn:microsoft.com/office/officeart/2018/2/layout/IconVerticalSolidList"/>
    <dgm:cxn modelId="{5B65A4C6-74A5-4C93-9835-B917C322695A}" type="presParOf" srcId="{6DFC77BC-A8DB-4158-A1DB-949663DF3606}" destId="{9A5FA7D1-5D72-4D85-8DB3-CC7583AEA996}" srcOrd="1" destOrd="0" presId="urn:microsoft.com/office/officeart/2018/2/layout/IconVerticalSolidList"/>
    <dgm:cxn modelId="{54627F00-4381-4883-BE8B-30026F6D0071}" type="presParOf" srcId="{6DFC77BC-A8DB-4158-A1DB-949663DF3606}" destId="{03554AE3-3459-4A91-8E70-008F9304A804}" srcOrd="2" destOrd="0" presId="urn:microsoft.com/office/officeart/2018/2/layout/IconVerticalSolidList"/>
    <dgm:cxn modelId="{209E664E-6961-4F9E-8D1E-BD29871291FA}" type="presParOf" srcId="{6DFC77BC-A8DB-4158-A1DB-949663DF3606}" destId="{F1D116EE-606E-44EA-9FBB-09D83DD49159}" srcOrd="3" destOrd="0" presId="urn:microsoft.com/office/officeart/2018/2/layout/IconVerticalSolidList"/>
    <dgm:cxn modelId="{4C787C02-0C99-4544-8EC1-BCA80AEE23AF}" type="presParOf" srcId="{048D46DE-BAC1-46A6-B0D7-58AD1D8AAD01}" destId="{7EF4DC7B-9907-4849-A8B3-EF0C2DC7D7FE}" srcOrd="7" destOrd="0" presId="urn:microsoft.com/office/officeart/2018/2/layout/IconVerticalSolidList"/>
    <dgm:cxn modelId="{1184EA2D-900E-46A8-BDF3-89D9A2CD02E6}" type="presParOf" srcId="{048D46DE-BAC1-46A6-B0D7-58AD1D8AAD01}" destId="{3A14D933-804F-4A6B-AC74-018B3F55D094}" srcOrd="8" destOrd="0" presId="urn:microsoft.com/office/officeart/2018/2/layout/IconVerticalSolidList"/>
    <dgm:cxn modelId="{91F25109-CC4D-4039-8C2A-8B5DA944C810}" type="presParOf" srcId="{3A14D933-804F-4A6B-AC74-018B3F55D094}" destId="{D39C9EC4-0C8C-4DD0-BD41-07195FD0402E}" srcOrd="0" destOrd="0" presId="urn:microsoft.com/office/officeart/2018/2/layout/IconVerticalSolidList"/>
    <dgm:cxn modelId="{0E0C72EE-25E9-48EB-8827-D31F51C1AAEB}" type="presParOf" srcId="{3A14D933-804F-4A6B-AC74-018B3F55D094}" destId="{D49A5999-1125-41A8-9F2D-BCC86A6200CB}" srcOrd="1" destOrd="0" presId="urn:microsoft.com/office/officeart/2018/2/layout/IconVerticalSolidList"/>
    <dgm:cxn modelId="{9642A6C4-D0BE-44DD-B053-295F611DC5E3}" type="presParOf" srcId="{3A14D933-804F-4A6B-AC74-018B3F55D094}" destId="{D99268BA-AE4B-47F6-9448-F5EFF3E54992}" srcOrd="2" destOrd="0" presId="urn:microsoft.com/office/officeart/2018/2/layout/IconVerticalSolidList"/>
    <dgm:cxn modelId="{96037F52-EAED-4DA0-BD65-B98AA9129327}" type="presParOf" srcId="{3A14D933-804F-4A6B-AC74-018B3F55D094}" destId="{56C00967-ABE9-4E27-8C8C-7EAFD59F89D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D5A49A0-F288-C041-9D00-24FA89AE6BA4}" type="doc">
      <dgm:prSet loTypeId="urn:microsoft.com/office/officeart/2005/8/layout/hProcess3" loCatId="process" qsTypeId="urn:microsoft.com/office/officeart/2005/8/quickstyle/3d3" qsCatId="3D" csTypeId="urn:microsoft.com/office/officeart/2005/8/colors/accent1_2" csCatId="accent1" phldr="1"/>
      <dgm:spPr/>
      <dgm:t>
        <a:bodyPr/>
        <a:lstStyle/>
        <a:p>
          <a:endParaRPr lang="en-US"/>
        </a:p>
      </dgm:t>
    </dgm:pt>
    <dgm:pt modelId="{33AC531A-0359-EC45-8557-3F13207CBF36}">
      <dgm:prSet custT="1"/>
      <dgm:spPr/>
      <dgm:t>
        <a:bodyPr/>
        <a:lstStyle/>
        <a:p>
          <a:r>
            <a:rPr lang="es-ES_tradnl" sz="1800" b="1" dirty="0"/>
            <a:t>Individual</a:t>
          </a:r>
          <a:endParaRPr lang="es-ES_tradnl" sz="1700" b="1" dirty="0"/>
        </a:p>
        <a:p>
          <a:r>
            <a:rPr lang="es-ES_tradnl" sz="1700" dirty="0"/>
            <a:t>Cuestionamiento a supuesta naturalidad originaria</a:t>
          </a:r>
        </a:p>
      </dgm:t>
    </dgm:pt>
    <dgm:pt modelId="{47D6EFB2-B786-5F46-94B4-563E6A8A71CB}" type="parTrans" cxnId="{270E9BCF-0933-E149-8736-FBCC5F9FAEC4}">
      <dgm:prSet/>
      <dgm:spPr/>
      <dgm:t>
        <a:bodyPr/>
        <a:lstStyle/>
        <a:p>
          <a:endParaRPr lang="en-US"/>
        </a:p>
      </dgm:t>
    </dgm:pt>
    <dgm:pt modelId="{8B65A066-158C-F048-8509-BE90F52CF7A8}" type="sibTrans" cxnId="{270E9BCF-0933-E149-8736-FBCC5F9FAEC4}">
      <dgm:prSet/>
      <dgm:spPr/>
      <dgm:t>
        <a:bodyPr/>
        <a:lstStyle/>
        <a:p>
          <a:endParaRPr lang="en-US"/>
        </a:p>
      </dgm:t>
    </dgm:pt>
    <dgm:pt modelId="{736D73F9-F9D7-C445-9548-06517A746B26}">
      <dgm:prSet custT="1"/>
      <dgm:spPr/>
      <dgm:t>
        <a:bodyPr/>
        <a:lstStyle/>
        <a:p>
          <a:r>
            <a:rPr lang="es-ES_tradnl" sz="1800" b="1" dirty="0"/>
            <a:t>Social</a:t>
          </a:r>
          <a:endParaRPr lang="es-ES_tradnl" sz="1700" b="1" dirty="0"/>
        </a:p>
        <a:p>
          <a:r>
            <a:rPr lang="es-ES_tradnl" sz="1700" dirty="0"/>
            <a:t>Cómo las organizaciones y las practicas institucionalizan la diferencia hasta inscribirla como desigualdad</a:t>
          </a:r>
          <a:endParaRPr lang="en-US" sz="1700" dirty="0"/>
        </a:p>
      </dgm:t>
    </dgm:pt>
    <dgm:pt modelId="{C513444A-AF00-244D-994E-C2F4C508CCAF}" type="parTrans" cxnId="{851CC2C5-BB28-3F45-8B07-4FD230C1E4E0}">
      <dgm:prSet/>
      <dgm:spPr/>
      <dgm:t>
        <a:bodyPr/>
        <a:lstStyle/>
        <a:p>
          <a:endParaRPr lang="en-US"/>
        </a:p>
      </dgm:t>
    </dgm:pt>
    <dgm:pt modelId="{E8B1436B-DB3A-2545-AEEE-5DDC38FB5343}" type="sibTrans" cxnId="{851CC2C5-BB28-3F45-8B07-4FD230C1E4E0}">
      <dgm:prSet/>
      <dgm:spPr/>
      <dgm:t>
        <a:bodyPr/>
        <a:lstStyle/>
        <a:p>
          <a:endParaRPr lang="en-US"/>
        </a:p>
      </dgm:t>
    </dgm:pt>
    <dgm:pt modelId="{48EE79FC-84EB-014E-8AB8-7B12F611A6B9}" type="pres">
      <dgm:prSet presAssocID="{2D5A49A0-F288-C041-9D00-24FA89AE6BA4}" presName="Name0" presStyleCnt="0">
        <dgm:presLayoutVars>
          <dgm:dir/>
          <dgm:animLvl val="lvl"/>
          <dgm:resizeHandles val="exact"/>
        </dgm:presLayoutVars>
      </dgm:prSet>
      <dgm:spPr/>
    </dgm:pt>
    <dgm:pt modelId="{88FF62F3-2C57-3C4F-BAA4-CD084F23799B}" type="pres">
      <dgm:prSet presAssocID="{2D5A49A0-F288-C041-9D00-24FA89AE6BA4}" presName="dummy" presStyleCnt="0"/>
      <dgm:spPr/>
    </dgm:pt>
    <dgm:pt modelId="{08FA31A0-8BFD-2D41-91D9-8EC4DF7A7CFE}" type="pres">
      <dgm:prSet presAssocID="{2D5A49A0-F288-C041-9D00-24FA89AE6BA4}" presName="linH" presStyleCnt="0"/>
      <dgm:spPr/>
    </dgm:pt>
    <dgm:pt modelId="{4B30A272-FF3F-7F44-B852-A46BA14AEC00}" type="pres">
      <dgm:prSet presAssocID="{2D5A49A0-F288-C041-9D00-24FA89AE6BA4}" presName="padding1" presStyleCnt="0"/>
      <dgm:spPr/>
    </dgm:pt>
    <dgm:pt modelId="{324C5FE9-DE80-FD41-A058-58660A6B1514}" type="pres">
      <dgm:prSet presAssocID="{33AC531A-0359-EC45-8557-3F13207CBF36}" presName="linV" presStyleCnt="0"/>
      <dgm:spPr/>
    </dgm:pt>
    <dgm:pt modelId="{413F7C15-AD1C-6042-A760-CD3E12A382A5}" type="pres">
      <dgm:prSet presAssocID="{33AC531A-0359-EC45-8557-3F13207CBF36}" presName="spVertical1" presStyleCnt="0"/>
      <dgm:spPr/>
    </dgm:pt>
    <dgm:pt modelId="{F4F8ADBA-45D9-934C-A792-F1B19CEF0E83}" type="pres">
      <dgm:prSet presAssocID="{33AC531A-0359-EC45-8557-3F13207CBF36}" presName="parTx" presStyleLbl="revTx" presStyleIdx="0" presStyleCnt="2" custScaleX="84959">
        <dgm:presLayoutVars>
          <dgm:chMax val="0"/>
          <dgm:chPref val="0"/>
          <dgm:bulletEnabled val="1"/>
        </dgm:presLayoutVars>
      </dgm:prSet>
      <dgm:spPr/>
    </dgm:pt>
    <dgm:pt modelId="{5D17946D-1624-4843-9765-C543F6861434}" type="pres">
      <dgm:prSet presAssocID="{33AC531A-0359-EC45-8557-3F13207CBF36}" presName="spVertical2" presStyleCnt="0"/>
      <dgm:spPr/>
    </dgm:pt>
    <dgm:pt modelId="{6053E311-4867-8447-A8DF-42EDCB9CFF2F}" type="pres">
      <dgm:prSet presAssocID="{33AC531A-0359-EC45-8557-3F13207CBF36}" presName="spVertical3" presStyleCnt="0"/>
      <dgm:spPr/>
    </dgm:pt>
    <dgm:pt modelId="{E44016D3-425B-C347-88AC-C2486F720288}" type="pres">
      <dgm:prSet presAssocID="{8B65A066-158C-F048-8509-BE90F52CF7A8}" presName="space" presStyleCnt="0"/>
      <dgm:spPr/>
    </dgm:pt>
    <dgm:pt modelId="{2C46EB29-B672-854E-924C-5712E019E924}" type="pres">
      <dgm:prSet presAssocID="{736D73F9-F9D7-C445-9548-06517A746B26}" presName="linV" presStyleCnt="0"/>
      <dgm:spPr/>
    </dgm:pt>
    <dgm:pt modelId="{8E980D74-78E1-D44B-B585-F76B8842A55C}" type="pres">
      <dgm:prSet presAssocID="{736D73F9-F9D7-C445-9548-06517A746B26}" presName="spVertical1" presStyleCnt="0"/>
      <dgm:spPr/>
    </dgm:pt>
    <dgm:pt modelId="{4C4B09BB-9785-F749-AB9F-0C8B2A8390E7}" type="pres">
      <dgm:prSet presAssocID="{736D73F9-F9D7-C445-9548-06517A746B26}" presName="parTx" presStyleLbl="revTx" presStyleIdx="1" presStyleCnt="2" custScaleX="137251">
        <dgm:presLayoutVars>
          <dgm:chMax val="0"/>
          <dgm:chPref val="0"/>
          <dgm:bulletEnabled val="1"/>
        </dgm:presLayoutVars>
      </dgm:prSet>
      <dgm:spPr/>
    </dgm:pt>
    <dgm:pt modelId="{2195B700-E07C-4F40-BAA4-2CF2D1A47075}" type="pres">
      <dgm:prSet presAssocID="{736D73F9-F9D7-C445-9548-06517A746B26}" presName="spVertical2" presStyleCnt="0"/>
      <dgm:spPr/>
    </dgm:pt>
    <dgm:pt modelId="{7CE66B95-20D4-7E4F-8111-B18EF4747135}" type="pres">
      <dgm:prSet presAssocID="{736D73F9-F9D7-C445-9548-06517A746B26}" presName="spVertical3" presStyleCnt="0"/>
      <dgm:spPr/>
    </dgm:pt>
    <dgm:pt modelId="{44426CAD-52BF-BE4C-BCA5-DFE29B8D90BB}" type="pres">
      <dgm:prSet presAssocID="{2D5A49A0-F288-C041-9D00-24FA89AE6BA4}" presName="padding2" presStyleCnt="0"/>
      <dgm:spPr/>
    </dgm:pt>
    <dgm:pt modelId="{90CBE7DB-6C75-BC42-AC5D-5D327FF9CFD3}" type="pres">
      <dgm:prSet presAssocID="{2D5A49A0-F288-C041-9D00-24FA89AE6BA4}" presName="negArrow" presStyleCnt="0"/>
      <dgm:spPr/>
    </dgm:pt>
    <dgm:pt modelId="{C1E30E3F-FCAD-5743-B5D7-5053ACEDEA5A}" type="pres">
      <dgm:prSet presAssocID="{2D5A49A0-F288-C041-9D00-24FA89AE6BA4}" presName="backgroundArrow" presStyleLbl="node1" presStyleIdx="0" presStyleCnt="1"/>
      <dgm:spPr/>
    </dgm:pt>
  </dgm:ptLst>
  <dgm:cxnLst>
    <dgm:cxn modelId="{9906AD3F-832E-A54E-850F-C50F7485F284}" type="presOf" srcId="{736D73F9-F9D7-C445-9548-06517A746B26}" destId="{4C4B09BB-9785-F749-AB9F-0C8B2A8390E7}" srcOrd="0" destOrd="0" presId="urn:microsoft.com/office/officeart/2005/8/layout/hProcess3"/>
    <dgm:cxn modelId="{9BE00D8A-0F31-D74E-829B-828BBE3FBB44}" type="presOf" srcId="{2D5A49A0-F288-C041-9D00-24FA89AE6BA4}" destId="{48EE79FC-84EB-014E-8AB8-7B12F611A6B9}" srcOrd="0" destOrd="0" presId="urn:microsoft.com/office/officeart/2005/8/layout/hProcess3"/>
    <dgm:cxn modelId="{230DA4A9-DAA4-CB44-A0B9-F8739214D737}" type="presOf" srcId="{33AC531A-0359-EC45-8557-3F13207CBF36}" destId="{F4F8ADBA-45D9-934C-A792-F1B19CEF0E83}" srcOrd="0" destOrd="0" presId="urn:microsoft.com/office/officeart/2005/8/layout/hProcess3"/>
    <dgm:cxn modelId="{851CC2C5-BB28-3F45-8B07-4FD230C1E4E0}" srcId="{2D5A49A0-F288-C041-9D00-24FA89AE6BA4}" destId="{736D73F9-F9D7-C445-9548-06517A746B26}" srcOrd="1" destOrd="0" parTransId="{C513444A-AF00-244D-994E-C2F4C508CCAF}" sibTransId="{E8B1436B-DB3A-2545-AEEE-5DDC38FB5343}"/>
    <dgm:cxn modelId="{270E9BCF-0933-E149-8736-FBCC5F9FAEC4}" srcId="{2D5A49A0-F288-C041-9D00-24FA89AE6BA4}" destId="{33AC531A-0359-EC45-8557-3F13207CBF36}" srcOrd="0" destOrd="0" parTransId="{47D6EFB2-B786-5F46-94B4-563E6A8A71CB}" sibTransId="{8B65A066-158C-F048-8509-BE90F52CF7A8}"/>
    <dgm:cxn modelId="{A96E5B56-F077-6B4C-A94B-8CF3D3C0F63E}" type="presParOf" srcId="{48EE79FC-84EB-014E-8AB8-7B12F611A6B9}" destId="{88FF62F3-2C57-3C4F-BAA4-CD084F23799B}" srcOrd="0" destOrd="0" presId="urn:microsoft.com/office/officeart/2005/8/layout/hProcess3"/>
    <dgm:cxn modelId="{53966625-E22D-994B-A344-48C3088084A8}" type="presParOf" srcId="{48EE79FC-84EB-014E-8AB8-7B12F611A6B9}" destId="{08FA31A0-8BFD-2D41-91D9-8EC4DF7A7CFE}" srcOrd="1" destOrd="0" presId="urn:microsoft.com/office/officeart/2005/8/layout/hProcess3"/>
    <dgm:cxn modelId="{110AB5EF-CA40-BD47-B92C-826D4F63D320}" type="presParOf" srcId="{08FA31A0-8BFD-2D41-91D9-8EC4DF7A7CFE}" destId="{4B30A272-FF3F-7F44-B852-A46BA14AEC00}" srcOrd="0" destOrd="0" presId="urn:microsoft.com/office/officeart/2005/8/layout/hProcess3"/>
    <dgm:cxn modelId="{51F46CC9-D152-9F4C-BE1B-570F712B46EC}" type="presParOf" srcId="{08FA31A0-8BFD-2D41-91D9-8EC4DF7A7CFE}" destId="{324C5FE9-DE80-FD41-A058-58660A6B1514}" srcOrd="1" destOrd="0" presId="urn:microsoft.com/office/officeart/2005/8/layout/hProcess3"/>
    <dgm:cxn modelId="{8ABE786F-63DD-3340-8855-9D5333633B34}" type="presParOf" srcId="{324C5FE9-DE80-FD41-A058-58660A6B1514}" destId="{413F7C15-AD1C-6042-A760-CD3E12A382A5}" srcOrd="0" destOrd="0" presId="urn:microsoft.com/office/officeart/2005/8/layout/hProcess3"/>
    <dgm:cxn modelId="{A5BA9A15-6BFF-3D42-AC54-3F1AEB700D9E}" type="presParOf" srcId="{324C5FE9-DE80-FD41-A058-58660A6B1514}" destId="{F4F8ADBA-45D9-934C-A792-F1B19CEF0E83}" srcOrd="1" destOrd="0" presId="urn:microsoft.com/office/officeart/2005/8/layout/hProcess3"/>
    <dgm:cxn modelId="{3E965CF8-B4B0-0744-96A4-F595C782E7F0}" type="presParOf" srcId="{324C5FE9-DE80-FD41-A058-58660A6B1514}" destId="{5D17946D-1624-4843-9765-C543F6861434}" srcOrd="2" destOrd="0" presId="urn:microsoft.com/office/officeart/2005/8/layout/hProcess3"/>
    <dgm:cxn modelId="{179B8236-01D8-FB47-AF58-41D78CC13033}" type="presParOf" srcId="{324C5FE9-DE80-FD41-A058-58660A6B1514}" destId="{6053E311-4867-8447-A8DF-42EDCB9CFF2F}" srcOrd="3" destOrd="0" presId="urn:microsoft.com/office/officeart/2005/8/layout/hProcess3"/>
    <dgm:cxn modelId="{4179AAD8-A60A-CC4B-91FD-5FEAB6F978E0}" type="presParOf" srcId="{08FA31A0-8BFD-2D41-91D9-8EC4DF7A7CFE}" destId="{E44016D3-425B-C347-88AC-C2486F720288}" srcOrd="2" destOrd="0" presId="urn:microsoft.com/office/officeart/2005/8/layout/hProcess3"/>
    <dgm:cxn modelId="{5DC2A995-B9BC-A54E-BBCD-08AC85FD13C8}" type="presParOf" srcId="{08FA31A0-8BFD-2D41-91D9-8EC4DF7A7CFE}" destId="{2C46EB29-B672-854E-924C-5712E019E924}" srcOrd="3" destOrd="0" presId="urn:microsoft.com/office/officeart/2005/8/layout/hProcess3"/>
    <dgm:cxn modelId="{52FF14C8-DC7F-CA4A-9C6B-94E8C8F1D432}" type="presParOf" srcId="{2C46EB29-B672-854E-924C-5712E019E924}" destId="{8E980D74-78E1-D44B-B585-F76B8842A55C}" srcOrd="0" destOrd="0" presId="urn:microsoft.com/office/officeart/2005/8/layout/hProcess3"/>
    <dgm:cxn modelId="{1D68C093-E9FD-D241-BF32-C5B3FF0D9AA8}" type="presParOf" srcId="{2C46EB29-B672-854E-924C-5712E019E924}" destId="{4C4B09BB-9785-F749-AB9F-0C8B2A8390E7}" srcOrd="1" destOrd="0" presId="urn:microsoft.com/office/officeart/2005/8/layout/hProcess3"/>
    <dgm:cxn modelId="{92338A28-3800-8C4B-A14B-ED50E4F1E1F7}" type="presParOf" srcId="{2C46EB29-B672-854E-924C-5712E019E924}" destId="{2195B700-E07C-4F40-BAA4-2CF2D1A47075}" srcOrd="2" destOrd="0" presId="urn:microsoft.com/office/officeart/2005/8/layout/hProcess3"/>
    <dgm:cxn modelId="{8A296DC7-6385-D242-8B00-92CA9387DEBB}" type="presParOf" srcId="{2C46EB29-B672-854E-924C-5712E019E924}" destId="{7CE66B95-20D4-7E4F-8111-B18EF4747135}" srcOrd="3" destOrd="0" presId="urn:microsoft.com/office/officeart/2005/8/layout/hProcess3"/>
    <dgm:cxn modelId="{749DB4F7-B9AE-3149-9F94-50DD1BA79B67}" type="presParOf" srcId="{08FA31A0-8BFD-2D41-91D9-8EC4DF7A7CFE}" destId="{44426CAD-52BF-BE4C-BCA5-DFE29B8D90BB}" srcOrd="4" destOrd="0" presId="urn:microsoft.com/office/officeart/2005/8/layout/hProcess3"/>
    <dgm:cxn modelId="{3EF9A78E-3131-684D-AE94-6806352CCC41}" type="presParOf" srcId="{08FA31A0-8BFD-2D41-91D9-8EC4DF7A7CFE}" destId="{90CBE7DB-6C75-BC42-AC5D-5D327FF9CFD3}" srcOrd="5" destOrd="0" presId="urn:microsoft.com/office/officeart/2005/8/layout/hProcess3"/>
    <dgm:cxn modelId="{1ED7FBD7-2D1A-C742-9C57-0F8DC648FD94}" type="presParOf" srcId="{08FA31A0-8BFD-2D41-91D9-8EC4DF7A7CFE}" destId="{C1E30E3F-FCAD-5743-B5D7-5053ACEDEA5A}" srcOrd="6" destOrd="0" presId="urn:microsoft.com/office/officeart/2005/8/layout/h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311F230-2C51-40B9-8C47-24F315DD0AA4}"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C34D625D-71B8-49E1-A771-269AD7DE6DBC}">
      <dgm:prSet/>
      <dgm:spPr/>
      <dgm:t>
        <a:bodyPr/>
        <a:lstStyle/>
        <a:p>
          <a:r>
            <a:rPr lang="es-ES_tradnl"/>
            <a:t>Mujeres negras conceptualizaron el género como un eje de opresión, que interacciona con otros ejes de opresión mucho antes.</a:t>
          </a:r>
          <a:endParaRPr lang="en-US"/>
        </a:p>
      </dgm:t>
    </dgm:pt>
    <dgm:pt modelId="{F29D16DF-9491-4D01-AA6E-60B4A99C1A9E}" type="parTrans" cxnId="{97689AEE-B8FE-403D-8002-872E8D6B6852}">
      <dgm:prSet/>
      <dgm:spPr/>
      <dgm:t>
        <a:bodyPr/>
        <a:lstStyle/>
        <a:p>
          <a:endParaRPr lang="en-US"/>
        </a:p>
      </dgm:t>
    </dgm:pt>
    <dgm:pt modelId="{E6324005-1CD4-4593-95EB-269D29D6FD7B}" type="sibTrans" cxnId="{97689AEE-B8FE-403D-8002-872E8D6B6852}">
      <dgm:prSet/>
      <dgm:spPr/>
      <dgm:t>
        <a:bodyPr/>
        <a:lstStyle/>
        <a:p>
          <a:endParaRPr lang="en-US"/>
        </a:p>
      </dgm:t>
    </dgm:pt>
    <dgm:pt modelId="{151B096A-4F2B-4C22-BF11-69C29C6A3F32}">
      <dgm:prSet/>
      <dgm:spPr/>
      <dgm:t>
        <a:bodyPr/>
        <a:lstStyle/>
        <a:p>
          <a:r>
            <a:rPr lang="es-ES_tradnl"/>
            <a:t>Crítica por asumir que la mujer blanca occidental representa a todas las mujeres.</a:t>
          </a:r>
          <a:endParaRPr lang="en-US"/>
        </a:p>
      </dgm:t>
    </dgm:pt>
    <dgm:pt modelId="{DB71C005-D662-4338-B115-5DFDE1C53FF1}" type="parTrans" cxnId="{91E09778-737E-4BAE-9A5A-B7CFE247BDC7}">
      <dgm:prSet/>
      <dgm:spPr/>
      <dgm:t>
        <a:bodyPr/>
        <a:lstStyle/>
        <a:p>
          <a:endParaRPr lang="en-US"/>
        </a:p>
      </dgm:t>
    </dgm:pt>
    <dgm:pt modelId="{03135475-1394-4F78-8668-6C4CFB9584DD}" type="sibTrans" cxnId="{91E09778-737E-4BAE-9A5A-B7CFE247BDC7}">
      <dgm:prSet/>
      <dgm:spPr/>
      <dgm:t>
        <a:bodyPr/>
        <a:lstStyle/>
        <a:p>
          <a:endParaRPr lang="en-US"/>
        </a:p>
      </dgm:t>
    </dgm:pt>
    <dgm:pt modelId="{3A20B844-FDDD-834A-BF93-D00853330590}" type="pres">
      <dgm:prSet presAssocID="{B311F230-2C51-40B9-8C47-24F315DD0AA4}" presName="hierChild1" presStyleCnt="0">
        <dgm:presLayoutVars>
          <dgm:chPref val="1"/>
          <dgm:dir/>
          <dgm:animOne val="branch"/>
          <dgm:animLvl val="lvl"/>
          <dgm:resizeHandles/>
        </dgm:presLayoutVars>
      </dgm:prSet>
      <dgm:spPr/>
    </dgm:pt>
    <dgm:pt modelId="{E4413046-AB83-5649-B486-B70CAC18A42E}" type="pres">
      <dgm:prSet presAssocID="{C34D625D-71B8-49E1-A771-269AD7DE6DBC}" presName="hierRoot1" presStyleCnt="0"/>
      <dgm:spPr/>
    </dgm:pt>
    <dgm:pt modelId="{48C46154-25D8-7246-B76D-BE2DECA9F8A2}" type="pres">
      <dgm:prSet presAssocID="{C34D625D-71B8-49E1-A771-269AD7DE6DBC}" presName="composite" presStyleCnt="0"/>
      <dgm:spPr/>
    </dgm:pt>
    <dgm:pt modelId="{5581F5E1-5F0B-9449-B9F9-BC72664D4DDA}" type="pres">
      <dgm:prSet presAssocID="{C34D625D-71B8-49E1-A771-269AD7DE6DBC}" presName="background" presStyleLbl="node0" presStyleIdx="0" presStyleCnt="2"/>
      <dgm:spPr/>
    </dgm:pt>
    <dgm:pt modelId="{94293001-C800-5540-B07D-B20A583AA06F}" type="pres">
      <dgm:prSet presAssocID="{C34D625D-71B8-49E1-A771-269AD7DE6DBC}" presName="text" presStyleLbl="fgAcc0" presStyleIdx="0" presStyleCnt="2">
        <dgm:presLayoutVars>
          <dgm:chPref val="3"/>
        </dgm:presLayoutVars>
      </dgm:prSet>
      <dgm:spPr/>
    </dgm:pt>
    <dgm:pt modelId="{1B208878-CF1F-DA4E-B4F1-1DE1C81B60AD}" type="pres">
      <dgm:prSet presAssocID="{C34D625D-71B8-49E1-A771-269AD7DE6DBC}" presName="hierChild2" presStyleCnt="0"/>
      <dgm:spPr/>
    </dgm:pt>
    <dgm:pt modelId="{B9F9FF4E-91DF-4845-9C84-0BD3ECECB901}" type="pres">
      <dgm:prSet presAssocID="{151B096A-4F2B-4C22-BF11-69C29C6A3F32}" presName="hierRoot1" presStyleCnt="0"/>
      <dgm:spPr/>
    </dgm:pt>
    <dgm:pt modelId="{09AEF111-17F5-4D43-93FA-65D220CFAC69}" type="pres">
      <dgm:prSet presAssocID="{151B096A-4F2B-4C22-BF11-69C29C6A3F32}" presName="composite" presStyleCnt="0"/>
      <dgm:spPr/>
    </dgm:pt>
    <dgm:pt modelId="{9F9EFA9C-9D94-E84D-A926-B9223E4C3732}" type="pres">
      <dgm:prSet presAssocID="{151B096A-4F2B-4C22-BF11-69C29C6A3F32}" presName="background" presStyleLbl="node0" presStyleIdx="1" presStyleCnt="2"/>
      <dgm:spPr/>
    </dgm:pt>
    <dgm:pt modelId="{B52B611A-FA39-7F42-91C8-85A106664096}" type="pres">
      <dgm:prSet presAssocID="{151B096A-4F2B-4C22-BF11-69C29C6A3F32}" presName="text" presStyleLbl="fgAcc0" presStyleIdx="1" presStyleCnt="2">
        <dgm:presLayoutVars>
          <dgm:chPref val="3"/>
        </dgm:presLayoutVars>
      </dgm:prSet>
      <dgm:spPr/>
    </dgm:pt>
    <dgm:pt modelId="{47C2F0A4-7E83-4F42-9D65-0E1558A469A8}" type="pres">
      <dgm:prSet presAssocID="{151B096A-4F2B-4C22-BF11-69C29C6A3F32}" presName="hierChild2" presStyleCnt="0"/>
      <dgm:spPr/>
    </dgm:pt>
  </dgm:ptLst>
  <dgm:cxnLst>
    <dgm:cxn modelId="{388E100B-4C58-444A-83F3-1157C0D3D5CA}" type="presOf" srcId="{151B096A-4F2B-4C22-BF11-69C29C6A3F32}" destId="{B52B611A-FA39-7F42-91C8-85A106664096}" srcOrd="0" destOrd="0" presId="urn:microsoft.com/office/officeart/2005/8/layout/hierarchy1"/>
    <dgm:cxn modelId="{3CD2C342-B97B-5446-BC44-4DEB53ECCF34}" type="presOf" srcId="{B311F230-2C51-40B9-8C47-24F315DD0AA4}" destId="{3A20B844-FDDD-834A-BF93-D00853330590}" srcOrd="0" destOrd="0" presId="urn:microsoft.com/office/officeart/2005/8/layout/hierarchy1"/>
    <dgm:cxn modelId="{91E09778-737E-4BAE-9A5A-B7CFE247BDC7}" srcId="{B311F230-2C51-40B9-8C47-24F315DD0AA4}" destId="{151B096A-4F2B-4C22-BF11-69C29C6A3F32}" srcOrd="1" destOrd="0" parTransId="{DB71C005-D662-4338-B115-5DFDE1C53FF1}" sibTransId="{03135475-1394-4F78-8668-6C4CFB9584DD}"/>
    <dgm:cxn modelId="{97689AEE-B8FE-403D-8002-872E8D6B6852}" srcId="{B311F230-2C51-40B9-8C47-24F315DD0AA4}" destId="{C34D625D-71B8-49E1-A771-269AD7DE6DBC}" srcOrd="0" destOrd="0" parTransId="{F29D16DF-9491-4D01-AA6E-60B4A99C1A9E}" sibTransId="{E6324005-1CD4-4593-95EB-269D29D6FD7B}"/>
    <dgm:cxn modelId="{12458AF0-E52C-A445-951E-8205A175D81E}" type="presOf" srcId="{C34D625D-71B8-49E1-A771-269AD7DE6DBC}" destId="{94293001-C800-5540-B07D-B20A583AA06F}" srcOrd="0" destOrd="0" presId="urn:microsoft.com/office/officeart/2005/8/layout/hierarchy1"/>
    <dgm:cxn modelId="{55EFE92E-C623-4F49-8C71-63EA4FB1734B}" type="presParOf" srcId="{3A20B844-FDDD-834A-BF93-D00853330590}" destId="{E4413046-AB83-5649-B486-B70CAC18A42E}" srcOrd="0" destOrd="0" presId="urn:microsoft.com/office/officeart/2005/8/layout/hierarchy1"/>
    <dgm:cxn modelId="{7A7ABE60-3476-D84B-AAA0-E153F15DADB6}" type="presParOf" srcId="{E4413046-AB83-5649-B486-B70CAC18A42E}" destId="{48C46154-25D8-7246-B76D-BE2DECA9F8A2}" srcOrd="0" destOrd="0" presId="urn:microsoft.com/office/officeart/2005/8/layout/hierarchy1"/>
    <dgm:cxn modelId="{DDDAFD2D-EB42-A34C-A5C7-3C56C9B708EB}" type="presParOf" srcId="{48C46154-25D8-7246-B76D-BE2DECA9F8A2}" destId="{5581F5E1-5F0B-9449-B9F9-BC72664D4DDA}" srcOrd="0" destOrd="0" presId="urn:microsoft.com/office/officeart/2005/8/layout/hierarchy1"/>
    <dgm:cxn modelId="{35D9E1A9-0BE6-8145-ABD0-FBD035600880}" type="presParOf" srcId="{48C46154-25D8-7246-B76D-BE2DECA9F8A2}" destId="{94293001-C800-5540-B07D-B20A583AA06F}" srcOrd="1" destOrd="0" presId="urn:microsoft.com/office/officeart/2005/8/layout/hierarchy1"/>
    <dgm:cxn modelId="{EC8F3A8D-B988-3740-930D-3B29357F0A69}" type="presParOf" srcId="{E4413046-AB83-5649-B486-B70CAC18A42E}" destId="{1B208878-CF1F-DA4E-B4F1-1DE1C81B60AD}" srcOrd="1" destOrd="0" presId="urn:microsoft.com/office/officeart/2005/8/layout/hierarchy1"/>
    <dgm:cxn modelId="{4ABFB4AF-4ACC-FF4F-9BE2-2DD387D66DEE}" type="presParOf" srcId="{3A20B844-FDDD-834A-BF93-D00853330590}" destId="{B9F9FF4E-91DF-4845-9C84-0BD3ECECB901}" srcOrd="1" destOrd="0" presId="urn:microsoft.com/office/officeart/2005/8/layout/hierarchy1"/>
    <dgm:cxn modelId="{70B845D6-9179-5448-B563-ED8925AC4D24}" type="presParOf" srcId="{B9F9FF4E-91DF-4845-9C84-0BD3ECECB901}" destId="{09AEF111-17F5-4D43-93FA-65D220CFAC69}" srcOrd="0" destOrd="0" presId="urn:microsoft.com/office/officeart/2005/8/layout/hierarchy1"/>
    <dgm:cxn modelId="{217B6970-713B-5948-8843-994E58938785}" type="presParOf" srcId="{09AEF111-17F5-4D43-93FA-65D220CFAC69}" destId="{9F9EFA9C-9D94-E84D-A926-B9223E4C3732}" srcOrd="0" destOrd="0" presId="urn:microsoft.com/office/officeart/2005/8/layout/hierarchy1"/>
    <dgm:cxn modelId="{5BDF4203-20AB-584C-B52D-C22A76519CB2}" type="presParOf" srcId="{09AEF111-17F5-4D43-93FA-65D220CFAC69}" destId="{B52B611A-FA39-7F42-91C8-85A106664096}" srcOrd="1" destOrd="0" presId="urn:microsoft.com/office/officeart/2005/8/layout/hierarchy1"/>
    <dgm:cxn modelId="{C13F563E-891B-4248-9A5B-075B6AE822BE}" type="presParOf" srcId="{B9F9FF4E-91DF-4845-9C84-0BD3ECECB901}" destId="{47C2F0A4-7E83-4F42-9D65-0E1558A469A8}"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4908C7-FCDC-E945-868F-91CA997F3C23}">
      <dsp:nvSpPr>
        <dsp:cNvPr id="0" name=""/>
        <dsp:cNvSpPr/>
      </dsp:nvSpPr>
      <dsp:spPr>
        <a:xfrm>
          <a:off x="69706" y="0"/>
          <a:ext cx="3965818" cy="1325563"/>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s-ES_tradnl" sz="2000" kern="1200" dirty="0"/>
            <a:t>Bases: conceptos y perspectivas teóricas fundamentales (C1-6)</a:t>
          </a:r>
          <a:endParaRPr lang="en-CL" sz="2000" kern="1200" dirty="0"/>
        </a:p>
      </dsp:txBody>
      <dsp:txXfrm>
        <a:off x="108530" y="38824"/>
        <a:ext cx="3888170" cy="1247915"/>
      </dsp:txXfrm>
    </dsp:sp>
    <dsp:sp modelId="{46DF3D97-F217-CE40-B88B-3DFAC05481BB}">
      <dsp:nvSpPr>
        <dsp:cNvPr id="0" name=""/>
        <dsp:cNvSpPr/>
      </dsp:nvSpPr>
      <dsp:spPr>
        <a:xfrm>
          <a:off x="4415610" y="171020"/>
          <a:ext cx="805780" cy="983522"/>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415610" y="367724"/>
        <a:ext cx="564046" cy="590114"/>
      </dsp:txXfrm>
    </dsp:sp>
    <dsp:sp modelId="{86ED2A72-794C-884D-8506-AA1AC3BA1955}">
      <dsp:nvSpPr>
        <dsp:cNvPr id="0" name=""/>
        <dsp:cNvSpPr/>
      </dsp:nvSpPr>
      <dsp:spPr>
        <a:xfrm>
          <a:off x="5555864" y="0"/>
          <a:ext cx="3965818" cy="1325563"/>
        </a:xfrm>
        <a:prstGeom prst="roundRect">
          <a:avLst>
            <a:gd name="adj" fmla="val 10000"/>
          </a:avLst>
        </a:prstGeom>
        <a:solidFill>
          <a:schemeClr val="accent4">
            <a:hueOff val="20121819"/>
            <a:satOff val="201"/>
            <a:lumOff val="725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s-ES_tradnl" sz="2000" kern="1200" dirty="0"/>
            <a:t>Aplicación de conceptos y teorías a diversos ámbitos de la vida social (C7-14)</a:t>
          </a:r>
          <a:endParaRPr lang="en-CL" sz="2000" kern="1200" dirty="0"/>
        </a:p>
      </dsp:txBody>
      <dsp:txXfrm>
        <a:off x="5594688" y="38824"/>
        <a:ext cx="3888170" cy="124791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05FD1E8-0E71-4B78-8E95-FA11BB06C384}">
      <dsp:nvSpPr>
        <dsp:cNvPr id="0" name=""/>
        <dsp:cNvSpPr/>
      </dsp:nvSpPr>
      <dsp:spPr>
        <a:xfrm>
          <a:off x="0" y="2771"/>
          <a:ext cx="10077450" cy="59041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EFA047A-F58C-4197-8022-6E8DDF0CD66C}">
      <dsp:nvSpPr>
        <dsp:cNvPr id="0" name=""/>
        <dsp:cNvSpPr/>
      </dsp:nvSpPr>
      <dsp:spPr>
        <a:xfrm>
          <a:off x="178601" y="135616"/>
          <a:ext cx="324730" cy="3247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9598E79-D511-40E0-AC8B-DA0EA212D713}">
      <dsp:nvSpPr>
        <dsp:cNvPr id="0" name=""/>
        <dsp:cNvSpPr/>
      </dsp:nvSpPr>
      <dsp:spPr>
        <a:xfrm>
          <a:off x="681934" y="2771"/>
          <a:ext cx="9395515" cy="590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2486" tIns="62486" rIns="62486" bIns="62486" numCol="1" spcCol="1270" anchor="ctr" anchorCtr="0">
          <a:noAutofit/>
        </a:bodyPr>
        <a:lstStyle/>
        <a:p>
          <a:pPr marL="0" lvl="0" indent="0" algn="l" defTabSz="666750">
            <a:lnSpc>
              <a:spcPct val="100000"/>
            </a:lnSpc>
            <a:spcBef>
              <a:spcPct val="0"/>
            </a:spcBef>
            <a:spcAft>
              <a:spcPct val="35000"/>
            </a:spcAft>
            <a:buNone/>
          </a:pPr>
          <a:r>
            <a:rPr lang="en-US" sz="1500" b="1" kern="1200" dirty="0"/>
            <a:t>Abstract/</a:t>
          </a:r>
          <a:r>
            <a:rPr lang="en-US" sz="1500" b="1" kern="1200" dirty="0" err="1"/>
            <a:t>Resumen</a:t>
          </a:r>
          <a:r>
            <a:rPr lang="en-US" sz="1500" b="1" kern="1200" dirty="0"/>
            <a:t>: </a:t>
          </a:r>
          <a:r>
            <a:rPr lang="en-US" sz="1500" kern="1200" dirty="0"/>
            <a:t>Visión general de </a:t>
          </a:r>
          <a:r>
            <a:rPr lang="en-US" sz="1500" kern="1200" dirty="0" err="1"/>
            <a:t>todo</a:t>
          </a:r>
          <a:r>
            <a:rPr lang="en-US" sz="1500" kern="1200" dirty="0"/>
            <a:t> el </a:t>
          </a:r>
          <a:r>
            <a:rPr lang="en-US" sz="1500" kern="1200" dirty="0" err="1"/>
            <a:t>documento</a:t>
          </a:r>
          <a:r>
            <a:rPr lang="en-US" sz="1500" kern="1200" dirty="0"/>
            <a:t> </a:t>
          </a:r>
          <a:r>
            <a:rPr lang="en-US" sz="1500" b="1" kern="1200" dirty="0"/>
            <a:t>**Leer </a:t>
          </a:r>
          <a:r>
            <a:rPr lang="en-US" sz="1500" b="1" kern="1200" dirty="0" err="1"/>
            <a:t>siempre</a:t>
          </a:r>
          <a:r>
            <a:rPr lang="en-US" sz="1500" b="1" kern="1200" dirty="0"/>
            <a:t> y </a:t>
          </a:r>
          <a:r>
            <a:rPr lang="en-US" sz="1500" b="1" kern="1200" dirty="0" err="1"/>
            <a:t>en</a:t>
          </a:r>
          <a:r>
            <a:rPr lang="en-US" sz="1500" b="1" kern="1200" dirty="0"/>
            <a:t> </a:t>
          </a:r>
          <a:r>
            <a:rPr lang="en-US" sz="1500" b="1" kern="1200" dirty="0" err="1"/>
            <a:t>detalle</a:t>
          </a:r>
          <a:r>
            <a:rPr lang="en-US" sz="1500" b="1" kern="1200" dirty="0"/>
            <a:t>**</a:t>
          </a:r>
          <a:endParaRPr lang="en-US" sz="1500" kern="1200" dirty="0"/>
        </a:p>
      </dsp:txBody>
      <dsp:txXfrm>
        <a:off x="681934" y="2771"/>
        <a:ext cx="9395515" cy="590419"/>
      </dsp:txXfrm>
    </dsp:sp>
    <dsp:sp modelId="{B70D5C06-8326-48F3-A344-72B2558D35D6}">
      <dsp:nvSpPr>
        <dsp:cNvPr id="0" name=""/>
        <dsp:cNvSpPr/>
      </dsp:nvSpPr>
      <dsp:spPr>
        <a:xfrm>
          <a:off x="0" y="740796"/>
          <a:ext cx="10077450" cy="59041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C4F2D05-E6CC-4DE8-8834-4B91311429EC}">
      <dsp:nvSpPr>
        <dsp:cNvPr id="0" name=""/>
        <dsp:cNvSpPr/>
      </dsp:nvSpPr>
      <dsp:spPr>
        <a:xfrm>
          <a:off x="178601" y="873640"/>
          <a:ext cx="324730" cy="3247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D8BF8B7-2A24-46E7-B264-12CCFA2C8609}">
      <dsp:nvSpPr>
        <dsp:cNvPr id="0" name=""/>
        <dsp:cNvSpPr/>
      </dsp:nvSpPr>
      <dsp:spPr>
        <a:xfrm>
          <a:off x="681934" y="740796"/>
          <a:ext cx="9395515" cy="590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2486" tIns="62486" rIns="62486" bIns="62486" numCol="1" spcCol="1270" anchor="ctr" anchorCtr="0">
          <a:noAutofit/>
        </a:bodyPr>
        <a:lstStyle/>
        <a:p>
          <a:pPr marL="0" lvl="0" indent="0" algn="l" defTabSz="666750">
            <a:lnSpc>
              <a:spcPct val="100000"/>
            </a:lnSpc>
            <a:spcBef>
              <a:spcPct val="0"/>
            </a:spcBef>
            <a:spcAft>
              <a:spcPct val="35000"/>
            </a:spcAft>
            <a:buNone/>
          </a:pPr>
          <a:r>
            <a:rPr lang="en-US" sz="1500" b="1" kern="1200"/>
            <a:t>Introducción: </a:t>
          </a:r>
          <a:r>
            <a:rPr lang="en-US" sz="1500" kern="1200"/>
            <a:t>Presentación del estudio, proporcionando información de fondo sobre lo que ya se ha hecho. </a:t>
          </a:r>
          <a:r>
            <a:rPr lang="en-US" sz="1500" b="1" kern="1200"/>
            <a:t>Escanear o leer las oraciones clave.</a:t>
          </a:r>
          <a:endParaRPr lang="en-US" sz="1500" kern="1200"/>
        </a:p>
      </dsp:txBody>
      <dsp:txXfrm>
        <a:off x="681934" y="740796"/>
        <a:ext cx="9395515" cy="590419"/>
      </dsp:txXfrm>
    </dsp:sp>
    <dsp:sp modelId="{CC1116C7-3E39-442B-BD83-E9BBBF21C49F}">
      <dsp:nvSpPr>
        <dsp:cNvPr id="0" name=""/>
        <dsp:cNvSpPr/>
      </dsp:nvSpPr>
      <dsp:spPr>
        <a:xfrm>
          <a:off x="0" y="1478821"/>
          <a:ext cx="10077450" cy="59041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589A7E3-5F43-4DE1-8402-C17D3604839F}">
      <dsp:nvSpPr>
        <dsp:cNvPr id="0" name=""/>
        <dsp:cNvSpPr/>
      </dsp:nvSpPr>
      <dsp:spPr>
        <a:xfrm>
          <a:off x="178601" y="1611665"/>
          <a:ext cx="324730" cy="324730"/>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D131DB9-A194-4B01-A435-6451DDF500A5}">
      <dsp:nvSpPr>
        <dsp:cNvPr id="0" name=""/>
        <dsp:cNvSpPr/>
      </dsp:nvSpPr>
      <dsp:spPr>
        <a:xfrm>
          <a:off x="681934" y="1478821"/>
          <a:ext cx="9395515" cy="590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2486" tIns="62486" rIns="62486" bIns="62486" numCol="1" spcCol="1270" anchor="ctr" anchorCtr="0">
          <a:noAutofit/>
        </a:bodyPr>
        <a:lstStyle/>
        <a:p>
          <a:pPr marL="0" lvl="0" indent="0" algn="l" defTabSz="666750">
            <a:lnSpc>
              <a:spcPct val="100000"/>
            </a:lnSpc>
            <a:spcBef>
              <a:spcPct val="0"/>
            </a:spcBef>
            <a:spcAft>
              <a:spcPct val="35000"/>
            </a:spcAft>
            <a:buNone/>
          </a:pPr>
          <a:r>
            <a:rPr lang="en-US" sz="1500" b="1" kern="1200" dirty="0" err="1"/>
            <a:t>Métodos</a:t>
          </a:r>
          <a:r>
            <a:rPr lang="en-US" sz="1500" b="1" kern="1200" dirty="0"/>
            <a:t>: </a:t>
          </a:r>
          <a:r>
            <a:rPr lang="en-US" sz="1500" kern="1200" dirty="0"/>
            <a:t>¿</a:t>
          </a:r>
          <a:r>
            <a:rPr lang="en-US" sz="1500" kern="1200" dirty="0" err="1"/>
            <a:t>Qué</a:t>
          </a:r>
          <a:r>
            <a:rPr lang="en-US" sz="1500" kern="1200" dirty="0"/>
            <a:t> </a:t>
          </a:r>
          <a:r>
            <a:rPr lang="en-US" sz="1500" kern="1200" dirty="0" err="1"/>
            <a:t>hicieron</a:t>
          </a:r>
          <a:r>
            <a:rPr lang="en-US" sz="1500" kern="1200" dirty="0"/>
            <a:t> </a:t>
          </a:r>
          <a:r>
            <a:rPr lang="en-US" sz="1500" kern="1200" dirty="0" err="1"/>
            <a:t>en</a:t>
          </a:r>
          <a:r>
            <a:rPr lang="en-US" sz="1500" kern="1200" dirty="0"/>
            <a:t> </a:t>
          </a:r>
          <a:r>
            <a:rPr lang="en-US" sz="1500" kern="1200" dirty="0" err="1"/>
            <a:t>el</a:t>
          </a:r>
          <a:r>
            <a:rPr lang="en-US" sz="1500" kern="1200" dirty="0"/>
            <a:t> </a:t>
          </a:r>
          <a:r>
            <a:rPr lang="en-US" sz="1500" kern="1200" dirty="0" err="1"/>
            <a:t>estudio</a:t>
          </a:r>
          <a:r>
            <a:rPr lang="en-US" sz="1500" kern="1200" dirty="0"/>
            <a:t>? </a:t>
          </a:r>
          <a:r>
            <a:rPr lang="en-US" sz="1500" b="1" kern="1200" dirty="0" err="1"/>
            <a:t>Escanear</a:t>
          </a:r>
          <a:r>
            <a:rPr lang="en-US" sz="1500" b="1" kern="1200" dirty="0"/>
            <a:t> o leer las </a:t>
          </a:r>
          <a:r>
            <a:rPr lang="en-US" sz="1500" b="1" kern="1200" dirty="0" err="1"/>
            <a:t>oraciones</a:t>
          </a:r>
          <a:r>
            <a:rPr lang="en-US" sz="1500" b="1" kern="1200" dirty="0"/>
            <a:t> clave.</a:t>
          </a:r>
          <a:endParaRPr lang="en-US" sz="1500" kern="1200" dirty="0"/>
        </a:p>
      </dsp:txBody>
      <dsp:txXfrm>
        <a:off x="681934" y="1478821"/>
        <a:ext cx="9395515" cy="590419"/>
      </dsp:txXfrm>
    </dsp:sp>
    <dsp:sp modelId="{A1ABF480-FA77-4B7D-8EBF-F7F0E35EAC46}">
      <dsp:nvSpPr>
        <dsp:cNvPr id="0" name=""/>
        <dsp:cNvSpPr/>
      </dsp:nvSpPr>
      <dsp:spPr>
        <a:xfrm>
          <a:off x="0" y="2216845"/>
          <a:ext cx="10077450" cy="59041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A5FA7D1-5D72-4D85-8DB3-CC7583AEA996}">
      <dsp:nvSpPr>
        <dsp:cNvPr id="0" name=""/>
        <dsp:cNvSpPr/>
      </dsp:nvSpPr>
      <dsp:spPr>
        <a:xfrm>
          <a:off x="178601" y="2349690"/>
          <a:ext cx="324730" cy="324730"/>
        </a:xfrm>
        <a:prstGeom prst="rect">
          <a:avLst/>
        </a:prstGeom>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D116EE-606E-44EA-9FBB-09D83DD49159}">
      <dsp:nvSpPr>
        <dsp:cNvPr id="0" name=""/>
        <dsp:cNvSpPr/>
      </dsp:nvSpPr>
      <dsp:spPr>
        <a:xfrm>
          <a:off x="681934" y="2216845"/>
          <a:ext cx="9395515" cy="590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2486" tIns="62486" rIns="62486" bIns="62486" numCol="1" spcCol="1270" anchor="ctr" anchorCtr="0">
          <a:noAutofit/>
        </a:bodyPr>
        <a:lstStyle/>
        <a:p>
          <a:pPr marL="0" lvl="0" indent="0" algn="l" defTabSz="666750">
            <a:lnSpc>
              <a:spcPct val="100000"/>
            </a:lnSpc>
            <a:spcBef>
              <a:spcPct val="0"/>
            </a:spcBef>
            <a:spcAft>
              <a:spcPct val="35000"/>
            </a:spcAft>
            <a:buNone/>
          </a:pPr>
          <a:r>
            <a:rPr lang="en-US" sz="1500" b="1" kern="1200"/>
            <a:t>Resultados: </a:t>
          </a:r>
          <a:r>
            <a:rPr lang="en-US" sz="1500" kern="1200"/>
            <a:t>¿Qué encontraron? </a:t>
          </a:r>
          <a:r>
            <a:rPr lang="en-US" sz="1500" b="1" kern="1200"/>
            <a:t>Escanear o leer las oraciones clave.</a:t>
          </a:r>
          <a:endParaRPr lang="en-US" sz="1500" kern="1200"/>
        </a:p>
      </dsp:txBody>
      <dsp:txXfrm>
        <a:off x="681934" y="2216845"/>
        <a:ext cx="9395515" cy="590419"/>
      </dsp:txXfrm>
    </dsp:sp>
    <dsp:sp modelId="{D39C9EC4-0C8C-4DD0-BD41-07195FD0402E}">
      <dsp:nvSpPr>
        <dsp:cNvPr id="0" name=""/>
        <dsp:cNvSpPr/>
      </dsp:nvSpPr>
      <dsp:spPr>
        <a:xfrm>
          <a:off x="0" y="2954870"/>
          <a:ext cx="10077450" cy="59041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49A5999-1125-41A8-9F2D-BCC86A6200CB}">
      <dsp:nvSpPr>
        <dsp:cNvPr id="0" name=""/>
        <dsp:cNvSpPr/>
      </dsp:nvSpPr>
      <dsp:spPr>
        <a:xfrm>
          <a:off x="178601" y="3087714"/>
          <a:ext cx="324730" cy="32473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6C00967-ABE9-4E27-8C8C-7EAFD59F89D7}">
      <dsp:nvSpPr>
        <dsp:cNvPr id="0" name=""/>
        <dsp:cNvSpPr/>
      </dsp:nvSpPr>
      <dsp:spPr>
        <a:xfrm>
          <a:off x="681934" y="2954870"/>
          <a:ext cx="9395515" cy="590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2486" tIns="62486" rIns="62486" bIns="62486" numCol="1" spcCol="1270" anchor="ctr" anchorCtr="0">
          <a:noAutofit/>
        </a:bodyPr>
        <a:lstStyle/>
        <a:p>
          <a:pPr marL="0" lvl="0" indent="0" algn="l" defTabSz="666750">
            <a:lnSpc>
              <a:spcPct val="100000"/>
            </a:lnSpc>
            <a:spcBef>
              <a:spcPct val="0"/>
            </a:spcBef>
            <a:spcAft>
              <a:spcPct val="35000"/>
            </a:spcAft>
            <a:buNone/>
          </a:pPr>
          <a:r>
            <a:rPr lang="en-US" sz="1500" b="1" kern="1200" dirty="0" err="1"/>
            <a:t>Discusión</a:t>
          </a:r>
          <a:r>
            <a:rPr lang="en-US" sz="1500" b="1" kern="1200" dirty="0"/>
            <a:t>/</a:t>
          </a:r>
          <a:r>
            <a:rPr lang="en-US" sz="1500" b="1" kern="1200" dirty="0" err="1"/>
            <a:t>Conclusión</a:t>
          </a:r>
          <a:r>
            <a:rPr lang="en-US" sz="1500" b="1" kern="1200" dirty="0"/>
            <a:t>: </a:t>
          </a:r>
          <a:r>
            <a:rPr lang="en-US" sz="1500" kern="1200" dirty="0"/>
            <a:t>¿</a:t>
          </a:r>
          <a:r>
            <a:rPr lang="en-US" sz="1500" kern="1200" dirty="0" err="1"/>
            <a:t>Cuáles</a:t>
          </a:r>
          <a:r>
            <a:rPr lang="en-US" sz="1500" kern="1200" dirty="0"/>
            <a:t> son las </a:t>
          </a:r>
          <a:r>
            <a:rPr lang="en-US" sz="1500" kern="1200" dirty="0" err="1"/>
            <a:t>conclusiones</a:t>
          </a:r>
          <a:r>
            <a:rPr lang="en-US" sz="1500" kern="1200" dirty="0"/>
            <a:t> </a:t>
          </a:r>
          <a:r>
            <a:rPr lang="en-US" sz="1500" kern="1200" dirty="0" err="1"/>
            <a:t>generales</a:t>
          </a:r>
          <a:r>
            <a:rPr lang="en-US" sz="1500" kern="1200" dirty="0"/>
            <a:t> que se </a:t>
          </a:r>
          <a:r>
            <a:rPr lang="en-US" sz="1500" kern="1200" dirty="0" err="1"/>
            <a:t>pueden</a:t>
          </a:r>
          <a:r>
            <a:rPr lang="en-US" sz="1500" kern="1200" dirty="0"/>
            <a:t> </a:t>
          </a:r>
          <a:r>
            <a:rPr lang="en-US" sz="1500" kern="1200" dirty="0" err="1"/>
            <a:t>extraer</a:t>
          </a:r>
          <a:r>
            <a:rPr lang="en-US" sz="1500" kern="1200" dirty="0"/>
            <a:t> y </a:t>
          </a:r>
          <a:r>
            <a:rPr lang="en-US" sz="1500" kern="1200" dirty="0" err="1"/>
            <a:t>por</a:t>
          </a:r>
          <a:r>
            <a:rPr lang="en-US" sz="1500" kern="1200" dirty="0"/>
            <a:t> </a:t>
          </a:r>
          <a:r>
            <a:rPr lang="en-US" sz="1500" kern="1200" dirty="0" err="1"/>
            <a:t>qué</a:t>
          </a:r>
          <a:r>
            <a:rPr lang="en-US" sz="1500" kern="1200" dirty="0"/>
            <a:t> es </a:t>
          </a:r>
          <a:r>
            <a:rPr lang="en-US" sz="1500" kern="1200" dirty="0" err="1"/>
            <a:t>esto</a:t>
          </a:r>
          <a:r>
            <a:rPr lang="en-US" sz="1500" kern="1200" dirty="0"/>
            <a:t> </a:t>
          </a:r>
          <a:r>
            <a:rPr lang="en-US" sz="1500" kern="1200" dirty="0" err="1"/>
            <a:t>importante</a:t>
          </a:r>
          <a:r>
            <a:rPr lang="en-US" sz="1500" b="0" kern="1200" dirty="0"/>
            <a:t>? </a:t>
          </a:r>
          <a:r>
            <a:rPr lang="en-US" sz="1500" b="1" kern="1200" dirty="0"/>
            <a:t>A menudo es </a:t>
          </a:r>
          <a:r>
            <a:rPr lang="en-US" sz="1500" b="1" kern="1200" dirty="0" err="1"/>
            <a:t>útil</a:t>
          </a:r>
          <a:r>
            <a:rPr lang="en-US" sz="1500" b="1" kern="1200" dirty="0"/>
            <a:t> leer </a:t>
          </a:r>
          <a:r>
            <a:rPr lang="en-US" sz="1500" b="1" kern="1200" dirty="0" err="1"/>
            <a:t>los</a:t>
          </a:r>
          <a:r>
            <a:rPr lang="en-US" sz="1500" b="1" kern="1200" dirty="0"/>
            <a:t> </a:t>
          </a:r>
          <a:r>
            <a:rPr lang="en-US" sz="1500" b="1" kern="1200" dirty="0" err="1"/>
            <a:t>primeros</a:t>
          </a:r>
          <a:r>
            <a:rPr lang="en-US" sz="1500" b="1" kern="1200" dirty="0"/>
            <a:t> </a:t>
          </a:r>
          <a:r>
            <a:rPr lang="en-US" sz="1500" b="1" kern="1200" dirty="0" err="1"/>
            <a:t>párrafos</a:t>
          </a:r>
          <a:r>
            <a:rPr lang="en-US" sz="1500" b="1" kern="1200" dirty="0"/>
            <a:t> y </a:t>
          </a:r>
          <a:r>
            <a:rPr lang="en-US" sz="1500" b="1" kern="1200" dirty="0" err="1"/>
            <a:t>luego</a:t>
          </a:r>
          <a:r>
            <a:rPr lang="en-US" sz="1500" b="1" kern="1200" dirty="0"/>
            <a:t> </a:t>
          </a:r>
          <a:r>
            <a:rPr lang="en-US" sz="1500" b="1" kern="1200" dirty="0" err="1"/>
            <a:t>escanear</a:t>
          </a:r>
          <a:r>
            <a:rPr lang="en-US" sz="1500" b="1" kern="1200" dirty="0"/>
            <a:t> o leer las </a:t>
          </a:r>
          <a:r>
            <a:rPr lang="en-US" sz="1500" b="1" kern="1200" dirty="0" err="1"/>
            <a:t>oraciones</a:t>
          </a:r>
          <a:r>
            <a:rPr lang="en-US" sz="1500" b="1" kern="1200" dirty="0"/>
            <a:t> clave.</a:t>
          </a:r>
          <a:endParaRPr lang="en-US" sz="1500" kern="1200" dirty="0"/>
        </a:p>
      </dsp:txBody>
      <dsp:txXfrm>
        <a:off x="681934" y="2954870"/>
        <a:ext cx="9395515" cy="59041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E30E3F-FCAD-5743-B5D7-5053ACEDEA5A}">
      <dsp:nvSpPr>
        <dsp:cNvPr id="0" name=""/>
        <dsp:cNvSpPr/>
      </dsp:nvSpPr>
      <dsp:spPr>
        <a:xfrm>
          <a:off x="0" y="27202"/>
          <a:ext cx="9477460" cy="3888000"/>
        </a:xfrm>
        <a:prstGeom prst="rightArrow">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sp>
    <dsp:sp modelId="{4C4B09BB-9785-F749-AB9F-0C8B2A8390E7}">
      <dsp:nvSpPr>
        <dsp:cNvPr id="0" name=""/>
        <dsp:cNvSpPr/>
      </dsp:nvSpPr>
      <dsp:spPr>
        <a:xfrm>
          <a:off x="4388524" y="999202"/>
          <a:ext cx="4141189" cy="1944000"/>
        </a:xfrm>
        <a:prstGeom prst="rect">
          <a:avLst/>
        </a:prstGeom>
        <a:noFill/>
        <a:ln w="6350" cap="flat" cmpd="sng" algn="ctr">
          <a:solidFill>
            <a:schemeClr val="dk1">
              <a:alpha val="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0" tIns="182880" rIns="0" bIns="182880" numCol="1" spcCol="1270" anchor="ctr" anchorCtr="0">
          <a:noAutofit/>
        </a:bodyPr>
        <a:lstStyle/>
        <a:p>
          <a:pPr marL="0" lvl="0" indent="0" algn="ctr" defTabSz="800100">
            <a:lnSpc>
              <a:spcPct val="90000"/>
            </a:lnSpc>
            <a:spcBef>
              <a:spcPct val="0"/>
            </a:spcBef>
            <a:spcAft>
              <a:spcPct val="35000"/>
            </a:spcAft>
            <a:buNone/>
          </a:pPr>
          <a:r>
            <a:rPr lang="es-ES_tradnl" sz="1800" b="1" kern="1200" dirty="0"/>
            <a:t>Social</a:t>
          </a:r>
          <a:endParaRPr lang="es-ES_tradnl" sz="1700" b="1" kern="1200" dirty="0"/>
        </a:p>
        <a:p>
          <a:pPr marL="0" lvl="0" indent="0" algn="ctr" defTabSz="800100">
            <a:lnSpc>
              <a:spcPct val="90000"/>
            </a:lnSpc>
            <a:spcBef>
              <a:spcPct val="0"/>
            </a:spcBef>
            <a:spcAft>
              <a:spcPct val="35000"/>
            </a:spcAft>
            <a:buNone/>
          </a:pPr>
          <a:r>
            <a:rPr lang="es-ES_tradnl" sz="1700" kern="1200" dirty="0"/>
            <a:t>Cómo las organizaciones y las practicas institucionalizan la diferencia hasta inscribirla como desigualdad</a:t>
          </a:r>
          <a:endParaRPr lang="en-US" sz="1700" kern="1200" dirty="0"/>
        </a:p>
      </dsp:txBody>
      <dsp:txXfrm>
        <a:off x="4388524" y="999202"/>
        <a:ext cx="4141189" cy="1944000"/>
      </dsp:txXfrm>
    </dsp:sp>
    <dsp:sp modelId="{F4F8ADBA-45D9-934C-A792-F1B19CEF0E83}">
      <dsp:nvSpPr>
        <dsp:cNvPr id="0" name=""/>
        <dsp:cNvSpPr/>
      </dsp:nvSpPr>
      <dsp:spPr>
        <a:xfrm>
          <a:off x="994749" y="999202"/>
          <a:ext cx="2563415" cy="1944000"/>
        </a:xfrm>
        <a:prstGeom prst="rect">
          <a:avLst/>
        </a:prstGeom>
        <a:noFill/>
        <a:ln w="6350" cap="flat" cmpd="sng" algn="ctr">
          <a:solidFill>
            <a:schemeClr val="dk1">
              <a:alpha val="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0" tIns="182880" rIns="0" bIns="182880" numCol="1" spcCol="1270" anchor="ctr" anchorCtr="0">
          <a:noAutofit/>
        </a:bodyPr>
        <a:lstStyle/>
        <a:p>
          <a:pPr marL="0" lvl="0" indent="0" algn="ctr" defTabSz="800100">
            <a:lnSpc>
              <a:spcPct val="90000"/>
            </a:lnSpc>
            <a:spcBef>
              <a:spcPct val="0"/>
            </a:spcBef>
            <a:spcAft>
              <a:spcPct val="35000"/>
            </a:spcAft>
            <a:buNone/>
          </a:pPr>
          <a:r>
            <a:rPr lang="es-ES_tradnl" sz="1800" b="1" kern="1200" dirty="0"/>
            <a:t>Individual</a:t>
          </a:r>
          <a:endParaRPr lang="es-ES_tradnl" sz="1700" b="1" kern="1200" dirty="0"/>
        </a:p>
        <a:p>
          <a:pPr marL="0" lvl="0" indent="0" algn="ctr" defTabSz="800100">
            <a:lnSpc>
              <a:spcPct val="90000"/>
            </a:lnSpc>
            <a:spcBef>
              <a:spcPct val="0"/>
            </a:spcBef>
            <a:spcAft>
              <a:spcPct val="35000"/>
            </a:spcAft>
            <a:buNone/>
          </a:pPr>
          <a:r>
            <a:rPr lang="es-ES_tradnl" sz="1700" kern="1200" dirty="0"/>
            <a:t>Cuestionamiento a supuesta naturalidad originaria</a:t>
          </a:r>
        </a:p>
      </dsp:txBody>
      <dsp:txXfrm>
        <a:off x="994749" y="999202"/>
        <a:ext cx="2563415" cy="1944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81F5E1-5F0B-9449-B9F9-BC72664D4DDA}">
      <dsp:nvSpPr>
        <dsp:cNvPr id="0" name=""/>
        <dsp:cNvSpPr/>
      </dsp:nvSpPr>
      <dsp:spPr>
        <a:xfrm>
          <a:off x="791" y="608445"/>
          <a:ext cx="2778471" cy="176432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293001-C800-5540-B07D-B20A583AA06F}">
      <dsp:nvSpPr>
        <dsp:cNvPr id="0" name=""/>
        <dsp:cNvSpPr/>
      </dsp:nvSpPr>
      <dsp:spPr>
        <a:xfrm>
          <a:off x="309510" y="901728"/>
          <a:ext cx="2778471" cy="176432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ES_tradnl" sz="1600" kern="1200"/>
            <a:t>Mujeres negras conceptualizaron el género como un eje de opresión, que interacciona con otros ejes de opresión mucho antes.</a:t>
          </a:r>
          <a:endParaRPr lang="en-US" sz="1600" kern="1200"/>
        </a:p>
      </dsp:txBody>
      <dsp:txXfrm>
        <a:off x="361185" y="953403"/>
        <a:ext cx="2675121" cy="1660979"/>
      </dsp:txXfrm>
    </dsp:sp>
    <dsp:sp modelId="{9F9EFA9C-9D94-E84D-A926-B9223E4C3732}">
      <dsp:nvSpPr>
        <dsp:cNvPr id="0" name=""/>
        <dsp:cNvSpPr/>
      </dsp:nvSpPr>
      <dsp:spPr>
        <a:xfrm>
          <a:off x="3396701" y="608445"/>
          <a:ext cx="2778471" cy="176432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52B611A-FA39-7F42-91C8-85A106664096}">
      <dsp:nvSpPr>
        <dsp:cNvPr id="0" name=""/>
        <dsp:cNvSpPr/>
      </dsp:nvSpPr>
      <dsp:spPr>
        <a:xfrm>
          <a:off x="3705420" y="901728"/>
          <a:ext cx="2778471" cy="176432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ES_tradnl" sz="1600" kern="1200"/>
            <a:t>Crítica por asumir que la mujer blanca occidental representa a todas las mujeres.</a:t>
          </a:r>
          <a:endParaRPr lang="en-US" sz="1600" kern="1200"/>
        </a:p>
      </dsp:txBody>
      <dsp:txXfrm>
        <a:off x="3757095" y="953403"/>
        <a:ext cx="2675121" cy="1660979"/>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hProcess3">
  <dgm:title val=""/>
  <dgm:desc val=""/>
  <dgm:catLst>
    <dgm:cat type="process" pri="6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chOrder="t">
    <dgm:varLst>
      <dgm:dir/>
      <dgm:animLvl val="lvl"/>
      <dgm:resizeHandles val="exact"/>
    </dgm:varLst>
    <dgm:alg type="composite"/>
    <dgm:shape xmlns:r="http://schemas.openxmlformats.org/officeDocument/2006/relationships" r:blip="">
      <dgm:adjLst/>
    </dgm:shape>
    <dgm:presOf/>
    <dgm:constrLst>
      <dgm:constr type="w" for="ch" forName="dummy" refType="w"/>
      <dgm:constr type="h" for="ch" forName="dummy" refType="h"/>
      <dgm:constr type="h" for="ch" forName="dummy" refType="w" refFor="ch" refForName="dummy" op="lte" fact="0.4"/>
      <dgm:constr type="ctrX" for="ch" forName="dummy" refType="w" fact="0.5"/>
      <dgm:constr type="ctrY" for="ch" forName="dummy" refType="h" fact="0.5"/>
      <dgm:constr type="w" for="ch" forName="linH" refType="w"/>
      <dgm:constr type="h" for="ch" forName="linH" refType="h"/>
      <dgm:constr type="ctrX" for="ch" forName="linH" refType="w" fact="0.5"/>
      <dgm:constr type="ctrY" for="ch" forName="linH" refType="h" fact="0.5"/>
      <dgm:constr type="userP" for="ch" forName="linH" refType="h" refFor="ch" refForName="dummy" fact="0.25"/>
      <dgm:constr type="userT" for="des" forName="parTx" refType="w" refFor="ch" refForName="dummy" fact="0.2"/>
    </dgm:constrLst>
    <dgm:ruleLst/>
    <dgm:layoutNode name="dummy">
      <dgm:alg type="sp"/>
      <dgm:shape xmlns:r="http://schemas.openxmlformats.org/officeDocument/2006/relationships" r:blip="">
        <dgm:adjLst/>
      </dgm:shape>
      <dgm:presOf/>
      <dgm:constrLst/>
      <dgm:ruleLst/>
    </dgm:layoutNode>
    <dgm:layoutNode name="linH">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primFontSz" for="des" forName="parTx" val="65"/>
        <dgm:constr type="primFontSz" for="des" forName="desTx" refType="primFontSz" refFor="des" refForName="parTx" op="equ"/>
        <dgm:constr type="h" for="des" forName="parTx" refType="primFontSz" refFor="des" refForName="parTx"/>
        <dgm:constr type="h" for="des" forName="desTx" refType="primFontSz" refFor="des" refForName="parTx" fact="0.5"/>
        <dgm:constr type="h" for="des" forName="parTx" op="equ"/>
        <dgm:constr type="h" for="des" forName="desTx" op="equ"/>
        <dgm:constr type="h" for="ch" forName="backgroundArrow" refType="primFontSz" refFor="des" refForName="parTx" fact="2"/>
        <dgm:constr type="h" for="ch" forName="backgroundArrow" refType="h" refFor="des" refForName="parTx" op="lte" fact="2"/>
        <dgm:constr type="h" for="ch" forName="backgroundArrow" refType="h" refFor="des" refForName="parTx" op="gte" fact="2"/>
        <dgm:constr type="h" for="des" forName="spVertical1" refType="primFontSz" refFor="des" refForName="parTx" fact="0.5"/>
        <dgm:constr type="h" for="des" forName="spVertical1" refType="h" refFor="des" refForName="parTx" op="lte" fact="0.5"/>
        <dgm:constr type="h" for="des" forName="spVertical1" refType="h" refFor="des" refForName="parTx" op="gte" fact="0.5"/>
        <dgm:constr type="h" for="des" forName="spVertical2" refType="primFontSz" refFor="des" refForName="parTx" fact="0.5"/>
        <dgm:constr type="h" for="des" forName="spVertical2" refType="h" refFor="des" refForName="parTx" op="lte" fact="0.5"/>
        <dgm:constr type="h" for="des" forName="spVertical2" refType="h" refFor="des" refForName="parTx" op="gte" fact="0.5"/>
        <dgm:constr type="h" for="des" forName="spVertical3" refType="primFontSz" refFor="des" refForName="parTx" fact="-0.4"/>
        <dgm:constr type="h" for="des" forName="spVertical3" refType="h" refFor="des" refForName="parTx" op="lte" fact="-0.4"/>
        <dgm:constr type="h" for="des" forName="spVertical3" refType="h" refFor="des" refForName="parTx" op="gte" fact="-0.4"/>
        <dgm:constr type="w" for="ch" forName="backgroundArrow" refType="w"/>
        <dgm:constr type="w" for="ch" forName="negArrow" refType="w" fact="-1"/>
        <dgm:constr type="w" for="ch" forName="linV" refType="w"/>
        <dgm:constr type="w" for="ch" forName="space" refType="w" refFor="ch" refForName="linV" fact="0.2"/>
        <dgm:constr type="w" for="ch" forName="padding1" refType="w" fact="0.08"/>
        <dgm:constr type="userP"/>
        <dgm:constr type="w" for="ch" forName="padding2" refType="userP"/>
      </dgm:constrLst>
      <dgm:ruleLst>
        <dgm:rule type="w" for="ch" forName="linV" val="0" fact="NaN" max="NaN"/>
        <dgm:rule type="primFontSz" for="des" forName="parTx" val="5" fact="NaN" max="NaN"/>
      </dgm:ruleLst>
      <dgm:layoutNode name="padding1">
        <dgm:alg type="sp"/>
        <dgm:shape xmlns:r="http://schemas.openxmlformats.org/officeDocument/2006/relationships" r:blip="">
          <dgm:adjLst/>
        </dgm:shape>
        <dgm:presOf/>
        <dgm:constrLst/>
        <dgm:ruleLst/>
      </dgm:layoutNode>
      <dgm:forEach name="Name4" axis="ch" ptType="node">
        <dgm:layoutNode name="linV">
          <dgm:alg type="lin">
            <dgm:param type="linDir" val="fromT"/>
          </dgm:alg>
          <dgm:shape xmlns:r="http://schemas.openxmlformats.org/officeDocument/2006/relationships" r:blip="">
            <dgm:adjLst/>
          </dgm:shape>
          <dgm:presOf/>
          <dgm:constrLst>
            <dgm:constr type="w" for="ch" forName="spVertical1" refType="w"/>
            <dgm:constr type="w" for="ch" forName="parTx" refType="w"/>
            <dgm:constr type="w" for="ch" forName="spVertical2" refType="w"/>
            <dgm:constr type="w" for="ch" forName="spVertical3" refType="w"/>
            <dgm:constr type="w" for="ch" forName="desTx" refType="w"/>
          </dgm:constrLst>
          <dgm:ruleLst/>
          <dgm:layoutNode name="spVertical1">
            <dgm:alg type="sp"/>
            <dgm:shape xmlns:r="http://schemas.openxmlformats.org/officeDocument/2006/relationships" r:blip="">
              <dgm:adjLst/>
            </dgm:shape>
            <dgm:presOf/>
            <dgm:constrLst/>
            <dgm:ruleLst/>
          </dgm:layoutNode>
          <dgm:layoutNode name="parTx" styleLbl="revTx">
            <dgm:varLst>
              <dgm:chMax val="0"/>
              <dgm:chPref val="0"/>
              <dgm:bulletEnabled val="1"/>
            </dgm:varLst>
            <dgm:choose name="Name5">
              <dgm:if name="Name6" axis="root des" ptType="all node" func="maxDepth" op="gt" val="1">
                <dgm:alg type="tx">
                  <dgm:param type="parTxLTRAlign" val="l"/>
                  <dgm:param type="parTxRTLAlign" val="r"/>
                </dgm:alg>
              </dgm:if>
              <dgm:else name="Name7">
                <dgm:alg type="tx">
                  <dgm:param type="parTxLTRAlign" val="ctr"/>
                  <dgm:param type="parTxRTLAlign" val="ctr"/>
                </dgm:alg>
              </dgm:else>
            </dgm:choose>
            <dgm:shape xmlns:r="http://schemas.openxmlformats.org/officeDocument/2006/relationships" type="rect" r:blip="">
              <dgm:adjLst/>
            </dgm:shape>
            <dgm:presOf axis="self" ptType="node"/>
            <dgm:choose name="Name8">
              <dgm:if name="Name9" func="var" arg="dir" op="equ" val="norm">
                <dgm:constrLst>
                  <dgm:constr type="userT"/>
                  <dgm:constr type="h" refType="userT" op="lte"/>
                  <dgm:constr type="tMarg" refType="primFontSz" fact="0.8"/>
                  <dgm:constr type="bMarg" refType="tMarg"/>
                  <dgm:constr type="lMarg"/>
                  <dgm:constr type="rMarg"/>
                </dgm:constrLst>
              </dgm:if>
              <dgm:else name="Name10">
                <dgm:constrLst>
                  <dgm:constr type="userT"/>
                  <dgm:constr type="h" refType="userT" op="lte"/>
                  <dgm:constr type="tMarg" refType="primFontSz" fact="0.8"/>
                  <dgm:constr type="bMarg" refType="tMarg"/>
                  <dgm:constr type="lMarg"/>
                  <dgm:constr type="rMarg"/>
                </dgm:constrLst>
              </dgm:else>
            </dgm:choose>
            <dgm:ruleLst>
              <dgm:rule type="h" val="INF" fact="NaN" max="NaN"/>
            </dgm:ruleLst>
          </dgm:layoutNode>
          <dgm:layoutNode name="spVertical2">
            <dgm:alg type="sp"/>
            <dgm:shape xmlns:r="http://schemas.openxmlformats.org/officeDocument/2006/relationships" r:blip="">
              <dgm:adjLst/>
            </dgm:shape>
            <dgm:presOf/>
            <dgm:constrLst/>
            <dgm:ruleLst/>
          </dgm:layoutNode>
          <dgm:layoutNode name="spVertical3">
            <dgm:alg type="sp"/>
            <dgm:shape xmlns:r="http://schemas.openxmlformats.org/officeDocument/2006/relationships" r:blip="">
              <dgm:adjLst/>
            </dgm:shape>
            <dgm:presOf/>
            <dgm:constrLst/>
            <dgm:ruleLst/>
          </dgm:layoutNode>
          <dgm:choose name="Name11">
            <dgm:if name="Name12" axis="ch" ptType="node" func="cnt" op="gte" val="1">
              <dgm:layoutNode name="desTx" styleLbl="revTx">
                <dgm:varLst>
                  <dgm:bulletEnabled val="1"/>
                </dgm:varLst>
                <dgm:alg type="tx">
                  <dgm:param type="stBulletLvl" val="1"/>
                </dgm:alg>
                <dgm:shape xmlns:r="http://schemas.openxmlformats.org/officeDocument/2006/relationships" type="rect" r:blip="">
                  <dgm:adjLst/>
                </dgm:shape>
                <dgm:presOf axis="des" ptType="node"/>
                <dgm:constrLst>
                  <dgm:constr type="tMarg"/>
                  <dgm:constr type="bMarg"/>
                  <dgm:constr type="rMarg"/>
                  <dgm:constr type="lMarg"/>
                </dgm:constrLst>
                <dgm:ruleLst>
                  <dgm:rule type="h" val="INF" fact="NaN" max="NaN"/>
                </dgm:ruleLst>
              </dgm:layoutNode>
            </dgm:if>
            <dgm:else name="Name13"/>
          </dgm:choose>
        </dgm:layoutNod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name="padding2">
        <dgm:alg type="sp"/>
        <dgm:shape xmlns:r="http://schemas.openxmlformats.org/officeDocument/2006/relationships" r:blip="">
          <dgm:adjLst/>
        </dgm:shape>
        <dgm:presOf/>
        <dgm:constrLst/>
        <dgm:ruleLst/>
      </dgm:layoutNode>
      <dgm:layoutNode name="negArrow">
        <dgm:alg type="sp"/>
        <dgm:shape xmlns:r="http://schemas.openxmlformats.org/officeDocument/2006/relationships" r:blip="">
          <dgm:adjLst/>
        </dgm:shape>
        <dgm:presOf/>
        <dgm:constrLst/>
        <dgm:ruleLst/>
      </dgm:layoutNode>
      <dgm:layoutNode name="backgroundArrow" styleLbl="node1">
        <dgm:alg type="sp"/>
        <dgm:choose name="Name15">
          <dgm:if name="Name16" func="var" arg="dir" op="equ" val="norm">
            <dgm:shape xmlns:r="http://schemas.openxmlformats.org/officeDocument/2006/relationships" type="rightArrow" r:blip="">
              <dgm:adjLst/>
            </dgm:shape>
          </dgm:if>
          <dgm:else name="Name17">
            <dgm:shape xmlns:r="http://schemas.openxmlformats.org/officeDocument/2006/relationships" type="leftArrow" r:blip="">
              <dgm:adjLst/>
            </dgm:shape>
          </dgm:else>
        </dgm:choose>
        <dgm:presOf/>
        <dgm:constrLst/>
        <dgm:ruleLst/>
      </dgm:layoutNode>
    </dgm:layoutNode>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962400" cy="344091"/>
          </a:xfrm>
          <a:prstGeom prst="rect">
            <a:avLst/>
          </a:prstGeom>
        </p:spPr>
        <p:txBody>
          <a:bodyPr vert="horz" lIns="91440" tIns="45720" rIns="91440" bIns="45720" rtlCol="0"/>
          <a:lstStyle>
            <a:lvl1pPr algn="l">
              <a:defRPr sz="1200"/>
            </a:lvl1pPr>
          </a:lstStyle>
          <a:p>
            <a:endParaRPr lang="es-ES_tradnl"/>
          </a:p>
        </p:txBody>
      </p:sp>
      <p:sp>
        <p:nvSpPr>
          <p:cNvPr id="3" name="Date Placeholder 2"/>
          <p:cNvSpPr>
            <a:spLocks noGrp="1"/>
          </p:cNvSpPr>
          <p:nvPr>
            <p:ph type="dt" idx="1"/>
          </p:nvPr>
        </p:nvSpPr>
        <p:spPr>
          <a:xfrm>
            <a:off x="5179484" y="1"/>
            <a:ext cx="3962400" cy="344091"/>
          </a:xfrm>
          <a:prstGeom prst="rect">
            <a:avLst/>
          </a:prstGeom>
        </p:spPr>
        <p:txBody>
          <a:bodyPr vert="horz" lIns="91440" tIns="45720" rIns="91440" bIns="45720" rtlCol="0"/>
          <a:lstStyle>
            <a:lvl1pPr algn="r">
              <a:defRPr sz="1200"/>
            </a:lvl1pPr>
          </a:lstStyle>
          <a:p>
            <a:fld id="{6FA5CC44-19B9-524A-A2AD-BA3283F2BA28}" type="datetimeFigureOut">
              <a:rPr lang="es-ES_tradnl" smtClean="0"/>
              <a:t>13/8/26</a:t>
            </a:fld>
            <a:endParaRPr lang="es-ES_tradnl"/>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s-ES_tradnl"/>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_tradnl"/>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s-ES_tradnl"/>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2D408404-1019-D046-A570-EEF3AEB680B9}" type="slidenum">
              <a:rPr lang="es-ES_tradnl" smtClean="0"/>
              <a:t>‹#›</a:t>
            </a:fld>
            <a:endParaRPr lang="es-ES_tradnl"/>
          </a:p>
        </p:txBody>
      </p:sp>
    </p:spTree>
    <p:extLst>
      <p:ext uri="{BB962C8B-B14F-4D97-AF65-F5344CB8AC3E}">
        <p14:creationId xmlns:p14="http://schemas.microsoft.com/office/powerpoint/2010/main" val="29530253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a:p>
        </p:txBody>
      </p:sp>
      <p:sp>
        <p:nvSpPr>
          <p:cNvPr id="4" name="Slide Number Placeholder 3"/>
          <p:cNvSpPr>
            <a:spLocks noGrp="1"/>
          </p:cNvSpPr>
          <p:nvPr>
            <p:ph type="sldNum" sz="quarter" idx="5"/>
          </p:nvPr>
        </p:nvSpPr>
        <p:spPr/>
        <p:txBody>
          <a:bodyPr/>
          <a:lstStyle/>
          <a:p>
            <a:fld id="{2D408404-1019-D046-A570-EEF3AEB680B9}" type="slidenum">
              <a:rPr lang="es-ES_tradnl" smtClean="0"/>
              <a:t>1</a:t>
            </a:fld>
            <a:endParaRPr lang="es-ES_tradnl"/>
          </a:p>
        </p:txBody>
      </p:sp>
    </p:spTree>
    <p:extLst>
      <p:ext uri="{BB962C8B-B14F-4D97-AF65-F5344CB8AC3E}">
        <p14:creationId xmlns:p14="http://schemas.microsoft.com/office/powerpoint/2010/main" val="25903710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a:p>
        </p:txBody>
      </p:sp>
      <p:sp>
        <p:nvSpPr>
          <p:cNvPr id="4" name="Slide Number Placeholder 3"/>
          <p:cNvSpPr>
            <a:spLocks noGrp="1"/>
          </p:cNvSpPr>
          <p:nvPr>
            <p:ph type="sldNum" sz="quarter" idx="5"/>
          </p:nvPr>
        </p:nvSpPr>
        <p:spPr/>
        <p:txBody>
          <a:bodyPr/>
          <a:lstStyle/>
          <a:p>
            <a:fld id="{2D408404-1019-D046-A570-EEF3AEB680B9}" type="slidenum">
              <a:rPr lang="es-ES_tradnl" smtClean="0"/>
              <a:t>2</a:t>
            </a:fld>
            <a:endParaRPr lang="es-ES_tradnl"/>
          </a:p>
        </p:txBody>
      </p:sp>
    </p:spTree>
    <p:extLst>
      <p:ext uri="{BB962C8B-B14F-4D97-AF65-F5344CB8AC3E}">
        <p14:creationId xmlns:p14="http://schemas.microsoft.com/office/powerpoint/2010/main" val="3441107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_tradnl" dirty="0" err="1"/>
              <a:t>Posicionalidad</a:t>
            </a:r>
            <a:r>
              <a:rPr lang="es-ES_tradnl" dirty="0"/>
              <a:t>: mujer, soy profesora e investigadora, tengo el privilegio de contar con educación de posgrado en el extranjero, </a:t>
            </a:r>
            <a:r>
              <a:rPr lang="es-ES_tradnl" dirty="0" err="1"/>
              <a:t>vivi</a:t>
            </a:r>
            <a:r>
              <a:rPr lang="es-ES_tradnl" dirty="0"/>
              <a:t> en USA por 7 años y llegué hace poco a Chile </a:t>
            </a:r>
            <a:r>
              <a:rPr lang="es-ES_tradnl" dirty="0" err="1"/>
              <a:t>asi</a:t>
            </a:r>
            <a:r>
              <a:rPr lang="es-ES_tradnl" dirty="0"/>
              <a:t> que vengo con una formación y marco muy americano que estoy trabajando activamente por ampliar.  Muchas lecturas en ingles, pero al menos una en español cada semana.</a:t>
            </a:r>
          </a:p>
          <a:p>
            <a:r>
              <a:rPr lang="es-ES_tradnl" dirty="0"/>
              <a:t>Tengo una pareja hombre y un hijo de 2 años, lo que de muchas maneras sitúa mi experiencia personal con respecto al género y la desigualdad con respecto a esos temas como alguien que lo vive “de adentro”, pero para muchas otras cosas, lo veo ”de afuera” y es importante reconocer eso.</a:t>
            </a:r>
          </a:p>
          <a:p>
            <a:r>
              <a:rPr lang="es-ES_tradnl" dirty="0"/>
              <a:t>Primera vez que hago este curso en pregrado. Veo la sala de clases como un lugar de aprendizaje colectivo, yo también vengo a aprender de ustedes, de su generación, de sus ideas y </a:t>
            </a:r>
            <a:r>
              <a:rPr lang="es-ES_tradnl" dirty="0" err="1"/>
              <a:t>viviencias</a:t>
            </a:r>
            <a:r>
              <a:rPr lang="es-ES_tradnl" dirty="0"/>
              <a:t>. </a:t>
            </a:r>
          </a:p>
          <a:p>
            <a:r>
              <a:rPr lang="es-ES_tradnl" dirty="0"/>
              <a:t>Todo lo que no cabe en este curso, es una introducción, una mirada general, con un foco en aquellos temas que yo manejo más directamente también. Se pueden hacer muchos cursos de sociología del género, todos muy diferentes, y todo igualmente válidos e importantes. Este es sólo uno de ellos.</a:t>
            </a:r>
          </a:p>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3</a:t>
            </a:fld>
            <a:endParaRPr lang="es-ES_tradnl"/>
          </a:p>
        </p:txBody>
      </p:sp>
    </p:spTree>
    <p:extLst>
      <p:ext uri="{BB962C8B-B14F-4D97-AF65-F5344CB8AC3E}">
        <p14:creationId xmlns:p14="http://schemas.microsoft.com/office/powerpoint/2010/main" val="9082842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a:p>
        </p:txBody>
      </p:sp>
      <p:sp>
        <p:nvSpPr>
          <p:cNvPr id="4" name="Slide Number Placeholder 3"/>
          <p:cNvSpPr>
            <a:spLocks noGrp="1"/>
          </p:cNvSpPr>
          <p:nvPr>
            <p:ph type="sldNum" sz="quarter" idx="5"/>
          </p:nvPr>
        </p:nvSpPr>
        <p:spPr/>
        <p:txBody>
          <a:bodyPr/>
          <a:lstStyle/>
          <a:p>
            <a:fld id="{2D408404-1019-D046-A570-EEF3AEB680B9}" type="slidenum">
              <a:rPr lang="es-ES_tradnl" smtClean="0"/>
              <a:t>4</a:t>
            </a:fld>
            <a:endParaRPr lang="es-ES_tradnl"/>
          </a:p>
        </p:txBody>
      </p:sp>
    </p:spTree>
    <p:extLst>
      <p:ext uri="{BB962C8B-B14F-4D97-AF65-F5344CB8AC3E}">
        <p14:creationId xmlns:p14="http://schemas.microsoft.com/office/powerpoint/2010/main" val="19003877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_tradnl" dirty="0"/>
              <a:t>Debería tomar unos 12 minutos.</a:t>
            </a:r>
          </a:p>
        </p:txBody>
      </p:sp>
      <p:sp>
        <p:nvSpPr>
          <p:cNvPr id="4" name="Slide Number Placeholder 3"/>
          <p:cNvSpPr>
            <a:spLocks noGrp="1"/>
          </p:cNvSpPr>
          <p:nvPr>
            <p:ph type="sldNum" sz="quarter" idx="5"/>
          </p:nvPr>
        </p:nvSpPr>
        <p:spPr/>
        <p:txBody>
          <a:bodyPr/>
          <a:lstStyle/>
          <a:p>
            <a:fld id="{2D408404-1019-D046-A570-EEF3AEB680B9}" type="slidenum">
              <a:rPr lang="es-ES_tradnl" smtClean="0"/>
              <a:t>5</a:t>
            </a:fld>
            <a:endParaRPr lang="es-ES_tradnl"/>
          </a:p>
        </p:txBody>
      </p:sp>
    </p:spTree>
    <p:extLst>
      <p:ext uri="{BB962C8B-B14F-4D97-AF65-F5344CB8AC3E}">
        <p14:creationId xmlns:p14="http://schemas.microsoft.com/office/powerpoint/2010/main" val="12995145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_tradnl" dirty="0"/>
              <a:t>Aquí debería ya llevar 24-30 min aprox.</a:t>
            </a:r>
          </a:p>
          <a:p>
            <a:r>
              <a:rPr lang="es-ES_tradnl" dirty="0"/>
              <a:t>5 min</a:t>
            </a:r>
          </a:p>
        </p:txBody>
      </p:sp>
      <p:sp>
        <p:nvSpPr>
          <p:cNvPr id="4" name="Slide Number Placeholder 3"/>
          <p:cNvSpPr>
            <a:spLocks noGrp="1"/>
          </p:cNvSpPr>
          <p:nvPr>
            <p:ph type="sldNum" sz="quarter" idx="5"/>
          </p:nvPr>
        </p:nvSpPr>
        <p:spPr/>
        <p:txBody>
          <a:bodyPr/>
          <a:lstStyle/>
          <a:p>
            <a:fld id="{2D408404-1019-D046-A570-EEF3AEB680B9}" type="slidenum">
              <a:rPr lang="es-ES_tradnl" smtClean="0"/>
              <a:t>6</a:t>
            </a:fld>
            <a:endParaRPr lang="es-ES_tradnl"/>
          </a:p>
        </p:txBody>
      </p:sp>
    </p:spTree>
    <p:extLst>
      <p:ext uri="{BB962C8B-B14F-4D97-AF65-F5344CB8AC3E}">
        <p14:creationId xmlns:p14="http://schemas.microsoft.com/office/powerpoint/2010/main" val="41780448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_tradnl" dirty="0"/>
              <a:t>4 min</a:t>
            </a:r>
          </a:p>
        </p:txBody>
      </p:sp>
      <p:sp>
        <p:nvSpPr>
          <p:cNvPr id="4" name="Slide Number Placeholder 3"/>
          <p:cNvSpPr>
            <a:spLocks noGrp="1"/>
          </p:cNvSpPr>
          <p:nvPr>
            <p:ph type="sldNum" sz="quarter" idx="5"/>
          </p:nvPr>
        </p:nvSpPr>
        <p:spPr/>
        <p:txBody>
          <a:bodyPr/>
          <a:lstStyle/>
          <a:p>
            <a:fld id="{2D408404-1019-D046-A570-EEF3AEB680B9}" type="slidenum">
              <a:rPr lang="es-ES_tradnl" smtClean="0"/>
              <a:t>7</a:t>
            </a:fld>
            <a:endParaRPr lang="es-ES_tradnl"/>
          </a:p>
        </p:txBody>
      </p:sp>
    </p:spTree>
    <p:extLst>
      <p:ext uri="{BB962C8B-B14F-4D97-AF65-F5344CB8AC3E}">
        <p14:creationId xmlns:p14="http://schemas.microsoft.com/office/powerpoint/2010/main" val="21434948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8</a:t>
            </a:fld>
            <a:endParaRPr lang="es-ES_tradnl"/>
          </a:p>
        </p:txBody>
      </p:sp>
    </p:spTree>
    <p:extLst>
      <p:ext uri="{BB962C8B-B14F-4D97-AF65-F5344CB8AC3E}">
        <p14:creationId xmlns:p14="http://schemas.microsoft.com/office/powerpoint/2010/main" val="1609361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buFont typeface="Arial" panose="020B0604020202020204" pitchFamily="34" charset="0"/>
              <a:buChar char="•"/>
            </a:pPr>
            <a:r>
              <a:rPr lang="es-ES_tradnl" dirty="0"/>
              <a:t>Todos podemos opinar, independiente de nuestra postura política o ideológica, siempre manteniendo el respeto hacia las demás personas.</a:t>
            </a:r>
          </a:p>
          <a:p>
            <a:pPr marL="342900" lvl="1" indent="-342900"/>
            <a:r>
              <a:rPr lang="es-ES_tradnl" sz="2000" dirty="0"/>
              <a:t>No dejar de opinar por miedo a decir algo incorrecto. Si no estamos seguros cómo decir algo, preguntar cómo hacerlo de mejor manera. Conversar y discutir de manera abierta nos permite aprender mejor.</a:t>
            </a:r>
            <a:r>
              <a:rPr lang="es-ES_tradnl" dirty="0"/>
              <a:t> </a:t>
            </a:r>
          </a:p>
          <a:p>
            <a:pPr marL="342900" indent="-342900">
              <a:buFont typeface="Arial" panose="020B0604020202020204" pitchFamily="34" charset="0"/>
              <a:buChar char="•"/>
            </a:pPr>
            <a:r>
              <a:rPr lang="es-ES_tradnl" dirty="0"/>
              <a:t>No asumir que todos saben lo mismo que yo. Si vamos a referir a alguna idea o autores que no son parte del curso, dar una pequeña explicación del argumento al que nos referimos.</a:t>
            </a:r>
          </a:p>
          <a:p>
            <a:pPr marL="342900" indent="-342900">
              <a:buFont typeface="Arial" panose="020B0604020202020204" pitchFamily="34" charset="0"/>
              <a:buChar char="•"/>
            </a:pPr>
            <a:r>
              <a:rPr lang="es-ES_tradnl" dirty="0"/>
              <a:t>6-8 min.</a:t>
            </a:r>
          </a:p>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9</a:t>
            </a:fld>
            <a:endParaRPr lang="es-ES_tradnl"/>
          </a:p>
        </p:txBody>
      </p:sp>
    </p:spTree>
    <p:extLst>
      <p:ext uri="{BB962C8B-B14F-4D97-AF65-F5344CB8AC3E}">
        <p14:creationId xmlns:p14="http://schemas.microsoft.com/office/powerpoint/2010/main" val="10224755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_tradnl" dirty="0"/>
              <a:t>5 min</a:t>
            </a:r>
          </a:p>
        </p:txBody>
      </p:sp>
      <p:sp>
        <p:nvSpPr>
          <p:cNvPr id="4" name="Slide Number Placeholder 3"/>
          <p:cNvSpPr>
            <a:spLocks noGrp="1"/>
          </p:cNvSpPr>
          <p:nvPr>
            <p:ph type="sldNum" sz="quarter" idx="5"/>
          </p:nvPr>
        </p:nvSpPr>
        <p:spPr/>
        <p:txBody>
          <a:bodyPr/>
          <a:lstStyle/>
          <a:p>
            <a:fld id="{2D408404-1019-D046-A570-EEF3AEB680B9}" type="slidenum">
              <a:rPr lang="es-ES_tradnl" smtClean="0"/>
              <a:t>10</a:t>
            </a:fld>
            <a:endParaRPr lang="es-ES_tradnl"/>
          </a:p>
        </p:txBody>
      </p:sp>
    </p:spTree>
    <p:extLst>
      <p:ext uri="{BB962C8B-B14F-4D97-AF65-F5344CB8AC3E}">
        <p14:creationId xmlns:p14="http://schemas.microsoft.com/office/powerpoint/2010/main" val="10252641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a:p>
        </p:txBody>
      </p:sp>
      <p:sp>
        <p:nvSpPr>
          <p:cNvPr id="4" name="Slide Number Placeholder 3"/>
          <p:cNvSpPr>
            <a:spLocks noGrp="1"/>
          </p:cNvSpPr>
          <p:nvPr>
            <p:ph type="sldNum" sz="quarter" idx="5"/>
          </p:nvPr>
        </p:nvSpPr>
        <p:spPr/>
        <p:txBody>
          <a:bodyPr/>
          <a:lstStyle/>
          <a:p>
            <a:fld id="{2D408404-1019-D046-A570-EEF3AEB680B9}" type="slidenum">
              <a:rPr lang="es-ES_tradnl" smtClean="0"/>
              <a:t>12</a:t>
            </a:fld>
            <a:endParaRPr lang="es-ES_tradnl"/>
          </a:p>
        </p:txBody>
      </p:sp>
    </p:spTree>
    <p:extLst>
      <p:ext uri="{BB962C8B-B14F-4D97-AF65-F5344CB8AC3E}">
        <p14:creationId xmlns:p14="http://schemas.microsoft.com/office/powerpoint/2010/main" val="26240501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13</a:t>
            </a:fld>
            <a:endParaRPr lang="es-ES_tradnl"/>
          </a:p>
        </p:txBody>
      </p:sp>
    </p:spTree>
    <p:extLst>
      <p:ext uri="{BB962C8B-B14F-4D97-AF65-F5344CB8AC3E}">
        <p14:creationId xmlns:p14="http://schemas.microsoft.com/office/powerpoint/2010/main" val="27262991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a:p>
        </p:txBody>
      </p:sp>
      <p:sp>
        <p:nvSpPr>
          <p:cNvPr id="4" name="Slide Number Placeholder 3"/>
          <p:cNvSpPr>
            <a:spLocks noGrp="1"/>
          </p:cNvSpPr>
          <p:nvPr>
            <p:ph type="sldNum" sz="quarter" idx="5"/>
          </p:nvPr>
        </p:nvSpPr>
        <p:spPr/>
        <p:txBody>
          <a:bodyPr/>
          <a:lstStyle/>
          <a:p>
            <a:fld id="{2D408404-1019-D046-A570-EEF3AEB680B9}" type="slidenum">
              <a:rPr lang="es-ES_tradnl" smtClean="0"/>
              <a:t>14</a:t>
            </a:fld>
            <a:endParaRPr lang="es-ES_tradnl"/>
          </a:p>
        </p:txBody>
      </p:sp>
    </p:spTree>
    <p:extLst>
      <p:ext uri="{BB962C8B-B14F-4D97-AF65-F5344CB8AC3E}">
        <p14:creationId xmlns:p14="http://schemas.microsoft.com/office/powerpoint/2010/main" val="34856513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15 min discussion </a:t>
            </a:r>
            <a:r>
              <a:rPr lang="en-US" dirty="0" err="1"/>
              <a:t>en</a:t>
            </a:r>
            <a:r>
              <a:rPr lang="en-US" dirty="0"/>
              <a:t> </a:t>
            </a:r>
            <a:r>
              <a:rPr lang="en-US" dirty="0" err="1"/>
              <a:t>grupo</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15 min de </a:t>
            </a:r>
            <a:r>
              <a:rPr lang="en-US" dirty="0" err="1"/>
              <a:t>plenario</a:t>
            </a:r>
            <a:endParaRPr lang="es-ES_tradnl" dirty="0"/>
          </a:p>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15</a:t>
            </a:fld>
            <a:endParaRPr lang="es-ES_tradnl"/>
          </a:p>
        </p:txBody>
      </p:sp>
    </p:spTree>
    <p:extLst>
      <p:ext uri="{BB962C8B-B14F-4D97-AF65-F5344CB8AC3E}">
        <p14:creationId xmlns:p14="http://schemas.microsoft.com/office/powerpoint/2010/main" val="36263178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a:p>
        </p:txBody>
      </p:sp>
      <p:sp>
        <p:nvSpPr>
          <p:cNvPr id="4" name="Slide Number Placeholder 3"/>
          <p:cNvSpPr>
            <a:spLocks noGrp="1"/>
          </p:cNvSpPr>
          <p:nvPr>
            <p:ph type="sldNum" sz="quarter" idx="5"/>
          </p:nvPr>
        </p:nvSpPr>
        <p:spPr/>
        <p:txBody>
          <a:bodyPr/>
          <a:lstStyle/>
          <a:p>
            <a:fld id="{2D408404-1019-D046-A570-EEF3AEB680B9}" type="slidenum">
              <a:rPr lang="es-ES_tradnl" smtClean="0"/>
              <a:t>16</a:t>
            </a:fld>
            <a:endParaRPr lang="es-ES_tradnl"/>
          </a:p>
        </p:txBody>
      </p:sp>
    </p:spTree>
    <p:extLst>
      <p:ext uri="{BB962C8B-B14F-4D97-AF65-F5344CB8AC3E}">
        <p14:creationId xmlns:p14="http://schemas.microsoft.com/office/powerpoint/2010/main" val="19844621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err="1"/>
              <a:t>Género</a:t>
            </a:r>
            <a:r>
              <a:rPr lang="en-US" sz="1800" dirty="0"/>
              <a:t> </a:t>
            </a:r>
            <a:r>
              <a:rPr lang="en-US" sz="1800" dirty="0" err="1"/>
              <a:t>como</a:t>
            </a:r>
            <a:r>
              <a:rPr lang="en-US" sz="1800" dirty="0"/>
              <a:t> variable. Es </a:t>
            </a:r>
            <a:r>
              <a:rPr lang="en-US" sz="1800" dirty="0" err="1"/>
              <a:t>importante</a:t>
            </a:r>
            <a:r>
              <a:rPr lang="en-US" sz="1800" dirty="0"/>
              <a:t> e util </a:t>
            </a:r>
            <a:r>
              <a:rPr lang="en-US" sz="1800" dirty="0" err="1"/>
              <a:t>pero</a:t>
            </a:r>
            <a:r>
              <a:rPr lang="en-US" sz="1800" dirty="0"/>
              <a:t> </a:t>
            </a:r>
            <a:r>
              <a:rPr lang="en-US" sz="1800" dirty="0" err="1"/>
              <a:t>también</a:t>
            </a:r>
            <a:r>
              <a:rPr lang="en-US" sz="1800" dirty="0"/>
              <a:t> hay que </a:t>
            </a:r>
            <a:r>
              <a:rPr lang="en-US" sz="1800" dirty="0" err="1"/>
              <a:t>ir</a:t>
            </a:r>
            <a:r>
              <a:rPr lang="en-US" sz="1800" dirty="0"/>
              <a:t> </a:t>
            </a:r>
            <a:r>
              <a:rPr lang="en-US" sz="1800" dirty="0" err="1"/>
              <a:t>más</a:t>
            </a:r>
            <a:r>
              <a:rPr lang="en-US" sz="1800" dirty="0"/>
              <a:t> </a:t>
            </a:r>
            <a:r>
              <a:rPr lang="en-US" sz="1800" dirty="0" err="1"/>
              <a:t>allá</a:t>
            </a:r>
            <a:r>
              <a:rPr lang="en-US" sz="1800" dirty="0"/>
              <a:t> para </a:t>
            </a:r>
            <a:r>
              <a:rPr lang="en-US" sz="1800" dirty="0" err="1"/>
              <a:t>entender</a:t>
            </a:r>
            <a:r>
              <a:rPr lang="en-US" sz="1800" dirty="0"/>
              <a:t> </a:t>
            </a:r>
            <a:r>
              <a:rPr lang="en-US" sz="1800" dirty="0" err="1"/>
              <a:t>cómo</a:t>
            </a:r>
            <a:r>
              <a:rPr lang="en-US" sz="1800" dirty="0"/>
              <a:t> la </a:t>
            </a:r>
            <a:r>
              <a:rPr lang="en-US" sz="1800" dirty="0" err="1"/>
              <a:t>diferenciación</a:t>
            </a:r>
            <a:r>
              <a:rPr lang="en-US" sz="1800" dirty="0"/>
              <a:t> de </a:t>
            </a:r>
            <a:r>
              <a:rPr lang="en-US" sz="1800" dirty="0" err="1"/>
              <a:t>género</a:t>
            </a:r>
            <a:r>
              <a:rPr lang="en-US" sz="1800" dirty="0"/>
              <a:t> y las </a:t>
            </a:r>
            <a:r>
              <a:rPr lang="en-US" sz="1800" dirty="0" err="1"/>
              <a:t>desventajas</a:t>
            </a:r>
            <a:r>
              <a:rPr lang="en-US" sz="1800" dirty="0"/>
              <a:t> de las </a:t>
            </a:r>
            <a:r>
              <a:rPr lang="en-US" sz="1800" dirty="0" err="1"/>
              <a:t>mujeres</a:t>
            </a:r>
            <a:r>
              <a:rPr lang="en-US" sz="1800" dirty="0"/>
              <a:t> se </a:t>
            </a:r>
            <a:r>
              <a:rPr lang="en-US" sz="1800" dirty="0" err="1"/>
              <a:t>producen</a:t>
            </a:r>
            <a:r>
              <a:rPr lang="en-US" sz="1800" dirty="0"/>
              <a:t> y </a:t>
            </a:r>
            <a:r>
              <a:rPr lang="en-US" sz="1800" dirty="0" err="1"/>
              <a:t>reproducen</a:t>
            </a:r>
            <a:r>
              <a:rPr lang="en-US" sz="1800" dirty="0"/>
              <a:t> </a:t>
            </a:r>
            <a:r>
              <a:rPr lang="en-US" sz="1800" dirty="0" err="1"/>
              <a:t>en</a:t>
            </a:r>
            <a:r>
              <a:rPr lang="en-US" sz="1800" dirty="0"/>
              <a:t> la </a:t>
            </a:r>
            <a:r>
              <a:rPr lang="en-US" sz="1800" dirty="0" err="1"/>
              <a:t>sociedad</a:t>
            </a:r>
            <a:r>
              <a:rPr lang="en-US" sz="1800" dirty="0"/>
              <a:t>, </a:t>
            </a:r>
            <a:r>
              <a:rPr lang="en-US" sz="1800" dirty="0" err="1"/>
              <a:t>considerando</a:t>
            </a:r>
            <a:r>
              <a:rPr lang="en-US" sz="1800" dirty="0"/>
              <a:t> la </a:t>
            </a:r>
            <a:r>
              <a:rPr lang="en-US" sz="1800" dirty="0" err="1"/>
              <a:t>diversidad</a:t>
            </a:r>
            <a:r>
              <a:rPr lang="en-US" sz="1800" dirty="0"/>
              <a:t> de </a:t>
            </a:r>
            <a:r>
              <a:rPr lang="en-US" sz="1800" dirty="0" err="1"/>
              <a:t>experiencias</a:t>
            </a:r>
            <a:r>
              <a:rPr lang="en-US" sz="1800" dirty="0"/>
              <a:t>.</a:t>
            </a:r>
          </a:p>
          <a:p>
            <a:endParaRPr lang="en-US" sz="1800" dirty="0"/>
          </a:p>
          <a:p>
            <a:r>
              <a:rPr lang="en-US" sz="1800" b="1" dirty="0"/>
              <a:t>PREGUNTAS</a:t>
            </a:r>
          </a:p>
          <a:p>
            <a:r>
              <a:rPr lang="en-US" sz="1800" dirty="0" err="1"/>
              <a:t>Esta</a:t>
            </a:r>
            <a:r>
              <a:rPr lang="en-US" sz="1800" dirty="0"/>
              <a:t> </a:t>
            </a:r>
            <a:r>
              <a:rPr lang="en-US" sz="1800" dirty="0" err="1"/>
              <a:t>crítica</a:t>
            </a:r>
            <a:r>
              <a:rPr lang="en-US" sz="1800" dirty="0"/>
              <a:t> </a:t>
            </a:r>
            <a:r>
              <a:rPr lang="en-US" sz="1800" dirty="0" err="1"/>
              <a:t>feminista</a:t>
            </a:r>
            <a:r>
              <a:rPr lang="en-US" sz="1800" dirty="0"/>
              <a:t> a la </a:t>
            </a:r>
            <a:r>
              <a:rPr lang="en-US" sz="1800" dirty="0" err="1"/>
              <a:t>sociología</a:t>
            </a:r>
            <a:r>
              <a:rPr lang="en-US" sz="1800" dirty="0"/>
              <a:t> se </a:t>
            </a:r>
            <a:r>
              <a:rPr lang="en-US" sz="1800" dirty="0" err="1"/>
              <a:t>escribió</a:t>
            </a:r>
            <a:r>
              <a:rPr lang="en-US" sz="1800" dirty="0"/>
              <a:t> </a:t>
            </a:r>
            <a:r>
              <a:rPr lang="en-US" sz="1800" dirty="0" err="1"/>
              <a:t>en</a:t>
            </a:r>
            <a:r>
              <a:rPr lang="en-US" sz="1800" dirty="0"/>
              <a:t> 1985. ¿</a:t>
            </a:r>
            <a:r>
              <a:rPr lang="en-US" sz="1800" dirty="0" err="1"/>
              <a:t>Cuánto</a:t>
            </a:r>
            <a:r>
              <a:rPr lang="en-US" sz="1800" dirty="0"/>
              <a:t> </a:t>
            </a:r>
            <a:r>
              <a:rPr lang="en-US" sz="1800" dirty="0" err="1"/>
              <a:t>creen</a:t>
            </a:r>
            <a:r>
              <a:rPr lang="en-US" sz="1800" dirty="0"/>
              <a:t> que ha </a:t>
            </a:r>
            <a:r>
              <a:rPr lang="en-US" sz="1800" dirty="0" err="1"/>
              <a:t>cambiado</a:t>
            </a:r>
            <a:r>
              <a:rPr lang="en-US" sz="1800" dirty="0"/>
              <a:t> y </a:t>
            </a:r>
            <a:r>
              <a:rPr lang="en-US" sz="1800" dirty="0" err="1"/>
              <a:t>cómo</a:t>
            </a:r>
            <a:r>
              <a:rPr lang="en-US" sz="1800" dirty="0"/>
              <a:t>? ¿</a:t>
            </a:r>
            <a:r>
              <a:rPr lang="en-US" sz="1800" dirty="0" err="1"/>
              <a:t>Qué</a:t>
            </a:r>
            <a:r>
              <a:rPr lang="en-US" sz="1800" dirty="0"/>
              <a:t> </a:t>
            </a:r>
            <a:r>
              <a:rPr lang="en-US" sz="1800" dirty="0" err="1"/>
              <a:t>cosas</a:t>
            </a:r>
            <a:r>
              <a:rPr lang="en-US" sz="1800" dirty="0"/>
              <a:t> no </a:t>
            </a:r>
            <a:r>
              <a:rPr lang="en-US" sz="1800" dirty="0" err="1"/>
              <a:t>han</a:t>
            </a:r>
            <a:r>
              <a:rPr lang="en-US" sz="1800" dirty="0"/>
              <a:t> </a:t>
            </a:r>
            <a:r>
              <a:rPr lang="en-US" sz="1800" dirty="0" err="1"/>
              <a:t>cambiado</a:t>
            </a:r>
            <a:r>
              <a:rPr lang="en-US" sz="1800" dirty="0"/>
              <a:t>?</a:t>
            </a:r>
          </a:p>
          <a:p>
            <a:r>
              <a:rPr lang="en-US" sz="1800" dirty="0"/>
              <a:t>- </a:t>
            </a:r>
            <a:r>
              <a:rPr lang="en-US" sz="1800" dirty="0" err="1"/>
              <a:t>En</a:t>
            </a:r>
            <a:r>
              <a:rPr lang="en-US" sz="1800" dirty="0"/>
              <a:t> </a:t>
            </a:r>
            <a:r>
              <a:rPr lang="en-US" sz="1800" dirty="0" err="1"/>
              <a:t>muchos</a:t>
            </a:r>
            <a:r>
              <a:rPr lang="en-US" sz="1800" dirty="0"/>
              <a:t> </a:t>
            </a:r>
            <a:r>
              <a:rPr lang="en-US" sz="1800" dirty="0" err="1"/>
              <a:t>sentidos</a:t>
            </a:r>
            <a:r>
              <a:rPr lang="en-US" sz="1800" dirty="0"/>
              <a:t>, </a:t>
            </a:r>
            <a:r>
              <a:rPr lang="en-US" sz="1800" dirty="0" err="1"/>
              <a:t>sigue</a:t>
            </a:r>
            <a:r>
              <a:rPr lang="en-US" sz="1800" dirty="0"/>
              <a:t> </a:t>
            </a:r>
            <a:r>
              <a:rPr lang="en-US" sz="1800" dirty="0" err="1"/>
              <a:t>siendo</a:t>
            </a:r>
            <a:r>
              <a:rPr lang="en-US" sz="1800" dirty="0"/>
              <a:t> un </a:t>
            </a:r>
            <a:r>
              <a:rPr lang="en-US" sz="1800" dirty="0" err="1"/>
              <a:t>área</a:t>
            </a:r>
            <a:r>
              <a:rPr lang="en-US" sz="1800" dirty="0"/>
              <a:t> de </a:t>
            </a:r>
            <a:r>
              <a:rPr lang="en-US" sz="1800" dirty="0" err="1"/>
              <a:t>estudio</a:t>
            </a:r>
            <a:r>
              <a:rPr lang="en-US" sz="1800" dirty="0"/>
              <a:t> </a:t>
            </a:r>
            <a:r>
              <a:rPr lang="en-US" sz="1800" dirty="0" err="1"/>
              <a:t>periferica</a:t>
            </a:r>
            <a:r>
              <a:rPr lang="en-US" sz="1800" dirty="0"/>
              <a:t> y no </a:t>
            </a:r>
            <a:r>
              <a:rPr lang="en-US" sz="1800" dirty="0" err="1"/>
              <a:t>totalmente</a:t>
            </a:r>
            <a:r>
              <a:rPr lang="en-US" sz="1800" dirty="0"/>
              <a:t> </a:t>
            </a:r>
            <a:r>
              <a:rPr lang="en-US" sz="1800" dirty="0" err="1"/>
              <a:t>incorporada</a:t>
            </a:r>
            <a:r>
              <a:rPr lang="en-US" sz="1800" dirty="0"/>
              <a:t> </a:t>
            </a:r>
            <a:r>
              <a:rPr lang="en-US" sz="1800" dirty="0" err="1"/>
              <a:t>en</a:t>
            </a:r>
            <a:r>
              <a:rPr lang="en-US" sz="1800" dirty="0"/>
              <a:t> </a:t>
            </a:r>
            <a:r>
              <a:rPr lang="en-US" sz="1800" dirty="0" err="1"/>
              <a:t>el</a:t>
            </a:r>
            <a:r>
              <a:rPr lang="en-US" sz="1800" dirty="0"/>
              <a:t> mainstream (</a:t>
            </a:r>
            <a:r>
              <a:rPr lang="en-US" sz="1800" dirty="0" err="1"/>
              <a:t>aunque</a:t>
            </a:r>
            <a:r>
              <a:rPr lang="en-US" sz="1800" dirty="0"/>
              <a:t> </a:t>
            </a:r>
            <a:r>
              <a:rPr lang="en-US" sz="1800" dirty="0" err="1"/>
              <a:t>muchisimos</a:t>
            </a:r>
            <a:r>
              <a:rPr lang="en-US" sz="1800" dirty="0"/>
              <a:t> </a:t>
            </a:r>
            <a:r>
              <a:rPr lang="en-US" sz="1800" dirty="0" err="1"/>
              <a:t>avances</a:t>
            </a:r>
            <a:r>
              <a:rPr lang="en-US" sz="1800" dirty="0"/>
              <a:t>)</a:t>
            </a:r>
          </a:p>
          <a:p>
            <a:r>
              <a:rPr lang="en-US" sz="1800" dirty="0"/>
              <a:t>- </a:t>
            </a:r>
            <a:r>
              <a:rPr lang="en-US" sz="1800" dirty="0" err="1"/>
              <a:t>género</a:t>
            </a:r>
            <a:r>
              <a:rPr lang="en-US" sz="1800" dirty="0"/>
              <a:t> </a:t>
            </a:r>
            <a:r>
              <a:rPr lang="en-US" sz="1800" dirty="0" err="1"/>
              <a:t>como</a:t>
            </a:r>
            <a:r>
              <a:rPr lang="en-US" sz="1800" dirty="0"/>
              <a:t> variable </a:t>
            </a:r>
            <a:r>
              <a:rPr lang="en-US" sz="1800" dirty="0" err="1"/>
              <a:t>sigue</a:t>
            </a:r>
            <a:r>
              <a:rPr lang="en-US" sz="1800" dirty="0"/>
              <a:t> </a:t>
            </a:r>
            <a:r>
              <a:rPr lang="en-US" sz="1800" dirty="0" err="1"/>
              <a:t>pasando</a:t>
            </a:r>
            <a:r>
              <a:rPr lang="en-US" sz="1800" dirty="0"/>
              <a:t> </a:t>
            </a:r>
            <a:r>
              <a:rPr lang="en-US" sz="1800" dirty="0" err="1"/>
              <a:t>harto</a:t>
            </a:r>
            <a:r>
              <a:rPr lang="en-US" sz="1800" dirty="0"/>
              <a:t>, y se ha </a:t>
            </a:r>
            <a:r>
              <a:rPr lang="en-US" sz="1800" dirty="0" err="1"/>
              <a:t>extendido</a:t>
            </a:r>
            <a:r>
              <a:rPr lang="en-US" sz="1800" dirty="0"/>
              <a:t> a la </a:t>
            </a:r>
            <a:r>
              <a:rPr lang="en-US" sz="1800" dirty="0" err="1"/>
              <a:t>interseccionalidad</a:t>
            </a:r>
            <a:r>
              <a:rPr lang="en-US" sz="1800" dirty="0"/>
              <a:t>… </a:t>
            </a:r>
            <a:r>
              <a:rPr lang="en-US" sz="1800" dirty="0" err="1"/>
              <a:t>como</a:t>
            </a:r>
            <a:r>
              <a:rPr lang="en-US" sz="1800" dirty="0"/>
              <a:t> </a:t>
            </a:r>
            <a:r>
              <a:rPr lang="en-US" sz="1800" dirty="0" err="1"/>
              <a:t>incluyo</a:t>
            </a:r>
            <a:r>
              <a:rPr lang="en-US" sz="1800" dirty="0"/>
              <a:t> </a:t>
            </a:r>
            <a:r>
              <a:rPr lang="en-US" sz="1800" dirty="0" err="1"/>
              <a:t>estas</a:t>
            </a:r>
            <a:r>
              <a:rPr lang="en-US" sz="1800" dirty="0"/>
              <a:t> variables y </a:t>
            </a:r>
            <a:r>
              <a:rPr lang="en-US" sz="1800" dirty="0" err="1"/>
              <a:t>listo</a:t>
            </a:r>
            <a:r>
              <a:rPr lang="en-US" sz="1800" dirty="0"/>
              <a:t>, sin </a:t>
            </a:r>
            <a:r>
              <a:rPr lang="en-US" sz="1800" dirty="0" err="1"/>
              <a:t>problematizar</a:t>
            </a:r>
            <a:r>
              <a:rPr lang="en-US" sz="1800" dirty="0"/>
              <a:t> </a:t>
            </a:r>
            <a:r>
              <a:rPr lang="en-US" sz="1800" dirty="0" err="1"/>
              <a:t>ni</a:t>
            </a:r>
            <a:r>
              <a:rPr lang="en-US" sz="1800" dirty="0"/>
              <a:t> </a:t>
            </a:r>
            <a:r>
              <a:rPr lang="en-US" sz="1800" dirty="0" err="1"/>
              <a:t>cuestionar</a:t>
            </a:r>
            <a:r>
              <a:rPr lang="en-US" sz="1800" dirty="0"/>
              <a:t> tanto.</a:t>
            </a:r>
          </a:p>
          <a:p>
            <a:endParaRPr lang="en-US" dirty="0"/>
          </a:p>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18</a:t>
            </a:fld>
            <a:endParaRPr lang="es-ES_tradnl"/>
          </a:p>
        </p:txBody>
      </p:sp>
    </p:spTree>
    <p:extLst>
      <p:ext uri="{BB962C8B-B14F-4D97-AF65-F5344CB8AC3E}">
        <p14:creationId xmlns:p14="http://schemas.microsoft.com/office/powerpoint/2010/main" val="16356457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err="1"/>
              <a:t>Estudios</a:t>
            </a:r>
            <a:r>
              <a:rPr lang="en-US" sz="1800" dirty="0"/>
              <a:t> de </a:t>
            </a:r>
            <a:r>
              <a:rPr lang="en-US" sz="1800" dirty="0" err="1"/>
              <a:t>género</a:t>
            </a:r>
            <a:r>
              <a:rPr lang="en-US" sz="1800" dirty="0"/>
              <a:t> se </a:t>
            </a:r>
            <a:r>
              <a:rPr lang="en-US" sz="1800" dirty="0" err="1"/>
              <a:t>inician</a:t>
            </a:r>
            <a:r>
              <a:rPr lang="en-US" sz="1800" dirty="0"/>
              <a:t> </a:t>
            </a:r>
            <a:r>
              <a:rPr lang="en-US" sz="1800" dirty="0" err="1"/>
              <a:t>formalmente</a:t>
            </a:r>
            <a:r>
              <a:rPr lang="en-US" sz="1800" dirty="0"/>
              <a:t> </a:t>
            </a:r>
            <a:r>
              <a:rPr lang="en-US" sz="1800" dirty="0" err="1"/>
              <a:t>en</a:t>
            </a:r>
            <a:r>
              <a:rPr lang="en-US" sz="1800" dirty="0"/>
              <a:t> </a:t>
            </a:r>
            <a:r>
              <a:rPr lang="en-US" sz="1800" dirty="0" err="1"/>
              <a:t>los</a:t>
            </a:r>
            <a:r>
              <a:rPr lang="en-US" sz="1800" dirty="0"/>
              <a:t> 70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err="1"/>
              <a:t>Considerar</a:t>
            </a:r>
            <a:r>
              <a:rPr lang="en-US" sz="1800" dirty="0"/>
              <a:t> que </a:t>
            </a:r>
            <a:r>
              <a:rPr lang="en-US" sz="1800" dirty="0" err="1"/>
              <a:t>esta</a:t>
            </a:r>
            <a:r>
              <a:rPr lang="en-US" sz="1800" dirty="0"/>
              <a:t> </a:t>
            </a:r>
            <a:r>
              <a:rPr lang="en-US" sz="1800" dirty="0" err="1"/>
              <a:t>cronología</a:t>
            </a:r>
            <a:r>
              <a:rPr lang="en-US" sz="1800" dirty="0"/>
              <a:t> </a:t>
            </a:r>
            <a:r>
              <a:rPr lang="en-US" sz="1800" dirty="0" err="1"/>
              <a:t>tiene</a:t>
            </a:r>
            <a:r>
              <a:rPr lang="en-US" sz="1800" dirty="0"/>
              <a:t> </a:t>
            </a:r>
            <a:r>
              <a:rPr lang="en-US" sz="1800" dirty="0" err="1"/>
              <a:t>centralidad</a:t>
            </a:r>
            <a:r>
              <a:rPr lang="en-US" sz="1800" dirty="0"/>
              <a:t> </a:t>
            </a:r>
            <a:r>
              <a:rPr lang="en-US" sz="1800" dirty="0" err="1"/>
              <a:t>limitada</a:t>
            </a:r>
            <a:r>
              <a:rPr lang="en-US" sz="1800" dirty="0"/>
              <a:t> a EEUU y </a:t>
            </a:r>
            <a:r>
              <a:rPr lang="en-US" sz="1800" dirty="0" err="1"/>
              <a:t>Reino</a:t>
            </a:r>
            <a:r>
              <a:rPr lang="en-US" sz="1800" dirty="0"/>
              <a:t> </a:t>
            </a:r>
            <a:r>
              <a:rPr lang="en-US" sz="1800" dirty="0" err="1"/>
              <a:t>Unido</a:t>
            </a:r>
            <a:r>
              <a:rPr lang="en-US" sz="1800" dirty="0"/>
              <a:t>.</a:t>
            </a:r>
            <a:endParaRPr lang="es-ES_tradnl" sz="1800" dirty="0"/>
          </a:p>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19</a:t>
            </a:fld>
            <a:endParaRPr lang="es-ES_tradnl"/>
          </a:p>
        </p:txBody>
      </p:sp>
    </p:spTree>
    <p:extLst>
      <p:ext uri="{BB962C8B-B14F-4D97-AF65-F5344CB8AC3E}">
        <p14:creationId xmlns:p14="http://schemas.microsoft.com/office/powerpoint/2010/main" val="16552074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87152-4E43-DFF0-A9D2-0692BC2C34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7DEB1F-72E8-A635-BEC1-A873C3406B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B6DAF2-02E5-81D0-158C-67EFF326B0C7}"/>
              </a:ext>
            </a:extLst>
          </p:cNvPr>
          <p:cNvSpPr>
            <a:spLocks noGrp="1"/>
          </p:cNvSpPr>
          <p:nvPr>
            <p:ph type="body" idx="1"/>
          </p:nvPr>
        </p:nvSpPr>
        <p:spPr/>
        <p:txBody>
          <a:bodyPr/>
          <a:lstStyle/>
          <a:p>
            <a:endParaRPr lang="es-ES_tradnl" dirty="0"/>
          </a:p>
        </p:txBody>
      </p:sp>
      <p:sp>
        <p:nvSpPr>
          <p:cNvPr id="4" name="Slide Number Placeholder 3">
            <a:extLst>
              <a:ext uri="{FF2B5EF4-FFF2-40B4-BE49-F238E27FC236}">
                <a16:creationId xmlns:a16="http://schemas.microsoft.com/office/drawing/2014/main" id="{4E698B7E-6828-5FAA-86A1-E45E020A1CB0}"/>
              </a:ext>
            </a:extLst>
          </p:cNvPr>
          <p:cNvSpPr>
            <a:spLocks noGrp="1"/>
          </p:cNvSpPr>
          <p:nvPr>
            <p:ph type="sldNum" sz="quarter" idx="5"/>
          </p:nvPr>
        </p:nvSpPr>
        <p:spPr/>
        <p:txBody>
          <a:bodyPr/>
          <a:lstStyle/>
          <a:p>
            <a:fld id="{2D408404-1019-D046-A570-EEF3AEB680B9}" type="slidenum">
              <a:rPr lang="es-ES_tradnl" smtClean="0"/>
              <a:t>20</a:t>
            </a:fld>
            <a:endParaRPr lang="es-ES_tradnl"/>
          </a:p>
        </p:txBody>
      </p:sp>
    </p:spTree>
    <p:extLst>
      <p:ext uri="{BB962C8B-B14F-4D97-AF65-F5344CB8AC3E}">
        <p14:creationId xmlns:p14="http://schemas.microsoft.com/office/powerpoint/2010/main" val="6741811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indent="0">
              <a:buNone/>
            </a:pPr>
            <a:r>
              <a:rPr lang="es-ES_tradnl" sz="1800" dirty="0"/>
              <a:t>Como vamos a ver en la </a:t>
            </a:r>
            <a:r>
              <a:rPr lang="es-ES_tradnl" sz="1800" dirty="0" err="1"/>
              <a:t>prox</a:t>
            </a:r>
            <a:r>
              <a:rPr lang="es-ES_tradnl" sz="1800" dirty="0"/>
              <a:t> clases</a:t>
            </a:r>
          </a:p>
          <a:p>
            <a:pPr lvl="1" indent="0">
              <a:buNone/>
            </a:pPr>
            <a:r>
              <a:rPr lang="es-ES_tradnl" sz="1800" dirty="0"/>
              <a:t>La sociología desafía mostrando o argumentando que:</a:t>
            </a:r>
          </a:p>
          <a:p>
            <a:pPr marL="285750" lvl="1" indent="-285750"/>
            <a:r>
              <a:rPr lang="es-ES_tradnl" sz="1800" dirty="0"/>
              <a:t>El sexo es interpretado y categorizado a través de procesos sociales</a:t>
            </a:r>
          </a:p>
          <a:p>
            <a:pPr marL="285750" lvl="1" indent="-285750"/>
            <a:r>
              <a:rPr lang="es-ES_tradnl" sz="1800" dirty="0"/>
              <a:t>Las diferencias biológicas y físicas en realidad son pequeñas y no logran explicar las diferencias que vemos en la sociedad</a:t>
            </a:r>
          </a:p>
          <a:p>
            <a:pPr marL="285750" lvl="1" indent="-285750"/>
            <a:r>
              <a:rPr lang="es-ES_tradnl" sz="1800" dirty="0"/>
              <a:t>El ambiente y contexto social afecta en cómo los genes se manifiestan o en lo que resultan. Nuestra biología no es tan inmutable ni difícil de cambiar como se pensaba antes</a:t>
            </a:r>
          </a:p>
        </p:txBody>
      </p:sp>
      <p:sp>
        <p:nvSpPr>
          <p:cNvPr id="4" name="Slide Number Placeholder 3"/>
          <p:cNvSpPr>
            <a:spLocks noGrp="1"/>
          </p:cNvSpPr>
          <p:nvPr>
            <p:ph type="sldNum" sz="quarter" idx="5"/>
          </p:nvPr>
        </p:nvSpPr>
        <p:spPr/>
        <p:txBody>
          <a:bodyPr/>
          <a:lstStyle/>
          <a:p>
            <a:fld id="{2D408404-1019-D046-A570-EEF3AEB680B9}" type="slidenum">
              <a:rPr lang="es-ES_tradnl" smtClean="0"/>
              <a:t>21</a:t>
            </a:fld>
            <a:endParaRPr lang="es-ES_tradnl"/>
          </a:p>
        </p:txBody>
      </p:sp>
    </p:spTree>
    <p:extLst>
      <p:ext uri="{BB962C8B-B14F-4D97-AF65-F5344CB8AC3E}">
        <p14:creationId xmlns:p14="http://schemas.microsoft.com/office/powerpoint/2010/main" val="7492135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_tradnl" sz="1800" dirty="0"/>
              <a:t>Creo este inventario para medir la androginia. Con </a:t>
            </a:r>
            <a:r>
              <a:rPr lang="es-ES_tradnl" sz="1800" dirty="0" err="1"/>
              <a:t>items</a:t>
            </a:r>
            <a:r>
              <a:rPr lang="es-ES_tradnl" sz="1800" dirty="0"/>
              <a:t> </a:t>
            </a:r>
            <a:r>
              <a:rPr lang="es-ES_tradnl" sz="1800" dirty="0" err="1"/>
              <a:t>estereotipicamente</a:t>
            </a:r>
            <a:r>
              <a:rPr lang="es-ES_tradnl" sz="1800" dirty="0"/>
              <a:t> masculinos, femeninos, nuestros.</a:t>
            </a:r>
          </a:p>
        </p:txBody>
      </p:sp>
      <p:sp>
        <p:nvSpPr>
          <p:cNvPr id="4" name="Slide Number Placeholder 3"/>
          <p:cNvSpPr>
            <a:spLocks noGrp="1"/>
          </p:cNvSpPr>
          <p:nvPr>
            <p:ph type="sldNum" sz="quarter" idx="5"/>
          </p:nvPr>
        </p:nvSpPr>
        <p:spPr/>
        <p:txBody>
          <a:bodyPr/>
          <a:lstStyle/>
          <a:p>
            <a:fld id="{2D408404-1019-D046-A570-EEF3AEB680B9}" type="slidenum">
              <a:rPr lang="es-ES_tradnl" smtClean="0"/>
              <a:t>22</a:t>
            </a:fld>
            <a:endParaRPr lang="es-ES_tradnl"/>
          </a:p>
        </p:txBody>
      </p:sp>
    </p:spTree>
    <p:extLst>
      <p:ext uri="{BB962C8B-B14F-4D97-AF65-F5344CB8AC3E}">
        <p14:creationId xmlns:p14="http://schemas.microsoft.com/office/powerpoint/2010/main" val="19882371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_tradnl" sz="1800" dirty="0"/>
              <a:t>No hay un solo rol universal de mujer y de hombre.</a:t>
            </a:r>
          </a:p>
          <a:p>
            <a:endParaRPr lang="es-ES_tradnl" sz="1800"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_tradnl" sz="1800" dirty="0"/>
              <a:t>La socialización alimenta el mito de que el género ocurre de manera natural e inevitable.</a:t>
            </a:r>
          </a:p>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23</a:t>
            </a:fld>
            <a:endParaRPr lang="es-ES_tradnl"/>
          </a:p>
        </p:txBody>
      </p:sp>
    </p:spTree>
    <p:extLst>
      <p:ext uri="{BB962C8B-B14F-4D97-AF65-F5344CB8AC3E}">
        <p14:creationId xmlns:p14="http://schemas.microsoft.com/office/powerpoint/2010/main" val="14264071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_tradnl" sz="1800" dirty="0"/>
              <a:t>Gran limitación es que hoy en día hablamos de hacer </a:t>
            </a:r>
            <a:r>
              <a:rPr lang="es-ES_tradnl" sz="1800" i="1" dirty="0"/>
              <a:t>géneros</a:t>
            </a:r>
            <a:r>
              <a:rPr lang="es-ES_tradnl" sz="1800" dirty="0"/>
              <a:t>, ya que hay mucha variación entre tipos de masculinidad, feminidad, y no binarie. </a:t>
            </a:r>
          </a:p>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24</a:t>
            </a:fld>
            <a:endParaRPr lang="es-ES_tradnl"/>
          </a:p>
        </p:txBody>
      </p:sp>
    </p:spTree>
    <p:extLst>
      <p:ext uri="{BB962C8B-B14F-4D97-AF65-F5344CB8AC3E}">
        <p14:creationId xmlns:p14="http://schemas.microsoft.com/office/powerpoint/2010/main" val="41470685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Font typeface="Arial" panose="020B0604020202020204" pitchFamily="34" charset="0"/>
              <a:buNone/>
            </a:pPr>
            <a:r>
              <a:rPr lang="es-ES_tradnl" sz="1800" dirty="0"/>
              <a:t>Ejemplos de estudios basados en teoría de Kanter</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s-ES_tradnl" sz="1800" dirty="0"/>
              <a:t>Por ejemplo, en las organizaciones la </a:t>
            </a:r>
            <a:r>
              <a:rPr lang="es-ES_tradnl" sz="1800" dirty="0" err="1"/>
              <a:t>teoria</a:t>
            </a:r>
            <a:r>
              <a:rPr lang="es-ES_tradnl" sz="1800" dirty="0"/>
              <a:t> de Kanter </a:t>
            </a:r>
            <a:r>
              <a:rPr lang="es-ES_tradnl" sz="1800" dirty="0" err="1"/>
              <a:t>predeceia</a:t>
            </a:r>
            <a:r>
              <a:rPr lang="es-ES_tradnl" sz="1800" dirty="0"/>
              <a:t> que si las mujeres tomaban roles de poder y los hombres roles de </a:t>
            </a:r>
            <a:r>
              <a:rPr lang="es-ES_tradnl" sz="1800" dirty="0" err="1"/>
              <a:t>minoria</a:t>
            </a:r>
            <a:r>
              <a:rPr lang="es-ES_tradnl" sz="1800" dirty="0"/>
              <a:t>, se </a:t>
            </a:r>
            <a:r>
              <a:rPr lang="es-ES_tradnl" sz="1800" dirty="0" err="1"/>
              <a:t>revertirian</a:t>
            </a:r>
            <a:r>
              <a:rPr lang="es-ES_tradnl" sz="1800" dirty="0"/>
              <a:t> las diferencias. Pero la evidencia no mostro eso, en casos en que los hombres eran </a:t>
            </a:r>
            <a:r>
              <a:rPr lang="es-ES_tradnl" sz="1800" dirty="0" err="1"/>
              <a:t>minoria</a:t>
            </a:r>
            <a:r>
              <a:rPr lang="es-ES_tradnl" sz="1800" dirty="0"/>
              <a:t>, no era marginalizados, </a:t>
            </a:r>
            <a:r>
              <a:rPr lang="es-ES_tradnl" sz="1800" dirty="0" err="1"/>
              <a:t>seguian</a:t>
            </a:r>
            <a:r>
              <a:rPr lang="es-ES_tradnl" sz="1800" dirty="0"/>
              <a:t> </a:t>
            </a:r>
            <a:r>
              <a:rPr lang="es-ES_tradnl" sz="1800" dirty="0" err="1"/>
              <a:t>aventajadaos</a:t>
            </a:r>
            <a:r>
              <a:rPr lang="es-ES_tradnl" sz="1800" dirty="0"/>
              <a:t> (</a:t>
            </a:r>
            <a:r>
              <a:rPr lang="es-ES_tradnl" sz="1800" dirty="0" err="1"/>
              <a:t>glass</a:t>
            </a:r>
            <a:r>
              <a:rPr lang="es-ES_tradnl" sz="1800" dirty="0"/>
              <a:t> </a:t>
            </a:r>
            <a:r>
              <a:rPr lang="es-ES_tradnl" sz="1800" dirty="0" err="1"/>
              <a:t>escalators</a:t>
            </a:r>
            <a:r>
              <a:rPr lang="es-ES_tradnl" sz="1800" dirty="0"/>
              <a:t>--</a:t>
            </a:r>
            <a:r>
              <a:rPr lang="es-ES_tradnl" sz="1800" dirty="0" err="1"/>
              <a:t>not</a:t>
            </a:r>
            <a:r>
              <a:rPr lang="es-ES_tradnl" sz="1800" dirty="0"/>
              <a:t> </a:t>
            </a:r>
            <a:r>
              <a:rPr lang="es-ES_tradnl" sz="1800" dirty="0" err="1"/>
              <a:t>all</a:t>
            </a:r>
            <a:r>
              <a:rPr lang="es-ES_tradnl" sz="1800" dirty="0"/>
              <a:t> </a:t>
            </a:r>
            <a:r>
              <a:rPr lang="es-ES_tradnl" sz="1800" dirty="0" err="1"/>
              <a:t>men</a:t>
            </a:r>
            <a:r>
              <a:rPr lang="es-ES_tradnl" sz="1800" dirty="0"/>
              <a:t>, </a:t>
            </a:r>
            <a:r>
              <a:rPr lang="es-ES_tradnl" sz="1800" dirty="0" err="1"/>
              <a:t>white</a:t>
            </a:r>
            <a:r>
              <a:rPr lang="es-ES_tradnl" sz="1800" dirty="0"/>
              <a:t> </a:t>
            </a:r>
            <a:r>
              <a:rPr lang="es-ES_tradnl" sz="1800" dirty="0" err="1"/>
              <a:t>men</a:t>
            </a:r>
            <a:r>
              <a:rPr lang="es-ES_tradnl" sz="1800" dirty="0"/>
              <a:t>.)</a:t>
            </a:r>
          </a:p>
          <a:p>
            <a:pPr marL="457200" lvl="1" indent="0">
              <a:buFont typeface="Arial" panose="020B0604020202020204" pitchFamily="34" charset="0"/>
              <a:buNone/>
            </a:pPr>
            <a:endParaRPr lang="es-ES_tradnl" sz="1800" dirty="0"/>
          </a:p>
          <a:p>
            <a:pPr marL="0" lvl="0" indent="0">
              <a:buFont typeface="Arial" panose="020B0604020202020204" pitchFamily="34" charset="0"/>
              <a:buNone/>
            </a:pPr>
            <a:r>
              <a:rPr lang="es-ES_tradnl" sz="1800" dirty="0"/>
              <a:t>No podemos ignorar </a:t>
            </a:r>
            <a:r>
              <a:rPr lang="es-ES_tradnl" sz="1800" b="1" dirty="0"/>
              <a:t>el género internalizado a nivel individual ni las expectativas </a:t>
            </a:r>
            <a:r>
              <a:rPr lang="es-ES_tradnl" sz="1800" dirty="0"/>
              <a:t>que tenemos que cumplir en las interacciones.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_tradnl" sz="1800" dirty="0"/>
          </a:p>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25</a:t>
            </a:fld>
            <a:endParaRPr lang="es-ES_tradnl"/>
          </a:p>
        </p:txBody>
      </p:sp>
    </p:spTree>
    <p:extLst>
      <p:ext uri="{BB962C8B-B14F-4D97-AF65-F5344CB8AC3E}">
        <p14:creationId xmlns:p14="http://schemas.microsoft.com/office/powerpoint/2010/main" val="14865816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_tradnl" sz="1800" dirty="0"/>
              <a:t>¿cómo la sociología a reaccionado a esta crítica? ¿qué cambios observamos?</a:t>
            </a:r>
          </a:p>
          <a:p>
            <a:r>
              <a:rPr lang="es-ES_tradnl" sz="1800" dirty="0"/>
              <a:t>¿cómo creen se ha dado este debate en </a:t>
            </a:r>
            <a:r>
              <a:rPr lang="es-ES_tradnl" sz="1800" dirty="0" err="1"/>
              <a:t>latinoamerica</a:t>
            </a:r>
            <a:r>
              <a:rPr lang="es-ES_tradnl" sz="1800" dirty="0"/>
              <a:t>?</a:t>
            </a:r>
          </a:p>
        </p:txBody>
      </p:sp>
      <p:sp>
        <p:nvSpPr>
          <p:cNvPr id="4" name="Slide Number Placeholder 3"/>
          <p:cNvSpPr>
            <a:spLocks noGrp="1"/>
          </p:cNvSpPr>
          <p:nvPr>
            <p:ph type="sldNum" sz="quarter" idx="5"/>
          </p:nvPr>
        </p:nvSpPr>
        <p:spPr/>
        <p:txBody>
          <a:bodyPr/>
          <a:lstStyle/>
          <a:p>
            <a:fld id="{2D408404-1019-D046-A570-EEF3AEB680B9}" type="slidenum">
              <a:rPr lang="es-ES_tradnl" smtClean="0"/>
              <a:t>26</a:t>
            </a:fld>
            <a:endParaRPr lang="es-ES_tradnl"/>
          </a:p>
        </p:txBody>
      </p:sp>
    </p:spTree>
    <p:extLst>
      <p:ext uri="{BB962C8B-B14F-4D97-AF65-F5344CB8AC3E}">
        <p14:creationId xmlns:p14="http://schemas.microsoft.com/office/powerpoint/2010/main" val="42078841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_tradnl" sz="1800" dirty="0"/>
              <a:t>- Hay expectativas que </a:t>
            </a:r>
            <a:r>
              <a:rPr lang="es-ES_tradnl" sz="1800" dirty="0" err="1"/>
              <a:t>estan</a:t>
            </a:r>
            <a:r>
              <a:rPr lang="es-ES_tradnl" sz="1800" dirty="0"/>
              <a:t> asociadas al status de hombre y de mujer. Los estereotipos de genero como un motor que reproduce desigualdades.</a:t>
            </a:r>
          </a:p>
          <a:p>
            <a:pPr marL="0" marR="0" lvl="0" indent="0" algn="l" defTabSz="914400" rtl="0" eaLnBrk="1" fontAlgn="auto" latinLnBrk="0" hangingPunct="1">
              <a:lnSpc>
                <a:spcPct val="100000"/>
              </a:lnSpc>
              <a:spcBef>
                <a:spcPts val="0"/>
              </a:spcBef>
              <a:spcAft>
                <a:spcPts val="0"/>
              </a:spcAft>
              <a:buClrTx/>
              <a:buSzTx/>
              <a:buFontTx/>
              <a:buNone/>
              <a:tabLst/>
              <a:defRPr/>
            </a:pPr>
            <a:r>
              <a:rPr lang="es-ES_tradnl" sz="1800" dirty="0"/>
              <a:t>- Estructuras organizacionales: </a:t>
            </a:r>
            <a:r>
              <a:rPr lang="es-ES_tradnl" sz="1800" dirty="0" err="1"/>
              <a:t>Jerarquia</a:t>
            </a:r>
            <a:r>
              <a:rPr lang="es-ES_tradnl" sz="1800" dirty="0"/>
              <a:t> esta diseñado para aventajar a quienes no tienen responsabilidades de cuidado. </a:t>
            </a:r>
          </a:p>
          <a:p>
            <a:pPr marL="0" marR="0" lvl="0" indent="0" algn="l" defTabSz="914400" rtl="0" eaLnBrk="1" fontAlgn="auto" latinLnBrk="0" hangingPunct="1">
              <a:lnSpc>
                <a:spcPct val="100000"/>
              </a:lnSpc>
              <a:spcBef>
                <a:spcPts val="0"/>
              </a:spcBef>
              <a:spcAft>
                <a:spcPts val="0"/>
              </a:spcAft>
              <a:buClrTx/>
              <a:buSzTx/>
              <a:buFontTx/>
              <a:buNone/>
              <a:tabLst/>
              <a:defRPr/>
            </a:pPr>
            <a:r>
              <a:rPr lang="es-ES_tradnl" sz="1800" dirty="0"/>
              <a:t>- La </a:t>
            </a:r>
            <a:r>
              <a:rPr lang="es-ES_tradnl" sz="1800" dirty="0" err="1"/>
              <a:t>teoria</a:t>
            </a:r>
            <a:r>
              <a:rPr lang="es-ES_tradnl" sz="1800" dirty="0"/>
              <a:t> queer enfatiza </a:t>
            </a:r>
            <a:r>
              <a:rPr lang="es-ES_tradnl" sz="1800" dirty="0" err="1"/>
              <a:t>multiples</a:t>
            </a:r>
            <a:r>
              <a:rPr lang="es-ES_tradnl" sz="1800" dirty="0"/>
              <a:t> identidades, y cuestiona como se crean y sostienen esas </a:t>
            </a:r>
            <a:r>
              <a:rPr lang="es-ES_tradnl" sz="1800" dirty="0" err="1"/>
              <a:t>categorias</a:t>
            </a:r>
            <a:r>
              <a:rPr lang="es-ES_tradnl" sz="18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_tradnl" sz="1800" dirty="0"/>
          </a:p>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27</a:t>
            </a:fld>
            <a:endParaRPr lang="es-ES_tradnl"/>
          </a:p>
        </p:txBody>
      </p:sp>
    </p:spTree>
    <p:extLst>
      <p:ext uri="{BB962C8B-B14F-4D97-AF65-F5344CB8AC3E}">
        <p14:creationId xmlns:p14="http://schemas.microsoft.com/office/powerpoint/2010/main" val="40763555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a:p>
        </p:txBody>
      </p:sp>
      <p:sp>
        <p:nvSpPr>
          <p:cNvPr id="4" name="Slide Number Placeholder 3"/>
          <p:cNvSpPr>
            <a:spLocks noGrp="1"/>
          </p:cNvSpPr>
          <p:nvPr>
            <p:ph type="sldNum" sz="quarter" idx="5"/>
          </p:nvPr>
        </p:nvSpPr>
        <p:spPr/>
        <p:txBody>
          <a:bodyPr/>
          <a:lstStyle/>
          <a:p>
            <a:fld id="{2D408404-1019-D046-A570-EEF3AEB680B9}" type="slidenum">
              <a:rPr lang="es-ES_tradnl" smtClean="0"/>
              <a:t>28</a:t>
            </a:fld>
            <a:endParaRPr lang="es-ES_tradnl"/>
          </a:p>
        </p:txBody>
      </p:sp>
    </p:spTree>
    <p:extLst>
      <p:ext uri="{BB962C8B-B14F-4D97-AF65-F5344CB8AC3E}">
        <p14:creationId xmlns:p14="http://schemas.microsoft.com/office/powerpoint/2010/main" val="30980312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  ¿</a:t>
            </a:r>
            <a:r>
              <a:rPr lang="en-US" sz="1800" dirty="0" err="1"/>
              <a:t>Cómo</a:t>
            </a:r>
            <a:r>
              <a:rPr lang="en-US" sz="1800" dirty="0"/>
              <a:t> </a:t>
            </a:r>
            <a:r>
              <a:rPr lang="en-US" sz="1800" dirty="0" err="1"/>
              <a:t>informa</a:t>
            </a:r>
            <a:r>
              <a:rPr lang="en-US" sz="1800" dirty="0"/>
              <a:t> </a:t>
            </a:r>
            <a:r>
              <a:rPr lang="en-US" sz="1800" dirty="0" err="1"/>
              <a:t>esta</a:t>
            </a:r>
            <a:r>
              <a:rPr lang="en-US" sz="1800" dirty="0"/>
              <a:t> </a:t>
            </a:r>
            <a:r>
              <a:rPr lang="en-US" sz="1800" dirty="0" err="1"/>
              <a:t>crítica</a:t>
            </a:r>
            <a:r>
              <a:rPr lang="en-US" sz="1800" dirty="0"/>
              <a:t> </a:t>
            </a:r>
            <a:r>
              <a:rPr lang="en-US" sz="1800" dirty="0" err="1"/>
              <a:t>nuestro</a:t>
            </a:r>
            <a:r>
              <a:rPr lang="en-US" sz="1800" dirty="0"/>
              <a:t> </a:t>
            </a:r>
            <a:r>
              <a:rPr lang="en-US" sz="1800" dirty="0" err="1"/>
              <a:t>conocimiento</a:t>
            </a:r>
            <a:r>
              <a:rPr lang="en-US" sz="1800" dirty="0"/>
              <a:t> de la </a:t>
            </a:r>
            <a:r>
              <a:rPr lang="en-US" sz="1800" dirty="0" err="1"/>
              <a:t>disciplina</a:t>
            </a:r>
            <a:r>
              <a:rPr lang="en-US" sz="1800" dirty="0"/>
              <a:t> y </a:t>
            </a:r>
            <a:r>
              <a:rPr lang="en-US" sz="1800" dirty="0" err="1"/>
              <a:t>cómo</a:t>
            </a:r>
            <a:r>
              <a:rPr lang="en-US" sz="1800" dirty="0"/>
              <a:t> </a:t>
            </a:r>
            <a:r>
              <a:rPr lang="en-US" sz="1800" dirty="0" err="1"/>
              <a:t>ilumina</a:t>
            </a:r>
            <a:r>
              <a:rPr lang="en-US" sz="1800" dirty="0"/>
              <a:t> </a:t>
            </a:r>
            <a:r>
              <a:rPr lang="en-US" sz="1800" dirty="0" err="1"/>
              <a:t>el</a:t>
            </a:r>
            <a:r>
              <a:rPr lang="en-US" sz="1800" dirty="0"/>
              <a:t> </a:t>
            </a:r>
            <a:r>
              <a:rPr lang="en-US" sz="1800" dirty="0" err="1"/>
              <a:t>desarrollo</a:t>
            </a:r>
            <a:r>
              <a:rPr lang="en-US" sz="1800" dirty="0"/>
              <a:t> de la </a:t>
            </a:r>
            <a:r>
              <a:rPr lang="en-US" sz="1800" dirty="0" err="1"/>
              <a:t>investigación</a:t>
            </a:r>
            <a:r>
              <a:rPr lang="en-US" sz="1800" dirty="0"/>
              <a:t> </a:t>
            </a:r>
            <a:r>
              <a:rPr lang="en-US" sz="1800" dirty="0" err="1"/>
              <a:t>feminista</a:t>
            </a:r>
            <a:r>
              <a:rPr lang="en-US" sz="1800" dirty="0"/>
              <a:t> </a:t>
            </a:r>
            <a:r>
              <a:rPr lang="en-US" sz="1800" dirty="0" err="1"/>
              <a:t>en</a:t>
            </a:r>
            <a:r>
              <a:rPr lang="en-US" sz="1800" dirty="0"/>
              <a:t> </a:t>
            </a:r>
            <a:r>
              <a:rPr lang="en-US" sz="1800" dirty="0" err="1"/>
              <a:t>Latinoamérica</a:t>
            </a:r>
            <a:r>
              <a:rPr lang="en-US" sz="1800" dirty="0"/>
              <a:t>?</a:t>
            </a:r>
          </a:p>
          <a:p>
            <a:r>
              <a:rPr lang="en-US" sz="1800" dirty="0"/>
              <a:t>¿</a:t>
            </a:r>
            <a:r>
              <a:rPr lang="en-US" sz="1800" dirty="0" err="1"/>
              <a:t>Qué</a:t>
            </a:r>
            <a:r>
              <a:rPr lang="en-US" sz="1800" dirty="0"/>
              <a:t> </a:t>
            </a:r>
            <a:r>
              <a:rPr lang="en-US" sz="1800" dirty="0" err="1"/>
              <a:t>opinan</a:t>
            </a:r>
            <a:r>
              <a:rPr lang="en-US" sz="1800" dirty="0"/>
              <a:t> </a:t>
            </a:r>
            <a:r>
              <a:rPr lang="en-US" sz="1800" dirty="0" err="1"/>
              <a:t>sobre</a:t>
            </a:r>
            <a:r>
              <a:rPr lang="en-US" sz="1800" dirty="0"/>
              <a:t> </a:t>
            </a:r>
            <a:r>
              <a:rPr lang="en-US" sz="1800" dirty="0" err="1"/>
              <a:t>este</a:t>
            </a:r>
            <a:r>
              <a:rPr lang="en-US" sz="1800" dirty="0"/>
              <a:t> </a:t>
            </a:r>
            <a:r>
              <a:rPr lang="en-US" sz="1800" dirty="0" err="1"/>
              <a:t>consenso</a:t>
            </a:r>
            <a:r>
              <a:rPr lang="en-US" sz="1800" dirty="0"/>
              <a:t>? ¿Les </a:t>
            </a:r>
            <a:r>
              <a:rPr lang="en-US" sz="1800" dirty="0" err="1"/>
              <a:t>parece</a:t>
            </a:r>
            <a:r>
              <a:rPr lang="en-US" sz="1800" dirty="0"/>
              <a:t> </a:t>
            </a:r>
            <a:r>
              <a:rPr lang="en-US" sz="1800" dirty="0" err="1"/>
              <a:t>razonable</a:t>
            </a:r>
            <a:r>
              <a:rPr lang="en-US" sz="1800" dirty="0"/>
              <a:t>?¿Falta o </a:t>
            </a:r>
            <a:r>
              <a:rPr lang="en-US" sz="1800" dirty="0" err="1"/>
              <a:t>sobra</a:t>
            </a:r>
            <a:r>
              <a:rPr lang="en-US" sz="1800" dirty="0"/>
              <a:t> algo?</a:t>
            </a:r>
          </a:p>
          <a:p>
            <a:r>
              <a:rPr lang="en-US" sz="1800" dirty="0"/>
              <a:t>¿Como se </a:t>
            </a:r>
            <a:r>
              <a:rPr lang="en-US" sz="1800" dirty="0" err="1"/>
              <a:t>ajusta</a:t>
            </a:r>
            <a:r>
              <a:rPr lang="en-US" sz="1800" dirty="0"/>
              <a:t> o no </a:t>
            </a:r>
            <a:r>
              <a:rPr lang="en-US" sz="1800" dirty="0" err="1"/>
              <a:t>este</a:t>
            </a:r>
            <a:r>
              <a:rPr lang="en-US" sz="1800" dirty="0"/>
              <a:t> </a:t>
            </a:r>
            <a:r>
              <a:rPr lang="en-US" sz="1800" dirty="0" err="1"/>
              <a:t>consenso</a:t>
            </a:r>
            <a:r>
              <a:rPr lang="en-US" sz="1800" dirty="0"/>
              <a:t> a las </a:t>
            </a:r>
            <a:r>
              <a:rPr lang="en-US" sz="1800" dirty="0" err="1"/>
              <a:t>expectativas</a:t>
            </a:r>
            <a:r>
              <a:rPr lang="en-US" sz="1800" dirty="0"/>
              <a:t> que </a:t>
            </a:r>
            <a:r>
              <a:rPr lang="en-US" sz="1800" dirty="0" err="1"/>
              <a:t>ustedes</a:t>
            </a:r>
            <a:r>
              <a:rPr lang="en-US" sz="1800" dirty="0"/>
              <a:t> </a:t>
            </a:r>
            <a:r>
              <a:rPr lang="en-US" sz="1800" dirty="0" err="1"/>
              <a:t>tenían</a:t>
            </a:r>
            <a:r>
              <a:rPr lang="en-US" sz="1800" dirty="0"/>
              <a:t> con </a:t>
            </a:r>
            <a:r>
              <a:rPr lang="en-US" sz="1800" dirty="0" err="1"/>
              <a:t>respecto</a:t>
            </a:r>
            <a:r>
              <a:rPr lang="en-US" sz="1800" dirty="0"/>
              <a:t> a lo que es </a:t>
            </a:r>
            <a:r>
              <a:rPr lang="en-US" sz="1800" dirty="0" err="1"/>
              <a:t>el</a:t>
            </a:r>
            <a:r>
              <a:rPr lang="en-US" sz="1800" dirty="0"/>
              <a:t> </a:t>
            </a:r>
            <a:r>
              <a:rPr lang="en-US" sz="1800" dirty="0" err="1"/>
              <a:t>género</a:t>
            </a:r>
            <a:r>
              <a:rPr lang="en-US" sz="1800" dirty="0"/>
              <a:t>?</a:t>
            </a:r>
          </a:p>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29</a:t>
            </a:fld>
            <a:endParaRPr lang="es-ES_tradnl"/>
          </a:p>
        </p:txBody>
      </p:sp>
    </p:spTree>
    <p:extLst>
      <p:ext uri="{BB962C8B-B14F-4D97-AF65-F5344CB8AC3E}">
        <p14:creationId xmlns:p14="http://schemas.microsoft.com/office/powerpoint/2010/main" val="85800298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D408404-1019-D046-A570-EEF3AEB680B9}" type="slidenum">
              <a:rPr lang="es-ES_tradnl" smtClean="0"/>
              <a:t>30</a:t>
            </a:fld>
            <a:endParaRPr lang="es-ES_tradnl"/>
          </a:p>
        </p:txBody>
      </p:sp>
    </p:spTree>
    <p:extLst>
      <p:ext uri="{BB962C8B-B14F-4D97-AF65-F5344CB8AC3E}">
        <p14:creationId xmlns:p14="http://schemas.microsoft.com/office/powerpoint/2010/main" val="29339243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22F66-727D-4150-ADA5-49CF3A0F6873}"/>
              </a:ext>
            </a:extLst>
          </p:cNvPr>
          <p:cNvSpPr>
            <a:spLocks noGrp="1"/>
          </p:cNvSpPr>
          <p:nvPr>
            <p:ph type="ctrTitle"/>
          </p:nvPr>
        </p:nvSpPr>
        <p:spPr>
          <a:xfrm>
            <a:off x="530352" y="1122363"/>
            <a:ext cx="10072922" cy="1978346"/>
          </a:xfrm>
        </p:spPr>
        <p:txBody>
          <a:bodyPr anchor="b">
            <a:normAutofit/>
          </a:bodyPr>
          <a:lstStyle>
            <a:lvl1pPr algn="l">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DD9A1FE-C39F-4D7C-B93D-F8C203A1D69C}"/>
              </a:ext>
            </a:extLst>
          </p:cNvPr>
          <p:cNvSpPr>
            <a:spLocks noGrp="1"/>
          </p:cNvSpPr>
          <p:nvPr>
            <p:ph type="subTitle" idx="1"/>
          </p:nvPr>
        </p:nvSpPr>
        <p:spPr>
          <a:xfrm>
            <a:off x="530352" y="3509963"/>
            <a:ext cx="10072922" cy="1747837"/>
          </a:xfrm>
        </p:spPr>
        <p:txBody>
          <a:bodyPr>
            <a:normAutofit/>
          </a:bodyPr>
          <a:lstStyle>
            <a:lvl1pPr marL="0" indent="0" algn="l">
              <a:buNone/>
              <a:defRPr sz="2000" i="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C008AAC-7D41-4304-8D59-EF34B232682C}"/>
              </a:ext>
            </a:extLst>
          </p:cNvPr>
          <p:cNvSpPr>
            <a:spLocks noGrp="1"/>
          </p:cNvSpPr>
          <p:nvPr>
            <p:ph type="dt" sz="half" idx="10"/>
          </p:nvPr>
        </p:nvSpPr>
        <p:spPr>
          <a:xfrm>
            <a:off x="530352" y="136525"/>
            <a:ext cx="2743200" cy="365125"/>
          </a:xfrm>
        </p:spPr>
        <p:txBody>
          <a:bodyPr/>
          <a:lstStyle>
            <a:lvl1pPr algn="l">
              <a:defRPr/>
            </a:lvl1pPr>
          </a:lstStyle>
          <a:p>
            <a:fld id="{524C6359-9BB8-4148-8114-537E698DA205}" type="datetime1">
              <a:rPr lang="en-US" smtClean="0"/>
              <a:t>8/13/26</a:t>
            </a:fld>
            <a:endParaRPr lang="en-US" dirty="0"/>
          </a:p>
        </p:txBody>
      </p:sp>
      <p:sp>
        <p:nvSpPr>
          <p:cNvPr id="5" name="Footer Placeholder 4">
            <a:extLst>
              <a:ext uri="{FF2B5EF4-FFF2-40B4-BE49-F238E27FC236}">
                <a16:creationId xmlns:a16="http://schemas.microsoft.com/office/drawing/2014/main" id="{4724D078-DE22-4F23-8B48-21FB1415C3E3}"/>
              </a:ext>
            </a:extLst>
          </p:cNvPr>
          <p:cNvSpPr>
            <a:spLocks noGrp="1"/>
          </p:cNvSpPr>
          <p:nvPr>
            <p:ph type="ftr" sz="quarter" idx="11"/>
          </p:nvPr>
        </p:nvSpPr>
        <p:spPr>
          <a:xfrm>
            <a:off x="530352" y="6356350"/>
            <a:ext cx="4114800" cy="365125"/>
          </a:xfrm>
        </p:spPr>
        <p:txBody>
          <a:bodyPr/>
          <a:lstStyle>
            <a:lvl1pPr algn="l">
              <a:defRPr/>
            </a:lvl1pPr>
          </a:lstStyle>
          <a:p>
            <a:endParaRPr lang="en-US"/>
          </a:p>
        </p:txBody>
      </p:sp>
      <p:sp>
        <p:nvSpPr>
          <p:cNvPr id="6" name="Slide Number Placeholder 5">
            <a:extLst>
              <a:ext uri="{FF2B5EF4-FFF2-40B4-BE49-F238E27FC236}">
                <a16:creationId xmlns:a16="http://schemas.microsoft.com/office/drawing/2014/main" id="{BB64C1F5-608B-4335-9F2A-17F63D5FAF0D}"/>
              </a:ext>
            </a:extLst>
          </p:cNvPr>
          <p:cNvSpPr>
            <a:spLocks noGrp="1"/>
          </p:cNvSpPr>
          <p:nvPr>
            <p:ph type="sldNum" sz="quarter" idx="12"/>
          </p:nvPr>
        </p:nvSpPr>
        <p:spPr/>
        <p:txBody>
          <a:bodyPr/>
          <a:lstStyle/>
          <a:p>
            <a:fld id="{E1076ED0-0DB3-4879-AAE5-5C20D22C1DF4}" type="slidenum">
              <a:rPr lang="en-US" smtClean="0"/>
              <a:t>‹#›</a:t>
            </a:fld>
            <a:endParaRPr lang="en-US"/>
          </a:p>
        </p:txBody>
      </p:sp>
      <p:grpSp>
        <p:nvGrpSpPr>
          <p:cNvPr id="7" name="Graphic 78">
            <a:extLst>
              <a:ext uri="{FF2B5EF4-FFF2-40B4-BE49-F238E27FC236}">
                <a16:creationId xmlns:a16="http://schemas.microsoft.com/office/drawing/2014/main" id="{51B01909-73B8-4486-A749-C643B1D7E361}"/>
              </a:ext>
              <a:ext uri="{C183D7F6-B498-43B3-948B-1728B52AA6E4}">
                <adec:decorative xmlns:adec="http://schemas.microsoft.com/office/drawing/2017/decorative" val="1"/>
              </a:ext>
            </a:extLst>
          </p:cNvPr>
          <p:cNvGrpSpPr/>
          <p:nvPr/>
        </p:nvGrpSpPr>
        <p:grpSpPr>
          <a:xfrm>
            <a:off x="530225" y="3267690"/>
            <a:ext cx="972241" cy="45719"/>
            <a:chOff x="4886325" y="3371754"/>
            <a:chExt cx="2418492" cy="113728"/>
          </a:xfrm>
          <a:solidFill>
            <a:schemeClr val="accent1"/>
          </a:solidFill>
        </p:grpSpPr>
        <p:sp>
          <p:nvSpPr>
            <p:cNvPr id="8" name="Graphic 78">
              <a:extLst>
                <a:ext uri="{FF2B5EF4-FFF2-40B4-BE49-F238E27FC236}">
                  <a16:creationId xmlns:a16="http://schemas.microsoft.com/office/drawing/2014/main" id="{5E279D86-4533-45F1-B0AA-D237399A5ED5}"/>
                </a:ext>
              </a:extLst>
            </p:cNvPr>
            <p:cNvSpPr/>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9" name="Graphic 78">
              <a:extLst>
                <a:ext uri="{FF2B5EF4-FFF2-40B4-BE49-F238E27FC236}">
                  <a16:creationId xmlns:a16="http://schemas.microsoft.com/office/drawing/2014/main" id="{764FD722-CB31-4326-ADD8-CBA52FD1FF59}"/>
                </a:ext>
              </a:extLst>
            </p:cNvPr>
            <p:cNvGrpSpPr/>
            <p:nvPr/>
          </p:nvGrpSpPr>
          <p:grpSpPr>
            <a:xfrm>
              <a:off x="4886709" y="3371754"/>
              <a:ext cx="2418108" cy="113728"/>
              <a:chOff x="4886709" y="3371754"/>
              <a:chExt cx="2418108" cy="113728"/>
            </a:xfrm>
            <a:grpFill/>
          </p:grpSpPr>
          <p:sp>
            <p:nvSpPr>
              <p:cNvPr id="10" name="Graphic 78">
                <a:extLst>
                  <a:ext uri="{FF2B5EF4-FFF2-40B4-BE49-F238E27FC236}">
                    <a16:creationId xmlns:a16="http://schemas.microsoft.com/office/drawing/2014/main" id="{24E4BCEC-8B0A-444E-8509-1B3BB0449E5B}"/>
                  </a:ext>
                </a:extLst>
              </p:cNvPr>
              <p:cNvSpPr/>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1" name="Graphic 78">
                <a:extLst>
                  <a:ext uri="{FF2B5EF4-FFF2-40B4-BE49-F238E27FC236}">
                    <a16:creationId xmlns:a16="http://schemas.microsoft.com/office/drawing/2014/main" id="{9DB36622-1DC7-4B17-8984-588BA8999FF6}"/>
                  </a:ext>
                </a:extLst>
              </p:cNvPr>
              <p:cNvSpPr/>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2" name="Graphic 78">
                <a:extLst>
                  <a:ext uri="{FF2B5EF4-FFF2-40B4-BE49-F238E27FC236}">
                    <a16:creationId xmlns:a16="http://schemas.microsoft.com/office/drawing/2014/main" id="{51B97AF0-1974-42B9-B5FC-A332C52E8272}"/>
                  </a:ext>
                </a:extLst>
              </p:cNvPr>
              <p:cNvSpPr/>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3" name="Graphic 78">
                <a:extLst>
                  <a:ext uri="{FF2B5EF4-FFF2-40B4-BE49-F238E27FC236}">
                    <a16:creationId xmlns:a16="http://schemas.microsoft.com/office/drawing/2014/main" id="{95A298AD-BE5D-4BE1-8CDF-DBFB42D63FEB}"/>
                  </a:ext>
                </a:extLst>
              </p:cNvPr>
              <p:cNvSpPr/>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37180883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7B4A7-C566-48F4-B4B8-3A5E7B6C5C3A}"/>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D3B93F5-BC8B-452C-ACE2-C7E01D1B80F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39A49B3-A57D-46C5-8462-0C52509F8FCA}"/>
              </a:ext>
            </a:extLst>
          </p:cNvPr>
          <p:cNvSpPr>
            <a:spLocks noGrp="1"/>
          </p:cNvSpPr>
          <p:nvPr>
            <p:ph type="dt" sz="half" idx="10"/>
          </p:nvPr>
        </p:nvSpPr>
        <p:spPr>
          <a:xfrm>
            <a:off x="530352" y="136525"/>
            <a:ext cx="2743200" cy="365125"/>
          </a:xfrm>
        </p:spPr>
        <p:txBody>
          <a:bodyPr/>
          <a:lstStyle/>
          <a:p>
            <a:fld id="{9376191F-481E-48E9-BB9A-369A67A7362D}" type="datetime1">
              <a:rPr lang="en-US" smtClean="0"/>
              <a:t>8/13/26</a:t>
            </a:fld>
            <a:endParaRPr lang="en-US" dirty="0"/>
          </a:p>
        </p:txBody>
      </p:sp>
      <p:sp>
        <p:nvSpPr>
          <p:cNvPr id="5" name="Footer Placeholder 4">
            <a:extLst>
              <a:ext uri="{FF2B5EF4-FFF2-40B4-BE49-F238E27FC236}">
                <a16:creationId xmlns:a16="http://schemas.microsoft.com/office/drawing/2014/main" id="{9EC8C810-EAF4-4D86-84DD-2E574122DD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87E738-8574-490B-974B-9AD3B2AAE521}"/>
              </a:ext>
            </a:extLst>
          </p:cNvPr>
          <p:cNvSpPr>
            <a:spLocks noGrp="1"/>
          </p:cNvSpPr>
          <p:nvPr>
            <p:ph type="sldNum" sz="quarter" idx="12"/>
          </p:nvPr>
        </p:nvSpPr>
        <p:spPr/>
        <p:txBody>
          <a:bodyPr/>
          <a:lstStyle/>
          <a:p>
            <a:fld id="{E1076ED0-0DB3-4879-AAE5-5C20D22C1DF4}" type="slidenum">
              <a:rPr lang="en-US" smtClean="0"/>
              <a:t>‹#›</a:t>
            </a:fld>
            <a:endParaRPr lang="en-US"/>
          </a:p>
        </p:txBody>
      </p:sp>
      <p:grpSp>
        <p:nvGrpSpPr>
          <p:cNvPr id="7" name="Graphic 78">
            <a:extLst>
              <a:ext uri="{FF2B5EF4-FFF2-40B4-BE49-F238E27FC236}">
                <a16:creationId xmlns:a16="http://schemas.microsoft.com/office/drawing/2014/main" id="{AC552FEA-472E-4E74-B31D-531852C1908D}"/>
              </a:ext>
              <a:ext uri="{C183D7F6-B498-43B3-948B-1728B52AA6E4}">
                <adec:decorative xmlns:adec="http://schemas.microsoft.com/office/drawing/2017/decorative" val="1"/>
              </a:ext>
            </a:extLst>
          </p:cNvPr>
          <p:cNvGrpSpPr/>
          <p:nvPr/>
        </p:nvGrpSpPr>
        <p:grpSpPr>
          <a:xfrm>
            <a:off x="530225" y="2310597"/>
            <a:ext cx="972241" cy="45719"/>
            <a:chOff x="4886325" y="3371754"/>
            <a:chExt cx="2418492" cy="113728"/>
          </a:xfrm>
          <a:solidFill>
            <a:schemeClr val="accent1"/>
          </a:solidFill>
        </p:grpSpPr>
        <p:sp>
          <p:nvSpPr>
            <p:cNvPr id="8" name="Graphic 78">
              <a:extLst>
                <a:ext uri="{FF2B5EF4-FFF2-40B4-BE49-F238E27FC236}">
                  <a16:creationId xmlns:a16="http://schemas.microsoft.com/office/drawing/2014/main" id="{41DF3078-C636-4776-A616-D5BF3BC280C9}"/>
                </a:ext>
              </a:extLst>
            </p:cNvPr>
            <p:cNvSpPr/>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9" name="Graphic 78">
              <a:extLst>
                <a:ext uri="{FF2B5EF4-FFF2-40B4-BE49-F238E27FC236}">
                  <a16:creationId xmlns:a16="http://schemas.microsoft.com/office/drawing/2014/main" id="{0D1A27FA-1310-4BC3-A071-1566746B2FB1}"/>
                </a:ext>
              </a:extLst>
            </p:cNvPr>
            <p:cNvGrpSpPr/>
            <p:nvPr/>
          </p:nvGrpSpPr>
          <p:grpSpPr>
            <a:xfrm>
              <a:off x="4886709" y="3371754"/>
              <a:ext cx="2418108" cy="113728"/>
              <a:chOff x="4886709" y="3371754"/>
              <a:chExt cx="2418108" cy="113728"/>
            </a:xfrm>
            <a:grpFill/>
          </p:grpSpPr>
          <p:sp>
            <p:nvSpPr>
              <p:cNvPr id="10" name="Graphic 78">
                <a:extLst>
                  <a:ext uri="{FF2B5EF4-FFF2-40B4-BE49-F238E27FC236}">
                    <a16:creationId xmlns:a16="http://schemas.microsoft.com/office/drawing/2014/main" id="{99ACB9EB-84FE-4B33-9EF9-4EC7DAC25DD5}"/>
                  </a:ext>
                </a:extLst>
              </p:cNvPr>
              <p:cNvSpPr/>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1" name="Graphic 78">
                <a:extLst>
                  <a:ext uri="{FF2B5EF4-FFF2-40B4-BE49-F238E27FC236}">
                    <a16:creationId xmlns:a16="http://schemas.microsoft.com/office/drawing/2014/main" id="{826E5EFB-0EF9-4DB8-99CB-5DD72009DB2C}"/>
                  </a:ext>
                </a:extLst>
              </p:cNvPr>
              <p:cNvSpPr/>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2" name="Graphic 78">
                <a:extLst>
                  <a:ext uri="{FF2B5EF4-FFF2-40B4-BE49-F238E27FC236}">
                    <a16:creationId xmlns:a16="http://schemas.microsoft.com/office/drawing/2014/main" id="{86238E12-0689-4123-8B2E-E1CCFCC4C882}"/>
                  </a:ext>
                </a:extLst>
              </p:cNvPr>
              <p:cNvSpPr/>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3" name="Graphic 78">
                <a:extLst>
                  <a:ext uri="{FF2B5EF4-FFF2-40B4-BE49-F238E27FC236}">
                    <a16:creationId xmlns:a16="http://schemas.microsoft.com/office/drawing/2014/main" id="{8538CF67-A00E-4955-A447-001BE02E771A}"/>
                  </a:ext>
                </a:extLst>
              </p:cNvPr>
              <p:cNvSpPr/>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1055844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9764E-4B3D-4B6A-A210-B50E4F60E246}"/>
              </a:ext>
            </a:extLst>
          </p:cNvPr>
          <p:cNvSpPr>
            <a:spLocks noGrp="1"/>
          </p:cNvSpPr>
          <p:nvPr>
            <p:ph type="title"/>
          </p:nvPr>
        </p:nvSpPr>
        <p:spPr>
          <a:xfrm>
            <a:off x="530352" y="787068"/>
            <a:ext cx="10072922" cy="2313641"/>
          </a:xfrm>
        </p:spPr>
        <p:txBody>
          <a:bodyPr anchor="b">
            <a:normAutofit/>
          </a:bodyPr>
          <a:lstStyle>
            <a:lvl1pPr>
              <a:defRPr sz="4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A30AEC2-B6E6-4C09-A16F-5E2A1C9A0D0E}"/>
              </a:ext>
            </a:extLst>
          </p:cNvPr>
          <p:cNvSpPr>
            <a:spLocks noGrp="1"/>
          </p:cNvSpPr>
          <p:nvPr>
            <p:ph type="body" idx="1"/>
          </p:nvPr>
        </p:nvSpPr>
        <p:spPr>
          <a:xfrm>
            <a:off x="530352" y="3509963"/>
            <a:ext cx="10072922" cy="2579687"/>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2A37CAB-B545-4E42-BB5A-F1DAA9335033}"/>
              </a:ext>
            </a:extLst>
          </p:cNvPr>
          <p:cNvSpPr>
            <a:spLocks noGrp="1"/>
          </p:cNvSpPr>
          <p:nvPr>
            <p:ph type="dt" sz="half" idx="10"/>
          </p:nvPr>
        </p:nvSpPr>
        <p:spPr/>
        <p:txBody>
          <a:bodyPr/>
          <a:lstStyle/>
          <a:p>
            <a:fld id="{6C5677DE-DD04-48CC-9C18-7BE9FF2DEB6B}" type="datetime1">
              <a:rPr lang="en-US" smtClean="0"/>
              <a:t>8/13/26</a:t>
            </a:fld>
            <a:endParaRPr lang="en-US"/>
          </a:p>
        </p:txBody>
      </p:sp>
      <p:sp>
        <p:nvSpPr>
          <p:cNvPr id="5" name="Footer Placeholder 4">
            <a:extLst>
              <a:ext uri="{FF2B5EF4-FFF2-40B4-BE49-F238E27FC236}">
                <a16:creationId xmlns:a16="http://schemas.microsoft.com/office/drawing/2014/main" id="{AF6D720B-7E58-43F4-9659-ADB2403A50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95F53F-2FA5-4B5C-A151-F07BBC002B29}"/>
              </a:ext>
            </a:extLst>
          </p:cNvPr>
          <p:cNvSpPr>
            <a:spLocks noGrp="1"/>
          </p:cNvSpPr>
          <p:nvPr>
            <p:ph type="sldNum" sz="quarter" idx="12"/>
          </p:nvPr>
        </p:nvSpPr>
        <p:spPr/>
        <p:txBody>
          <a:bodyPr/>
          <a:lstStyle/>
          <a:p>
            <a:fld id="{E1076ED0-0DB3-4879-AAE5-5C20D22C1DF4}" type="slidenum">
              <a:rPr lang="en-US" smtClean="0"/>
              <a:t>‹#›</a:t>
            </a:fld>
            <a:endParaRPr lang="en-US"/>
          </a:p>
        </p:txBody>
      </p:sp>
      <p:grpSp>
        <p:nvGrpSpPr>
          <p:cNvPr id="7" name="Graphic 78">
            <a:extLst>
              <a:ext uri="{FF2B5EF4-FFF2-40B4-BE49-F238E27FC236}">
                <a16:creationId xmlns:a16="http://schemas.microsoft.com/office/drawing/2014/main" id="{37B4CDD2-E09A-418A-9131-FBDEE440A1F1}"/>
              </a:ext>
              <a:ext uri="{C183D7F6-B498-43B3-948B-1728B52AA6E4}">
                <adec:decorative xmlns:adec="http://schemas.microsoft.com/office/drawing/2017/decorative" val="1"/>
              </a:ext>
            </a:extLst>
          </p:cNvPr>
          <p:cNvGrpSpPr/>
          <p:nvPr/>
        </p:nvGrpSpPr>
        <p:grpSpPr>
          <a:xfrm>
            <a:off x="530225" y="3267690"/>
            <a:ext cx="972241" cy="45719"/>
            <a:chOff x="4886325" y="3371754"/>
            <a:chExt cx="2418492" cy="113728"/>
          </a:xfrm>
          <a:solidFill>
            <a:schemeClr val="accent1"/>
          </a:solidFill>
        </p:grpSpPr>
        <p:sp>
          <p:nvSpPr>
            <p:cNvPr id="8" name="Graphic 78">
              <a:extLst>
                <a:ext uri="{FF2B5EF4-FFF2-40B4-BE49-F238E27FC236}">
                  <a16:creationId xmlns:a16="http://schemas.microsoft.com/office/drawing/2014/main" id="{8852E5FB-B268-4CCA-8E55-803038F7A00D}"/>
                </a:ext>
              </a:extLst>
            </p:cNvPr>
            <p:cNvSpPr/>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9" name="Graphic 78">
              <a:extLst>
                <a:ext uri="{FF2B5EF4-FFF2-40B4-BE49-F238E27FC236}">
                  <a16:creationId xmlns:a16="http://schemas.microsoft.com/office/drawing/2014/main" id="{A1C9CBB3-97C0-4A35-9088-C69233F5CEE7}"/>
                </a:ext>
              </a:extLst>
            </p:cNvPr>
            <p:cNvGrpSpPr/>
            <p:nvPr/>
          </p:nvGrpSpPr>
          <p:grpSpPr>
            <a:xfrm>
              <a:off x="4886709" y="3371754"/>
              <a:ext cx="2418108" cy="113728"/>
              <a:chOff x="4886709" y="3371754"/>
              <a:chExt cx="2418108" cy="113728"/>
            </a:xfrm>
            <a:grpFill/>
          </p:grpSpPr>
          <p:sp>
            <p:nvSpPr>
              <p:cNvPr id="10" name="Graphic 78">
                <a:extLst>
                  <a:ext uri="{FF2B5EF4-FFF2-40B4-BE49-F238E27FC236}">
                    <a16:creationId xmlns:a16="http://schemas.microsoft.com/office/drawing/2014/main" id="{31610871-AEE9-46EB-9D27-BA1D9D688124}"/>
                  </a:ext>
                </a:extLst>
              </p:cNvPr>
              <p:cNvSpPr/>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1" name="Graphic 78">
                <a:extLst>
                  <a:ext uri="{FF2B5EF4-FFF2-40B4-BE49-F238E27FC236}">
                    <a16:creationId xmlns:a16="http://schemas.microsoft.com/office/drawing/2014/main" id="{27478059-2A11-484D-A2D7-199F74778E50}"/>
                  </a:ext>
                </a:extLst>
              </p:cNvPr>
              <p:cNvSpPr/>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2" name="Graphic 78">
                <a:extLst>
                  <a:ext uri="{FF2B5EF4-FFF2-40B4-BE49-F238E27FC236}">
                    <a16:creationId xmlns:a16="http://schemas.microsoft.com/office/drawing/2014/main" id="{30EC0886-DDB9-47F1-9414-C121C1D3F954}"/>
                  </a:ext>
                </a:extLst>
              </p:cNvPr>
              <p:cNvSpPr/>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3" name="Graphic 78">
                <a:extLst>
                  <a:ext uri="{FF2B5EF4-FFF2-40B4-BE49-F238E27FC236}">
                    <a16:creationId xmlns:a16="http://schemas.microsoft.com/office/drawing/2014/main" id="{66A10427-DF20-4284-B215-EABA4D366E20}"/>
                  </a:ext>
                </a:extLst>
              </p:cNvPr>
              <p:cNvSpPr/>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3967381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D473D3-0F03-4BF4-831F-34E80BAC5513}"/>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4C09409-59F2-486F-A6D0-FAEE8FFF25B2}"/>
              </a:ext>
            </a:extLst>
          </p:cNvPr>
          <p:cNvSpPr>
            <a:spLocks noGrp="1"/>
          </p:cNvSpPr>
          <p:nvPr>
            <p:ph sz="half" idx="1"/>
          </p:nvPr>
        </p:nvSpPr>
        <p:spPr>
          <a:xfrm>
            <a:off x="525717" y="2521885"/>
            <a:ext cx="4645152" cy="36550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03087241-B390-47A6-8070-C3D4652F887B}"/>
              </a:ext>
            </a:extLst>
          </p:cNvPr>
          <p:cNvSpPr>
            <a:spLocks noGrp="1"/>
          </p:cNvSpPr>
          <p:nvPr>
            <p:ph sz="half" idx="2"/>
          </p:nvPr>
        </p:nvSpPr>
        <p:spPr>
          <a:xfrm>
            <a:off x="5992136" y="2521885"/>
            <a:ext cx="4611138" cy="36550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5080B360-2ACA-4B93-9439-591B6D3FBC3F}"/>
              </a:ext>
            </a:extLst>
          </p:cNvPr>
          <p:cNvSpPr>
            <a:spLocks noGrp="1"/>
          </p:cNvSpPr>
          <p:nvPr>
            <p:ph type="dt" sz="half" idx="10"/>
          </p:nvPr>
        </p:nvSpPr>
        <p:spPr/>
        <p:txBody>
          <a:bodyPr/>
          <a:lstStyle/>
          <a:p>
            <a:fld id="{463255ED-7101-4D18-A8AE-3B5E4CB87EA5}" type="datetime1">
              <a:rPr lang="en-US" smtClean="0"/>
              <a:t>8/13/26</a:t>
            </a:fld>
            <a:endParaRPr lang="en-US"/>
          </a:p>
        </p:txBody>
      </p:sp>
      <p:sp>
        <p:nvSpPr>
          <p:cNvPr id="6" name="Footer Placeholder 5">
            <a:extLst>
              <a:ext uri="{FF2B5EF4-FFF2-40B4-BE49-F238E27FC236}">
                <a16:creationId xmlns:a16="http://schemas.microsoft.com/office/drawing/2014/main" id="{684A73E2-CF78-404C-A86F-E70A284AE9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A8F42A-11E1-42A0-8ECF-A5BBA3B8CA56}"/>
              </a:ext>
            </a:extLst>
          </p:cNvPr>
          <p:cNvSpPr>
            <a:spLocks noGrp="1"/>
          </p:cNvSpPr>
          <p:nvPr>
            <p:ph type="sldNum" sz="quarter" idx="12"/>
          </p:nvPr>
        </p:nvSpPr>
        <p:spPr/>
        <p:txBody>
          <a:bodyPr/>
          <a:lstStyle/>
          <a:p>
            <a:fld id="{E1076ED0-0DB3-4879-AAE5-5C20D22C1DF4}" type="slidenum">
              <a:rPr lang="en-US" smtClean="0"/>
              <a:t>‹#›</a:t>
            </a:fld>
            <a:endParaRPr lang="en-US"/>
          </a:p>
        </p:txBody>
      </p:sp>
      <p:grpSp>
        <p:nvGrpSpPr>
          <p:cNvPr id="8" name="Graphic 78">
            <a:extLst>
              <a:ext uri="{FF2B5EF4-FFF2-40B4-BE49-F238E27FC236}">
                <a16:creationId xmlns:a16="http://schemas.microsoft.com/office/drawing/2014/main" id="{0CB61A83-9419-49FC-8074-2AB3D34FA88B}"/>
              </a:ext>
              <a:ext uri="{C183D7F6-B498-43B3-948B-1728B52AA6E4}">
                <adec:decorative xmlns:adec="http://schemas.microsoft.com/office/drawing/2017/decorative" val="1"/>
              </a:ext>
            </a:extLst>
          </p:cNvPr>
          <p:cNvGrpSpPr/>
          <p:nvPr/>
        </p:nvGrpSpPr>
        <p:grpSpPr>
          <a:xfrm>
            <a:off x="530225" y="2319637"/>
            <a:ext cx="972241" cy="45719"/>
            <a:chOff x="4886325" y="3371754"/>
            <a:chExt cx="2418492" cy="113728"/>
          </a:xfrm>
          <a:solidFill>
            <a:schemeClr val="accent1"/>
          </a:solidFill>
        </p:grpSpPr>
        <p:sp>
          <p:nvSpPr>
            <p:cNvPr id="9" name="Graphic 78">
              <a:extLst>
                <a:ext uri="{FF2B5EF4-FFF2-40B4-BE49-F238E27FC236}">
                  <a16:creationId xmlns:a16="http://schemas.microsoft.com/office/drawing/2014/main" id="{BCD12E57-97FB-48D8-81CC-7C37E8947CB4}"/>
                </a:ext>
              </a:extLst>
            </p:cNvPr>
            <p:cNvSpPr/>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10" name="Graphic 78">
              <a:extLst>
                <a:ext uri="{FF2B5EF4-FFF2-40B4-BE49-F238E27FC236}">
                  <a16:creationId xmlns:a16="http://schemas.microsoft.com/office/drawing/2014/main" id="{E487641C-E83B-4134-88C9-1D23D5FA1836}"/>
                </a:ext>
              </a:extLst>
            </p:cNvPr>
            <p:cNvGrpSpPr/>
            <p:nvPr/>
          </p:nvGrpSpPr>
          <p:grpSpPr>
            <a:xfrm>
              <a:off x="4886709" y="3371754"/>
              <a:ext cx="2418108" cy="113728"/>
              <a:chOff x="4886709" y="3371754"/>
              <a:chExt cx="2418108" cy="113728"/>
            </a:xfrm>
            <a:grpFill/>
          </p:grpSpPr>
          <p:sp>
            <p:nvSpPr>
              <p:cNvPr id="11" name="Graphic 78">
                <a:extLst>
                  <a:ext uri="{FF2B5EF4-FFF2-40B4-BE49-F238E27FC236}">
                    <a16:creationId xmlns:a16="http://schemas.microsoft.com/office/drawing/2014/main" id="{B99AB7A6-A88C-44E1-A9DE-4126B957F88A}"/>
                  </a:ext>
                </a:extLst>
              </p:cNvPr>
              <p:cNvSpPr/>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2" name="Graphic 78">
                <a:extLst>
                  <a:ext uri="{FF2B5EF4-FFF2-40B4-BE49-F238E27FC236}">
                    <a16:creationId xmlns:a16="http://schemas.microsoft.com/office/drawing/2014/main" id="{9FF0D518-1D17-44C7-BF73-7C980481DB5B}"/>
                  </a:ext>
                </a:extLst>
              </p:cNvPr>
              <p:cNvSpPr/>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3" name="Graphic 78">
                <a:extLst>
                  <a:ext uri="{FF2B5EF4-FFF2-40B4-BE49-F238E27FC236}">
                    <a16:creationId xmlns:a16="http://schemas.microsoft.com/office/drawing/2014/main" id="{9A7A3E12-61E8-41A0-A459-15BF375FA945}"/>
                  </a:ext>
                </a:extLst>
              </p:cNvPr>
              <p:cNvSpPr/>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4" name="Graphic 78">
                <a:extLst>
                  <a:ext uri="{FF2B5EF4-FFF2-40B4-BE49-F238E27FC236}">
                    <a16:creationId xmlns:a16="http://schemas.microsoft.com/office/drawing/2014/main" id="{9E5E4A56-9100-4D60-8A34-0FE116F41FF1}"/>
                  </a:ext>
                </a:extLst>
              </p:cNvPr>
              <p:cNvSpPr/>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30312246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ECA31-EE14-41DD-9914-DA7138220460}"/>
              </a:ext>
            </a:extLst>
          </p:cNvPr>
          <p:cNvSpPr>
            <a:spLocks noGrp="1"/>
          </p:cNvSpPr>
          <p:nvPr>
            <p:ph type="title"/>
          </p:nvPr>
        </p:nvSpPr>
        <p:spPr>
          <a:xfrm>
            <a:off x="530352" y="787067"/>
            <a:ext cx="10072922"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CB22AB6-1657-4AE2-8607-2C77A25D79D9}"/>
              </a:ext>
            </a:extLst>
          </p:cNvPr>
          <p:cNvSpPr>
            <a:spLocks noGrp="1"/>
          </p:cNvSpPr>
          <p:nvPr>
            <p:ph type="body" idx="1"/>
          </p:nvPr>
        </p:nvSpPr>
        <p:spPr>
          <a:xfrm>
            <a:off x="530352" y="2521884"/>
            <a:ext cx="4845387" cy="780439"/>
          </a:xfrm>
        </p:spPr>
        <p:txBody>
          <a:bodyPr anchor="b">
            <a:normAutofit/>
          </a:bodyPr>
          <a:lstStyle>
            <a:lvl1pPr marL="0" indent="0">
              <a:buNone/>
              <a:defRPr sz="20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BAA6DC0-D4D5-4164-A3FD-6BB5CBB2BBAD}"/>
              </a:ext>
            </a:extLst>
          </p:cNvPr>
          <p:cNvSpPr>
            <a:spLocks noGrp="1"/>
          </p:cNvSpPr>
          <p:nvPr>
            <p:ph sz="half" idx="2"/>
          </p:nvPr>
        </p:nvSpPr>
        <p:spPr>
          <a:xfrm>
            <a:off x="530352" y="3366390"/>
            <a:ext cx="4845387" cy="2644796"/>
          </a:xfrm>
        </p:spPr>
        <p:txBody>
          <a:bodyPr>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129B35F8-95F3-43D1-8917-5836BAA90490}"/>
              </a:ext>
            </a:extLst>
          </p:cNvPr>
          <p:cNvSpPr>
            <a:spLocks noGrp="1"/>
          </p:cNvSpPr>
          <p:nvPr>
            <p:ph type="body" sz="quarter" idx="3"/>
          </p:nvPr>
        </p:nvSpPr>
        <p:spPr>
          <a:xfrm>
            <a:off x="5734025" y="2521884"/>
            <a:ext cx="4869249" cy="780439"/>
          </a:xfrm>
        </p:spPr>
        <p:txBody>
          <a:bodyPr anchor="b">
            <a:normAutofit/>
          </a:bodyPr>
          <a:lstStyle>
            <a:lvl1pPr marL="0" indent="0">
              <a:buNone/>
              <a:defRPr sz="20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2B639E7-F4A3-4ADE-B290-0A4F9761B977}"/>
              </a:ext>
            </a:extLst>
          </p:cNvPr>
          <p:cNvSpPr>
            <a:spLocks noGrp="1"/>
          </p:cNvSpPr>
          <p:nvPr>
            <p:ph sz="quarter" idx="4"/>
          </p:nvPr>
        </p:nvSpPr>
        <p:spPr>
          <a:xfrm>
            <a:off x="5734025" y="3366390"/>
            <a:ext cx="4869249" cy="2644796"/>
          </a:xfrm>
        </p:spPr>
        <p:txBody>
          <a:bodyPr>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CD6F296B-429F-4DFC-ABC3-0A078EA99425}"/>
              </a:ext>
            </a:extLst>
          </p:cNvPr>
          <p:cNvSpPr>
            <a:spLocks noGrp="1"/>
          </p:cNvSpPr>
          <p:nvPr>
            <p:ph type="dt" sz="half" idx="10"/>
          </p:nvPr>
        </p:nvSpPr>
        <p:spPr/>
        <p:txBody>
          <a:bodyPr/>
          <a:lstStyle/>
          <a:p>
            <a:fld id="{CD52F23D-51F6-4C94-8CD5-B9ABBF67EE23}" type="datetime1">
              <a:rPr lang="en-US" smtClean="0"/>
              <a:t>8/13/26</a:t>
            </a:fld>
            <a:endParaRPr lang="en-US"/>
          </a:p>
        </p:txBody>
      </p:sp>
      <p:sp>
        <p:nvSpPr>
          <p:cNvPr id="8" name="Footer Placeholder 7">
            <a:extLst>
              <a:ext uri="{FF2B5EF4-FFF2-40B4-BE49-F238E27FC236}">
                <a16:creationId xmlns:a16="http://schemas.microsoft.com/office/drawing/2014/main" id="{0B7103B9-D521-4910-AC15-F12F25CB952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73A6D9-123D-492C-B5CE-294EF2559FAB}"/>
              </a:ext>
            </a:extLst>
          </p:cNvPr>
          <p:cNvSpPr>
            <a:spLocks noGrp="1"/>
          </p:cNvSpPr>
          <p:nvPr>
            <p:ph type="sldNum" sz="quarter" idx="12"/>
          </p:nvPr>
        </p:nvSpPr>
        <p:spPr/>
        <p:txBody>
          <a:bodyPr/>
          <a:lstStyle/>
          <a:p>
            <a:fld id="{E1076ED0-0DB3-4879-AAE5-5C20D22C1DF4}" type="slidenum">
              <a:rPr lang="en-US" smtClean="0"/>
              <a:t>‹#›</a:t>
            </a:fld>
            <a:endParaRPr lang="en-US"/>
          </a:p>
        </p:txBody>
      </p:sp>
    </p:spTree>
    <p:extLst>
      <p:ext uri="{BB962C8B-B14F-4D97-AF65-F5344CB8AC3E}">
        <p14:creationId xmlns:p14="http://schemas.microsoft.com/office/powerpoint/2010/main" val="31236184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92A22-4B4D-4F58-9783-A0469DA4D233}"/>
              </a:ext>
            </a:extLst>
          </p:cNvPr>
          <p:cNvSpPr>
            <a:spLocks noGrp="1"/>
          </p:cNvSpPr>
          <p:nvPr>
            <p:ph type="title"/>
          </p:nvPr>
        </p:nvSpPr>
        <p:spPr>
          <a:xfrm>
            <a:off x="525718" y="787068"/>
            <a:ext cx="10077556" cy="1325563"/>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3B5EE610-5457-4E8C-B568-B8D560773B5C}"/>
              </a:ext>
            </a:extLst>
          </p:cNvPr>
          <p:cNvSpPr>
            <a:spLocks noGrp="1"/>
          </p:cNvSpPr>
          <p:nvPr>
            <p:ph type="dt" sz="half" idx="10"/>
          </p:nvPr>
        </p:nvSpPr>
        <p:spPr/>
        <p:txBody>
          <a:bodyPr/>
          <a:lstStyle/>
          <a:p>
            <a:fld id="{D51A702F-6367-4FD1-89A8-3744BE6BA9A2}" type="datetime1">
              <a:rPr lang="en-US" smtClean="0"/>
              <a:t>8/13/26</a:t>
            </a:fld>
            <a:endParaRPr lang="en-US"/>
          </a:p>
        </p:txBody>
      </p:sp>
      <p:sp>
        <p:nvSpPr>
          <p:cNvPr id="4" name="Footer Placeholder 3">
            <a:extLst>
              <a:ext uri="{FF2B5EF4-FFF2-40B4-BE49-F238E27FC236}">
                <a16:creationId xmlns:a16="http://schemas.microsoft.com/office/drawing/2014/main" id="{A0BA57BB-288A-4A30-A4EC-FF0537BC260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414C89-B968-4A85-A035-E2997A5F8498}"/>
              </a:ext>
            </a:extLst>
          </p:cNvPr>
          <p:cNvSpPr>
            <a:spLocks noGrp="1"/>
          </p:cNvSpPr>
          <p:nvPr>
            <p:ph type="sldNum" sz="quarter" idx="12"/>
          </p:nvPr>
        </p:nvSpPr>
        <p:spPr/>
        <p:txBody>
          <a:bodyPr/>
          <a:lstStyle/>
          <a:p>
            <a:fld id="{E1076ED0-0DB3-4879-AAE5-5C20D22C1DF4}" type="slidenum">
              <a:rPr lang="en-US" smtClean="0"/>
              <a:t>‹#›</a:t>
            </a:fld>
            <a:endParaRPr lang="en-US"/>
          </a:p>
        </p:txBody>
      </p:sp>
      <p:grpSp>
        <p:nvGrpSpPr>
          <p:cNvPr id="6" name="Graphic 78">
            <a:extLst>
              <a:ext uri="{FF2B5EF4-FFF2-40B4-BE49-F238E27FC236}">
                <a16:creationId xmlns:a16="http://schemas.microsoft.com/office/drawing/2014/main" id="{AC45ECC6-E29C-40EF-A7C9-5A17DAFD4299}"/>
              </a:ext>
              <a:ext uri="{C183D7F6-B498-43B3-948B-1728B52AA6E4}">
                <adec:decorative xmlns:adec="http://schemas.microsoft.com/office/drawing/2017/decorative" val="1"/>
              </a:ext>
            </a:extLst>
          </p:cNvPr>
          <p:cNvGrpSpPr/>
          <p:nvPr/>
        </p:nvGrpSpPr>
        <p:grpSpPr>
          <a:xfrm>
            <a:off x="530225" y="2352330"/>
            <a:ext cx="972241" cy="45719"/>
            <a:chOff x="4886325" y="3371754"/>
            <a:chExt cx="2418492" cy="113728"/>
          </a:xfrm>
          <a:solidFill>
            <a:schemeClr val="accent1"/>
          </a:solidFill>
        </p:grpSpPr>
        <p:sp>
          <p:nvSpPr>
            <p:cNvPr id="7" name="Graphic 78">
              <a:extLst>
                <a:ext uri="{FF2B5EF4-FFF2-40B4-BE49-F238E27FC236}">
                  <a16:creationId xmlns:a16="http://schemas.microsoft.com/office/drawing/2014/main" id="{8DA0D497-8E8F-426A-8172-894BE03F70F6}"/>
                </a:ext>
              </a:extLst>
            </p:cNvPr>
            <p:cNvSpPr/>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8" name="Graphic 78">
              <a:extLst>
                <a:ext uri="{FF2B5EF4-FFF2-40B4-BE49-F238E27FC236}">
                  <a16:creationId xmlns:a16="http://schemas.microsoft.com/office/drawing/2014/main" id="{8C0459EF-3B70-4083-8845-3A9AF847E805}"/>
                </a:ext>
              </a:extLst>
            </p:cNvPr>
            <p:cNvGrpSpPr/>
            <p:nvPr/>
          </p:nvGrpSpPr>
          <p:grpSpPr>
            <a:xfrm>
              <a:off x="4886709" y="3371754"/>
              <a:ext cx="2418108" cy="113728"/>
              <a:chOff x="4886709" y="3371754"/>
              <a:chExt cx="2418108" cy="113728"/>
            </a:xfrm>
            <a:grpFill/>
          </p:grpSpPr>
          <p:sp>
            <p:nvSpPr>
              <p:cNvPr id="9" name="Graphic 78">
                <a:extLst>
                  <a:ext uri="{FF2B5EF4-FFF2-40B4-BE49-F238E27FC236}">
                    <a16:creationId xmlns:a16="http://schemas.microsoft.com/office/drawing/2014/main" id="{53BF2B58-70F8-4288-85AB-CBDA723CDFCC}"/>
                  </a:ext>
                </a:extLst>
              </p:cNvPr>
              <p:cNvSpPr/>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0" name="Graphic 78">
                <a:extLst>
                  <a:ext uri="{FF2B5EF4-FFF2-40B4-BE49-F238E27FC236}">
                    <a16:creationId xmlns:a16="http://schemas.microsoft.com/office/drawing/2014/main" id="{A569E551-A5A0-4A8F-B999-3A6D104814A2}"/>
                  </a:ext>
                </a:extLst>
              </p:cNvPr>
              <p:cNvSpPr/>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1" name="Graphic 78">
                <a:extLst>
                  <a:ext uri="{FF2B5EF4-FFF2-40B4-BE49-F238E27FC236}">
                    <a16:creationId xmlns:a16="http://schemas.microsoft.com/office/drawing/2014/main" id="{0FB69EB5-D9AC-46E7-934E-32999C39B2E6}"/>
                  </a:ext>
                </a:extLst>
              </p:cNvPr>
              <p:cNvSpPr/>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2" name="Graphic 78">
                <a:extLst>
                  <a:ext uri="{FF2B5EF4-FFF2-40B4-BE49-F238E27FC236}">
                    <a16:creationId xmlns:a16="http://schemas.microsoft.com/office/drawing/2014/main" id="{6EABC49A-B4ED-44E4-ADB7-E432734A7C96}"/>
                  </a:ext>
                </a:extLst>
              </p:cNvPr>
              <p:cNvSpPr/>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3614650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7A339C-4093-4B40-8C90-52F005CA9A0E}"/>
              </a:ext>
            </a:extLst>
          </p:cNvPr>
          <p:cNvSpPr>
            <a:spLocks noGrp="1"/>
          </p:cNvSpPr>
          <p:nvPr>
            <p:ph type="dt" sz="half" idx="10"/>
          </p:nvPr>
        </p:nvSpPr>
        <p:spPr/>
        <p:txBody>
          <a:bodyPr/>
          <a:lstStyle/>
          <a:p>
            <a:fld id="{4A6E99BD-4B4F-4460-B452-0E8146ACCF8F}" type="datetime1">
              <a:rPr lang="en-US" smtClean="0"/>
              <a:t>8/13/26</a:t>
            </a:fld>
            <a:endParaRPr lang="en-US"/>
          </a:p>
        </p:txBody>
      </p:sp>
      <p:sp>
        <p:nvSpPr>
          <p:cNvPr id="3" name="Footer Placeholder 2">
            <a:extLst>
              <a:ext uri="{FF2B5EF4-FFF2-40B4-BE49-F238E27FC236}">
                <a16:creationId xmlns:a16="http://schemas.microsoft.com/office/drawing/2014/main" id="{DFA33F04-8E0A-4165-930C-527D781A7D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062F57B-BEB6-4973-A362-38F638E0D05C}"/>
              </a:ext>
            </a:extLst>
          </p:cNvPr>
          <p:cNvSpPr>
            <a:spLocks noGrp="1"/>
          </p:cNvSpPr>
          <p:nvPr>
            <p:ph type="sldNum" sz="quarter" idx="12"/>
          </p:nvPr>
        </p:nvSpPr>
        <p:spPr/>
        <p:txBody>
          <a:bodyPr/>
          <a:lstStyle/>
          <a:p>
            <a:fld id="{E1076ED0-0DB3-4879-AAE5-5C20D22C1DF4}" type="slidenum">
              <a:rPr lang="en-US" smtClean="0"/>
              <a:t>‹#›</a:t>
            </a:fld>
            <a:endParaRPr lang="en-US"/>
          </a:p>
        </p:txBody>
      </p:sp>
    </p:spTree>
    <p:extLst>
      <p:ext uri="{BB962C8B-B14F-4D97-AF65-F5344CB8AC3E}">
        <p14:creationId xmlns:p14="http://schemas.microsoft.com/office/powerpoint/2010/main" val="7721653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8FAC90-C2CA-44DD-8EF8-20BDD6724247}"/>
              </a:ext>
            </a:extLst>
          </p:cNvPr>
          <p:cNvSpPr>
            <a:spLocks noGrp="1"/>
          </p:cNvSpPr>
          <p:nvPr>
            <p:ph type="title"/>
          </p:nvPr>
        </p:nvSpPr>
        <p:spPr>
          <a:xfrm>
            <a:off x="530352" y="787068"/>
            <a:ext cx="4315386" cy="2223152"/>
          </a:xfrm>
        </p:spPr>
        <p:txBody>
          <a:bodyPr anchor="b">
            <a:no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EE915FB-D5F4-4CAD-AE70-3644E81802E6}"/>
              </a:ext>
            </a:extLst>
          </p:cNvPr>
          <p:cNvSpPr>
            <a:spLocks noGrp="1"/>
          </p:cNvSpPr>
          <p:nvPr>
            <p:ph idx="1"/>
          </p:nvPr>
        </p:nvSpPr>
        <p:spPr>
          <a:xfrm>
            <a:off x="5183188" y="987425"/>
            <a:ext cx="5420086" cy="4873625"/>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7374DA3-3BAC-4045-825F-B3C27B89736B}"/>
              </a:ext>
            </a:extLst>
          </p:cNvPr>
          <p:cNvSpPr>
            <a:spLocks noGrp="1"/>
          </p:cNvSpPr>
          <p:nvPr>
            <p:ph type="body" sz="half" idx="2"/>
          </p:nvPr>
        </p:nvSpPr>
        <p:spPr>
          <a:xfrm>
            <a:off x="530352" y="3429000"/>
            <a:ext cx="4315386" cy="2439988"/>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5A0D65-0423-4E45-947A-E08C8569F15F}"/>
              </a:ext>
            </a:extLst>
          </p:cNvPr>
          <p:cNvSpPr>
            <a:spLocks noGrp="1"/>
          </p:cNvSpPr>
          <p:nvPr>
            <p:ph type="dt" sz="half" idx="10"/>
          </p:nvPr>
        </p:nvSpPr>
        <p:spPr/>
        <p:txBody>
          <a:bodyPr/>
          <a:lstStyle/>
          <a:p>
            <a:fld id="{EB6FD34C-1867-42A9-AC54-D15ADD8A65E7}" type="datetime1">
              <a:rPr lang="en-US" smtClean="0"/>
              <a:t>8/13/26</a:t>
            </a:fld>
            <a:endParaRPr lang="en-US"/>
          </a:p>
        </p:txBody>
      </p:sp>
      <p:sp>
        <p:nvSpPr>
          <p:cNvPr id="6" name="Footer Placeholder 5">
            <a:extLst>
              <a:ext uri="{FF2B5EF4-FFF2-40B4-BE49-F238E27FC236}">
                <a16:creationId xmlns:a16="http://schemas.microsoft.com/office/drawing/2014/main" id="{27E6FBD0-E49F-4DE6-9264-CEDB9BAA01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816B246-A768-4B2D-96C6-9F417852636C}"/>
              </a:ext>
            </a:extLst>
          </p:cNvPr>
          <p:cNvSpPr>
            <a:spLocks noGrp="1"/>
          </p:cNvSpPr>
          <p:nvPr>
            <p:ph type="sldNum" sz="quarter" idx="12"/>
          </p:nvPr>
        </p:nvSpPr>
        <p:spPr/>
        <p:txBody>
          <a:bodyPr/>
          <a:lstStyle/>
          <a:p>
            <a:fld id="{E1076ED0-0DB3-4879-AAE5-5C20D22C1DF4}" type="slidenum">
              <a:rPr lang="en-US" smtClean="0"/>
              <a:t>‹#›</a:t>
            </a:fld>
            <a:endParaRPr lang="en-US"/>
          </a:p>
        </p:txBody>
      </p:sp>
      <p:grpSp>
        <p:nvGrpSpPr>
          <p:cNvPr id="8" name="Graphic 78">
            <a:extLst>
              <a:ext uri="{FF2B5EF4-FFF2-40B4-BE49-F238E27FC236}">
                <a16:creationId xmlns:a16="http://schemas.microsoft.com/office/drawing/2014/main" id="{839DB371-B90D-44CB-A4AF-C7BDBFD0A877}"/>
              </a:ext>
              <a:ext uri="{C183D7F6-B498-43B3-948B-1728B52AA6E4}">
                <adec:decorative xmlns:adec="http://schemas.microsoft.com/office/drawing/2017/decorative" val="1"/>
              </a:ext>
            </a:extLst>
          </p:cNvPr>
          <p:cNvGrpSpPr/>
          <p:nvPr/>
        </p:nvGrpSpPr>
        <p:grpSpPr>
          <a:xfrm>
            <a:off x="530225" y="3193468"/>
            <a:ext cx="972241" cy="45719"/>
            <a:chOff x="4886325" y="3371754"/>
            <a:chExt cx="2418492" cy="113728"/>
          </a:xfrm>
          <a:solidFill>
            <a:schemeClr val="accent1"/>
          </a:solidFill>
        </p:grpSpPr>
        <p:sp>
          <p:nvSpPr>
            <p:cNvPr id="9" name="Graphic 78">
              <a:extLst>
                <a:ext uri="{FF2B5EF4-FFF2-40B4-BE49-F238E27FC236}">
                  <a16:creationId xmlns:a16="http://schemas.microsoft.com/office/drawing/2014/main" id="{0C845011-2FC2-40F7-B0C6-49CBBA72B9CB}"/>
                </a:ext>
              </a:extLst>
            </p:cNvPr>
            <p:cNvSpPr/>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10" name="Graphic 78">
              <a:extLst>
                <a:ext uri="{FF2B5EF4-FFF2-40B4-BE49-F238E27FC236}">
                  <a16:creationId xmlns:a16="http://schemas.microsoft.com/office/drawing/2014/main" id="{82BC78B8-5139-436F-AD47-3CC03903FDDC}"/>
                </a:ext>
              </a:extLst>
            </p:cNvPr>
            <p:cNvGrpSpPr/>
            <p:nvPr/>
          </p:nvGrpSpPr>
          <p:grpSpPr>
            <a:xfrm>
              <a:off x="4886709" y="3371754"/>
              <a:ext cx="2418108" cy="113728"/>
              <a:chOff x="4886709" y="3371754"/>
              <a:chExt cx="2418108" cy="113728"/>
            </a:xfrm>
            <a:grpFill/>
          </p:grpSpPr>
          <p:sp>
            <p:nvSpPr>
              <p:cNvPr id="11" name="Graphic 78">
                <a:extLst>
                  <a:ext uri="{FF2B5EF4-FFF2-40B4-BE49-F238E27FC236}">
                    <a16:creationId xmlns:a16="http://schemas.microsoft.com/office/drawing/2014/main" id="{F9DC17BA-1278-45C9-B1BF-B9F1518E1F29}"/>
                  </a:ext>
                </a:extLst>
              </p:cNvPr>
              <p:cNvSpPr/>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2" name="Graphic 78">
                <a:extLst>
                  <a:ext uri="{FF2B5EF4-FFF2-40B4-BE49-F238E27FC236}">
                    <a16:creationId xmlns:a16="http://schemas.microsoft.com/office/drawing/2014/main" id="{99637B9F-CC26-4669-81F0-A942B4F72D61}"/>
                  </a:ext>
                </a:extLst>
              </p:cNvPr>
              <p:cNvSpPr/>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3" name="Graphic 78">
                <a:extLst>
                  <a:ext uri="{FF2B5EF4-FFF2-40B4-BE49-F238E27FC236}">
                    <a16:creationId xmlns:a16="http://schemas.microsoft.com/office/drawing/2014/main" id="{2BB8F115-0030-47B4-BAF4-C15D1EA27B11}"/>
                  </a:ext>
                </a:extLst>
              </p:cNvPr>
              <p:cNvSpPr/>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4" name="Graphic 78">
                <a:extLst>
                  <a:ext uri="{FF2B5EF4-FFF2-40B4-BE49-F238E27FC236}">
                    <a16:creationId xmlns:a16="http://schemas.microsoft.com/office/drawing/2014/main" id="{662F9949-4F1A-4708-824B-E876E9BEDA16}"/>
                  </a:ext>
                </a:extLst>
              </p:cNvPr>
              <p:cNvSpPr/>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32295247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CB0C8-915E-4BF2-976E-B8D7EDC591F9}"/>
              </a:ext>
            </a:extLst>
          </p:cNvPr>
          <p:cNvSpPr>
            <a:spLocks noGrp="1"/>
          </p:cNvSpPr>
          <p:nvPr>
            <p:ph type="title"/>
          </p:nvPr>
        </p:nvSpPr>
        <p:spPr>
          <a:xfrm>
            <a:off x="530352" y="787068"/>
            <a:ext cx="3932237" cy="2223152"/>
          </a:xfrm>
        </p:spPr>
        <p:txBody>
          <a:bodyPr anchor="b">
            <a:no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710714E6-8E50-4B50-A2E0-F9D20155EB9B}"/>
              </a:ext>
            </a:extLst>
          </p:cNvPr>
          <p:cNvSpPr>
            <a:spLocks noGrp="1"/>
          </p:cNvSpPr>
          <p:nvPr>
            <p:ph type="pic" idx="1"/>
          </p:nvPr>
        </p:nvSpPr>
        <p:spPr>
          <a:xfrm>
            <a:off x="5183188" y="987425"/>
            <a:ext cx="5420086"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E0D67A6C-5CA5-4EF0-B1C4-ED85FF255AE3}"/>
              </a:ext>
            </a:extLst>
          </p:cNvPr>
          <p:cNvSpPr>
            <a:spLocks noGrp="1"/>
          </p:cNvSpPr>
          <p:nvPr>
            <p:ph type="body" sz="half" idx="2"/>
          </p:nvPr>
        </p:nvSpPr>
        <p:spPr>
          <a:xfrm>
            <a:off x="530352" y="3429000"/>
            <a:ext cx="3932237" cy="2439987"/>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C76474-31D4-4567-B4EC-B6AF24488AE7}"/>
              </a:ext>
            </a:extLst>
          </p:cNvPr>
          <p:cNvSpPr>
            <a:spLocks noGrp="1"/>
          </p:cNvSpPr>
          <p:nvPr>
            <p:ph type="dt" sz="half" idx="10"/>
          </p:nvPr>
        </p:nvSpPr>
        <p:spPr/>
        <p:txBody>
          <a:bodyPr/>
          <a:lstStyle/>
          <a:p>
            <a:fld id="{336133E9-A654-4C17-8C3C-DDCAC83D6EBF}" type="datetime1">
              <a:rPr lang="en-US" smtClean="0"/>
              <a:t>8/13/26</a:t>
            </a:fld>
            <a:endParaRPr lang="en-US"/>
          </a:p>
        </p:txBody>
      </p:sp>
      <p:sp>
        <p:nvSpPr>
          <p:cNvPr id="6" name="Footer Placeholder 5">
            <a:extLst>
              <a:ext uri="{FF2B5EF4-FFF2-40B4-BE49-F238E27FC236}">
                <a16:creationId xmlns:a16="http://schemas.microsoft.com/office/drawing/2014/main" id="{5C902DE0-33F5-4372-8EB5-F5746D344A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5C5C2EF-849D-4B2C-8ED6-D26553657DBA}"/>
              </a:ext>
            </a:extLst>
          </p:cNvPr>
          <p:cNvSpPr>
            <a:spLocks noGrp="1"/>
          </p:cNvSpPr>
          <p:nvPr>
            <p:ph type="sldNum" sz="quarter" idx="12"/>
          </p:nvPr>
        </p:nvSpPr>
        <p:spPr/>
        <p:txBody>
          <a:bodyPr/>
          <a:lstStyle/>
          <a:p>
            <a:fld id="{E1076ED0-0DB3-4879-AAE5-5C20D22C1DF4}" type="slidenum">
              <a:rPr lang="en-US" smtClean="0"/>
              <a:t>‹#›</a:t>
            </a:fld>
            <a:endParaRPr lang="en-US"/>
          </a:p>
        </p:txBody>
      </p:sp>
      <p:grpSp>
        <p:nvGrpSpPr>
          <p:cNvPr id="8" name="Graphic 78">
            <a:extLst>
              <a:ext uri="{FF2B5EF4-FFF2-40B4-BE49-F238E27FC236}">
                <a16:creationId xmlns:a16="http://schemas.microsoft.com/office/drawing/2014/main" id="{7627CBC2-9DC2-4EE8-A2D5-849E30F22017}"/>
              </a:ext>
              <a:ext uri="{C183D7F6-B498-43B3-948B-1728B52AA6E4}">
                <adec:decorative xmlns:adec="http://schemas.microsoft.com/office/drawing/2017/decorative" val="1"/>
              </a:ext>
            </a:extLst>
          </p:cNvPr>
          <p:cNvGrpSpPr/>
          <p:nvPr/>
        </p:nvGrpSpPr>
        <p:grpSpPr>
          <a:xfrm>
            <a:off x="530225" y="3193468"/>
            <a:ext cx="972241" cy="45719"/>
            <a:chOff x="4886325" y="3371754"/>
            <a:chExt cx="2418492" cy="113728"/>
          </a:xfrm>
          <a:solidFill>
            <a:schemeClr val="accent1"/>
          </a:solidFill>
        </p:grpSpPr>
        <p:sp>
          <p:nvSpPr>
            <p:cNvPr id="9" name="Graphic 78">
              <a:extLst>
                <a:ext uri="{FF2B5EF4-FFF2-40B4-BE49-F238E27FC236}">
                  <a16:creationId xmlns:a16="http://schemas.microsoft.com/office/drawing/2014/main" id="{9FB4AEFC-63AB-4831-8EC1-E8145604D8D9}"/>
                </a:ext>
              </a:extLst>
            </p:cNvPr>
            <p:cNvSpPr/>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10" name="Graphic 78">
              <a:extLst>
                <a:ext uri="{FF2B5EF4-FFF2-40B4-BE49-F238E27FC236}">
                  <a16:creationId xmlns:a16="http://schemas.microsoft.com/office/drawing/2014/main" id="{811E1337-D5DA-408D-91F3-A6A35FCDD0B9}"/>
                </a:ext>
              </a:extLst>
            </p:cNvPr>
            <p:cNvGrpSpPr/>
            <p:nvPr/>
          </p:nvGrpSpPr>
          <p:grpSpPr>
            <a:xfrm>
              <a:off x="4886709" y="3371754"/>
              <a:ext cx="2418108" cy="113728"/>
              <a:chOff x="4886709" y="3371754"/>
              <a:chExt cx="2418108" cy="113728"/>
            </a:xfrm>
            <a:grpFill/>
          </p:grpSpPr>
          <p:sp>
            <p:nvSpPr>
              <p:cNvPr id="11" name="Graphic 78">
                <a:extLst>
                  <a:ext uri="{FF2B5EF4-FFF2-40B4-BE49-F238E27FC236}">
                    <a16:creationId xmlns:a16="http://schemas.microsoft.com/office/drawing/2014/main" id="{1E473FA4-FD80-4D04-AAC5-63B9A4D80778}"/>
                  </a:ext>
                </a:extLst>
              </p:cNvPr>
              <p:cNvSpPr/>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2" name="Graphic 78">
                <a:extLst>
                  <a:ext uri="{FF2B5EF4-FFF2-40B4-BE49-F238E27FC236}">
                    <a16:creationId xmlns:a16="http://schemas.microsoft.com/office/drawing/2014/main" id="{FCB457B9-48DE-4921-8C3F-996598075B1F}"/>
                  </a:ext>
                </a:extLst>
              </p:cNvPr>
              <p:cNvSpPr/>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3" name="Graphic 78">
                <a:extLst>
                  <a:ext uri="{FF2B5EF4-FFF2-40B4-BE49-F238E27FC236}">
                    <a16:creationId xmlns:a16="http://schemas.microsoft.com/office/drawing/2014/main" id="{53C9DB95-9A61-4553-8D82-D2BE26FCBC6E}"/>
                  </a:ext>
                </a:extLst>
              </p:cNvPr>
              <p:cNvSpPr/>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4" name="Graphic 78">
                <a:extLst>
                  <a:ext uri="{FF2B5EF4-FFF2-40B4-BE49-F238E27FC236}">
                    <a16:creationId xmlns:a16="http://schemas.microsoft.com/office/drawing/2014/main" id="{0EAE371F-24C9-4738-834F-FAF5A5C9ACE1}"/>
                  </a:ext>
                </a:extLst>
              </p:cNvPr>
              <p:cNvSpPr/>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42770175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29F2C5-A3FC-44EF-BA15-CEC83C83D67C}"/>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5040D3-67DB-455C-AD79-49E185DB63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B2B07A-258E-42DD-9A68-2C76F7D54040}"/>
              </a:ext>
            </a:extLst>
          </p:cNvPr>
          <p:cNvSpPr>
            <a:spLocks noGrp="1"/>
          </p:cNvSpPr>
          <p:nvPr>
            <p:ph type="dt" sz="half" idx="10"/>
          </p:nvPr>
        </p:nvSpPr>
        <p:spPr/>
        <p:txBody>
          <a:bodyPr/>
          <a:lstStyle/>
          <a:p>
            <a:fld id="{A4649BD0-10DB-43E7-8F22-40B3D51B8FC3}" type="datetime1">
              <a:rPr lang="en-US" smtClean="0"/>
              <a:t>8/13/26</a:t>
            </a:fld>
            <a:endParaRPr lang="en-US"/>
          </a:p>
        </p:txBody>
      </p:sp>
      <p:sp>
        <p:nvSpPr>
          <p:cNvPr id="5" name="Footer Placeholder 4">
            <a:extLst>
              <a:ext uri="{FF2B5EF4-FFF2-40B4-BE49-F238E27FC236}">
                <a16:creationId xmlns:a16="http://schemas.microsoft.com/office/drawing/2014/main" id="{7C01E9BC-3BB8-40CD-9294-59A2E59E1B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13979D-5589-4770-9D29-046F2B506C33}"/>
              </a:ext>
            </a:extLst>
          </p:cNvPr>
          <p:cNvSpPr>
            <a:spLocks noGrp="1"/>
          </p:cNvSpPr>
          <p:nvPr>
            <p:ph type="sldNum" sz="quarter" idx="12"/>
          </p:nvPr>
        </p:nvSpPr>
        <p:spPr/>
        <p:txBody>
          <a:bodyPr/>
          <a:lstStyle/>
          <a:p>
            <a:fld id="{E1076ED0-0DB3-4879-AAE5-5C20D22C1DF4}" type="slidenum">
              <a:rPr lang="en-US" smtClean="0"/>
              <a:t>‹#›</a:t>
            </a:fld>
            <a:endParaRPr lang="en-US"/>
          </a:p>
        </p:txBody>
      </p:sp>
      <p:grpSp>
        <p:nvGrpSpPr>
          <p:cNvPr id="7" name="Graphic 78">
            <a:extLst>
              <a:ext uri="{FF2B5EF4-FFF2-40B4-BE49-F238E27FC236}">
                <a16:creationId xmlns:a16="http://schemas.microsoft.com/office/drawing/2014/main" id="{12EF7969-DB38-4989-A65C-9D190A245515}"/>
              </a:ext>
              <a:ext uri="{C183D7F6-B498-43B3-948B-1728B52AA6E4}">
                <adec:decorative xmlns:adec="http://schemas.microsoft.com/office/drawing/2017/decorative" val="1"/>
              </a:ext>
            </a:extLst>
          </p:cNvPr>
          <p:cNvGrpSpPr/>
          <p:nvPr/>
        </p:nvGrpSpPr>
        <p:grpSpPr>
          <a:xfrm>
            <a:off x="530225" y="2333456"/>
            <a:ext cx="972241" cy="45719"/>
            <a:chOff x="4886325" y="3371754"/>
            <a:chExt cx="2418492" cy="113728"/>
          </a:xfrm>
          <a:solidFill>
            <a:schemeClr val="accent1"/>
          </a:solidFill>
        </p:grpSpPr>
        <p:sp>
          <p:nvSpPr>
            <p:cNvPr id="8" name="Graphic 78">
              <a:extLst>
                <a:ext uri="{FF2B5EF4-FFF2-40B4-BE49-F238E27FC236}">
                  <a16:creationId xmlns:a16="http://schemas.microsoft.com/office/drawing/2014/main" id="{2145BE25-C437-45FE-A3D3-BBAAF108CC9B}"/>
                </a:ext>
              </a:extLst>
            </p:cNvPr>
            <p:cNvSpPr/>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9" name="Graphic 78">
              <a:extLst>
                <a:ext uri="{FF2B5EF4-FFF2-40B4-BE49-F238E27FC236}">
                  <a16:creationId xmlns:a16="http://schemas.microsoft.com/office/drawing/2014/main" id="{4A9D0FA0-682C-4076-B779-D865AEEFC66C}"/>
                </a:ext>
              </a:extLst>
            </p:cNvPr>
            <p:cNvGrpSpPr/>
            <p:nvPr/>
          </p:nvGrpSpPr>
          <p:grpSpPr>
            <a:xfrm>
              <a:off x="4886709" y="3371754"/>
              <a:ext cx="2418108" cy="113728"/>
              <a:chOff x="4886709" y="3371754"/>
              <a:chExt cx="2418108" cy="113728"/>
            </a:xfrm>
            <a:grpFill/>
          </p:grpSpPr>
          <p:sp>
            <p:nvSpPr>
              <p:cNvPr id="10" name="Graphic 78">
                <a:extLst>
                  <a:ext uri="{FF2B5EF4-FFF2-40B4-BE49-F238E27FC236}">
                    <a16:creationId xmlns:a16="http://schemas.microsoft.com/office/drawing/2014/main" id="{AB60163C-1A2D-4F00-BC61-8A3C11E2D2BE}"/>
                  </a:ext>
                </a:extLst>
              </p:cNvPr>
              <p:cNvSpPr/>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1" name="Graphic 78">
                <a:extLst>
                  <a:ext uri="{FF2B5EF4-FFF2-40B4-BE49-F238E27FC236}">
                    <a16:creationId xmlns:a16="http://schemas.microsoft.com/office/drawing/2014/main" id="{3FF8D873-9CF9-4A0A-A7B8-875C0B8233D6}"/>
                  </a:ext>
                </a:extLst>
              </p:cNvPr>
              <p:cNvSpPr/>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2" name="Graphic 78">
                <a:extLst>
                  <a:ext uri="{FF2B5EF4-FFF2-40B4-BE49-F238E27FC236}">
                    <a16:creationId xmlns:a16="http://schemas.microsoft.com/office/drawing/2014/main" id="{2B645470-F624-4417-A8A4-FC242E43C9DB}"/>
                  </a:ext>
                </a:extLst>
              </p:cNvPr>
              <p:cNvSpPr/>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3" name="Graphic 78">
                <a:extLst>
                  <a:ext uri="{FF2B5EF4-FFF2-40B4-BE49-F238E27FC236}">
                    <a16:creationId xmlns:a16="http://schemas.microsoft.com/office/drawing/2014/main" id="{ECC7EFEF-6B2A-4210-9275-0077ACF2827B}"/>
                  </a:ext>
                </a:extLst>
              </p:cNvPr>
              <p:cNvSpPr/>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42025542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6693CD-CB65-4F37-A6DA-F300B93C14D9}"/>
              </a:ext>
            </a:extLst>
          </p:cNvPr>
          <p:cNvSpPr>
            <a:spLocks noGrp="1"/>
          </p:cNvSpPr>
          <p:nvPr>
            <p:ph type="title" orient="vert"/>
          </p:nvPr>
        </p:nvSpPr>
        <p:spPr>
          <a:xfrm>
            <a:off x="7974374" y="787067"/>
            <a:ext cx="2628900" cy="5389895"/>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7448D117-7AE6-4831-9867-5145F64A0C24}"/>
              </a:ext>
            </a:extLst>
          </p:cNvPr>
          <p:cNvSpPr>
            <a:spLocks noGrp="1"/>
          </p:cNvSpPr>
          <p:nvPr>
            <p:ph type="body" orient="vert" idx="1"/>
          </p:nvPr>
        </p:nvSpPr>
        <p:spPr>
          <a:xfrm>
            <a:off x="525719" y="787067"/>
            <a:ext cx="7039402" cy="538989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4988CF8-397F-485E-8081-AFA4DADD440C}"/>
              </a:ext>
            </a:extLst>
          </p:cNvPr>
          <p:cNvSpPr>
            <a:spLocks noGrp="1"/>
          </p:cNvSpPr>
          <p:nvPr>
            <p:ph type="dt" sz="half" idx="10"/>
          </p:nvPr>
        </p:nvSpPr>
        <p:spPr/>
        <p:txBody>
          <a:bodyPr/>
          <a:lstStyle/>
          <a:p>
            <a:fld id="{0A16C79C-F566-427A-93F6-434A4E613134}" type="datetime1">
              <a:rPr lang="en-US" smtClean="0"/>
              <a:t>8/13/26</a:t>
            </a:fld>
            <a:endParaRPr lang="en-US"/>
          </a:p>
        </p:txBody>
      </p:sp>
      <p:sp>
        <p:nvSpPr>
          <p:cNvPr id="5" name="Footer Placeholder 4">
            <a:extLst>
              <a:ext uri="{FF2B5EF4-FFF2-40B4-BE49-F238E27FC236}">
                <a16:creationId xmlns:a16="http://schemas.microsoft.com/office/drawing/2014/main" id="{83CE4773-4660-4F21-83CF-1A449395B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B59537-EB47-40FA-893E-785D6FE00A5C}"/>
              </a:ext>
            </a:extLst>
          </p:cNvPr>
          <p:cNvSpPr>
            <a:spLocks noGrp="1"/>
          </p:cNvSpPr>
          <p:nvPr>
            <p:ph type="sldNum" sz="quarter" idx="12"/>
          </p:nvPr>
        </p:nvSpPr>
        <p:spPr/>
        <p:txBody>
          <a:bodyPr/>
          <a:lstStyle/>
          <a:p>
            <a:fld id="{E1076ED0-0DB3-4879-AAE5-5C20D22C1DF4}" type="slidenum">
              <a:rPr lang="en-US" smtClean="0"/>
              <a:t>‹#›</a:t>
            </a:fld>
            <a:endParaRPr lang="en-US"/>
          </a:p>
        </p:txBody>
      </p:sp>
      <p:grpSp>
        <p:nvGrpSpPr>
          <p:cNvPr id="7" name="Graphic 78">
            <a:extLst>
              <a:ext uri="{FF2B5EF4-FFF2-40B4-BE49-F238E27FC236}">
                <a16:creationId xmlns:a16="http://schemas.microsoft.com/office/drawing/2014/main" id="{588F505F-2957-41FC-9AAA-962853A6719E}"/>
              </a:ext>
              <a:ext uri="{C183D7F6-B498-43B3-948B-1728B52AA6E4}">
                <adec:decorative xmlns:adec="http://schemas.microsoft.com/office/drawing/2017/decorative" val="1"/>
              </a:ext>
            </a:extLst>
          </p:cNvPr>
          <p:cNvGrpSpPr/>
          <p:nvPr/>
        </p:nvGrpSpPr>
        <p:grpSpPr>
          <a:xfrm rot="5400000">
            <a:off x="7283627" y="1250328"/>
            <a:ext cx="972241" cy="45719"/>
            <a:chOff x="4886325" y="3371754"/>
            <a:chExt cx="2418492" cy="113728"/>
          </a:xfrm>
          <a:solidFill>
            <a:schemeClr val="accent1"/>
          </a:solidFill>
        </p:grpSpPr>
        <p:sp>
          <p:nvSpPr>
            <p:cNvPr id="8" name="Graphic 78">
              <a:extLst>
                <a:ext uri="{FF2B5EF4-FFF2-40B4-BE49-F238E27FC236}">
                  <a16:creationId xmlns:a16="http://schemas.microsoft.com/office/drawing/2014/main" id="{091A36EB-8545-4EFE-B619-165D36D644D1}"/>
                </a:ext>
              </a:extLst>
            </p:cNvPr>
            <p:cNvSpPr/>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9" name="Graphic 78">
              <a:extLst>
                <a:ext uri="{FF2B5EF4-FFF2-40B4-BE49-F238E27FC236}">
                  <a16:creationId xmlns:a16="http://schemas.microsoft.com/office/drawing/2014/main" id="{8D075D29-6706-486B-A55A-13866882BA88}"/>
                </a:ext>
              </a:extLst>
            </p:cNvPr>
            <p:cNvGrpSpPr/>
            <p:nvPr/>
          </p:nvGrpSpPr>
          <p:grpSpPr>
            <a:xfrm>
              <a:off x="4886709" y="3371754"/>
              <a:ext cx="2418108" cy="113728"/>
              <a:chOff x="4886709" y="3371754"/>
              <a:chExt cx="2418108" cy="113728"/>
            </a:xfrm>
            <a:grpFill/>
          </p:grpSpPr>
          <p:sp>
            <p:nvSpPr>
              <p:cNvPr id="10" name="Graphic 78">
                <a:extLst>
                  <a:ext uri="{FF2B5EF4-FFF2-40B4-BE49-F238E27FC236}">
                    <a16:creationId xmlns:a16="http://schemas.microsoft.com/office/drawing/2014/main" id="{3FAE751A-10F0-48F2-BBC3-D2FE499B345B}"/>
                  </a:ext>
                </a:extLst>
              </p:cNvPr>
              <p:cNvSpPr/>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1" name="Graphic 78">
                <a:extLst>
                  <a:ext uri="{FF2B5EF4-FFF2-40B4-BE49-F238E27FC236}">
                    <a16:creationId xmlns:a16="http://schemas.microsoft.com/office/drawing/2014/main" id="{52289CAF-683C-4BCC-8AA5-95A3BF799B0F}"/>
                  </a:ext>
                </a:extLst>
              </p:cNvPr>
              <p:cNvSpPr/>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2" name="Graphic 78">
                <a:extLst>
                  <a:ext uri="{FF2B5EF4-FFF2-40B4-BE49-F238E27FC236}">
                    <a16:creationId xmlns:a16="http://schemas.microsoft.com/office/drawing/2014/main" id="{3BC8403A-C46F-4DA1-A015-00A80215F289}"/>
                  </a:ext>
                </a:extLst>
              </p:cNvPr>
              <p:cNvSpPr/>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3" name="Graphic 78">
                <a:extLst>
                  <a:ext uri="{FF2B5EF4-FFF2-40B4-BE49-F238E27FC236}">
                    <a16:creationId xmlns:a16="http://schemas.microsoft.com/office/drawing/2014/main" id="{A797D957-3A2C-42DF-B73E-CBB47BE036B7}"/>
                  </a:ext>
                </a:extLst>
              </p:cNvPr>
              <p:cNvSpPr/>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27664905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19" name="Freeform: Shape 18">
            <a:extLst>
              <a:ext uri="{FF2B5EF4-FFF2-40B4-BE49-F238E27FC236}">
                <a16:creationId xmlns:a16="http://schemas.microsoft.com/office/drawing/2014/main" id="{435959F4-53DA-47FF-BC24-1E5B75C69876}"/>
              </a:ext>
            </a:extLst>
          </p:cNvPr>
          <p:cNvSpPr/>
          <p:nvPr/>
        </p:nvSpPr>
        <p:spPr>
          <a:xfrm>
            <a:off x="9753030" y="5516668"/>
            <a:ext cx="2438970" cy="1341332"/>
          </a:xfrm>
          <a:custGeom>
            <a:avLst/>
            <a:gdLst>
              <a:gd name="connsiteX0" fmla="*/ 2025355 w 2438970"/>
              <a:gd name="connsiteY0" fmla="*/ 235 h 1341332"/>
              <a:gd name="connsiteX1" fmla="*/ 2381960 w 2438970"/>
              <a:gd name="connsiteY1" fmla="*/ 44517 h 1341332"/>
              <a:gd name="connsiteX2" fmla="*/ 2438970 w 2438970"/>
              <a:gd name="connsiteY2" fmla="*/ 58872 h 1341332"/>
              <a:gd name="connsiteX3" fmla="*/ 2438970 w 2438970"/>
              <a:gd name="connsiteY3" fmla="*/ 1341332 h 1341332"/>
              <a:gd name="connsiteX4" fmla="*/ 0 w 2438970"/>
              <a:gd name="connsiteY4" fmla="*/ 1341332 h 1341332"/>
              <a:gd name="connsiteX5" fmla="*/ 13333 w 2438970"/>
              <a:gd name="connsiteY5" fmla="*/ 1328018 h 1341332"/>
              <a:gd name="connsiteX6" fmla="*/ 936262 w 2438970"/>
              <a:gd name="connsiteY6" fmla="*/ 459947 h 1341332"/>
              <a:gd name="connsiteX7" fmla="*/ 1554028 w 2438970"/>
              <a:gd name="connsiteY7" fmla="*/ 71153 h 1341332"/>
              <a:gd name="connsiteX8" fmla="*/ 2025355 w 2438970"/>
              <a:gd name="connsiteY8" fmla="*/ 235 h 1341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38970" h="1341332">
                <a:moveTo>
                  <a:pt x="2025355" y="235"/>
                </a:moveTo>
                <a:cubicBezTo>
                  <a:pt x="2143847" y="2306"/>
                  <a:pt x="2262766" y="17993"/>
                  <a:pt x="2381960" y="44517"/>
                </a:cubicBezTo>
                <a:lnTo>
                  <a:pt x="2438970" y="58872"/>
                </a:lnTo>
                <a:lnTo>
                  <a:pt x="2438970" y="1341332"/>
                </a:lnTo>
                <a:lnTo>
                  <a:pt x="0" y="1341332"/>
                </a:lnTo>
                <a:lnTo>
                  <a:pt x="13333" y="1328018"/>
                </a:lnTo>
                <a:cubicBezTo>
                  <a:pt x="324723" y="1028950"/>
                  <a:pt x="645390" y="738459"/>
                  <a:pt x="936262" y="459947"/>
                </a:cubicBezTo>
                <a:cubicBezTo>
                  <a:pt x="1139660" y="265152"/>
                  <a:pt x="1345794" y="140817"/>
                  <a:pt x="1554028" y="71153"/>
                </a:cubicBezTo>
                <a:cubicBezTo>
                  <a:pt x="1710136" y="18918"/>
                  <a:pt x="1867365" y="-2526"/>
                  <a:pt x="2025355" y="235"/>
                </a:cubicBezTo>
                <a:close/>
              </a:path>
            </a:pathLst>
          </a:custGeom>
          <a:solidFill>
            <a:schemeClr val="accent2">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20" name="Group 19">
            <a:extLst>
              <a:ext uri="{FF2B5EF4-FFF2-40B4-BE49-F238E27FC236}">
                <a16:creationId xmlns:a16="http://schemas.microsoft.com/office/drawing/2014/main" id="{A7CF83E8-F6F0-41E3-B580-7412A04DDFB5}"/>
              </a:ext>
            </a:extLst>
          </p:cNvPr>
          <p:cNvGrpSpPr/>
          <p:nvPr/>
        </p:nvGrpSpPr>
        <p:grpSpPr>
          <a:xfrm>
            <a:off x="10776050" y="5204030"/>
            <a:ext cx="886141" cy="802497"/>
            <a:chOff x="10948005" y="3272152"/>
            <a:chExt cx="868640" cy="786648"/>
          </a:xfrm>
          <a:solidFill>
            <a:schemeClr val="accent1"/>
          </a:solidFill>
        </p:grpSpPr>
        <p:sp>
          <p:nvSpPr>
            <p:cNvPr id="21" name="Freeform: Shape 20">
              <a:extLst>
                <a:ext uri="{FF2B5EF4-FFF2-40B4-BE49-F238E27FC236}">
                  <a16:creationId xmlns:a16="http://schemas.microsoft.com/office/drawing/2014/main" id="{1A0B6DBB-705D-48D0-842C-F9DFA7684D19}"/>
                </a:ext>
              </a:extLst>
            </p:cNvPr>
            <p:cNvSpPr/>
            <p:nvPr/>
          </p:nvSpPr>
          <p:spPr>
            <a:xfrm>
              <a:off x="11194317" y="3944888"/>
              <a:ext cx="128449" cy="113912"/>
            </a:xfrm>
            <a:custGeom>
              <a:avLst/>
              <a:gdLst>
                <a:gd name="connsiteX0" fmla="*/ 237621 w 453152"/>
                <a:gd name="connsiteY0" fmla="*/ 965 h 401867"/>
                <a:gd name="connsiteX1" fmla="*/ 370246 w 453152"/>
                <a:gd name="connsiteY1" fmla="*/ 23666 h 401867"/>
                <a:gd name="connsiteX2" fmla="*/ 437392 w 453152"/>
                <a:gd name="connsiteY2" fmla="*/ 198545 h 401867"/>
                <a:gd name="connsiteX3" fmla="*/ 67745 w 453152"/>
                <a:gd name="connsiteY3" fmla="*/ 392003 h 401867"/>
                <a:gd name="connsiteX4" fmla="*/ 911 w 453152"/>
                <a:gd name="connsiteY4" fmla="*/ 254095 h 401867"/>
                <a:gd name="connsiteX5" fmla="*/ 115564 w 453152"/>
                <a:gd name="connsiteY5" fmla="*/ 51160 h 401867"/>
                <a:gd name="connsiteX6" fmla="*/ 237621 w 453152"/>
                <a:gd name="connsiteY6" fmla="*/ 965 h 40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152" h="401867">
                  <a:moveTo>
                    <a:pt x="237621" y="965"/>
                  </a:moveTo>
                  <a:cubicBezTo>
                    <a:pt x="283632" y="-2971"/>
                    <a:pt x="331405" y="5243"/>
                    <a:pt x="370246" y="23666"/>
                  </a:cubicBezTo>
                  <a:cubicBezTo>
                    <a:pt x="436830" y="55275"/>
                    <a:pt x="477168" y="116810"/>
                    <a:pt x="437392" y="198545"/>
                  </a:cubicBezTo>
                  <a:cubicBezTo>
                    <a:pt x="391568" y="292624"/>
                    <a:pt x="176850" y="441630"/>
                    <a:pt x="67745" y="392003"/>
                  </a:cubicBezTo>
                  <a:cubicBezTo>
                    <a:pt x="18056" y="369372"/>
                    <a:pt x="-5012" y="308398"/>
                    <a:pt x="911" y="254095"/>
                  </a:cubicBezTo>
                  <a:cubicBezTo>
                    <a:pt x="9203" y="178033"/>
                    <a:pt x="61012" y="103094"/>
                    <a:pt x="115564" y="51160"/>
                  </a:cubicBezTo>
                  <a:cubicBezTo>
                    <a:pt x="147361" y="20985"/>
                    <a:pt x="191610" y="4900"/>
                    <a:pt x="237621" y="96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2" name="Freeform: Shape 21">
              <a:extLst>
                <a:ext uri="{FF2B5EF4-FFF2-40B4-BE49-F238E27FC236}">
                  <a16:creationId xmlns:a16="http://schemas.microsoft.com/office/drawing/2014/main" id="{C194A764-16E1-4D0D-9357-76F80E6086C0}"/>
                </a:ext>
              </a:extLst>
            </p:cNvPr>
            <p:cNvSpPr/>
            <p:nvPr/>
          </p:nvSpPr>
          <p:spPr>
            <a:xfrm>
              <a:off x="10953045" y="3808430"/>
              <a:ext cx="144912" cy="193414"/>
            </a:xfrm>
            <a:custGeom>
              <a:avLst/>
              <a:gdLst>
                <a:gd name="connsiteX0" fmla="*/ 390625 w 511232"/>
                <a:gd name="connsiteY0" fmla="*/ 1621 h 682341"/>
                <a:gd name="connsiteX1" fmla="*/ 508142 w 511232"/>
                <a:gd name="connsiteY1" fmla="*/ 64038 h 682341"/>
                <a:gd name="connsiteX2" fmla="*/ 508453 w 511232"/>
                <a:gd name="connsiteY2" fmla="*/ 121832 h 682341"/>
                <a:gd name="connsiteX3" fmla="*/ 316492 w 511232"/>
                <a:gd name="connsiteY3" fmla="*/ 567602 h 682341"/>
                <a:gd name="connsiteX4" fmla="*/ 80265 w 511232"/>
                <a:gd name="connsiteY4" fmla="*/ 640359 h 682341"/>
                <a:gd name="connsiteX5" fmla="*/ 13306 w 511232"/>
                <a:gd name="connsiteY5" fmla="*/ 274828 h 682341"/>
                <a:gd name="connsiteX6" fmla="*/ 140989 w 511232"/>
                <a:gd name="connsiteY6" fmla="*/ 107181 h 682341"/>
                <a:gd name="connsiteX7" fmla="*/ 390625 w 511232"/>
                <a:gd name="connsiteY7" fmla="*/ 1621 h 682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232" h="682341">
                  <a:moveTo>
                    <a:pt x="390625" y="1621"/>
                  </a:moveTo>
                  <a:cubicBezTo>
                    <a:pt x="446543" y="-5212"/>
                    <a:pt x="493343" y="8441"/>
                    <a:pt x="508142" y="64038"/>
                  </a:cubicBezTo>
                  <a:cubicBezTo>
                    <a:pt x="513192" y="82866"/>
                    <a:pt x="511134" y="102754"/>
                    <a:pt x="508453" y="121832"/>
                  </a:cubicBezTo>
                  <a:cubicBezTo>
                    <a:pt x="485324" y="287796"/>
                    <a:pt x="417242" y="443971"/>
                    <a:pt x="316492" y="567602"/>
                  </a:cubicBezTo>
                  <a:cubicBezTo>
                    <a:pt x="253024" y="645534"/>
                    <a:pt x="165055" y="737743"/>
                    <a:pt x="80265" y="640359"/>
                  </a:cubicBezTo>
                  <a:cubicBezTo>
                    <a:pt x="5014" y="553948"/>
                    <a:pt x="-17368" y="383621"/>
                    <a:pt x="13306" y="274828"/>
                  </a:cubicBezTo>
                  <a:cubicBezTo>
                    <a:pt x="33443" y="203318"/>
                    <a:pt x="83382" y="146521"/>
                    <a:pt x="140989" y="107181"/>
                  </a:cubicBezTo>
                  <a:cubicBezTo>
                    <a:pt x="178904" y="81308"/>
                    <a:pt x="297428" y="13010"/>
                    <a:pt x="390625" y="16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3" name="Freeform: Shape 22">
              <a:extLst>
                <a:ext uri="{FF2B5EF4-FFF2-40B4-BE49-F238E27FC236}">
                  <a16:creationId xmlns:a16="http://schemas.microsoft.com/office/drawing/2014/main" id="{115B7F3F-A40D-4F24-8536-E2420B433211}"/>
                </a:ext>
              </a:extLst>
            </p:cNvPr>
            <p:cNvSpPr/>
            <p:nvPr/>
          </p:nvSpPr>
          <p:spPr>
            <a:xfrm>
              <a:off x="11684524" y="3907536"/>
              <a:ext cx="132121" cy="93006"/>
            </a:xfrm>
            <a:custGeom>
              <a:avLst/>
              <a:gdLst>
                <a:gd name="connsiteX0" fmla="*/ 252822 w 466107"/>
                <a:gd name="connsiteY0" fmla="*/ 1539 h 328114"/>
                <a:gd name="connsiteX1" fmla="*/ 451641 w 466107"/>
                <a:gd name="connsiteY1" fmla="*/ 122177 h 328114"/>
                <a:gd name="connsiteX2" fmla="*/ 391790 w 466107"/>
                <a:gd name="connsiteY2" fmla="*/ 297430 h 328114"/>
                <a:gd name="connsiteX3" fmla="*/ 8614 w 466107"/>
                <a:gd name="connsiteY3" fmla="*/ 243252 h 328114"/>
                <a:gd name="connsiteX4" fmla="*/ 45897 w 466107"/>
                <a:gd name="connsiteY4" fmla="*/ 97302 h 328114"/>
                <a:gd name="connsiteX5" fmla="*/ 252822 w 466107"/>
                <a:gd name="connsiteY5" fmla="*/ 1539 h 328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107" h="328114">
                  <a:moveTo>
                    <a:pt x="252822" y="1539"/>
                  </a:moveTo>
                  <a:cubicBezTo>
                    <a:pt x="335429" y="-10494"/>
                    <a:pt x="418848" y="49794"/>
                    <a:pt x="451641" y="122177"/>
                  </a:cubicBezTo>
                  <a:cubicBezTo>
                    <a:pt x="479697" y="184273"/>
                    <a:pt x="470594" y="255285"/>
                    <a:pt x="391790" y="297430"/>
                  </a:cubicBezTo>
                  <a:cubicBezTo>
                    <a:pt x="301077" y="345935"/>
                    <a:pt x="55935" y="343254"/>
                    <a:pt x="8614" y="243252"/>
                  </a:cubicBezTo>
                  <a:cubicBezTo>
                    <a:pt x="-12895" y="197678"/>
                    <a:pt x="8240" y="136766"/>
                    <a:pt x="45897" y="97302"/>
                  </a:cubicBezTo>
                  <a:cubicBezTo>
                    <a:pt x="98704" y="42064"/>
                    <a:pt x="181872" y="11950"/>
                    <a:pt x="252822" y="1539"/>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4" name="Graphic 12">
              <a:extLst>
                <a:ext uri="{FF2B5EF4-FFF2-40B4-BE49-F238E27FC236}">
                  <a16:creationId xmlns:a16="http://schemas.microsoft.com/office/drawing/2014/main" id="{CEF42844-A829-4ED2-A360-63BB2A7C45EE}"/>
                </a:ext>
              </a:extLst>
            </p:cNvPr>
            <p:cNvSpPr/>
            <p:nvPr/>
          </p:nvSpPr>
          <p:spPr>
            <a:xfrm>
              <a:off x="11142141" y="3272152"/>
              <a:ext cx="180625" cy="158824"/>
            </a:xfrm>
            <a:custGeom>
              <a:avLst/>
              <a:gdLst>
                <a:gd name="connsiteX0" fmla="*/ 63289 w 3341477"/>
                <a:gd name="connsiteY0" fmla="*/ 1933384 h 2938167"/>
                <a:gd name="connsiteX1" fmla="*/ 263314 w 3341477"/>
                <a:gd name="connsiteY1" fmla="*/ 514159 h 2938167"/>
                <a:gd name="connsiteX2" fmla="*/ 1098276 w 3341477"/>
                <a:gd name="connsiteY2" fmla="*/ 952 h 2938167"/>
                <a:gd name="connsiteX3" fmla="*/ 2654089 w 3341477"/>
                <a:gd name="connsiteY3" fmla="*/ 371284 h 2938167"/>
                <a:gd name="connsiteX4" fmla="*/ 3219398 w 3341477"/>
                <a:gd name="connsiteY4" fmla="*/ 2080926 h 2938167"/>
                <a:gd name="connsiteX5" fmla="*/ 2044489 w 3341477"/>
                <a:gd name="connsiteY5" fmla="*/ 2933509 h 2938167"/>
                <a:gd name="connsiteX6" fmla="*/ 453814 w 3341477"/>
                <a:gd name="connsiteY6" fmla="*/ 2495359 h 2938167"/>
                <a:gd name="connsiteX7" fmla="*/ 63289 w 3341477"/>
                <a:gd name="connsiteY7" fmla="*/ 1933384 h 29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41477" h="2938167">
                  <a:moveTo>
                    <a:pt x="63289" y="1933384"/>
                  </a:moveTo>
                  <a:cubicBezTo>
                    <a:pt x="56717" y="1895856"/>
                    <a:pt x="-165311" y="914209"/>
                    <a:pt x="263314" y="514159"/>
                  </a:cubicBezTo>
                  <a:cubicBezTo>
                    <a:pt x="691939" y="114109"/>
                    <a:pt x="609262" y="11620"/>
                    <a:pt x="1098276" y="952"/>
                  </a:cubicBezTo>
                  <a:cubicBezTo>
                    <a:pt x="1587289" y="-9716"/>
                    <a:pt x="2320714" y="66484"/>
                    <a:pt x="2654089" y="371284"/>
                  </a:cubicBezTo>
                  <a:cubicBezTo>
                    <a:pt x="2987464" y="676084"/>
                    <a:pt x="3603732" y="1514094"/>
                    <a:pt x="3219398" y="2080926"/>
                  </a:cubicBezTo>
                  <a:cubicBezTo>
                    <a:pt x="2835064" y="2647759"/>
                    <a:pt x="2558839" y="2895409"/>
                    <a:pt x="2044489" y="2933509"/>
                  </a:cubicBezTo>
                  <a:cubicBezTo>
                    <a:pt x="1530139" y="2971609"/>
                    <a:pt x="701464" y="2771584"/>
                    <a:pt x="453814" y="2495359"/>
                  </a:cubicBezTo>
                  <a:cubicBezTo>
                    <a:pt x="206164" y="2219134"/>
                    <a:pt x="101389" y="2152459"/>
                    <a:pt x="63289" y="1933384"/>
                  </a:cubicBezTo>
                  <a:close/>
                </a:path>
              </a:pathLst>
            </a:custGeom>
            <a:grpFill/>
            <a:ln w="9525" cap="flat">
              <a:noFill/>
              <a:prstDash val="solid"/>
              <a:miter/>
            </a:ln>
          </p:spPr>
          <p:txBody>
            <a:bodyPr rtlCol="0" anchor="ctr"/>
            <a:lstStyle/>
            <a:p>
              <a:endParaRPr lang="en-US"/>
            </a:p>
          </p:txBody>
        </p:sp>
        <p:sp>
          <p:nvSpPr>
            <p:cNvPr id="25" name="Graphic 15">
              <a:extLst>
                <a:ext uri="{FF2B5EF4-FFF2-40B4-BE49-F238E27FC236}">
                  <a16:creationId xmlns:a16="http://schemas.microsoft.com/office/drawing/2014/main" id="{57B23B52-A1C3-44EF-BC11-9094A0DA11AB}"/>
                </a:ext>
              </a:extLst>
            </p:cNvPr>
            <p:cNvSpPr/>
            <p:nvPr/>
          </p:nvSpPr>
          <p:spPr>
            <a:xfrm>
              <a:off x="11602136" y="3379098"/>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26" name="Graphic 15">
              <a:extLst>
                <a:ext uri="{FF2B5EF4-FFF2-40B4-BE49-F238E27FC236}">
                  <a16:creationId xmlns:a16="http://schemas.microsoft.com/office/drawing/2014/main" id="{064E08E5-DA92-4CF2-A0BF-E341800227B2}"/>
                </a:ext>
              </a:extLst>
            </p:cNvPr>
            <p:cNvSpPr/>
            <p:nvPr/>
          </p:nvSpPr>
          <p:spPr>
            <a:xfrm>
              <a:off x="10948005" y="3504095"/>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7A222560-E657-4CAE-B667-7BE9E224B244}"/>
                </a:ext>
              </a:extLst>
            </p:cNvPr>
            <p:cNvSpPr/>
            <p:nvPr/>
          </p:nvSpPr>
          <p:spPr>
            <a:xfrm>
              <a:off x="11343727" y="3666564"/>
              <a:ext cx="173527" cy="138496"/>
            </a:xfrm>
            <a:custGeom>
              <a:avLst/>
              <a:gdLst>
                <a:gd name="connsiteX0" fmla="*/ 237392 w 789043"/>
                <a:gd name="connsiteY0" fmla="*/ 81 h 629754"/>
                <a:gd name="connsiteX1" fmla="*/ 758692 w 789043"/>
                <a:gd name="connsiteY1" fmla="*/ 233550 h 629754"/>
                <a:gd name="connsiteX2" fmla="*/ 650647 w 789043"/>
                <a:gd name="connsiteY2" fmla="*/ 335111 h 629754"/>
                <a:gd name="connsiteX3" fmla="*/ 315041 w 789043"/>
                <a:gd name="connsiteY3" fmla="*/ 584992 h 629754"/>
                <a:gd name="connsiteX4" fmla="*/ 192159 w 789043"/>
                <a:gd name="connsiteY4" fmla="*/ 625953 h 629754"/>
                <a:gd name="connsiteX5" fmla="*/ 124264 w 789043"/>
                <a:gd name="connsiteY5" fmla="*/ 552260 h 629754"/>
                <a:gd name="connsiteX6" fmla="*/ 1631 w 789043"/>
                <a:gd name="connsiteY6" fmla="*/ 133735 h 629754"/>
                <a:gd name="connsiteX7" fmla="*/ 35422 w 789043"/>
                <a:gd name="connsiteY7" fmla="*/ 14157 h 629754"/>
                <a:gd name="connsiteX8" fmla="*/ 113728 w 789043"/>
                <a:gd name="connsiteY8" fmla="*/ 378 h 629754"/>
                <a:gd name="connsiteX9" fmla="*/ 237392 w 789043"/>
                <a:gd name="connsiteY9" fmla="*/ 81 h 629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043" h="629754">
                  <a:moveTo>
                    <a:pt x="237392" y="81"/>
                  </a:moveTo>
                  <a:cubicBezTo>
                    <a:pt x="474795" y="-992"/>
                    <a:pt x="907215" y="10463"/>
                    <a:pt x="758692" y="233550"/>
                  </a:cubicBezTo>
                  <a:cubicBezTo>
                    <a:pt x="731135" y="274948"/>
                    <a:pt x="690486" y="305435"/>
                    <a:pt x="650647" y="335111"/>
                  </a:cubicBezTo>
                  <a:cubicBezTo>
                    <a:pt x="538737" y="418405"/>
                    <a:pt x="426889" y="501698"/>
                    <a:pt x="315041" y="584992"/>
                  </a:cubicBezTo>
                  <a:cubicBezTo>
                    <a:pt x="278943" y="611863"/>
                    <a:pt x="234865" y="640167"/>
                    <a:pt x="192159" y="625953"/>
                  </a:cubicBezTo>
                  <a:cubicBezTo>
                    <a:pt x="159614" y="615105"/>
                    <a:pt x="139851" y="582810"/>
                    <a:pt x="124264" y="552260"/>
                  </a:cubicBezTo>
                  <a:cubicBezTo>
                    <a:pt x="57742" y="422021"/>
                    <a:pt x="15908" y="279250"/>
                    <a:pt x="1631" y="133735"/>
                  </a:cubicBezTo>
                  <a:cubicBezTo>
                    <a:pt x="-2671" y="90343"/>
                    <a:pt x="-676" y="38596"/>
                    <a:pt x="35422" y="14157"/>
                  </a:cubicBezTo>
                  <a:cubicBezTo>
                    <a:pt x="57804" y="-931"/>
                    <a:pt x="86795" y="-557"/>
                    <a:pt x="113728" y="378"/>
                  </a:cubicBezTo>
                  <a:cubicBezTo>
                    <a:pt x="138207" y="1243"/>
                    <a:pt x="182606" y="328"/>
                    <a:pt x="237392" y="8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8" name="Freeform: Shape 7">
            <a:extLst>
              <a:ext uri="{FF2B5EF4-FFF2-40B4-BE49-F238E27FC236}">
                <a16:creationId xmlns:a16="http://schemas.microsoft.com/office/drawing/2014/main" id="{59226104-0061-4319-8237-9C001BF85D49}"/>
              </a:ext>
            </a:extLst>
          </p:cNvPr>
          <p:cNvSpPr/>
          <p:nvPr/>
        </p:nvSpPr>
        <p:spPr>
          <a:xfrm rot="5400000">
            <a:off x="615181" y="-615181"/>
            <a:ext cx="1085312" cy="2315675"/>
          </a:xfrm>
          <a:custGeom>
            <a:avLst/>
            <a:gdLst>
              <a:gd name="connsiteX0" fmla="*/ 0 w 1085312"/>
              <a:gd name="connsiteY0" fmla="*/ 2315675 h 2315675"/>
              <a:gd name="connsiteX1" fmla="*/ 0 w 1085312"/>
              <a:gd name="connsiteY1" fmla="*/ 0 h 2315675"/>
              <a:gd name="connsiteX2" fmla="*/ 53089 w 1085312"/>
              <a:gd name="connsiteY2" fmla="*/ 4542 h 2315675"/>
              <a:gd name="connsiteX3" fmla="*/ 790077 w 1085312"/>
              <a:gd name="connsiteY3" fmla="*/ 872756 h 2315675"/>
              <a:gd name="connsiteX4" fmla="*/ 1085252 w 1085312"/>
              <a:gd name="connsiteY4" fmla="*/ 1943649 h 2315675"/>
              <a:gd name="connsiteX5" fmla="*/ 1064832 w 1085312"/>
              <a:gd name="connsiteY5" fmla="*/ 2198094 h 2315675"/>
              <a:gd name="connsiteX6" fmla="*/ 1043734 w 1085312"/>
              <a:gd name="connsiteY6" fmla="*/ 2315675 h 2315675"/>
              <a:gd name="connsiteX7" fmla="*/ 0 w 1085312"/>
              <a:gd name="connsiteY7" fmla="*/ 2315675 h 2315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5312" h="2315675">
                <a:moveTo>
                  <a:pt x="0" y="2315675"/>
                </a:moveTo>
                <a:lnTo>
                  <a:pt x="0" y="0"/>
                </a:lnTo>
                <a:lnTo>
                  <a:pt x="53089" y="4542"/>
                </a:lnTo>
                <a:cubicBezTo>
                  <a:pt x="405263" y="73503"/>
                  <a:pt x="612623" y="486635"/>
                  <a:pt x="790077" y="872756"/>
                </a:cubicBezTo>
                <a:cubicBezTo>
                  <a:pt x="937425" y="1193596"/>
                  <a:pt x="1088787" y="1533232"/>
                  <a:pt x="1085252" y="1943649"/>
                </a:cubicBezTo>
                <a:cubicBezTo>
                  <a:pt x="1084528" y="2029058"/>
                  <a:pt x="1077341" y="2113833"/>
                  <a:pt x="1064832" y="2198094"/>
                </a:cubicBezTo>
                <a:lnTo>
                  <a:pt x="1043734" y="2315675"/>
                </a:lnTo>
                <a:lnTo>
                  <a:pt x="0" y="2315675"/>
                </a:lnTo>
                <a:close/>
              </a:path>
            </a:pathLst>
          </a:custGeom>
          <a:solidFill>
            <a:schemeClr val="accent5">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Placeholder 1">
            <a:extLst>
              <a:ext uri="{FF2B5EF4-FFF2-40B4-BE49-F238E27FC236}">
                <a16:creationId xmlns:a16="http://schemas.microsoft.com/office/drawing/2014/main" id="{2D78318D-FE3E-41D7-9A8C-2065A2C46AF3}"/>
              </a:ext>
            </a:extLst>
          </p:cNvPr>
          <p:cNvSpPr>
            <a:spLocks noGrp="1"/>
          </p:cNvSpPr>
          <p:nvPr>
            <p:ph type="title"/>
          </p:nvPr>
        </p:nvSpPr>
        <p:spPr>
          <a:xfrm>
            <a:off x="525717" y="787068"/>
            <a:ext cx="10077557" cy="1325563"/>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DB06718-79E7-4159-A003-F86FE7B3D829}"/>
              </a:ext>
            </a:extLst>
          </p:cNvPr>
          <p:cNvSpPr>
            <a:spLocks noGrp="1"/>
          </p:cNvSpPr>
          <p:nvPr>
            <p:ph type="body" idx="1"/>
          </p:nvPr>
        </p:nvSpPr>
        <p:spPr>
          <a:xfrm>
            <a:off x="525717" y="2521885"/>
            <a:ext cx="10077557" cy="354904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B1F99FF-FFE2-431D-A0C8-A46C21712A20}"/>
              </a:ext>
            </a:extLst>
          </p:cNvPr>
          <p:cNvSpPr>
            <a:spLocks noGrp="1"/>
          </p:cNvSpPr>
          <p:nvPr>
            <p:ph type="dt" sz="half" idx="2"/>
          </p:nvPr>
        </p:nvSpPr>
        <p:spPr>
          <a:xfrm>
            <a:off x="525718" y="136525"/>
            <a:ext cx="2743200" cy="365125"/>
          </a:xfrm>
          <a:prstGeom prst="rect">
            <a:avLst/>
          </a:prstGeom>
        </p:spPr>
        <p:txBody>
          <a:bodyPr vert="horz" lIns="91440" tIns="45720" rIns="91440" bIns="45720" rtlCol="0" anchor="ctr"/>
          <a:lstStyle>
            <a:lvl1pPr algn="l">
              <a:defRPr sz="900" cap="none" spc="110" baseline="0">
                <a:solidFill>
                  <a:schemeClr val="tx1">
                    <a:lumMod val="65000"/>
                    <a:lumOff val="35000"/>
                  </a:schemeClr>
                </a:solidFill>
              </a:defRPr>
            </a:lvl1pPr>
          </a:lstStyle>
          <a:p>
            <a:fld id="{8769D389-4C4C-4FD7-9E6B-9F44477F0EB8}" type="datetime1">
              <a:rPr lang="en-US" smtClean="0"/>
              <a:t>8/13/26</a:t>
            </a:fld>
            <a:endParaRPr lang="en-US" dirty="0"/>
          </a:p>
        </p:txBody>
      </p:sp>
      <p:sp>
        <p:nvSpPr>
          <p:cNvPr id="5" name="Footer Placeholder 4">
            <a:extLst>
              <a:ext uri="{FF2B5EF4-FFF2-40B4-BE49-F238E27FC236}">
                <a16:creationId xmlns:a16="http://schemas.microsoft.com/office/drawing/2014/main" id="{51C3547E-668D-4191-847C-7424F75496E6}"/>
              </a:ext>
            </a:extLst>
          </p:cNvPr>
          <p:cNvSpPr>
            <a:spLocks noGrp="1"/>
          </p:cNvSpPr>
          <p:nvPr>
            <p:ph type="ftr" sz="quarter" idx="3"/>
          </p:nvPr>
        </p:nvSpPr>
        <p:spPr>
          <a:xfrm>
            <a:off x="525718" y="6356350"/>
            <a:ext cx="3450659" cy="365125"/>
          </a:xfrm>
          <a:prstGeom prst="rect">
            <a:avLst/>
          </a:prstGeom>
        </p:spPr>
        <p:txBody>
          <a:bodyPr vert="horz" lIns="91440" tIns="45720" rIns="91440" bIns="45720" rtlCol="0" anchor="ctr"/>
          <a:lstStyle>
            <a:lvl1pPr algn="l">
              <a:defRPr sz="900" cap="none" spc="110" baseline="0">
                <a:solidFill>
                  <a:schemeClr val="tx1">
                    <a:lumMod val="65000"/>
                    <a:lumOff val="35000"/>
                  </a:schemeClr>
                </a:solidFill>
              </a:defRPr>
            </a:lvl1pPr>
          </a:lstStyle>
          <a:p>
            <a:endParaRPr lang="en-US"/>
          </a:p>
        </p:txBody>
      </p:sp>
      <p:sp>
        <p:nvSpPr>
          <p:cNvPr id="6" name="Slide Number Placeholder 5">
            <a:extLst>
              <a:ext uri="{FF2B5EF4-FFF2-40B4-BE49-F238E27FC236}">
                <a16:creationId xmlns:a16="http://schemas.microsoft.com/office/drawing/2014/main" id="{8CBB6E6E-8527-4F63-A0C7-84CD44A2B00D}"/>
              </a:ext>
            </a:extLst>
          </p:cNvPr>
          <p:cNvSpPr>
            <a:spLocks noGrp="1"/>
          </p:cNvSpPr>
          <p:nvPr>
            <p:ph type="sldNum" sz="quarter" idx="4"/>
          </p:nvPr>
        </p:nvSpPr>
        <p:spPr>
          <a:xfrm>
            <a:off x="11655367" y="6356350"/>
            <a:ext cx="529809" cy="365125"/>
          </a:xfrm>
          <a:prstGeom prst="rect">
            <a:avLst/>
          </a:prstGeom>
        </p:spPr>
        <p:txBody>
          <a:bodyPr vert="horz" lIns="91440" tIns="45720" rIns="91440" bIns="45720" rtlCol="0" anchor="ctr"/>
          <a:lstStyle>
            <a:lvl1pPr algn="ctr">
              <a:defRPr sz="900" cap="none" spc="110" baseline="0">
                <a:solidFill>
                  <a:schemeClr val="tx1">
                    <a:lumMod val="65000"/>
                    <a:lumOff val="35000"/>
                  </a:schemeClr>
                </a:solidFill>
              </a:defRPr>
            </a:lvl1pPr>
          </a:lstStyle>
          <a:p>
            <a:fld id="{E1076ED0-0DB3-4879-AAE5-5C20D22C1DF4}" type="slidenum">
              <a:rPr lang="en-US" smtClean="0"/>
              <a:t>‹#›</a:t>
            </a:fld>
            <a:endParaRPr lang="en-US"/>
          </a:p>
        </p:txBody>
      </p:sp>
    </p:spTree>
    <p:extLst>
      <p:ext uri="{BB962C8B-B14F-4D97-AF65-F5344CB8AC3E}">
        <p14:creationId xmlns:p14="http://schemas.microsoft.com/office/powerpoint/2010/main" val="2442260661"/>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sldNum="0" hdr="0" ftr="0" dt="0"/>
  <p:txStyles>
    <p:titleStyle>
      <a:lvl1pPr algn="l" defTabSz="914400" rtl="0" eaLnBrk="1" latinLnBrk="0" hangingPunct="1">
        <a:lnSpc>
          <a:spcPct val="100000"/>
        </a:lnSpc>
        <a:spcBef>
          <a:spcPct val="0"/>
        </a:spcBef>
        <a:buNone/>
        <a:defRPr sz="3600" i="1"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000"/>
        </a:spcBef>
        <a:buFont typeface="Arial" panose="020B0604020202020204" pitchFamily="34" charset="0"/>
        <a:buNone/>
        <a:defRPr sz="2000" kern="1200">
          <a:solidFill>
            <a:schemeClr val="tx1"/>
          </a:solidFill>
          <a:latin typeface="+mn-lt"/>
          <a:ea typeface="+mn-ea"/>
          <a:cs typeface="+mn-cs"/>
        </a:defRPr>
      </a:lvl1pPr>
      <a:lvl2pPr marL="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457200" indent="0" algn="l" defTabSz="914400" rtl="0" eaLnBrk="1" latinLnBrk="0" hangingPunct="1">
        <a:lnSpc>
          <a:spcPct val="110000"/>
        </a:lnSpc>
        <a:spcBef>
          <a:spcPts val="500"/>
        </a:spcBef>
        <a:buFont typeface="Arial" panose="020B0604020202020204" pitchFamily="34" charset="0"/>
        <a:buNone/>
        <a:defRPr sz="1600" kern="1200">
          <a:solidFill>
            <a:schemeClr val="tx1"/>
          </a:solidFill>
          <a:latin typeface="+mn-lt"/>
          <a:ea typeface="+mn-ea"/>
          <a:cs typeface="+mn-cs"/>
        </a:defRPr>
      </a:lvl3pPr>
      <a:lvl4pPr marL="6858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914400" indent="0" algn="l" defTabSz="914400" rtl="0" eaLnBrk="1" latinLnBrk="0" hangingPunct="1">
        <a:lnSpc>
          <a:spcPct val="110000"/>
        </a:lnSpc>
        <a:spcBef>
          <a:spcPts val="500"/>
        </a:spcBef>
        <a:buFont typeface="Arial" panose="020B06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creativecommons.org/licenses/by/3.0/" TargetMode="External"/><Relationship Id="rId4" Type="http://schemas.openxmlformats.org/officeDocument/2006/relationships/hyperlink" Target="https://foto.wuestenigel.com/the-concept-of-gender-discrimination-in-recruitment/"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https://creativecommons.org/licenses/by-nc-nd/3.0/" TargetMode="External"/><Relationship Id="rId4" Type="http://schemas.openxmlformats.org/officeDocument/2006/relationships/hyperlink" Target="https://mappingignorance.org/2017/05/10/sexual-differences-in-the-human-brain/"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20.jpeg"/><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 Id="rId9" Type="http://schemas.openxmlformats.org/officeDocument/2006/relationships/image" Target="../media/image21.jpe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A5D0B0D3-D735-4619-AA45-B57B791E17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000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pic>
        <p:nvPicPr>
          <p:cNvPr id="4" name="Picture 3" descr="Símbolo de transgénero recortado">
            <a:extLst>
              <a:ext uri="{FF2B5EF4-FFF2-40B4-BE49-F238E27FC236}">
                <a16:creationId xmlns:a16="http://schemas.microsoft.com/office/drawing/2014/main" id="{6957D455-3056-0EC1-4362-F6803E304850}"/>
              </a:ext>
            </a:extLst>
          </p:cNvPr>
          <p:cNvPicPr>
            <a:picLocks noChangeAspect="1"/>
          </p:cNvPicPr>
          <p:nvPr/>
        </p:nvPicPr>
        <p:blipFill rotWithShape="1">
          <a:blip r:embed="rId3">
            <a:alphaModFix amt="40000"/>
          </a:blip>
          <a:srcRect t="10672" r="-1" b="5037"/>
          <a:stretch/>
        </p:blipFill>
        <p:spPr>
          <a:xfrm>
            <a:off x="20" y="10"/>
            <a:ext cx="12188932" cy="6857990"/>
          </a:xfrm>
          <a:prstGeom prst="rect">
            <a:avLst/>
          </a:prstGeom>
        </p:spPr>
      </p:pic>
      <p:sp>
        <p:nvSpPr>
          <p:cNvPr id="2" name="Title 1">
            <a:extLst>
              <a:ext uri="{FF2B5EF4-FFF2-40B4-BE49-F238E27FC236}">
                <a16:creationId xmlns:a16="http://schemas.microsoft.com/office/drawing/2014/main" id="{62C34F54-43E5-3A9D-3AFD-EB44079419E5}"/>
              </a:ext>
            </a:extLst>
          </p:cNvPr>
          <p:cNvSpPr>
            <a:spLocks noGrp="1"/>
          </p:cNvSpPr>
          <p:nvPr>
            <p:ph type="ctrTitle"/>
          </p:nvPr>
        </p:nvSpPr>
        <p:spPr>
          <a:xfrm>
            <a:off x="1549238" y="1145080"/>
            <a:ext cx="9090476" cy="2179601"/>
          </a:xfrm>
        </p:spPr>
        <p:txBody>
          <a:bodyPr anchor="b">
            <a:normAutofit/>
          </a:bodyPr>
          <a:lstStyle/>
          <a:p>
            <a:pPr algn="ctr"/>
            <a:r>
              <a:rPr lang="es-ES_tradnl" sz="4400" dirty="0">
                <a:solidFill>
                  <a:srgbClr val="FFFFFF"/>
                </a:solidFill>
              </a:rPr>
              <a:t>Sociología del Género</a:t>
            </a:r>
          </a:p>
        </p:txBody>
      </p:sp>
      <p:sp>
        <p:nvSpPr>
          <p:cNvPr id="3" name="Subtitle 2">
            <a:extLst>
              <a:ext uri="{FF2B5EF4-FFF2-40B4-BE49-F238E27FC236}">
                <a16:creationId xmlns:a16="http://schemas.microsoft.com/office/drawing/2014/main" id="{CC9D9D2C-9698-D49A-FB85-C64BE81AD507}"/>
              </a:ext>
            </a:extLst>
          </p:cNvPr>
          <p:cNvSpPr>
            <a:spLocks noGrp="1"/>
          </p:cNvSpPr>
          <p:nvPr>
            <p:ph type="subTitle" idx="1"/>
          </p:nvPr>
        </p:nvSpPr>
        <p:spPr>
          <a:xfrm>
            <a:off x="2999029" y="3774105"/>
            <a:ext cx="6190895" cy="1633040"/>
          </a:xfrm>
        </p:spPr>
        <p:txBody>
          <a:bodyPr anchor="t">
            <a:normAutofit/>
          </a:bodyPr>
          <a:lstStyle/>
          <a:p>
            <a:pPr algn="ctr"/>
            <a:r>
              <a:rPr lang="es-ES_tradnl" dirty="0">
                <a:solidFill>
                  <a:srgbClr val="FFFFFF"/>
                </a:solidFill>
              </a:rPr>
              <a:t>SOL191</a:t>
            </a:r>
          </a:p>
          <a:p>
            <a:pPr algn="ctr"/>
            <a:endParaRPr lang="es-ES_tradnl" dirty="0">
              <a:solidFill>
                <a:srgbClr val="FFFFFF"/>
              </a:solidFill>
            </a:endParaRPr>
          </a:p>
          <a:p>
            <a:pPr algn="ctr"/>
            <a:r>
              <a:rPr lang="es-ES_tradnl" sz="2800" dirty="0">
                <a:solidFill>
                  <a:srgbClr val="FFFFFF"/>
                </a:solidFill>
              </a:rPr>
              <a:t>Clase 1: Introducción</a:t>
            </a:r>
          </a:p>
        </p:txBody>
      </p:sp>
      <p:sp>
        <p:nvSpPr>
          <p:cNvPr id="35" name="Freeform: Shape 34">
            <a:extLst>
              <a:ext uri="{FF2B5EF4-FFF2-40B4-BE49-F238E27FC236}">
                <a16:creationId xmlns:a16="http://schemas.microsoft.com/office/drawing/2014/main" id="{25A2CBEC-4F23-437D-9D03-9968C9B797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094120" y="-1094120"/>
            <a:ext cx="1085312" cy="3273554"/>
          </a:xfrm>
          <a:custGeom>
            <a:avLst/>
            <a:gdLst>
              <a:gd name="connsiteX0" fmla="*/ 0 w 1085312"/>
              <a:gd name="connsiteY0" fmla="*/ 2315675 h 2315675"/>
              <a:gd name="connsiteX1" fmla="*/ 0 w 1085312"/>
              <a:gd name="connsiteY1" fmla="*/ 0 h 2315675"/>
              <a:gd name="connsiteX2" fmla="*/ 53089 w 1085312"/>
              <a:gd name="connsiteY2" fmla="*/ 4542 h 2315675"/>
              <a:gd name="connsiteX3" fmla="*/ 790077 w 1085312"/>
              <a:gd name="connsiteY3" fmla="*/ 872756 h 2315675"/>
              <a:gd name="connsiteX4" fmla="*/ 1085252 w 1085312"/>
              <a:gd name="connsiteY4" fmla="*/ 1943649 h 2315675"/>
              <a:gd name="connsiteX5" fmla="*/ 1064832 w 1085312"/>
              <a:gd name="connsiteY5" fmla="*/ 2198094 h 2315675"/>
              <a:gd name="connsiteX6" fmla="*/ 1043734 w 1085312"/>
              <a:gd name="connsiteY6" fmla="*/ 2315675 h 2315675"/>
              <a:gd name="connsiteX7" fmla="*/ 0 w 1085312"/>
              <a:gd name="connsiteY7" fmla="*/ 2315675 h 2315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5312" h="2315675">
                <a:moveTo>
                  <a:pt x="0" y="2315675"/>
                </a:moveTo>
                <a:lnTo>
                  <a:pt x="0" y="0"/>
                </a:lnTo>
                <a:lnTo>
                  <a:pt x="53089" y="4542"/>
                </a:lnTo>
                <a:cubicBezTo>
                  <a:pt x="405263" y="73503"/>
                  <a:pt x="612623" y="486635"/>
                  <a:pt x="790077" y="872756"/>
                </a:cubicBezTo>
                <a:cubicBezTo>
                  <a:pt x="937425" y="1193596"/>
                  <a:pt x="1088787" y="1533232"/>
                  <a:pt x="1085252" y="1943649"/>
                </a:cubicBezTo>
                <a:cubicBezTo>
                  <a:pt x="1084528" y="2029058"/>
                  <a:pt x="1077341" y="2113833"/>
                  <a:pt x="1064832" y="2198094"/>
                </a:cubicBezTo>
                <a:lnTo>
                  <a:pt x="1043734" y="2315675"/>
                </a:lnTo>
                <a:lnTo>
                  <a:pt x="0" y="2315675"/>
                </a:lnTo>
                <a:close/>
              </a:path>
            </a:pathLst>
          </a:cu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37" name="Graphic 78">
            <a:extLst>
              <a:ext uri="{FF2B5EF4-FFF2-40B4-BE49-F238E27FC236}">
                <a16:creationId xmlns:a16="http://schemas.microsoft.com/office/drawing/2014/main" id="{DBBA0A0D-8F6A-400A-9E49-8C008E2C7D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608356" y="3533292"/>
            <a:ext cx="972241" cy="45718"/>
            <a:chOff x="4886325" y="3371754"/>
            <a:chExt cx="2418492" cy="113728"/>
          </a:xfrm>
          <a:solidFill>
            <a:schemeClr val="accent1"/>
          </a:solidFill>
        </p:grpSpPr>
        <p:sp>
          <p:nvSpPr>
            <p:cNvPr id="38" name="Graphic 78">
              <a:extLst>
                <a:ext uri="{FF2B5EF4-FFF2-40B4-BE49-F238E27FC236}">
                  <a16:creationId xmlns:a16="http://schemas.microsoft.com/office/drawing/2014/main" id="{A5DD701E-4BC9-48E3-AF4F-013B52D63D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39" name="Graphic 78">
              <a:extLst>
                <a:ext uri="{FF2B5EF4-FFF2-40B4-BE49-F238E27FC236}">
                  <a16:creationId xmlns:a16="http://schemas.microsoft.com/office/drawing/2014/main" id="{FB658B62-664D-4B3B-BBDA-235666290B4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4886709" y="3371754"/>
              <a:ext cx="2418108" cy="113728"/>
              <a:chOff x="4886709" y="3371754"/>
              <a:chExt cx="2418108" cy="113728"/>
            </a:xfrm>
            <a:grpFill/>
          </p:grpSpPr>
          <p:sp>
            <p:nvSpPr>
              <p:cNvPr id="40" name="Graphic 78">
                <a:extLst>
                  <a:ext uri="{FF2B5EF4-FFF2-40B4-BE49-F238E27FC236}">
                    <a16:creationId xmlns:a16="http://schemas.microsoft.com/office/drawing/2014/main" id="{B11F9D25-67B1-4BDB-A290-97B93A19DF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41" name="Graphic 78">
                <a:extLst>
                  <a:ext uri="{FF2B5EF4-FFF2-40B4-BE49-F238E27FC236}">
                    <a16:creationId xmlns:a16="http://schemas.microsoft.com/office/drawing/2014/main" id="{B9D5C40A-1B1B-4C25-9707-E8F1CF6EEC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42" name="Graphic 78">
                <a:extLst>
                  <a:ext uri="{FF2B5EF4-FFF2-40B4-BE49-F238E27FC236}">
                    <a16:creationId xmlns:a16="http://schemas.microsoft.com/office/drawing/2014/main" id="{2DD0C1D6-FF64-45AB-8775-83AB3C470B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43" name="Graphic 78">
                <a:extLst>
                  <a:ext uri="{FF2B5EF4-FFF2-40B4-BE49-F238E27FC236}">
                    <a16:creationId xmlns:a16="http://schemas.microsoft.com/office/drawing/2014/main" id="{15AFBB84-8485-4329-89FC-04663D985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dirty="0"/>
              </a:p>
            </p:txBody>
          </p:sp>
        </p:grpSp>
      </p:grpSp>
      <p:sp>
        <p:nvSpPr>
          <p:cNvPr id="45" name="Freeform: Shape 44">
            <a:extLst>
              <a:ext uri="{FF2B5EF4-FFF2-40B4-BE49-F238E27FC236}">
                <a16:creationId xmlns:a16="http://schemas.microsoft.com/office/drawing/2014/main" id="{6264A856-A4F6-4068-9AC3-7B38A00DA7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753030" y="5516668"/>
            <a:ext cx="2438970" cy="1341332"/>
          </a:xfrm>
          <a:custGeom>
            <a:avLst/>
            <a:gdLst>
              <a:gd name="connsiteX0" fmla="*/ 2025355 w 2438970"/>
              <a:gd name="connsiteY0" fmla="*/ 235 h 1341332"/>
              <a:gd name="connsiteX1" fmla="*/ 2381960 w 2438970"/>
              <a:gd name="connsiteY1" fmla="*/ 44517 h 1341332"/>
              <a:gd name="connsiteX2" fmla="*/ 2438970 w 2438970"/>
              <a:gd name="connsiteY2" fmla="*/ 58872 h 1341332"/>
              <a:gd name="connsiteX3" fmla="*/ 2438970 w 2438970"/>
              <a:gd name="connsiteY3" fmla="*/ 1341332 h 1341332"/>
              <a:gd name="connsiteX4" fmla="*/ 0 w 2438970"/>
              <a:gd name="connsiteY4" fmla="*/ 1341332 h 1341332"/>
              <a:gd name="connsiteX5" fmla="*/ 13333 w 2438970"/>
              <a:gd name="connsiteY5" fmla="*/ 1328018 h 1341332"/>
              <a:gd name="connsiteX6" fmla="*/ 936262 w 2438970"/>
              <a:gd name="connsiteY6" fmla="*/ 459947 h 1341332"/>
              <a:gd name="connsiteX7" fmla="*/ 1554028 w 2438970"/>
              <a:gd name="connsiteY7" fmla="*/ 71153 h 1341332"/>
              <a:gd name="connsiteX8" fmla="*/ 2025355 w 2438970"/>
              <a:gd name="connsiteY8" fmla="*/ 235 h 1341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38970" h="1341332">
                <a:moveTo>
                  <a:pt x="2025355" y="235"/>
                </a:moveTo>
                <a:cubicBezTo>
                  <a:pt x="2143847" y="2306"/>
                  <a:pt x="2262766" y="17993"/>
                  <a:pt x="2381960" y="44517"/>
                </a:cubicBezTo>
                <a:lnTo>
                  <a:pt x="2438970" y="58872"/>
                </a:lnTo>
                <a:lnTo>
                  <a:pt x="2438970" y="1341332"/>
                </a:lnTo>
                <a:lnTo>
                  <a:pt x="0" y="1341332"/>
                </a:lnTo>
                <a:lnTo>
                  <a:pt x="13333" y="1328018"/>
                </a:lnTo>
                <a:cubicBezTo>
                  <a:pt x="324723" y="1028950"/>
                  <a:pt x="645390" y="738459"/>
                  <a:pt x="936262" y="459947"/>
                </a:cubicBezTo>
                <a:cubicBezTo>
                  <a:pt x="1139660" y="265152"/>
                  <a:pt x="1345794" y="140817"/>
                  <a:pt x="1554028" y="71153"/>
                </a:cubicBezTo>
                <a:cubicBezTo>
                  <a:pt x="1710136" y="18918"/>
                  <a:pt x="1867365" y="-2526"/>
                  <a:pt x="2025355" y="235"/>
                </a:cubicBezTo>
                <a:close/>
              </a:path>
            </a:pathLst>
          </a:cu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47" name="Group 46">
            <a:extLst>
              <a:ext uri="{FF2B5EF4-FFF2-40B4-BE49-F238E27FC236}">
                <a16:creationId xmlns:a16="http://schemas.microsoft.com/office/drawing/2014/main" id="{C2983E8C-44FB-463B-B6B0-B53E96ACCD7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776050" y="5204025"/>
            <a:ext cx="886141" cy="802496"/>
            <a:chOff x="10948005" y="3272152"/>
            <a:chExt cx="868640" cy="786648"/>
          </a:xfrm>
          <a:solidFill>
            <a:schemeClr val="accent1"/>
          </a:solidFill>
        </p:grpSpPr>
        <p:sp>
          <p:nvSpPr>
            <p:cNvPr id="48" name="Freeform: Shape 47">
              <a:extLst>
                <a:ext uri="{FF2B5EF4-FFF2-40B4-BE49-F238E27FC236}">
                  <a16:creationId xmlns:a16="http://schemas.microsoft.com/office/drawing/2014/main" id="{16AD7FCC-3422-42C3-A2AD-69ADFEA6E3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94317" y="3944888"/>
              <a:ext cx="128449" cy="113912"/>
            </a:xfrm>
            <a:custGeom>
              <a:avLst/>
              <a:gdLst>
                <a:gd name="connsiteX0" fmla="*/ 237621 w 453152"/>
                <a:gd name="connsiteY0" fmla="*/ 965 h 401867"/>
                <a:gd name="connsiteX1" fmla="*/ 370246 w 453152"/>
                <a:gd name="connsiteY1" fmla="*/ 23666 h 401867"/>
                <a:gd name="connsiteX2" fmla="*/ 437392 w 453152"/>
                <a:gd name="connsiteY2" fmla="*/ 198545 h 401867"/>
                <a:gd name="connsiteX3" fmla="*/ 67745 w 453152"/>
                <a:gd name="connsiteY3" fmla="*/ 392003 h 401867"/>
                <a:gd name="connsiteX4" fmla="*/ 911 w 453152"/>
                <a:gd name="connsiteY4" fmla="*/ 254095 h 401867"/>
                <a:gd name="connsiteX5" fmla="*/ 115564 w 453152"/>
                <a:gd name="connsiteY5" fmla="*/ 51160 h 401867"/>
                <a:gd name="connsiteX6" fmla="*/ 237621 w 453152"/>
                <a:gd name="connsiteY6" fmla="*/ 965 h 40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152" h="401867">
                  <a:moveTo>
                    <a:pt x="237621" y="965"/>
                  </a:moveTo>
                  <a:cubicBezTo>
                    <a:pt x="283632" y="-2971"/>
                    <a:pt x="331405" y="5243"/>
                    <a:pt x="370246" y="23666"/>
                  </a:cubicBezTo>
                  <a:cubicBezTo>
                    <a:pt x="436830" y="55275"/>
                    <a:pt x="477168" y="116810"/>
                    <a:pt x="437392" y="198545"/>
                  </a:cubicBezTo>
                  <a:cubicBezTo>
                    <a:pt x="391568" y="292624"/>
                    <a:pt x="176850" y="441630"/>
                    <a:pt x="67745" y="392003"/>
                  </a:cubicBezTo>
                  <a:cubicBezTo>
                    <a:pt x="18056" y="369372"/>
                    <a:pt x="-5012" y="308398"/>
                    <a:pt x="911" y="254095"/>
                  </a:cubicBezTo>
                  <a:cubicBezTo>
                    <a:pt x="9203" y="178033"/>
                    <a:pt x="61012" y="103094"/>
                    <a:pt x="115564" y="51160"/>
                  </a:cubicBezTo>
                  <a:cubicBezTo>
                    <a:pt x="147361" y="20985"/>
                    <a:pt x="191610" y="4900"/>
                    <a:pt x="237621" y="96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49" name="Freeform: Shape 48">
              <a:extLst>
                <a:ext uri="{FF2B5EF4-FFF2-40B4-BE49-F238E27FC236}">
                  <a16:creationId xmlns:a16="http://schemas.microsoft.com/office/drawing/2014/main" id="{C4ECA670-C540-4DCE-8F03-EC843D518C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53045" y="3808430"/>
              <a:ext cx="144912" cy="193414"/>
            </a:xfrm>
            <a:custGeom>
              <a:avLst/>
              <a:gdLst>
                <a:gd name="connsiteX0" fmla="*/ 390625 w 511232"/>
                <a:gd name="connsiteY0" fmla="*/ 1621 h 682341"/>
                <a:gd name="connsiteX1" fmla="*/ 508142 w 511232"/>
                <a:gd name="connsiteY1" fmla="*/ 64038 h 682341"/>
                <a:gd name="connsiteX2" fmla="*/ 508453 w 511232"/>
                <a:gd name="connsiteY2" fmla="*/ 121832 h 682341"/>
                <a:gd name="connsiteX3" fmla="*/ 316492 w 511232"/>
                <a:gd name="connsiteY3" fmla="*/ 567602 h 682341"/>
                <a:gd name="connsiteX4" fmla="*/ 80265 w 511232"/>
                <a:gd name="connsiteY4" fmla="*/ 640359 h 682341"/>
                <a:gd name="connsiteX5" fmla="*/ 13306 w 511232"/>
                <a:gd name="connsiteY5" fmla="*/ 274828 h 682341"/>
                <a:gd name="connsiteX6" fmla="*/ 140989 w 511232"/>
                <a:gd name="connsiteY6" fmla="*/ 107181 h 682341"/>
                <a:gd name="connsiteX7" fmla="*/ 390625 w 511232"/>
                <a:gd name="connsiteY7" fmla="*/ 1621 h 682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232" h="682341">
                  <a:moveTo>
                    <a:pt x="390625" y="1621"/>
                  </a:moveTo>
                  <a:cubicBezTo>
                    <a:pt x="446543" y="-5212"/>
                    <a:pt x="493343" y="8441"/>
                    <a:pt x="508142" y="64038"/>
                  </a:cubicBezTo>
                  <a:cubicBezTo>
                    <a:pt x="513192" y="82866"/>
                    <a:pt x="511134" y="102754"/>
                    <a:pt x="508453" y="121832"/>
                  </a:cubicBezTo>
                  <a:cubicBezTo>
                    <a:pt x="485324" y="287796"/>
                    <a:pt x="417242" y="443971"/>
                    <a:pt x="316492" y="567602"/>
                  </a:cubicBezTo>
                  <a:cubicBezTo>
                    <a:pt x="253024" y="645534"/>
                    <a:pt x="165055" y="737743"/>
                    <a:pt x="80265" y="640359"/>
                  </a:cubicBezTo>
                  <a:cubicBezTo>
                    <a:pt x="5014" y="553948"/>
                    <a:pt x="-17368" y="383621"/>
                    <a:pt x="13306" y="274828"/>
                  </a:cubicBezTo>
                  <a:cubicBezTo>
                    <a:pt x="33443" y="203318"/>
                    <a:pt x="83382" y="146521"/>
                    <a:pt x="140989" y="107181"/>
                  </a:cubicBezTo>
                  <a:cubicBezTo>
                    <a:pt x="178904" y="81308"/>
                    <a:pt x="297428" y="13010"/>
                    <a:pt x="390625" y="16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50" name="Freeform: Shape 49">
              <a:extLst>
                <a:ext uri="{FF2B5EF4-FFF2-40B4-BE49-F238E27FC236}">
                  <a16:creationId xmlns:a16="http://schemas.microsoft.com/office/drawing/2014/main" id="{7ECB6083-DDE0-460C-987E-E645876302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84524" y="3907536"/>
              <a:ext cx="132121" cy="93006"/>
            </a:xfrm>
            <a:custGeom>
              <a:avLst/>
              <a:gdLst>
                <a:gd name="connsiteX0" fmla="*/ 252822 w 466107"/>
                <a:gd name="connsiteY0" fmla="*/ 1539 h 328114"/>
                <a:gd name="connsiteX1" fmla="*/ 451641 w 466107"/>
                <a:gd name="connsiteY1" fmla="*/ 122177 h 328114"/>
                <a:gd name="connsiteX2" fmla="*/ 391790 w 466107"/>
                <a:gd name="connsiteY2" fmla="*/ 297430 h 328114"/>
                <a:gd name="connsiteX3" fmla="*/ 8614 w 466107"/>
                <a:gd name="connsiteY3" fmla="*/ 243252 h 328114"/>
                <a:gd name="connsiteX4" fmla="*/ 45897 w 466107"/>
                <a:gd name="connsiteY4" fmla="*/ 97302 h 328114"/>
                <a:gd name="connsiteX5" fmla="*/ 252822 w 466107"/>
                <a:gd name="connsiteY5" fmla="*/ 1539 h 328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107" h="328114">
                  <a:moveTo>
                    <a:pt x="252822" y="1539"/>
                  </a:moveTo>
                  <a:cubicBezTo>
                    <a:pt x="335429" y="-10494"/>
                    <a:pt x="418848" y="49794"/>
                    <a:pt x="451641" y="122177"/>
                  </a:cubicBezTo>
                  <a:cubicBezTo>
                    <a:pt x="479697" y="184273"/>
                    <a:pt x="470594" y="255285"/>
                    <a:pt x="391790" y="297430"/>
                  </a:cubicBezTo>
                  <a:cubicBezTo>
                    <a:pt x="301077" y="345935"/>
                    <a:pt x="55935" y="343254"/>
                    <a:pt x="8614" y="243252"/>
                  </a:cubicBezTo>
                  <a:cubicBezTo>
                    <a:pt x="-12895" y="197678"/>
                    <a:pt x="8240" y="136766"/>
                    <a:pt x="45897" y="97302"/>
                  </a:cubicBezTo>
                  <a:cubicBezTo>
                    <a:pt x="98704" y="42064"/>
                    <a:pt x="181872" y="11950"/>
                    <a:pt x="252822" y="1539"/>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51" name="Graphic 12">
              <a:extLst>
                <a:ext uri="{FF2B5EF4-FFF2-40B4-BE49-F238E27FC236}">
                  <a16:creationId xmlns:a16="http://schemas.microsoft.com/office/drawing/2014/main" id="{378004C4-6786-473C-BB2A-AAA6EF1151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42141" y="3272152"/>
              <a:ext cx="180625" cy="158824"/>
            </a:xfrm>
            <a:custGeom>
              <a:avLst/>
              <a:gdLst>
                <a:gd name="connsiteX0" fmla="*/ 63289 w 3341477"/>
                <a:gd name="connsiteY0" fmla="*/ 1933384 h 2938167"/>
                <a:gd name="connsiteX1" fmla="*/ 263314 w 3341477"/>
                <a:gd name="connsiteY1" fmla="*/ 514159 h 2938167"/>
                <a:gd name="connsiteX2" fmla="*/ 1098276 w 3341477"/>
                <a:gd name="connsiteY2" fmla="*/ 952 h 2938167"/>
                <a:gd name="connsiteX3" fmla="*/ 2654089 w 3341477"/>
                <a:gd name="connsiteY3" fmla="*/ 371284 h 2938167"/>
                <a:gd name="connsiteX4" fmla="*/ 3219398 w 3341477"/>
                <a:gd name="connsiteY4" fmla="*/ 2080926 h 2938167"/>
                <a:gd name="connsiteX5" fmla="*/ 2044489 w 3341477"/>
                <a:gd name="connsiteY5" fmla="*/ 2933509 h 2938167"/>
                <a:gd name="connsiteX6" fmla="*/ 453814 w 3341477"/>
                <a:gd name="connsiteY6" fmla="*/ 2495359 h 2938167"/>
                <a:gd name="connsiteX7" fmla="*/ 63289 w 3341477"/>
                <a:gd name="connsiteY7" fmla="*/ 1933384 h 29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41477" h="2938167">
                  <a:moveTo>
                    <a:pt x="63289" y="1933384"/>
                  </a:moveTo>
                  <a:cubicBezTo>
                    <a:pt x="56717" y="1895856"/>
                    <a:pt x="-165311" y="914209"/>
                    <a:pt x="263314" y="514159"/>
                  </a:cubicBezTo>
                  <a:cubicBezTo>
                    <a:pt x="691939" y="114109"/>
                    <a:pt x="609262" y="11620"/>
                    <a:pt x="1098276" y="952"/>
                  </a:cubicBezTo>
                  <a:cubicBezTo>
                    <a:pt x="1587289" y="-9716"/>
                    <a:pt x="2320714" y="66484"/>
                    <a:pt x="2654089" y="371284"/>
                  </a:cubicBezTo>
                  <a:cubicBezTo>
                    <a:pt x="2987464" y="676084"/>
                    <a:pt x="3603732" y="1514094"/>
                    <a:pt x="3219398" y="2080926"/>
                  </a:cubicBezTo>
                  <a:cubicBezTo>
                    <a:pt x="2835064" y="2647759"/>
                    <a:pt x="2558839" y="2895409"/>
                    <a:pt x="2044489" y="2933509"/>
                  </a:cubicBezTo>
                  <a:cubicBezTo>
                    <a:pt x="1530139" y="2971609"/>
                    <a:pt x="701464" y="2771584"/>
                    <a:pt x="453814" y="2495359"/>
                  </a:cubicBezTo>
                  <a:cubicBezTo>
                    <a:pt x="206164" y="2219134"/>
                    <a:pt x="101389" y="2152459"/>
                    <a:pt x="63289" y="1933384"/>
                  </a:cubicBezTo>
                  <a:close/>
                </a:path>
              </a:pathLst>
            </a:custGeom>
            <a:grpFill/>
            <a:ln w="9525" cap="flat">
              <a:noFill/>
              <a:prstDash val="solid"/>
              <a:miter/>
            </a:ln>
          </p:spPr>
          <p:txBody>
            <a:bodyPr rtlCol="0" anchor="ctr"/>
            <a:lstStyle/>
            <a:p>
              <a:endParaRPr lang="en-US"/>
            </a:p>
          </p:txBody>
        </p:sp>
        <p:sp>
          <p:nvSpPr>
            <p:cNvPr id="52" name="Graphic 15">
              <a:extLst>
                <a:ext uri="{FF2B5EF4-FFF2-40B4-BE49-F238E27FC236}">
                  <a16:creationId xmlns:a16="http://schemas.microsoft.com/office/drawing/2014/main" id="{455376B6-DAB5-4A34-A8BE-15DE02CAF5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02136" y="3379098"/>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53" name="Graphic 15">
              <a:extLst>
                <a:ext uri="{FF2B5EF4-FFF2-40B4-BE49-F238E27FC236}">
                  <a16:creationId xmlns:a16="http://schemas.microsoft.com/office/drawing/2014/main" id="{EC2A85A1-668E-48DF-A484-FADE64BE6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8005" y="3504095"/>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D16C5EE-54EB-4800-8860-E622EEDE84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43727" y="3666564"/>
              <a:ext cx="173527" cy="138496"/>
            </a:xfrm>
            <a:custGeom>
              <a:avLst/>
              <a:gdLst>
                <a:gd name="connsiteX0" fmla="*/ 237392 w 789043"/>
                <a:gd name="connsiteY0" fmla="*/ 81 h 629754"/>
                <a:gd name="connsiteX1" fmla="*/ 758692 w 789043"/>
                <a:gd name="connsiteY1" fmla="*/ 233550 h 629754"/>
                <a:gd name="connsiteX2" fmla="*/ 650647 w 789043"/>
                <a:gd name="connsiteY2" fmla="*/ 335111 h 629754"/>
                <a:gd name="connsiteX3" fmla="*/ 315041 w 789043"/>
                <a:gd name="connsiteY3" fmla="*/ 584992 h 629754"/>
                <a:gd name="connsiteX4" fmla="*/ 192159 w 789043"/>
                <a:gd name="connsiteY4" fmla="*/ 625953 h 629754"/>
                <a:gd name="connsiteX5" fmla="*/ 124264 w 789043"/>
                <a:gd name="connsiteY5" fmla="*/ 552260 h 629754"/>
                <a:gd name="connsiteX6" fmla="*/ 1631 w 789043"/>
                <a:gd name="connsiteY6" fmla="*/ 133735 h 629754"/>
                <a:gd name="connsiteX7" fmla="*/ 35422 w 789043"/>
                <a:gd name="connsiteY7" fmla="*/ 14157 h 629754"/>
                <a:gd name="connsiteX8" fmla="*/ 113728 w 789043"/>
                <a:gd name="connsiteY8" fmla="*/ 378 h 629754"/>
                <a:gd name="connsiteX9" fmla="*/ 237392 w 789043"/>
                <a:gd name="connsiteY9" fmla="*/ 81 h 629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043" h="629754">
                  <a:moveTo>
                    <a:pt x="237392" y="81"/>
                  </a:moveTo>
                  <a:cubicBezTo>
                    <a:pt x="474795" y="-992"/>
                    <a:pt x="907215" y="10463"/>
                    <a:pt x="758692" y="233550"/>
                  </a:cubicBezTo>
                  <a:cubicBezTo>
                    <a:pt x="731135" y="274948"/>
                    <a:pt x="690486" y="305435"/>
                    <a:pt x="650647" y="335111"/>
                  </a:cubicBezTo>
                  <a:cubicBezTo>
                    <a:pt x="538737" y="418405"/>
                    <a:pt x="426889" y="501698"/>
                    <a:pt x="315041" y="584992"/>
                  </a:cubicBezTo>
                  <a:cubicBezTo>
                    <a:pt x="278943" y="611863"/>
                    <a:pt x="234865" y="640167"/>
                    <a:pt x="192159" y="625953"/>
                  </a:cubicBezTo>
                  <a:cubicBezTo>
                    <a:pt x="159614" y="615105"/>
                    <a:pt x="139851" y="582810"/>
                    <a:pt x="124264" y="552260"/>
                  </a:cubicBezTo>
                  <a:cubicBezTo>
                    <a:pt x="57742" y="422021"/>
                    <a:pt x="15908" y="279250"/>
                    <a:pt x="1631" y="133735"/>
                  </a:cubicBezTo>
                  <a:cubicBezTo>
                    <a:pt x="-2671" y="90343"/>
                    <a:pt x="-676" y="38596"/>
                    <a:pt x="35422" y="14157"/>
                  </a:cubicBezTo>
                  <a:cubicBezTo>
                    <a:pt x="57804" y="-931"/>
                    <a:pt x="86795" y="-557"/>
                    <a:pt x="113728" y="378"/>
                  </a:cubicBezTo>
                  <a:cubicBezTo>
                    <a:pt x="138207" y="1243"/>
                    <a:pt x="182606" y="328"/>
                    <a:pt x="237392" y="8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99834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7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62C45-6F9B-3F35-1D1F-BE92DE8AC27A}"/>
              </a:ext>
            </a:extLst>
          </p:cNvPr>
          <p:cNvSpPr>
            <a:spLocks noGrp="1"/>
          </p:cNvSpPr>
          <p:nvPr>
            <p:ph type="title"/>
          </p:nvPr>
        </p:nvSpPr>
        <p:spPr/>
        <p:txBody>
          <a:bodyPr/>
          <a:lstStyle/>
          <a:p>
            <a:r>
              <a:rPr lang="es-ES_tradnl" dirty="0"/>
              <a:t>Plan de clase</a:t>
            </a:r>
          </a:p>
        </p:txBody>
      </p:sp>
      <p:sp>
        <p:nvSpPr>
          <p:cNvPr id="3" name="Content Placeholder 2">
            <a:extLst>
              <a:ext uri="{FF2B5EF4-FFF2-40B4-BE49-F238E27FC236}">
                <a16:creationId xmlns:a16="http://schemas.microsoft.com/office/drawing/2014/main" id="{D630D56E-3D4C-66ED-17D2-3C3A813004A8}"/>
              </a:ext>
            </a:extLst>
          </p:cNvPr>
          <p:cNvSpPr>
            <a:spLocks noGrp="1"/>
          </p:cNvSpPr>
          <p:nvPr>
            <p:ph idx="1"/>
          </p:nvPr>
        </p:nvSpPr>
        <p:spPr/>
        <p:txBody>
          <a:bodyPr/>
          <a:lstStyle/>
          <a:p>
            <a:pPr marL="457200" indent="-457200">
              <a:buFont typeface="Arial" panose="020B0604020202020204" pitchFamily="34" charset="0"/>
              <a:buChar char="•"/>
            </a:pPr>
            <a:r>
              <a:rPr lang="es-ES_tradnl" dirty="0"/>
              <a:t>Empezar a conocernos  </a:t>
            </a:r>
          </a:p>
          <a:p>
            <a:pPr marL="457200" indent="-457200">
              <a:buFont typeface="Arial" panose="020B0604020202020204" pitchFamily="34" charset="0"/>
              <a:buChar char="•"/>
            </a:pPr>
            <a:r>
              <a:rPr lang="es-ES_tradnl" dirty="0"/>
              <a:t>El curso y el programa  </a:t>
            </a:r>
          </a:p>
          <a:p>
            <a:pPr marL="457200" indent="-457200">
              <a:buFont typeface="Arial" panose="020B0604020202020204" pitchFamily="34" charset="0"/>
              <a:buChar char="•"/>
            </a:pPr>
            <a:r>
              <a:rPr lang="es-ES_tradnl" dirty="0"/>
              <a:t>Buenas prácticas y lectura de artículos  </a:t>
            </a:r>
          </a:p>
          <a:p>
            <a:pPr marL="457200" indent="-457200">
              <a:buFont typeface="Arial" panose="020B0604020202020204" pitchFamily="34" charset="0"/>
              <a:buChar char="•"/>
            </a:pPr>
            <a:r>
              <a:rPr lang="es-ES_tradnl" dirty="0"/>
              <a:t>Dudas, preguntas, sugerencias  </a:t>
            </a:r>
          </a:p>
          <a:p>
            <a:pPr marL="457200" indent="-457200">
              <a:buFont typeface="Arial" panose="020B0604020202020204" pitchFamily="34" charset="0"/>
              <a:buChar char="•"/>
            </a:pPr>
            <a:r>
              <a:rPr lang="es-ES_tradnl" dirty="0"/>
              <a:t>Actividad en grupo: Termómetro de la verdad  </a:t>
            </a:r>
          </a:p>
          <a:p>
            <a:pPr marL="457200" indent="-457200">
              <a:buFont typeface="Arial" panose="020B0604020202020204" pitchFamily="34" charset="0"/>
              <a:buChar char="•"/>
            </a:pPr>
            <a:r>
              <a:rPr lang="es-ES_tradnl" dirty="0"/>
              <a:t>Recorrido a los estudios de sociología del género</a:t>
            </a:r>
          </a:p>
          <a:p>
            <a:pPr marL="457200" indent="-457200">
              <a:buFont typeface="+mj-lt"/>
              <a:buAutoNum type="arabicPeriod"/>
            </a:pPr>
            <a:endParaRPr lang="es-ES_tradnl" dirty="0"/>
          </a:p>
          <a:p>
            <a:pPr marL="457200" indent="-457200">
              <a:buFont typeface="+mj-lt"/>
              <a:buAutoNum type="arabicPeriod"/>
            </a:pPr>
            <a:endParaRPr lang="es-ES_tradnl" dirty="0"/>
          </a:p>
          <a:p>
            <a:pPr marL="457200" indent="-457200">
              <a:buFont typeface="+mj-lt"/>
              <a:buAutoNum type="arabicPeriod"/>
            </a:pPr>
            <a:endParaRPr lang="es-ES_tradnl" dirty="0"/>
          </a:p>
        </p:txBody>
      </p:sp>
    </p:spTree>
    <p:extLst>
      <p:ext uri="{BB962C8B-B14F-4D97-AF65-F5344CB8AC3E}">
        <p14:creationId xmlns:p14="http://schemas.microsoft.com/office/powerpoint/2010/main" val="34383973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2F9C493A-9F03-49B4-B3FB-19CE5AC11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2" name="Title 1">
            <a:extLst>
              <a:ext uri="{FF2B5EF4-FFF2-40B4-BE49-F238E27FC236}">
                <a16:creationId xmlns:a16="http://schemas.microsoft.com/office/drawing/2014/main" id="{4343449A-8A18-16DF-A438-BA5025ABDFD8}"/>
              </a:ext>
            </a:extLst>
          </p:cNvPr>
          <p:cNvSpPr>
            <a:spLocks noGrp="1"/>
          </p:cNvSpPr>
          <p:nvPr>
            <p:ph type="title"/>
          </p:nvPr>
        </p:nvSpPr>
        <p:spPr>
          <a:xfrm>
            <a:off x="525717" y="787068"/>
            <a:ext cx="4663649" cy="1455091"/>
          </a:xfrm>
        </p:spPr>
        <p:txBody>
          <a:bodyPr>
            <a:normAutofit/>
          </a:bodyPr>
          <a:lstStyle/>
          <a:p>
            <a:r>
              <a:rPr lang="es-ES_tradnl" dirty="0"/>
              <a:t>Un poco sobre mí</a:t>
            </a:r>
          </a:p>
        </p:txBody>
      </p:sp>
      <p:sp>
        <p:nvSpPr>
          <p:cNvPr id="36" name="Freeform: Shape 35">
            <a:extLst>
              <a:ext uri="{FF2B5EF4-FFF2-40B4-BE49-F238E27FC236}">
                <a16:creationId xmlns:a16="http://schemas.microsoft.com/office/drawing/2014/main" id="{90A46C7D-C1BB-49B8-8D37-39742820E9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15182" y="-615181"/>
            <a:ext cx="1085312" cy="2315675"/>
          </a:xfrm>
          <a:custGeom>
            <a:avLst/>
            <a:gdLst>
              <a:gd name="connsiteX0" fmla="*/ 0 w 1085312"/>
              <a:gd name="connsiteY0" fmla="*/ 2315675 h 2315675"/>
              <a:gd name="connsiteX1" fmla="*/ 0 w 1085312"/>
              <a:gd name="connsiteY1" fmla="*/ 0 h 2315675"/>
              <a:gd name="connsiteX2" fmla="*/ 53089 w 1085312"/>
              <a:gd name="connsiteY2" fmla="*/ 4542 h 2315675"/>
              <a:gd name="connsiteX3" fmla="*/ 790077 w 1085312"/>
              <a:gd name="connsiteY3" fmla="*/ 872756 h 2315675"/>
              <a:gd name="connsiteX4" fmla="*/ 1085252 w 1085312"/>
              <a:gd name="connsiteY4" fmla="*/ 1943649 h 2315675"/>
              <a:gd name="connsiteX5" fmla="*/ 1064832 w 1085312"/>
              <a:gd name="connsiteY5" fmla="*/ 2198094 h 2315675"/>
              <a:gd name="connsiteX6" fmla="*/ 1043734 w 1085312"/>
              <a:gd name="connsiteY6" fmla="*/ 2315675 h 2315675"/>
              <a:gd name="connsiteX7" fmla="*/ 0 w 1085312"/>
              <a:gd name="connsiteY7" fmla="*/ 2315675 h 2315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5312" h="2315675">
                <a:moveTo>
                  <a:pt x="0" y="2315675"/>
                </a:moveTo>
                <a:lnTo>
                  <a:pt x="0" y="0"/>
                </a:lnTo>
                <a:lnTo>
                  <a:pt x="53089" y="4542"/>
                </a:lnTo>
                <a:cubicBezTo>
                  <a:pt x="405263" y="73503"/>
                  <a:pt x="612623" y="486635"/>
                  <a:pt x="790077" y="872756"/>
                </a:cubicBezTo>
                <a:cubicBezTo>
                  <a:pt x="937425" y="1193596"/>
                  <a:pt x="1088787" y="1533232"/>
                  <a:pt x="1085252" y="1943649"/>
                </a:cubicBezTo>
                <a:cubicBezTo>
                  <a:pt x="1084528" y="2029058"/>
                  <a:pt x="1077341" y="2113833"/>
                  <a:pt x="1064832" y="2198094"/>
                </a:cubicBezTo>
                <a:lnTo>
                  <a:pt x="1043734" y="2315675"/>
                </a:lnTo>
                <a:lnTo>
                  <a:pt x="0" y="2315675"/>
                </a:lnTo>
                <a:close/>
              </a:path>
            </a:pathLst>
          </a:custGeom>
          <a:solidFill>
            <a:schemeClr val="accent6">
              <a:lumMod val="40000"/>
              <a:lumOff val="6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38" name="Graphic 78">
            <a:extLst>
              <a:ext uri="{FF2B5EF4-FFF2-40B4-BE49-F238E27FC236}">
                <a16:creationId xmlns:a16="http://schemas.microsoft.com/office/drawing/2014/main" id="{61BBAB6F-65E6-4E2B-B363-6AB27C84E0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25717" y="2585111"/>
            <a:ext cx="972241" cy="45718"/>
            <a:chOff x="4886325" y="3371754"/>
            <a:chExt cx="2418492" cy="113728"/>
          </a:xfrm>
          <a:solidFill>
            <a:schemeClr val="accent1"/>
          </a:solidFill>
        </p:grpSpPr>
        <p:sp>
          <p:nvSpPr>
            <p:cNvPr id="39" name="Graphic 78">
              <a:extLst>
                <a:ext uri="{FF2B5EF4-FFF2-40B4-BE49-F238E27FC236}">
                  <a16:creationId xmlns:a16="http://schemas.microsoft.com/office/drawing/2014/main" id="{6DA3BBB2-E620-4C13-98C9-FE1EF7D2ED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40" name="Graphic 78">
              <a:extLst>
                <a:ext uri="{FF2B5EF4-FFF2-40B4-BE49-F238E27FC236}">
                  <a16:creationId xmlns:a16="http://schemas.microsoft.com/office/drawing/2014/main" id="{ADC9AB5D-88A1-4FA9-B467-E8EF8FFE5B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4886709" y="3371754"/>
              <a:ext cx="2418108" cy="113728"/>
              <a:chOff x="4886709" y="3371754"/>
              <a:chExt cx="2418108" cy="113728"/>
            </a:xfrm>
            <a:grpFill/>
          </p:grpSpPr>
          <p:sp>
            <p:nvSpPr>
              <p:cNvPr id="41" name="Graphic 78">
                <a:extLst>
                  <a:ext uri="{FF2B5EF4-FFF2-40B4-BE49-F238E27FC236}">
                    <a16:creationId xmlns:a16="http://schemas.microsoft.com/office/drawing/2014/main" id="{0867B8E5-4535-4743-8235-6612FEA410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42" name="Graphic 78">
                <a:extLst>
                  <a:ext uri="{FF2B5EF4-FFF2-40B4-BE49-F238E27FC236}">
                    <a16:creationId xmlns:a16="http://schemas.microsoft.com/office/drawing/2014/main" id="{BE48FEA7-5915-4751-8090-63F309432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43" name="Graphic 78">
                <a:extLst>
                  <a:ext uri="{FF2B5EF4-FFF2-40B4-BE49-F238E27FC236}">
                    <a16:creationId xmlns:a16="http://schemas.microsoft.com/office/drawing/2014/main" id="{32B378CE-44FD-4120-B9ED-7828D4EE9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44" name="Graphic 78">
                <a:extLst>
                  <a:ext uri="{FF2B5EF4-FFF2-40B4-BE49-F238E27FC236}">
                    <a16:creationId xmlns:a16="http://schemas.microsoft.com/office/drawing/2014/main" id="{40FA43D3-D34B-4BC7-80D0-F3E75A222A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
        <p:nvSpPr>
          <p:cNvPr id="3" name="Content Placeholder 2">
            <a:extLst>
              <a:ext uri="{FF2B5EF4-FFF2-40B4-BE49-F238E27FC236}">
                <a16:creationId xmlns:a16="http://schemas.microsoft.com/office/drawing/2014/main" id="{02F1F1F4-1DEA-86F2-905A-DC6643B10BE7}"/>
              </a:ext>
            </a:extLst>
          </p:cNvPr>
          <p:cNvSpPr>
            <a:spLocks noGrp="1"/>
          </p:cNvSpPr>
          <p:nvPr>
            <p:ph idx="1"/>
          </p:nvPr>
        </p:nvSpPr>
        <p:spPr>
          <a:xfrm>
            <a:off x="525717" y="2796427"/>
            <a:ext cx="5428063" cy="3705475"/>
          </a:xfrm>
        </p:spPr>
        <p:txBody>
          <a:bodyPr>
            <a:normAutofit fontScale="92500" lnSpcReduction="10000"/>
          </a:bodyPr>
          <a:lstStyle/>
          <a:p>
            <a:r>
              <a:rPr lang="es-ES_tradnl" dirty="0"/>
              <a:t>Tania Hutt (ella/la)</a:t>
            </a:r>
          </a:p>
          <a:p>
            <a:r>
              <a:rPr lang="es-ES_tradnl" dirty="0"/>
              <a:t>Socióloga, </a:t>
            </a:r>
            <a:r>
              <a:rPr lang="es-ES_tradnl" dirty="0" err="1"/>
              <a:t>Ph.D</a:t>
            </a:r>
            <a:r>
              <a:rPr lang="es-ES_tradnl" dirty="0"/>
              <a:t>.</a:t>
            </a:r>
          </a:p>
          <a:p>
            <a:pPr marL="342900" indent="-342900">
              <a:buFont typeface="Arial" panose="020B0604020202020204" pitchFamily="34" charset="0"/>
              <a:buChar char="•"/>
            </a:pPr>
            <a:r>
              <a:rPr lang="es-ES_tradnl" dirty="0"/>
              <a:t>Desigualdad de género en el mercado laboral, discriminación en procesos de selección y evaluación.</a:t>
            </a:r>
          </a:p>
          <a:p>
            <a:pPr marL="342900" indent="-342900">
              <a:buFont typeface="Arial" panose="020B0604020202020204" pitchFamily="34" charset="0"/>
              <a:buChar char="•"/>
            </a:pPr>
            <a:r>
              <a:rPr lang="es-ES_tradnl" dirty="0"/>
              <a:t>Trayectorias laborales durante la transición a la maternidad.</a:t>
            </a:r>
          </a:p>
          <a:p>
            <a:pPr marL="342900" indent="-342900">
              <a:buFont typeface="Arial" panose="020B0604020202020204" pitchFamily="34" charset="0"/>
              <a:buChar char="•"/>
            </a:pPr>
            <a:r>
              <a:rPr lang="es-ES_tradnl" dirty="0"/>
              <a:t>Estereotipos y discriminación por maternidad y maternidad futura.</a:t>
            </a:r>
          </a:p>
          <a:p>
            <a:pPr marL="342900" indent="-342900">
              <a:buFont typeface="Arial" panose="020B0604020202020204" pitchFamily="34" charset="0"/>
              <a:buChar char="•"/>
            </a:pPr>
            <a:r>
              <a:rPr lang="es-ES_tradnl" dirty="0"/>
              <a:t>Sobre mi </a:t>
            </a:r>
            <a:r>
              <a:rPr lang="es-ES_tradnl" dirty="0" err="1"/>
              <a:t>posicionalidad</a:t>
            </a:r>
            <a:r>
              <a:rPr lang="es-ES_tradnl" dirty="0"/>
              <a:t> en el curso</a:t>
            </a:r>
          </a:p>
          <a:p>
            <a:endParaRPr lang="es-ES_tradnl" dirty="0"/>
          </a:p>
        </p:txBody>
      </p:sp>
      <p:pic>
        <p:nvPicPr>
          <p:cNvPr id="5" name="Picture 4" descr="A group of miniature people standing in a row&#10;&#10;Description automatically generated">
            <a:extLst>
              <a:ext uri="{FF2B5EF4-FFF2-40B4-BE49-F238E27FC236}">
                <a16:creationId xmlns:a16="http://schemas.microsoft.com/office/drawing/2014/main" id="{0C5A3E49-CB09-AA6F-19AE-F5C3FE325451}"/>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5953780" y="1473200"/>
            <a:ext cx="5660211" cy="3820642"/>
          </a:xfrm>
          <a:prstGeom prst="rect">
            <a:avLst/>
          </a:prstGeom>
        </p:spPr>
      </p:pic>
      <p:sp>
        <p:nvSpPr>
          <p:cNvPr id="46" name="Freeform: Shape 45">
            <a:extLst>
              <a:ext uri="{FF2B5EF4-FFF2-40B4-BE49-F238E27FC236}">
                <a16:creationId xmlns:a16="http://schemas.microsoft.com/office/drawing/2014/main" id="{55820E42-2F9D-41EF-B67F-522A133B33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753030" y="5516668"/>
            <a:ext cx="2438970" cy="1341332"/>
          </a:xfrm>
          <a:custGeom>
            <a:avLst/>
            <a:gdLst>
              <a:gd name="connsiteX0" fmla="*/ 2025355 w 2438970"/>
              <a:gd name="connsiteY0" fmla="*/ 235 h 1341332"/>
              <a:gd name="connsiteX1" fmla="*/ 2381960 w 2438970"/>
              <a:gd name="connsiteY1" fmla="*/ 44517 h 1341332"/>
              <a:gd name="connsiteX2" fmla="*/ 2438970 w 2438970"/>
              <a:gd name="connsiteY2" fmla="*/ 58872 h 1341332"/>
              <a:gd name="connsiteX3" fmla="*/ 2438970 w 2438970"/>
              <a:gd name="connsiteY3" fmla="*/ 1341332 h 1341332"/>
              <a:gd name="connsiteX4" fmla="*/ 0 w 2438970"/>
              <a:gd name="connsiteY4" fmla="*/ 1341332 h 1341332"/>
              <a:gd name="connsiteX5" fmla="*/ 13333 w 2438970"/>
              <a:gd name="connsiteY5" fmla="*/ 1328018 h 1341332"/>
              <a:gd name="connsiteX6" fmla="*/ 936262 w 2438970"/>
              <a:gd name="connsiteY6" fmla="*/ 459947 h 1341332"/>
              <a:gd name="connsiteX7" fmla="*/ 1554028 w 2438970"/>
              <a:gd name="connsiteY7" fmla="*/ 71153 h 1341332"/>
              <a:gd name="connsiteX8" fmla="*/ 2025355 w 2438970"/>
              <a:gd name="connsiteY8" fmla="*/ 235 h 1341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38970" h="1341332">
                <a:moveTo>
                  <a:pt x="2025355" y="235"/>
                </a:moveTo>
                <a:cubicBezTo>
                  <a:pt x="2143847" y="2306"/>
                  <a:pt x="2262766" y="17993"/>
                  <a:pt x="2381960" y="44517"/>
                </a:cubicBezTo>
                <a:lnTo>
                  <a:pt x="2438970" y="58872"/>
                </a:lnTo>
                <a:lnTo>
                  <a:pt x="2438970" y="1341332"/>
                </a:lnTo>
                <a:lnTo>
                  <a:pt x="0" y="1341332"/>
                </a:lnTo>
                <a:lnTo>
                  <a:pt x="13333" y="1328018"/>
                </a:lnTo>
                <a:cubicBezTo>
                  <a:pt x="324723" y="1028950"/>
                  <a:pt x="645390" y="738459"/>
                  <a:pt x="936262" y="459947"/>
                </a:cubicBezTo>
                <a:cubicBezTo>
                  <a:pt x="1139660" y="265152"/>
                  <a:pt x="1345794" y="140817"/>
                  <a:pt x="1554028" y="71153"/>
                </a:cubicBezTo>
                <a:cubicBezTo>
                  <a:pt x="1710136" y="18918"/>
                  <a:pt x="1867365" y="-2526"/>
                  <a:pt x="2025355" y="235"/>
                </a:cubicBezTo>
                <a:close/>
              </a:path>
            </a:pathLst>
          </a:cu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48" name="Group 47">
            <a:extLst>
              <a:ext uri="{FF2B5EF4-FFF2-40B4-BE49-F238E27FC236}">
                <a16:creationId xmlns:a16="http://schemas.microsoft.com/office/drawing/2014/main" id="{13D9BC31-B57D-4933-AD83-94F462D4C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776050" y="5204025"/>
            <a:ext cx="886141" cy="802496"/>
            <a:chOff x="10948005" y="3272152"/>
            <a:chExt cx="868640" cy="786648"/>
          </a:xfrm>
          <a:solidFill>
            <a:schemeClr val="accent1"/>
          </a:solidFill>
        </p:grpSpPr>
        <p:sp>
          <p:nvSpPr>
            <p:cNvPr id="49" name="Freeform: Shape 48">
              <a:extLst>
                <a:ext uri="{FF2B5EF4-FFF2-40B4-BE49-F238E27FC236}">
                  <a16:creationId xmlns:a16="http://schemas.microsoft.com/office/drawing/2014/main" id="{D84AFEA3-A055-41AE-96F3-34BA581424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94317" y="3944888"/>
              <a:ext cx="128449" cy="113912"/>
            </a:xfrm>
            <a:custGeom>
              <a:avLst/>
              <a:gdLst>
                <a:gd name="connsiteX0" fmla="*/ 237621 w 453152"/>
                <a:gd name="connsiteY0" fmla="*/ 965 h 401867"/>
                <a:gd name="connsiteX1" fmla="*/ 370246 w 453152"/>
                <a:gd name="connsiteY1" fmla="*/ 23666 h 401867"/>
                <a:gd name="connsiteX2" fmla="*/ 437392 w 453152"/>
                <a:gd name="connsiteY2" fmla="*/ 198545 h 401867"/>
                <a:gd name="connsiteX3" fmla="*/ 67745 w 453152"/>
                <a:gd name="connsiteY3" fmla="*/ 392003 h 401867"/>
                <a:gd name="connsiteX4" fmla="*/ 911 w 453152"/>
                <a:gd name="connsiteY4" fmla="*/ 254095 h 401867"/>
                <a:gd name="connsiteX5" fmla="*/ 115564 w 453152"/>
                <a:gd name="connsiteY5" fmla="*/ 51160 h 401867"/>
                <a:gd name="connsiteX6" fmla="*/ 237621 w 453152"/>
                <a:gd name="connsiteY6" fmla="*/ 965 h 40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152" h="401867">
                  <a:moveTo>
                    <a:pt x="237621" y="965"/>
                  </a:moveTo>
                  <a:cubicBezTo>
                    <a:pt x="283632" y="-2971"/>
                    <a:pt x="331405" y="5243"/>
                    <a:pt x="370246" y="23666"/>
                  </a:cubicBezTo>
                  <a:cubicBezTo>
                    <a:pt x="436830" y="55275"/>
                    <a:pt x="477168" y="116810"/>
                    <a:pt x="437392" y="198545"/>
                  </a:cubicBezTo>
                  <a:cubicBezTo>
                    <a:pt x="391568" y="292624"/>
                    <a:pt x="176850" y="441630"/>
                    <a:pt x="67745" y="392003"/>
                  </a:cubicBezTo>
                  <a:cubicBezTo>
                    <a:pt x="18056" y="369372"/>
                    <a:pt x="-5012" y="308398"/>
                    <a:pt x="911" y="254095"/>
                  </a:cubicBezTo>
                  <a:cubicBezTo>
                    <a:pt x="9203" y="178033"/>
                    <a:pt x="61012" y="103094"/>
                    <a:pt x="115564" y="51160"/>
                  </a:cubicBezTo>
                  <a:cubicBezTo>
                    <a:pt x="147361" y="20985"/>
                    <a:pt x="191610" y="4900"/>
                    <a:pt x="237621" y="96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50" name="Freeform: Shape 49">
              <a:extLst>
                <a:ext uri="{FF2B5EF4-FFF2-40B4-BE49-F238E27FC236}">
                  <a16:creationId xmlns:a16="http://schemas.microsoft.com/office/drawing/2014/main" id="{9028771F-62FA-4349-B7A8-CE1682D2C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53045" y="3808430"/>
              <a:ext cx="144912" cy="193414"/>
            </a:xfrm>
            <a:custGeom>
              <a:avLst/>
              <a:gdLst>
                <a:gd name="connsiteX0" fmla="*/ 390625 w 511232"/>
                <a:gd name="connsiteY0" fmla="*/ 1621 h 682341"/>
                <a:gd name="connsiteX1" fmla="*/ 508142 w 511232"/>
                <a:gd name="connsiteY1" fmla="*/ 64038 h 682341"/>
                <a:gd name="connsiteX2" fmla="*/ 508453 w 511232"/>
                <a:gd name="connsiteY2" fmla="*/ 121832 h 682341"/>
                <a:gd name="connsiteX3" fmla="*/ 316492 w 511232"/>
                <a:gd name="connsiteY3" fmla="*/ 567602 h 682341"/>
                <a:gd name="connsiteX4" fmla="*/ 80265 w 511232"/>
                <a:gd name="connsiteY4" fmla="*/ 640359 h 682341"/>
                <a:gd name="connsiteX5" fmla="*/ 13306 w 511232"/>
                <a:gd name="connsiteY5" fmla="*/ 274828 h 682341"/>
                <a:gd name="connsiteX6" fmla="*/ 140989 w 511232"/>
                <a:gd name="connsiteY6" fmla="*/ 107181 h 682341"/>
                <a:gd name="connsiteX7" fmla="*/ 390625 w 511232"/>
                <a:gd name="connsiteY7" fmla="*/ 1621 h 682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232" h="682341">
                  <a:moveTo>
                    <a:pt x="390625" y="1621"/>
                  </a:moveTo>
                  <a:cubicBezTo>
                    <a:pt x="446543" y="-5212"/>
                    <a:pt x="493343" y="8441"/>
                    <a:pt x="508142" y="64038"/>
                  </a:cubicBezTo>
                  <a:cubicBezTo>
                    <a:pt x="513192" y="82866"/>
                    <a:pt x="511134" y="102754"/>
                    <a:pt x="508453" y="121832"/>
                  </a:cubicBezTo>
                  <a:cubicBezTo>
                    <a:pt x="485324" y="287796"/>
                    <a:pt x="417242" y="443971"/>
                    <a:pt x="316492" y="567602"/>
                  </a:cubicBezTo>
                  <a:cubicBezTo>
                    <a:pt x="253024" y="645534"/>
                    <a:pt x="165055" y="737743"/>
                    <a:pt x="80265" y="640359"/>
                  </a:cubicBezTo>
                  <a:cubicBezTo>
                    <a:pt x="5014" y="553948"/>
                    <a:pt x="-17368" y="383621"/>
                    <a:pt x="13306" y="274828"/>
                  </a:cubicBezTo>
                  <a:cubicBezTo>
                    <a:pt x="33443" y="203318"/>
                    <a:pt x="83382" y="146521"/>
                    <a:pt x="140989" y="107181"/>
                  </a:cubicBezTo>
                  <a:cubicBezTo>
                    <a:pt x="178904" y="81308"/>
                    <a:pt x="297428" y="13010"/>
                    <a:pt x="390625" y="16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51" name="Freeform: Shape 50">
              <a:extLst>
                <a:ext uri="{FF2B5EF4-FFF2-40B4-BE49-F238E27FC236}">
                  <a16:creationId xmlns:a16="http://schemas.microsoft.com/office/drawing/2014/main" id="{319CDEE6-CB2F-49F0-B237-2A26A3D1DC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84524" y="3907536"/>
              <a:ext cx="132121" cy="93006"/>
            </a:xfrm>
            <a:custGeom>
              <a:avLst/>
              <a:gdLst>
                <a:gd name="connsiteX0" fmla="*/ 252822 w 466107"/>
                <a:gd name="connsiteY0" fmla="*/ 1539 h 328114"/>
                <a:gd name="connsiteX1" fmla="*/ 451641 w 466107"/>
                <a:gd name="connsiteY1" fmla="*/ 122177 h 328114"/>
                <a:gd name="connsiteX2" fmla="*/ 391790 w 466107"/>
                <a:gd name="connsiteY2" fmla="*/ 297430 h 328114"/>
                <a:gd name="connsiteX3" fmla="*/ 8614 w 466107"/>
                <a:gd name="connsiteY3" fmla="*/ 243252 h 328114"/>
                <a:gd name="connsiteX4" fmla="*/ 45897 w 466107"/>
                <a:gd name="connsiteY4" fmla="*/ 97302 h 328114"/>
                <a:gd name="connsiteX5" fmla="*/ 252822 w 466107"/>
                <a:gd name="connsiteY5" fmla="*/ 1539 h 328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107" h="328114">
                  <a:moveTo>
                    <a:pt x="252822" y="1539"/>
                  </a:moveTo>
                  <a:cubicBezTo>
                    <a:pt x="335429" y="-10494"/>
                    <a:pt x="418848" y="49794"/>
                    <a:pt x="451641" y="122177"/>
                  </a:cubicBezTo>
                  <a:cubicBezTo>
                    <a:pt x="479697" y="184273"/>
                    <a:pt x="470594" y="255285"/>
                    <a:pt x="391790" y="297430"/>
                  </a:cubicBezTo>
                  <a:cubicBezTo>
                    <a:pt x="301077" y="345935"/>
                    <a:pt x="55935" y="343254"/>
                    <a:pt x="8614" y="243252"/>
                  </a:cubicBezTo>
                  <a:cubicBezTo>
                    <a:pt x="-12895" y="197678"/>
                    <a:pt x="8240" y="136766"/>
                    <a:pt x="45897" y="97302"/>
                  </a:cubicBezTo>
                  <a:cubicBezTo>
                    <a:pt x="98704" y="42064"/>
                    <a:pt x="181872" y="11950"/>
                    <a:pt x="252822" y="1539"/>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52" name="Graphic 12">
              <a:extLst>
                <a:ext uri="{FF2B5EF4-FFF2-40B4-BE49-F238E27FC236}">
                  <a16:creationId xmlns:a16="http://schemas.microsoft.com/office/drawing/2014/main" id="{3DD82286-02D2-4210-A797-5D502D44A3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42141" y="3272152"/>
              <a:ext cx="180625" cy="158824"/>
            </a:xfrm>
            <a:custGeom>
              <a:avLst/>
              <a:gdLst>
                <a:gd name="connsiteX0" fmla="*/ 63289 w 3341477"/>
                <a:gd name="connsiteY0" fmla="*/ 1933384 h 2938167"/>
                <a:gd name="connsiteX1" fmla="*/ 263314 w 3341477"/>
                <a:gd name="connsiteY1" fmla="*/ 514159 h 2938167"/>
                <a:gd name="connsiteX2" fmla="*/ 1098276 w 3341477"/>
                <a:gd name="connsiteY2" fmla="*/ 952 h 2938167"/>
                <a:gd name="connsiteX3" fmla="*/ 2654089 w 3341477"/>
                <a:gd name="connsiteY3" fmla="*/ 371284 h 2938167"/>
                <a:gd name="connsiteX4" fmla="*/ 3219398 w 3341477"/>
                <a:gd name="connsiteY4" fmla="*/ 2080926 h 2938167"/>
                <a:gd name="connsiteX5" fmla="*/ 2044489 w 3341477"/>
                <a:gd name="connsiteY5" fmla="*/ 2933509 h 2938167"/>
                <a:gd name="connsiteX6" fmla="*/ 453814 w 3341477"/>
                <a:gd name="connsiteY6" fmla="*/ 2495359 h 2938167"/>
                <a:gd name="connsiteX7" fmla="*/ 63289 w 3341477"/>
                <a:gd name="connsiteY7" fmla="*/ 1933384 h 29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41477" h="2938167">
                  <a:moveTo>
                    <a:pt x="63289" y="1933384"/>
                  </a:moveTo>
                  <a:cubicBezTo>
                    <a:pt x="56717" y="1895856"/>
                    <a:pt x="-165311" y="914209"/>
                    <a:pt x="263314" y="514159"/>
                  </a:cubicBezTo>
                  <a:cubicBezTo>
                    <a:pt x="691939" y="114109"/>
                    <a:pt x="609262" y="11620"/>
                    <a:pt x="1098276" y="952"/>
                  </a:cubicBezTo>
                  <a:cubicBezTo>
                    <a:pt x="1587289" y="-9716"/>
                    <a:pt x="2320714" y="66484"/>
                    <a:pt x="2654089" y="371284"/>
                  </a:cubicBezTo>
                  <a:cubicBezTo>
                    <a:pt x="2987464" y="676084"/>
                    <a:pt x="3603732" y="1514094"/>
                    <a:pt x="3219398" y="2080926"/>
                  </a:cubicBezTo>
                  <a:cubicBezTo>
                    <a:pt x="2835064" y="2647759"/>
                    <a:pt x="2558839" y="2895409"/>
                    <a:pt x="2044489" y="2933509"/>
                  </a:cubicBezTo>
                  <a:cubicBezTo>
                    <a:pt x="1530139" y="2971609"/>
                    <a:pt x="701464" y="2771584"/>
                    <a:pt x="453814" y="2495359"/>
                  </a:cubicBezTo>
                  <a:cubicBezTo>
                    <a:pt x="206164" y="2219134"/>
                    <a:pt x="101389" y="2152459"/>
                    <a:pt x="63289" y="1933384"/>
                  </a:cubicBezTo>
                  <a:close/>
                </a:path>
              </a:pathLst>
            </a:custGeom>
            <a:grpFill/>
            <a:ln w="9525" cap="flat">
              <a:noFill/>
              <a:prstDash val="solid"/>
              <a:miter/>
            </a:ln>
          </p:spPr>
          <p:txBody>
            <a:bodyPr rtlCol="0" anchor="ctr"/>
            <a:lstStyle/>
            <a:p>
              <a:endParaRPr lang="en-US"/>
            </a:p>
          </p:txBody>
        </p:sp>
        <p:sp>
          <p:nvSpPr>
            <p:cNvPr id="53" name="Graphic 15">
              <a:extLst>
                <a:ext uri="{FF2B5EF4-FFF2-40B4-BE49-F238E27FC236}">
                  <a16:creationId xmlns:a16="http://schemas.microsoft.com/office/drawing/2014/main" id="{735449F4-80DA-4E06-B3B6-B9F519F4A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02136" y="3379098"/>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54" name="Graphic 15">
              <a:extLst>
                <a:ext uri="{FF2B5EF4-FFF2-40B4-BE49-F238E27FC236}">
                  <a16:creationId xmlns:a16="http://schemas.microsoft.com/office/drawing/2014/main" id="{61FABA3B-05B6-433C-90F9-8D9691A84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8005" y="3504095"/>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E1FEBA45-D0A3-4091-9956-161EDA21A0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43727" y="3666564"/>
              <a:ext cx="173527" cy="138496"/>
            </a:xfrm>
            <a:custGeom>
              <a:avLst/>
              <a:gdLst>
                <a:gd name="connsiteX0" fmla="*/ 237392 w 789043"/>
                <a:gd name="connsiteY0" fmla="*/ 81 h 629754"/>
                <a:gd name="connsiteX1" fmla="*/ 758692 w 789043"/>
                <a:gd name="connsiteY1" fmla="*/ 233550 h 629754"/>
                <a:gd name="connsiteX2" fmla="*/ 650647 w 789043"/>
                <a:gd name="connsiteY2" fmla="*/ 335111 h 629754"/>
                <a:gd name="connsiteX3" fmla="*/ 315041 w 789043"/>
                <a:gd name="connsiteY3" fmla="*/ 584992 h 629754"/>
                <a:gd name="connsiteX4" fmla="*/ 192159 w 789043"/>
                <a:gd name="connsiteY4" fmla="*/ 625953 h 629754"/>
                <a:gd name="connsiteX5" fmla="*/ 124264 w 789043"/>
                <a:gd name="connsiteY5" fmla="*/ 552260 h 629754"/>
                <a:gd name="connsiteX6" fmla="*/ 1631 w 789043"/>
                <a:gd name="connsiteY6" fmla="*/ 133735 h 629754"/>
                <a:gd name="connsiteX7" fmla="*/ 35422 w 789043"/>
                <a:gd name="connsiteY7" fmla="*/ 14157 h 629754"/>
                <a:gd name="connsiteX8" fmla="*/ 113728 w 789043"/>
                <a:gd name="connsiteY8" fmla="*/ 378 h 629754"/>
                <a:gd name="connsiteX9" fmla="*/ 237392 w 789043"/>
                <a:gd name="connsiteY9" fmla="*/ 81 h 629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043" h="629754">
                  <a:moveTo>
                    <a:pt x="237392" y="81"/>
                  </a:moveTo>
                  <a:cubicBezTo>
                    <a:pt x="474795" y="-992"/>
                    <a:pt x="907215" y="10463"/>
                    <a:pt x="758692" y="233550"/>
                  </a:cubicBezTo>
                  <a:cubicBezTo>
                    <a:pt x="731135" y="274948"/>
                    <a:pt x="690486" y="305435"/>
                    <a:pt x="650647" y="335111"/>
                  </a:cubicBezTo>
                  <a:cubicBezTo>
                    <a:pt x="538737" y="418405"/>
                    <a:pt x="426889" y="501698"/>
                    <a:pt x="315041" y="584992"/>
                  </a:cubicBezTo>
                  <a:cubicBezTo>
                    <a:pt x="278943" y="611863"/>
                    <a:pt x="234865" y="640167"/>
                    <a:pt x="192159" y="625953"/>
                  </a:cubicBezTo>
                  <a:cubicBezTo>
                    <a:pt x="159614" y="615105"/>
                    <a:pt x="139851" y="582810"/>
                    <a:pt x="124264" y="552260"/>
                  </a:cubicBezTo>
                  <a:cubicBezTo>
                    <a:pt x="57742" y="422021"/>
                    <a:pt x="15908" y="279250"/>
                    <a:pt x="1631" y="133735"/>
                  </a:cubicBezTo>
                  <a:cubicBezTo>
                    <a:pt x="-2671" y="90343"/>
                    <a:pt x="-676" y="38596"/>
                    <a:pt x="35422" y="14157"/>
                  </a:cubicBezTo>
                  <a:cubicBezTo>
                    <a:pt x="57804" y="-931"/>
                    <a:pt x="86795" y="-557"/>
                    <a:pt x="113728" y="378"/>
                  </a:cubicBezTo>
                  <a:cubicBezTo>
                    <a:pt x="138207" y="1243"/>
                    <a:pt x="182606" y="328"/>
                    <a:pt x="237392" y="8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TextBox 5">
            <a:extLst>
              <a:ext uri="{FF2B5EF4-FFF2-40B4-BE49-F238E27FC236}">
                <a16:creationId xmlns:a16="http://schemas.microsoft.com/office/drawing/2014/main" id="{ACBD3F34-44AC-C138-B221-42B802E9A3B9}"/>
              </a:ext>
            </a:extLst>
          </p:cNvPr>
          <p:cNvSpPr txBox="1"/>
          <p:nvPr/>
        </p:nvSpPr>
        <p:spPr>
          <a:xfrm>
            <a:off x="9066478" y="7231646"/>
            <a:ext cx="2460930" cy="200055"/>
          </a:xfrm>
          <a:prstGeom prst="rect">
            <a:avLst/>
          </a:prstGeom>
          <a:solidFill>
            <a:srgbClr val="000000"/>
          </a:solidFill>
        </p:spPr>
        <p:txBody>
          <a:bodyPr wrap="none" rtlCol="0">
            <a:spAutoFit/>
          </a:bodyPr>
          <a:lstStyle/>
          <a:p>
            <a:pPr algn="r">
              <a:spcAft>
                <a:spcPts val="600"/>
              </a:spcAft>
            </a:pPr>
            <a:r>
              <a:rPr lang="es-ES_tradnl" sz="700" dirty="0">
                <a:solidFill>
                  <a:srgbClr val="FFFFFF"/>
                </a:solidFill>
                <a:hlinkClick r:id="rId4" tooltip="https://foto.wuestenigel.com/the-concept-of-gender-discrimination-in-recruitment/">
                  <a:extLst>
                    <a:ext uri="{A12FA001-AC4F-418D-AE19-62706E023703}">
                      <ahyp:hlinkClr xmlns:ahyp="http://schemas.microsoft.com/office/drawing/2018/hyperlinkcolor" val="tx"/>
                    </a:ext>
                  </a:extLst>
                </a:hlinkClick>
              </a:rPr>
              <a:t>This Photo</a:t>
            </a:r>
            <a:r>
              <a:rPr lang="es-ES_tradnl" sz="700" dirty="0">
                <a:solidFill>
                  <a:srgbClr val="FFFFFF"/>
                </a:solidFill>
              </a:rPr>
              <a:t> </a:t>
            </a:r>
            <a:r>
              <a:rPr lang="es-ES_tradnl" sz="700" dirty="0" err="1">
                <a:solidFill>
                  <a:srgbClr val="FFFFFF"/>
                </a:solidFill>
              </a:rPr>
              <a:t>by</a:t>
            </a:r>
            <a:r>
              <a:rPr lang="es-ES_tradnl" sz="700" dirty="0">
                <a:solidFill>
                  <a:srgbClr val="FFFFFF"/>
                </a:solidFill>
              </a:rPr>
              <a:t> </a:t>
            </a:r>
            <a:r>
              <a:rPr lang="es-ES_tradnl" sz="700" dirty="0" err="1">
                <a:solidFill>
                  <a:srgbClr val="FFFFFF"/>
                </a:solidFill>
              </a:rPr>
              <a:t>Unknown</a:t>
            </a:r>
            <a:r>
              <a:rPr lang="es-ES_tradnl" sz="700" dirty="0">
                <a:solidFill>
                  <a:srgbClr val="FFFFFF"/>
                </a:solidFill>
              </a:rPr>
              <a:t> </a:t>
            </a:r>
            <a:r>
              <a:rPr lang="es-ES_tradnl" sz="700" dirty="0" err="1">
                <a:solidFill>
                  <a:srgbClr val="FFFFFF"/>
                </a:solidFill>
              </a:rPr>
              <a:t>Author</a:t>
            </a:r>
            <a:r>
              <a:rPr lang="es-ES_tradnl" sz="700" dirty="0">
                <a:solidFill>
                  <a:srgbClr val="FFFFFF"/>
                </a:solidFill>
              </a:rPr>
              <a:t> </a:t>
            </a:r>
            <a:r>
              <a:rPr lang="es-ES_tradnl" sz="700" dirty="0" err="1">
                <a:solidFill>
                  <a:srgbClr val="FFFFFF"/>
                </a:solidFill>
              </a:rPr>
              <a:t>is</a:t>
            </a:r>
            <a:r>
              <a:rPr lang="es-ES_tradnl" sz="700" dirty="0">
                <a:solidFill>
                  <a:srgbClr val="FFFFFF"/>
                </a:solidFill>
              </a:rPr>
              <a:t> </a:t>
            </a:r>
            <a:r>
              <a:rPr lang="es-ES_tradnl" sz="700" dirty="0" err="1">
                <a:solidFill>
                  <a:srgbClr val="FFFFFF"/>
                </a:solidFill>
              </a:rPr>
              <a:t>licensed</a:t>
            </a:r>
            <a:r>
              <a:rPr lang="es-ES_tradnl" sz="700" dirty="0">
                <a:solidFill>
                  <a:srgbClr val="FFFFFF"/>
                </a:solidFill>
              </a:rPr>
              <a:t> </a:t>
            </a:r>
            <a:r>
              <a:rPr lang="es-ES_tradnl" sz="700" dirty="0" err="1">
                <a:solidFill>
                  <a:srgbClr val="FFFFFF"/>
                </a:solidFill>
              </a:rPr>
              <a:t>under</a:t>
            </a:r>
            <a:r>
              <a:rPr lang="es-ES_tradnl" sz="700" dirty="0">
                <a:solidFill>
                  <a:srgbClr val="FFFFFF"/>
                </a:solidFill>
              </a:rPr>
              <a:t> </a:t>
            </a:r>
            <a:r>
              <a:rPr lang="es-ES_tradnl" sz="700" dirty="0">
                <a:solidFill>
                  <a:srgbClr val="FFFFFF"/>
                </a:solidFill>
                <a:hlinkClick r:id="rId5" tooltip="https://creativecommons.org/licenses/by/3.0/">
                  <a:extLst>
                    <a:ext uri="{A12FA001-AC4F-418D-AE19-62706E023703}">
                      <ahyp:hlinkClr xmlns:ahyp="http://schemas.microsoft.com/office/drawing/2018/hyperlinkcolor" val="tx"/>
                    </a:ext>
                  </a:extLst>
                </a:hlinkClick>
              </a:rPr>
              <a:t>CC BY</a:t>
            </a:r>
            <a:endParaRPr lang="es-ES_tradnl" sz="700" dirty="0">
              <a:solidFill>
                <a:srgbClr val="FFFFFF"/>
              </a:solidFill>
            </a:endParaRPr>
          </a:p>
        </p:txBody>
      </p:sp>
    </p:spTree>
    <p:extLst>
      <p:ext uri="{BB962C8B-B14F-4D97-AF65-F5344CB8AC3E}">
        <p14:creationId xmlns:p14="http://schemas.microsoft.com/office/powerpoint/2010/main" val="38017420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2F9C493A-9F03-49B4-B3FB-19CE5AC11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2" name="Title 1">
            <a:extLst>
              <a:ext uri="{FF2B5EF4-FFF2-40B4-BE49-F238E27FC236}">
                <a16:creationId xmlns:a16="http://schemas.microsoft.com/office/drawing/2014/main" id="{015C42ED-259C-A24E-3060-08F5CDFBC8CD}"/>
              </a:ext>
            </a:extLst>
          </p:cNvPr>
          <p:cNvSpPr>
            <a:spLocks noGrp="1"/>
          </p:cNvSpPr>
          <p:nvPr>
            <p:ph type="title"/>
          </p:nvPr>
        </p:nvSpPr>
        <p:spPr>
          <a:xfrm>
            <a:off x="525717" y="787068"/>
            <a:ext cx="5566263" cy="1455091"/>
          </a:xfrm>
        </p:spPr>
        <p:txBody>
          <a:bodyPr>
            <a:normAutofit/>
          </a:bodyPr>
          <a:lstStyle/>
          <a:p>
            <a:r>
              <a:rPr lang="es-ES_tradnl" dirty="0"/>
              <a:t>Ayudantes</a:t>
            </a:r>
          </a:p>
        </p:txBody>
      </p:sp>
      <p:sp>
        <p:nvSpPr>
          <p:cNvPr id="38" name="Freeform: Shape 37">
            <a:extLst>
              <a:ext uri="{FF2B5EF4-FFF2-40B4-BE49-F238E27FC236}">
                <a16:creationId xmlns:a16="http://schemas.microsoft.com/office/drawing/2014/main" id="{90A46C7D-C1BB-49B8-8D37-39742820E9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15182" y="-615181"/>
            <a:ext cx="1085312" cy="2315675"/>
          </a:xfrm>
          <a:custGeom>
            <a:avLst/>
            <a:gdLst>
              <a:gd name="connsiteX0" fmla="*/ 0 w 1085312"/>
              <a:gd name="connsiteY0" fmla="*/ 2315675 h 2315675"/>
              <a:gd name="connsiteX1" fmla="*/ 0 w 1085312"/>
              <a:gd name="connsiteY1" fmla="*/ 0 h 2315675"/>
              <a:gd name="connsiteX2" fmla="*/ 53089 w 1085312"/>
              <a:gd name="connsiteY2" fmla="*/ 4542 h 2315675"/>
              <a:gd name="connsiteX3" fmla="*/ 790077 w 1085312"/>
              <a:gd name="connsiteY3" fmla="*/ 872756 h 2315675"/>
              <a:gd name="connsiteX4" fmla="*/ 1085252 w 1085312"/>
              <a:gd name="connsiteY4" fmla="*/ 1943649 h 2315675"/>
              <a:gd name="connsiteX5" fmla="*/ 1064832 w 1085312"/>
              <a:gd name="connsiteY5" fmla="*/ 2198094 h 2315675"/>
              <a:gd name="connsiteX6" fmla="*/ 1043734 w 1085312"/>
              <a:gd name="connsiteY6" fmla="*/ 2315675 h 2315675"/>
              <a:gd name="connsiteX7" fmla="*/ 0 w 1085312"/>
              <a:gd name="connsiteY7" fmla="*/ 2315675 h 2315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5312" h="2315675">
                <a:moveTo>
                  <a:pt x="0" y="2315675"/>
                </a:moveTo>
                <a:lnTo>
                  <a:pt x="0" y="0"/>
                </a:lnTo>
                <a:lnTo>
                  <a:pt x="53089" y="4542"/>
                </a:lnTo>
                <a:cubicBezTo>
                  <a:pt x="405263" y="73503"/>
                  <a:pt x="612623" y="486635"/>
                  <a:pt x="790077" y="872756"/>
                </a:cubicBezTo>
                <a:cubicBezTo>
                  <a:pt x="937425" y="1193596"/>
                  <a:pt x="1088787" y="1533232"/>
                  <a:pt x="1085252" y="1943649"/>
                </a:cubicBezTo>
                <a:cubicBezTo>
                  <a:pt x="1084528" y="2029058"/>
                  <a:pt x="1077341" y="2113833"/>
                  <a:pt x="1064832" y="2198094"/>
                </a:cubicBezTo>
                <a:lnTo>
                  <a:pt x="1043734" y="2315675"/>
                </a:lnTo>
                <a:lnTo>
                  <a:pt x="0" y="2315675"/>
                </a:lnTo>
                <a:close/>
              </a:path>
            </a:pathLst>
          </a:custGeom>
          <a:solidFill>
            <a:schemeClr val="accent3">
              <a:lumMod val="40000"/>
              <a:lumOff val="6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40" name="Graphic 78">
            <a:extLst>
              <a:ext uri="{FF2B5EF4-FFF2-40B4-BE49-F238E27FC236}">
                <a16:creationId xmlns:a16="http://schemas.microsoft.com/office/drawing/2014/main" id="{61BBAB6F-65E6-4E2B-B363-6AB27C84E0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25717" y="2585111"/>
            <a:ext cx="972241" cy="45718"/>
            <a:chOff x="4886325" y="3371754"/>
            <a:chExt cx="2418492" cy="113728"/>
          </a:xfrm>
          <a:solidFill>
            <a:schemeClr val="accent1"/>
          </a:solidFill>
        </p:grpSpPr>
        <p:sp>
          <p:nvSpPr>
            <p:cNvPr id="41" name="Graphic 78">
              <a:extLst>
                <a:ext uri="{FF2B5EF4-FFF2-40B4-BE49-F238E27FC236}">
                  <a16:creationId xmlns:a16="http://schemas.microsoft.com/office/drawing/2014/main" id="{6DA3BBB2-E620-4C13-98C9-FE1EF7D2ED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42" name="Graphic 78">
              <a:extLst>
                <a:ext uri="{FF2B5EF4-FFF2-40B4-BE49-F238E27FC236}">
                  <a16:creationId xmlns:a16="http://schemas.microsoft.com/office/drawing/2014/main" id="{ADC9AB5D-88A1-4FA9-B467-E8EF8FFE5B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4886709" y="3371754"/>
              <a:ext cx="2418108" cy="113728"/>
              <a:chOff x="4886709" y="3371754"/>
              <a:chExt cx="2418108" cy="113728"/>
            </a:xfrm>
            <a:grpFill/>
          </p:grpSpPr>
          <p:sp>
            <p:nvSpPr>
              <p:cNvPr id="43" name="Graphic 78">
                <a:extLst>
                  <a:ext uri="{FF2B5EF4-FFF2-40B4-BE49-F238E27FC236}">
                    <a16:creationId xmlns:a16="http://schemas.microsoft.com/office/drawing/2014/main" id="{0867B8E5-4535-4743-8235-6612FEA410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44" name="Graphic 78">
                <a:extLst>
                  <a:ext uri="{FF2B5EF4-FFF2-40B4-BE49-F238E27FC236}">
                    <a16:creationId xmlns:a16="http://schemas.microsoft.com/office/drawing/2014/main" id="{BE48FEA7-5915-4751-8090-63F309432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45" name="Graphic 78">
                <a:extLst>
                  <a:ext uri="{FF2B5EF4-FFF2-40B4-BE49-F238E27FC236}">
                    <a16:creationId xmlns:a16="http://schemas.microsoft.com/office/drawing/2014/main" id="{32B378CE-44FD-4120-B9ED-7828D4EE9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46" name="Graphic 78">
                <a:extLst>
                  <a:ext uri="{FF2B5EF4-FFF2-40B4-BE49-F238E27FC236}">
                    <a16:creationId xmlns:a16="http://schemas.microsoft.com/office/drawing/2014/main" id="{40FA43D3-D34B-4BC7-80D0-F3E75A222A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
        <p:nvSpPr>
          <p:cNvPr id="3" name="Content Placeholder 2">
            <a:extLst>
              <a:ext uri="{FF2B5EF4-FFF2-40B4-BE49-F238E27FC236}">
                <a16:creationId xmlns:a16="http://schemas.microsoft.com/office/drawing/2014/main" id="{19D2C5C9-9A68-CDA9-BEB8-59086218AC3C}"/>
              </a:ext>
            </a:extLst>
          </p:cNvPr>
          <p:cNvSpPr>
            <a:spLocks noGrp="1"/>
          </p:cNvSpPr>
          <p:nvPr>
            <p:ph idx="1"/>
          </p:nvPr>
        </p:nvSpPr>
        <p:spPr>
          <a:xfrm>
            <a:off x="525717" y="2796427"/>
            <a:ext cx="5566263" cy="3274503"/>
          </a:xfrm>
        </p:spPr>
        <p:txBody>
          <a:bodyPr>
            <a:normAutofit/>
          </a:bodyPr>
          <a:lstStyle/>
          <a:p>
            <a:pPr>
              <a:lnSpc>
                <a:spcPct val="100000"/>
              </a:lnSpc>
              <a:spcBef>
                <a:spcPts val="0"/>
              </a:spcBef>
            </a:pPr>
            <a:r>
              <a:rPr lang="es-ES_tradnl" b="1" dirty="0"/>
              <a:t>Valentina </a:t>
            </a:r>
            <a:r>
              <a:rPr lang="es-ES_tradnl" b="1" dirty="0" err="1"/>
              <a:t>Lagreze</a:t>
            </a:r>
            <a:r>
              <a:rPr lang="es-ES_tradnl" b="1" dirty="0"/>
              <a:t>, </a:t>
            </a:r>
            <a:r>
              <a:rPr lang="en-CL" dirty="0"/>
              <a:t>estudiante de primer año de Magíster en Sociología, interesada en</a:t>
            </a:r>
          </a:p>
          <a:p>
            <a:pPr>
              <a:lnSpc>
                <a:spcPct val="100000"/>
              </a:lnSpc>
              <a:spcBef>
                <a:spcPts val="0"/>
              </a:spcBef>
            </a:pPr>
            <a:r>
              <a:rPr lang="en-CL" dirty="0"/>
              <a:t>sociología del delito y desigualdad.</a:t>
            </a:r>
          </a:p>
          <a:p>
            <a:pPr>
              <a:lnSpc>
                <a:spcPct val="100000"/>
              </a:lnSpc>
              <a:spcBef>
                <a:spcPts val="0"/>
              </a:spcBef>
            </a:pPr>
            <a:endParaRPr lang="en-CL" dirty="0"/>
          </a:p>
          <a:p>
            <a:pPr>
              <a:lnSpc>
                <a:spcPct val="100000"/>
              </a:lnSpc>
              <a:spcBef>
                <a:spcPts val="0"/>
              </a:spcBef>
            </a:pPr>
            <a:endParaRPr lang="es-ES_tradnl" b="1" dirty="0"/>
          </a:p>
          <a:p>
            <a:pPr>
              <a:lnSpc>
                <a:spcPct val="100000"/>
              </a:lnSpc>
              <a:spcBef>
                <a:spcPts val="0"/>
              </a:spcBef>
            </a:pPr>
            <a:r>
              <a:rPr lang="es-ES_tradnl" b="1" dirty="0"/>
              <a:t>Isidora Núñez,</a:t>
            </a:r>
            <a:r>
              <a:rPr lang="es-ES_tradnl" dirty="0"/>
              <a:t> </a:t>
            </a:r>
            <a:r>
              <a:rPr lang="en-CL" dirty="0"/>
              <a:t>estudiante de primer año de Magíster en Sociología, interesada en</a:t>
            </a:r>
          </a:p>
          <a:p>
            <a:pPr>
              <a:lnSpc>
                <a:spcPct val="100000"/>
              </a:lnSpc>
              <a:spcBef>
                <a:spcPts val="0"/>
              </a:spcBef>
            </a:pPr>
            <a:r>
              <a:rPr lang="en-CL" dirty="0"/>
              <a:t>sociología de Género y Política.</a:t>
            </a:r>
          </a:p>
          <a:p>
            <a:endParaRPr lang="en-CL" dirty="0"/>
          </a:p>
        </p:txBody>
      </p:sp>
      <p:pic>
        <p:nvPicPr>
          <p:cNvPr id="7" name="Picture 6">
            <a:extLst>
              <a:ext uri="{FF2B5EF4-FFF2-40B4-BE49-F238E27FC236}">
                <a16:creationId xmlns:a16="http://schemas.microsoft.com/office/drawing/2014/main" id="{EFBF0D7E-BB4A-9A90-C118-4EBDE39E04E3}"/>
              </a:ext>
            </a:extLst>
          </p:cNvPr>
          <p:cNvPicPr>
            <a:picLocks noChangeAspect="1"/>
          </p:cNvPicPr>
          <p:nvPr/>
        </p:nvPicPr>
        <p:blipFill>
          <a:blip r:embed="rId3"/>
          <a:srcRect t="22357" r="-1" b="20356"/>
          <a:stretch>
            <a:fillRect/>
          </a:stretch>
        </p:blipFill>
        <p:spPr>
          <a:xfrm>
            <a:off x="7299670" y="530828"/>
            <a:ext cx="4349957" cy="2723412"/>
          </a:xfrm>
          <a:prstGeom prst="rect">
            <a:avLst/>
          </a:prstGeom>
        </p:spPr>
      </p:pic>
      <p:pic>
        <p:nvPicPr>
          <p:cNvPr id="5" name="Picture 4">
            <a:extLst>
              <a:ext uri="{FF2B5EF4-FFF2-40B4-BE49-F238E27FC236}">
                <a16:creationId xmlns:a16="http://schemas.microsoft.com/office/drawing/2014/main" id="{1B4F7A52-022A-DBD2-679B-7D65DF726D78}"/>
              </a:ext>
            </a:extLst>
          </p:cNvPr>
          <p:cNvPicPr>
            <a:picLocks noChangeAspect="1"/>
          </p:cNvPicPr>
          <p:nvPr/>
        </p:nvPicPr>
        <p:blipFill>
          <a:blip r:embed="rId4"/>
          <a:srcRect r="1" b="6206"/>
          <a:stretch>
            <a:fillRect/>
          </a:stretch>
        </p:blipFill>
        <p:spPr>
          <a:xfrm>
            <a:off x="7299670" y="3505187"/>
            <a:ext cx="4349957" cy="2723412"/>
          </a:xfrm>
          <a:prstGeom prst="rect">
            <a:avLst/>
          </a:prstGeom>
        </p:spPr>
      </p:pic>
      <p:sp>
        <p:nvSpPr>
          <p:cNvPr id="48" name="Freeform: Shape 47">
            <a:extLst>
              <a:ext uri="{FF2B5EF4-FFF2-40B4-BE49-F238E27FC236}">
                <a16:creationId xmlns:a16="http://schemas.microsoft.com/office/drawing/2014/main" id="{D5B4F0F5-BE58-4EC0-B650-A71A07437C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753030" y="5525066"/>
            <a:ext cx="2438970" cy="1341332"/>
          </a:xfrm>
          <a:custGeom>
            <a:avLst/>
            <a:gdLst>
              <a:gd name="connsiteX0" fmla="*/ 2025355 w 2438970"/>
              <a:gd name="connsiteY0" fmla="*/ 235 h 1341332"/>
              <a:gd name="connsiteX1" fmla="*/ 2381960 w 2438970"/>
              <a:gd name="connsiteY1" fmla="*/ 44517 h 1341332"/>
              <a:gd name="connsiteX2" fmla="*/ 2438970 w 2438970"/>
              <a:gd name="connsiteY2" fmla="*/ 58872 h 1341332"/>
              <a:gd name="connsiteX3" fmla="*/ 2438970 w 2438970"/>
              <a:gd name="connsiteY3" fmla="*/ 1341332 h 1341332"/>
              <a:gd name="connsiteX4" fmla="*/ 0 w 2438970"/>
              <a:gd name="connsiteY4" fmla="*/ 1341332 h 1341332"/>
              <a:gd name="connsiteX5" fmla="*/ 13333 w 2438970"/>
              <a:gd name="connsiteY5" fmla="*/ 1328018 h 1341332"/>
              <a:gd name="connsiteX6" fmla="*/ 936262 w 2438970"/>
              <a:gd name="connsiteY6" fmla="*/ 459947 h 1341332"/>
              <a:gd name="connsiteX7" fmla="*/ 1554028 w 2438970"/>
              <a:gd name="connsiteY7" fmla="*/ 71153 h 1341332"/>
              <a:gd name="connsiteX8" fmla="*/ 2025355 w 2438970"/>
              <a:gd name="connsiteY8" fmla="*/ 235 h 1341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38970" h="1341332">
                <a:moveTo>
                  <a:pt x="2025355" y="235"/>
                </a:moveTo>
                <a:cubicBezTo>
                  <a:pt x="2143847" y="2306"/>
                  <a:pt x="2262766" y="17993"/>
                  <a:pt x="2381960" y="44517"/>
                </a:cubicBezTo>
                <a:lnTo>
                  <a:pt x="2438970" y="58872"/>
                </a:lnTo>
                <a:lnTo>
                  <a:pt x="2438970" y="1341332"/>
                </a:lnTo>
                <a:lnTo>
                  <a:pt x="0" y="1341332"/>
                </a:lnTo>
                <a:lnTo>
                  <a:pt x="13333" y="1328018"/>
                </a:lnTo>
                <a:cubicBezTo>
                  <a:pt x="324723" y="1028950"/>
                  <a:pt x="645390" y="738459"/>
                  <a:pt x="936262" y="459947"/>
                </a:cubicBezTo>
                <a:cubicBezTo>
                  <a:pt x="1139660" y="265152"/>
                  <a:pt x="1345794" y="140817"/>
                  <a:pt x="1554028" y="71153"/>
                </a:cubicBezTo>
                <a:cubicBezTo>
                  <a:pt x="1710136" y="18918"/>
                  <a:pt x="1867365" y="-2526"/>
                  <a:pt x="2025355" y="235"/>
                </a:cubicBez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50" name="Group 49">
            <a:extLst>
              <a:ext uri="{FF2B5EF4-FFF2-40B4-BE49-F238E27FC236}">
                <a16:creationId xmlns:a16="http://schemas.microsoft.com/office/drawing/2014/main" id="{E700C1F5-B637-45FE-96CC-270D263A59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776050" y="5204025"/>
            <a:ext cx="886141" cy="802496"/>
            <a:chOff x="10948005" y="3272152"/>
            <a:chExt cx="868640" cy="786648"/>
          </a:xfrm>
          <a:solidFill>
            <a:schemeClr val="accent1"/>
          </a:solidFill>
        </p:grpSpPr>
        <p:sp>
          <p:nvSpPr>
            <p:cNvPr id="51" name="Freeform: Shape 50">
              <a:extLst>
                <a:ext uri="{FF2B5EF4-FFF2-40B4-BE49-F238E27FC236}">
                  <a16:creationId xmlns:a16="http://schemas.microsoft.com/office/drawing/2014/main" id="{83DA22C9-3830-4323-9087-6D7C1E6AA3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94317" y="3944888"/>
              <a:ext cx="128449" cy="113912"/>
            </a:xfrm>
            <a:custGeom>
              <a:avLst/>
              <a:gdLst>
                <a:gd name="connsiteX0" fmla="*/ 237621 w 453152"/>
                <a:gd name="connsiteY0" fmla="*/ 965 h 401867"/>
                <a:gd name="connsiteX1" fmla="*/ 370246 w 453152"/>
                <a:gd name="connsiteY1" fmla="*/ 23666 h 401867"/>
                <a:gd name="connsiteX2" fmla="*/ 437392 w 453152"/>
                <a:gd name="connsiteY2" fmla="*/ 198545 h 401867"/>
                <a:gd name="connsiteX3" fmla="*/ 67745 w 453152"/>
                <a:gd name="connsiteY3" fmla="*/ 392003 h 401867"/>
                <a:gd name="connsiteX4" fmla="*/ 911 w 453152"/>
                <a:gd name="connsiteY4" fmla="*/ 254095 h 401867"/>
                <a:gd name="connsiteX5" fmla="*/ 115564 w 453152"/>
                <a:gd name="connsiteY5" fmla="*/ 51160 h 401867"/>
                <a:gd name="connsiteX6" fmla="*/ 237621 w 453152"/>
                <a:gd name="connsiteY6" fmla="*/ 965 h 40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152" h="401867">
                  <a:moveTo>
                    <a:pt x="237621" y="965"/>
                  </a:moveTo>
                  <a:cubicBezTo>
                    <a:pt x="283632" y="-2971"/>
                    <a:pt x="331405" y="5243"/>
                    <a:pt x="370246" y="23666"/>
                  </a:cubicBezTo>
                  <a:cubicBezTo>
                    <a:pt x="436830" y="55275"/>
                    <a:pt x="477168" y="116810"/>
                    <a:pt x="437392" y="198545"/>
                  </a:cubicBezTo>
                  <a:cubicBezTo>
                    <a:pt x="391568" y="292624"/>
                    <a:pt x="176850" y="441630"/>
                    <a:pt x="67745" y="392003"/>
                  </a:cubicBezTo>
                  <a:cubicBezTo>
                    <a:pt x="18056" y="369372"/>
                    <a:pt x="-5012" y="308398"/>
                    <a:pt x="911" y="254095"/>
                  </a:cubicBezTo>
                  <a:cubicBezTo>
                    <a:pt x="9203" y="178033"/>
                    <a:pt x="61012" y="103094"/>
                    <a:pt x="115564" y="51160"/>
                  </a:cubicBezTo>
                  <a:cubicBezTo>
                    <a:pt x="147361" y="20985"/>
                    <a:pt x="191610" y="4900"/>
                    <a:pt x="237621" y="96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52" name="Freeform: Shape 51">
              <a:extLst>
                <a:ext uri="{FF2B5EF4-FFF2-40B4-BE49-F238E27FC236}">
                  <a16:creationId xmlns:a16="http://schemas.microsoft.com/office/drawing/2014/main" id="{A5AC4DA9-FD16-4055-8D2D-95D615C03C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53045" y="3808430"/>
              <a:ext cx="144912" cy="193414"/>
            </a:xfrm>
            <a:custGeom>
              <a:avLst/>
              <a:gdLst>
                <a:gd name="connsiteX0" fmla="*/ 390625 w 511232"/>
                <a:gd name="connsiteY0" fmla="*/ 1621 h 682341"/>
                <a:gd name="connsiteX1" fmla="*/ 508142 w 511232"/>
                <a:gd name="connsiteY1" fmla="*/ 64038 h 682341"/>
                <a:gd name="connsiteX2" fmla="*/ 508453 w 511232"/>
                <a:gd name="connsiteY2" fmla="*/ 121832 h 682341"/>
                <a:gd name="connsiteX3" fmla="*/ 316492 w 511232"/>
                <a:gd name="connsiteY3" fmla="*/ 567602 h 682341"/>
                <a:gd name="connsiteX4" fmla="*/ 80265 w 511232"/>
                <a:gd name="connsiteY4" fmla="*/ 640359 h 682341"/>
                <a:gd name="connsiteX5" fmla="*/ 13306 w 511232"/>
                <a:gd name="connsiteY5" fmla="*/ 274828 h 682341"/>
                <a:gd name="connsiteX6" fmla="*/ 140989 w 511232"/>
                <a:gd name="connsiteY6" fmla="*/ 107181 h 682341"/>
                <a:gd name="connsiteX7" fmla="*/ 390625 w 511232"/>
                <a:gd name="connsiteY7" fmla="*/ 1621 h 682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232" h="682341">
                  <a:moveTo>
                    <a:pt x="390625" y="1621"/>
                  </a:moveTo>
                  <a:cubicBezTo>
                    <a:pt x="446543" y="-5212"/>
                    <a:pt x="493343" y="8441"/>
                    <a:pt x="508142" y="64038"/>
                  </a:cubicBezTo>
                  <a:cubicBezTo>
                    <a:pt x="513192" y="82866"/>
                    <a:pt x="511134" y="102754"/>
                    <a:pt x="508453" y="121832"/>
                  </a:cubicBezTo>
                  <a:cubicBezTo>
                    <a:pt x="485324" y="287796"/>
                    <a:pt x="417242" y="443971"/>
                    <a:pt x="316492" y="567602"/>
                  </a:cubicBezTo>
                  <a:cubicBezTo>
                    <a:pt x="253024" y="645534"/>
                    <a:pt x="165055" y="737743"/>
                    <a:pt x="80265" y="640359"/>
                  </a:cubicBezTo>
                  <a:cubicBezTo>
                    <a:pt x="5014" y="553948"/>
                    <a:pt x="-17368" y="383621"/>
                    <a:pt x="13306" y="274828"/>
                  </a:cubicBezTo>
                  <a:cubicBezTo>
                    <a:pt x="33443" y="203318"/>
                    <a:pt x="83382" y="146521"/>
                    <a:pt x="140989" y="107181"/>
                  </a:cubicBezTo>
                  <a:cubicBezTo>
                    <a:pt x="178904" y="81308"/>
                    <a:pt x="297428" y="13010"/>
                    <a:pt x="390625" y="16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53" name="Freeform: Shape 52">
              <a:extLst>
                <a:ext uri="{FF2B5EF4-FFF2-40B4-BE49-F238E27FC236}">
                  <a16:creationId xmlns:a16="http://schemas.microsoft.com/office/drawing/2014/main" id="{8BA7D58E-9AB5-4B54-A635-2E86BEC786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84524" y="3907536"/>
              <a:ext cx="132121" cy="93006"/>
            </a:xfrm>
            <a:custGeom>
              <a:avLst/>
              <a:gdLst>
                <a:gd name="connsiteX0" fmla="*/ 252822 w 466107"/>
                <a:gd name="connsiteY0" fmla="*/ 1539 h 328114"/>
                <a:gd name="connsiteX1" fmla="*/ 451641 w 466107"/>
                <a:gd name="connsiteY1" fmla="*/ 122177 h 328114"/>
                <a:gd name="connsiteX2" fmla="*/ 391790 w 466107"/>
                <a:gd name="connsiteY2" fmla="*/ 297430 h 328114"/>
                <a:gd name="connsiteX3" fmla="*/ 8614 w 466107"/>
                <a:gd name="connsiteY3" fmla="*/ 243252 h 328114"/>
                <a:gd name="connsiteX4" fmla="*/ 45897 w 466107"/>
                <a:gd name="connsiteY4" fmla="*/ 97302 h 328114"/>
                <a:gd name="connsiteX5" fmla="*/ 252822 w 466107"/>
                <a:gd name="connsiteY5" fmla="*/ 1539 h 328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107" h="328114">
                  <a:moveTo>
                    <a:pt x="252822" y="1539"/>
                  </a:moveTo>
                  <a:cubicBezTo>
                    <a:pt x="335429" y="-10494"/>
                    <a:pt x="418848" y="49794"/>
                    <a:pt x="451641" y="122177"/>
                  </a:cubicBezTo>
                  <a:cubicBezTo>
                    <a:pt x="479697" y="184273"/>
                    <a:pt x="470594" y="255285"/>
                    <a:pt x="391790" y="297430"/>
                  </a:cubicBezTo>
                  <a:cubicBezTo>
                    <a:pt x="301077" y="345935"/>
                    <a:pt x="55935" y="343254"/>
                    <a:pt x="8614" y="243252"/>
                  </a:cubicBezTo>
                  <a:cubicBezTo>
                    <a:pt x="-12895" y="197678"/>
                    <a:pt x="8240" y="136766"/>
                    <a:pt x="45897" y="97302"/>
                  </a:cubicBezTo>
                  <a:cubicBezTo>
                    <a:pt x="98704" y="42064"/>
                    <a:pt x="181872" y="11950"/>
                    <a:pt x="252822" y="1539"/>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54" name="Graphic 12">
              <a:extLst>
                <a:ext uri="{FF2B5EF4-FFF2-40B4-BE49-F238E27FC236}">
                  <a16:creationId xmlns:a16="http://schemas.microsoft.com/office/drawing/2014/main" id="{B7D72779-BBD2-4D64-B6B1-E052E227EB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42141" y="3272152"/>
              <a:ext cx="180625" cy="158824"/>
            </a:xfrm>
            <a:custGeom>
              <a:avLst/>
              <a:gdLst>
                <a:gd name="connsiteX0" fmla="*/ 63289 w 3341477"/>
                <a:gd name="connsiteY0" fmla="*/ 1933384 h 2938167"/>
                <a:gd name="connsiteX1" fmla="*/ 263314 w 3341477"/>
                <a:gd name="connsiteY1" fmla="*/ 514159 h 2938167"/>
                <a:gd name="connsiteX2" fmla="*/ 1098276 w 3341477"/>
                <a:gd name="connsiteY2" fmla="*/ 952 h 2938167"/>
                <a:gd name="connsiteX3" fmla="*/ 2654089 w 3341477"/>
                <a:gd name="connsiteY3" fmla="*/ 371284 h 2938167"/>
                <a:gd name="connsiteX4" fmla="*/ 3219398 w 3341477"/>
                <a:gd name="connsiteY4" fmla="*/ 2080926 h 2938167"/>
                <a:gd name="connsiteX5" fmla="*/ 2044489 w 3341477"/>
                <a:gd name="connsiteY5" fmla="*/ 2933509 h 2938167"/>
                <a:gd name="connsiteX6" fmla="*/ 453814 w 3341477"/>
                <a:gd name="connsiteY6" fmla="*/ 2495359 h 2938167"/>
                <a:gd name="connsiteX7" fmla="*/ 63289 w 3341477"/>
                <a:gd name="connsiteY7" fmla="*/ 1933384 h 29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41477" h="2938167">
                  <a:moveTo>
                    <a:pt x="63289" y="1933384"/>
                  </a:moveTo>
                  <a:cubicBezTo>
                    <a:pt x="56717" y="1895856"/>
                    <a:pt x="-165311" y="914209"/>
                    <a:pt x="263314" y="514159"/>
                  </a:cubicBezTo>
                  <a:cubicBezTo>
                    <a:pt x="691939" y="114109"/>
                    <a:pt x="609262" y="11620"/>
                    <a:pt x="1098276" y="952"/>
                  </a:cubicBezTo>
                  <a:cubicBezTo>
                    <a:pt x="1587289" y="-9716"/>
                    <a:pt x="2320714" y="66484"/>
                    <a:pt x="2654089" y="371284"/>
                  </a:cubicBezTo>
                  <a:cubicBezTo>
                    <a:pt x="2987464" y="676084"/>
                    <a:pt x="3603732" y="1514094"/>
                    <a:pt x="3219398" y="2080926"/>
                  </a:cubicBezTo>
                  <a:cubicBezTo>
                    <a:pt x="2835064" y="2647759"/>
                    <a:pt x="2558839" y="2895409"/>
                    <a:pt x="2044489" y="2933509"/>
                  </a:cubicBezTo>
                  <a:cubicBezTo>
                    <a:pt x="1530139" y="2971609"/>
                    <a:pt x="701464" y="2771584"/>
                    <a:pt x="453814" y="2495359"/>
                  </a:cubicBezTo>
                  <a:cubicBezTo>
                    <a:pt x="206164" y="2219134"/>
                    <a:pt x="101389" y="2152459"/>
                    <a:pt x="63289" y="1933384"/>
                  </a:cubicBezTo>
                  <a:close/>
                </a:path>
              </a:pathLst>
            </a:custGeom>
            <a:grpFill/>
            <a:ln w="9525" cap="flat">
              <a:noFill/>
              <a:prstDash val="solid"/>
              <a:miter/>
            </a:ln>
          </p:spPr>
          <p:txBody>
            <a:bodyPr rtlCol="0" anchor="ctr"/>
            <a:lstStyle/>
            <a:p>
              <a:endParaRPr lang="en-US"/>
            </a:p>
          </p:txBody>
        </p:sp>
        <p:sp>
          <p:nvSpPr>
            <p:cNvPr id="55" name="Graphic 15">
              <a:extLst>
                <a:ext uri="{FF2B5EF4-FFF2-40B4-BE49-F238E27FC236}">
                  <a16:creationId xmlns:a16="http://schemas.microsoft.com/office/drawing/2014/main" id="{569BD34C-BFEF-4FB1-A094-2D9E687CDF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02136" y="3379098"/>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56" name="Graphic 15">
              <a:extLst>
                <a:ext uri="{FF2B5EF4-FFF2-40B4-BE49-F238E27FC236}">
                  <a16:creationId xmlns:a16="http://schemas.microsoft.com/office/drawing/2014/main" id="{DC258A66-ED52-4FA3-96CE-7932E91F5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8005" y="3504095"/>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EC6A48C-21EF-4485-9836-0445500033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43727" y="3666564"/>
              <a:ext cx="173527" cy="138496"/>
            </a:xfrm>
            <a:custGeom>
              <a:avLst/>
              <a:gdLst>
                <a:gd name="connsiteX0" fmla="*/ 237392 w 789043"/>
                <a:gd name="connsiteY0" fmla="*/ 81 h 629754"/>
                <a:gd name="connsiteX1" fmla="*/ 758692 w 789043"/>
                <a:gd name="connsiteY1" fmla="*/ 233550 h 629754"/>
                <a:gd name="connsiteX2" fmla="*/ 650647 w 789043"/>
                <a:gd name="connsiteY2" fmla="*/ 335111 h 629754"/>
                <a:gd name="connsiteX3" fmla="*/ 315041 w 789043"/>
                <a:gd name="connsiteY3" fmla="*/ 584992 h 629754"/>
                <a:gd name="connsiteX4" fmla="*/ 192159 w 789043"/>
                <a:gd name="connsiteY4" fmla="*/ 625953 h 629754"/>
                <a:gd name="connsiteX5" fmla="*/ 124264 w 789043"/>
                <a:gd name="connsiteY5" fmla="*/ 552260 h 629754"/>
                <a:gd name="connsiteX6" fmla="*/ 1631 w 789043"/>
                <a:gd name="connsiteY6" fmla="*/ 133735 h 629754"/>
                <a:gd name="connsiteX7" fmla="*/ 35422 w 789043"/>
                <a:gd name="connsiteY7" fmla="*/ 14157 h 629754"/>
                <a:gd name="connsiteX8" fmla="*/ 113728 w 789043"/>
                <a:gd name="connsiteY8" fmla="*/ 378 h 629754"/>
                <a:gd name="connsiteX9" fmla="*/ 237392 w 789043"/>
                <a:gd name="connsiteY9" fmla="*/ 81 h 629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043" h="629754">
                  <a:moveTo>
                    <a:pt x="237392" y="81"/>
                  </a:moveTo>
                  <a:cubicBezTo>
                    <a:pt x="474795" y="-992"/>
                    <a:pt x="907215" y="10463"/>
                    <a:pt x="758692" y="233550"/>
                  </a:cubicBezTo>
                  <a:cubicBezTo>
                    <a:pt x="731135" y="274948"/>
                    <a:pt x="690486" y="305435"/>
                    <a:pt x="650647" y="335111"/>
                  </a:cubicBezTo>
                  <a:cubicBezTo>
                    <a:pt x="538737" y="418405"/>
                    <a:pt x="426889" y="501698"/>
                    <a:pt x="315041" y="584992"/>
                  </a:cubicBezTo>
                  <a:cubicBezTo>
                    <a:pt x="278943" y="611863"/>
                    <a:pt x="234865" y="640167"/>
                    <a:pt x="192159" y="625953"/>
                  </a:cubicBezTo>
                  <a:cubicBezTo>
                    <a:pt x="159614" y="615105"/>
                    <a:pt x="139851" y="582810"/>
                    <a:pt x="124264" y="552260"/>
                  </a:cubicBezTo>
                  <a:cubicBezTo>
                    <a:pt x="57742" y="422021"/>
                    <a:pt x="15908" y="279250"/>
                    <a:pt x="1631" y="133735"/>
                  </a:cubicBezTo>
                  <a:cubicBezTo>
                    <a:pt x="-2671" y="90343"/>
                    <a:pt x="-676" y="38596"/>
                    <a:pt x="35422" y="14157"/>
                  </a:cubicBezTo>
                  <a:cubicBezTo>
                    <a:pt x="57804" y="-931"/>
                    <a:pt x="86795" y="-557"/>
                    <a:pt x="113728" y="378"/>
                  </a:cubicBezTo>
                  <a:cubicBezTo>
                    <a:pt x="138207" y="1243"/>
                    <a:pt x="182606" y="328"/>
                    <a:pt x="237392" y="8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0098557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C62C0-F41E-220D-4081-BFF2AAE984A2}"/>
              </a:ext>
            </a:extLst>
          </p:cNvPr>
          <p:cNvSpPr>
            <a:spLocks noGrp="1"/>
          </p:cNvSpPr>
          <p:nvPr>
            <p:ph type="title"/>
          </p:nvPr>
        </p:nvSpPr>
        <p:spPr/>
        <p:txBody>
          <a:bodyPr/>
          <a:lstStyle/>
          <a:p>
            <a:r>
              <a:rPr lang="es-ES_tradnl" dirty="0"/>
              <a:t>Introducciones: 20 segundos!</a:t>
            </a:r>
          </a:p>
        </p:txBody>
      </p:sp>
      <p:sp>
        <p:nvSpPr>
          <p:cNvPr id="3" name="Content Placeholder 2">
            <a:extLst>
              <a:ext uri="{FF2B5EF4-FFF2-40B4-BE49-F238E27FC236}">
                <a16:creationId xmlns:a16="http://schemas.microsoft.com/office/drawing/2014/main" id="{422DB47F-04B5-342D-CE6A-40B516432141}"/>
              </a:ext>
            </a:extLst>
          </p:cNvPr>
          <p:cNvSpPr>
            <a:spLocks noGrp="1"/>
          </p:cNvSpPr>
          <p:nvPr>
            <p:ph idx="1"/>
          </p:nvPr>
        </p:nvSpPr>
        <p:spPr>
          <a:xfrm>
            <a:off x="525717" y="2521885"/>
            <a:ext cx="6371029" cy="4002901"/>
          </a:xfrm>
        </p:spPr>
        <p:txBody>
          <a:bodyPr>
            <a:normAutofit/>
          </a:bodyPr>
          <a:lstStyle/>
          <a:p>
            <a:pPr marL="342900" indent="-342900">
              <a:buFont typeface="Arial" panose="020B0604020202020204" pitchFamily="34" charset="0"/>
              <a:buChar char="•"/>
            </a:pPr>
            <a:r>
              <a:rPr lang="es-ES_tradnl" sz="2400" dirty="0"/>
              <a:t>Tu nombre</a:t>
            </a:r>
          </a:p>
          <a:p>
            <a:pPr marL="342900" indent="-342900">
              <a:buFont typeface="Arial" panose="020B0604020202020204" pitchFamily="34" charset="0"/>
              <a:buChar char="•"/>
            </a:pPr>
            <a:r>
              <a:rPr lang="es-ES_tradnl" sz="2400" dirty="0"/>
              <a:t>Opcional: pronombres</a:t>
            </a:r>
          </a:p>
          <a:p>
            <a:pPr marL="342900" indent="-342900">
              <a:buFont typeface="Arial" panose="020B0604020202020204" pitchFamily="34" charset="0"/>
              <a:buChar char="•"/>
            </a:pPr>
            <a:r>
              <a:rPr lang="es-ES_tradnl" sz="2400" dirty="0"/>
              <a:t>Comparte un libro, serie, película, podcast, que hayas visto hace poco y recomiendas al curso</a:t>
            </a:r>
          </a:p>
          <a:p>
            <a:pPr marL="800100" lvl="2" indent="-342900"/>
            <a:r>
              <a:rPr lang="es-ES_tradnl" sz="2000" dirty="0"/>
              <a:t>Mejor aún si tiene algo interesante con respecto a género</a:t>
            </a:r>
          </a:p>
        </p:txBody>
      </p:sp>
      <p:pic>
        <p:nvPicPr>
          <p:cNvPr id="5" name="Picture 4">
            <a:extLst>
              <a:ext uri="{FF2B5EF4-FFF2-40B4-BE49-F238E27FC236}">
                <a16:creationId xmlns:a16="http://schemas.microsoft.com/office/drawing/2014/main" id="{A4213090-63C5-E9A9-D58A-981BF1737594}"/>
              </a:ext>
            </a:extLst>
          </p:cNvPr>
          <p:cNvPicPr>
            <a:picLocks noChangeAspect="1"/>
          </p:cNvPicPr>
          <p:nvPr/>
        </p:nvPicPr>
        <p:blipFill>
          <a:blip r:embed="rId3"/>
          <a:stretch>
            <a:fillRect/>
          </a:stretch>
        </p:blipFill>
        <p:spPr>
          <a:xfrm>
            <a:off x="9604251" y="3772695"/>
            <a:ext cx="2062032" cy="2590492"/>
          </a:xfrm>
          <a:prstGeom prst="rect">
            <a:avLst/>
          </a:prstGeom>
        </p:spPr>
      </p:pic>
      <p:pic>
        <p:nvPicPr>
          <p:cNvPr id="7" name="Picture 6">
            <a:extLst>
              <a:ext uri="{FF2B5EF4-FFF2-40B4-BE49-F238E27FC236}">
                <a16:creationId xmlns:a16="http://schemas.microsoft.com/office/drawing/2014/main" id="{0831C37C-76D8-60BA-01B9-279E17605C67}"/>
              </a:ext>
            </a:extLst>
          </p:cNvPr>
          <p:cNvPicPr>
            <a:picLocks noChangeAspect="1"/>
          </p:cNvPicPr>
          <p:nvPr/>
        </p:nvPicPr>
        <p:blipFill>
          <a:blip r:embed="rId4"/>
          <a:stretch>
            <a:fillRect/>
          </a:stretch>
        </p:blipFill>
        <p:spPr>
          <a:xfrm>
            <a:off x="7432316" y="3704324"/>
            <a:ext cx="1764393" cy="2656284"/>
          </a:xfrm>
          <a:prstGeom prst="rect">
            <a:avLst/>
          </a:prstGeom>
        </p:spPr>
      </p:pic>
    </p:spTree>
    <p:extLst>
      <p:ext uri="{BB962C8B-B14F-4D97-AF65-F5344CB8AC3E}">
        <p14:creationId xmlns:p14="http://schemas.microsoft.com/office/powerpoint/2010/main" val="13551791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A33D2-D1A8-28DE-F253-C92B93A0FA36}"/>
              </a:ext>
            </a:extLst>
          </p:cNvPr>
          <p:cNvSpPr>
            <a:spLocks noGrp="1"/>
          </p:cNvSpPr>
          <p:nvPr>
            <p:ph type="title"/>
          </p:nvPr>
        </p:nvSpPr>
        <p:spPr/>
        <p:txBody>
          <a:bodyPr/>
          <a:lstStyle/>
          <a:p>
            <a:r>
              <a:rPr lang="es-ES_tradnl" dirty="0"/>
              <a:t>Hoja de ruta del curso</a:t>
            </a:r>
          </a:p>
        </p:txBody>
      </p:sp>
      <p:graphicFrame>
        <p:nvGraphicFramePr>
          <p:cNvPr id="4" name="Content Placeholder 3">
            <a:extLst>
              <a:ext uri="{FF2B5EF4-FFF2-40B4-BE49-F238E27FC236}">
                <a16:creationId xmlns:a16="http://schemas.microsoft.com/office/drawing/2014/main" id="{7284A10C-7F5F-74E5-E567-997875C05A31}"/>
              </a:ext>
            </a:extLst>
          </p:cNvPr>
          <p:cNvGraphicFramePr>
            <a:graphicFrameLocks noGrp="1"/>
          </p:cNvGraphicFramePr>
          <p:nvPr>
            <p:ph idx="1"/>
            <p:extLst>
              <p:ext uri="{D42A27DB-BD31-4B8C-83A1-F6EECF244321}">
                <p14:modId xmlns:p14="http://schemas.microsoft.com/office/powerpoint/2010/main" val="138407374"/>
              </p:ext>
            </p:extLst>
          </p:nvPr>
        </p:nvGraphicFramePr>
        <p:xfrm>
          <a:off x="803653" y="2545024"/>
          <a:ext cx="9521683" cy="13255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87FF56BA-9CF4-7427-1D6C-9EBAD4DC68FB}"/>
              </a:ext>
            </a:extLst>
          </p:cNvPr>
          <p:cNvSpPr txBox="1"/>
          <p:nvPr/>
        </p:nvSpPr>
        <p:spPr>
          <a:xfrm>
            <a:off x="3804177" y="4259267"/>
            <a:ext cx="1290931" cy="400110"/>
          </a:xfrm>
          <a:prstGeom prst="rect">
            <a:avLst/>
          </a:prstGeom>
          <a:solidFill>
            <a:schemeClr val="accent6">
              <a:lumMod val="60000"/>
              <a:lumOff val="40000"/>
            </a:schemeClr>
          </a:solidFill>
        </p:spPr>
        <p:txBody>
          <a:bodyPr wrap="none" rtlCol="0">
            <a:spAutoFit/>
          </a:bodyPr>
          <a:lstStyle/>
          <a:p>
            <a:r>
              <a:rPr lang="es-ES_tradnl" sz="2000" b="1" dirty="0"/>
              <a:t>Prueba 1</a:t>
            </a:r>
          </a:p>
        </p:txBody>
      </p:sp>
      <p:sp>
        <p:nvSpPr>
          <p:cNvPr id="15" name="TextBox 14">
            <a:extLst>
              <a:ext uri="{FF2B5EF4-FFF2-40B4-BE49-F238E27FC236}">
                <a16:creationId xmlns:a16="http://schemas.microsoft.com/office/drawing/2014/main" id="{95FD668E-A6BE-4703-C85B-865CF8BC1719}"/>
              </a:ext>
            </a:extLst>
          </p:cNvPr>
          <p:cNvSpPr txBox="1"/>
          <p:nvPr/>
        </p:nvSpPr>
        <p:spPr>
          <a:xfrm>
            <a:off x="6274676" y="4597266"/>
            <a:ext cx="3231931" cy="400110"/>
          </a:xfrm>
          <a:prstGeom prst="rect">
            <a:avLst/>
          </a:prstGeom>
          <a:solidFill>
            <a:schemeClr val="tx2">
              <a:lumMod val="25000"/>
              <a:lumOff val="75000"/>
            </a:schemeClr>
          </a:solidFill>
        </p:spPr>
        <p:txBody>
          <a:bodyPr wrap="square" rtlCol="0">
            <a:spAutoFit/>
          </a:bodyPr>
          <a:lstStyle/>
          <a:p>
            <a:pPr algn="ctr"/>
            <a:r>
              <a:rPr lang="es-ES_tradnl" sz="2000" b="1" dirty="0"/>
              <a:t>Proyecto grupal</a:t>
            </a:r>
          </a:p>
        </p:txBody>
      </p:sp>
      <p:sp>
        <p:nvSpPr>
          <p:cNvPr id="16" name="TextBox 15">
            <a:extLst>
              <a:ext uri="{FF2B5EF4-FFF2-40B4-BE49-F238E27FC236}">
                <a16:creationId xmlns:a16="http://schemas.microsoft.com/office/drawing/2014/main" id="{1BBF3693-5746-1DD4-13CA-20501A97290D}"/>
              </a:ext>
            </a:extLst>
          </p:cNvPr>
          <p:cNvSpPr txBox="1"/>
          <p:nvPr/>
        </p:nvSpPr>
        <p:spPr>
          <a:xfrm>
            <a:off x="10325336" y="4345260"/>
            <a:ext cx="1336431" cy="400110"/>
          </a:xfrm>
          <a:prstGeom prst="rect">
            <a:avLst/>
          </a:prstGeom>
          <a:solidFill>
            <a:schemeClr val="accent6">
              <a:lumMod val="60000"/>
              <a:lumOff val="40000"/>
            </a:schemeClr>
          </a:solidFill>
        </p:spPr>
        <p:txBody>
          <a:bodyPr wrap="none" rtlCol="0">
            <a:spAutoFit/>
          </a:bodyPr>
          <a:lstStyle>
            <a:defPPr>
              <a:defRPr lang="en-US"/>
            </a:defPPr>
            <a:lvl1pPr>
              <a:defRPr sz="2000" b="1"/>
            </a:lvl1pPr>
          </a:lstStyle>
          <a:p>
            <a:r>
              <a:rPr lang="es-ES_tradnl"/>
              <a:t>Prueba 2</a:t>
            </a:r>
            <a:endParaRPr lang="es-ES_tradnl" dirty="0"/>
          </a:p>
        </p:txBody>
      </p:sp>
      <p:sp>
        <p:nvSpPr>
          <p:cNvPr id="17" name="TextBox 16">
            <a:extLst>
              <a:ext uri="{FF2B5EF4-FFF2-40B4-BE49-F238E27FC236}">
                <a16:creationId xmlns:a16="http://schemas.microsoft.com/office/drawing/2014/main" id="{5B749879-A750-8E6E-32F2-5EB131736585}"/>
              </a:ext>
            </a:extLst>
          </p:cNvPr>
          <p:cNvSpPr txBox="1"/>
          <p:nvPr/>
        </p:nvSpPr>
        <p:spPr>
          <a:xfrm>
            <a:off x="803653" y="6093942"/>
            <a:ext cx="9521683" cy="400110"/>
          </a:xfrm>
          <a:prstGeom prst="rect">
            <a:avLst/>
          </a:prstGeom>
          <a:solidFill>
            <a:schemeClr val="accent2"/>
          </a:solidFill>
        </p:spPr>
        <p:txBody>
          <a:bodyPr wrap="square" rtlCol="0">
            <a:spAutoFit/>
          </a:bodyPr>
          <a:lstStyle/>
          <a:p>
            <a:pPr algn="ctr"/>
            <a:r>
              <a:rPr lang="es-ES_tradnl" sz="2000" b="1" dirty="0"/>
              <a:t>Actividades en clases y participación</a:t>
            </a:r>
          </a:p>
        </p:txBody>
      </p:sp>
      <p:sp>
        <p:nvSpPr>
          <p:cNvPr id="3" name="TextBox 2">
            <a:extLst>
              <a:ext uri="{FF2B5EF4-FFF2-40B4-BE49-F238E27FC236}">
                <a16:creationId xmlns:a16="http://schemas.microsoft.com/office/drawing/2014/main" id="{0666BE0F-62DA-7E14-E42D-084AE0406EB2}"/>
              </a:ext>
            </a:extLst>
          </p:cNvPr>
          <p:cNvSpPr txBox="1"/>
          <p:nvPr/>
        </p:nvSpPr>
        <p:spPr>
          <a:xfrm>
            <a:off x="233851" y="4197157"/>
            <a:ext cx="461665" cy="2419660"/>
          </a:xfrm>
          <a:prstGeom prst="rect">
            <a:avLst/>
          </a:prstGeom>
          <a:solidFill>
            <a:schemeClr val="accent6">
              <a:lumMod val="60000"/>
              <a:lumOff val="40000"/>
            </a:schemeClr>
          </a:solidFill>
        </p:spPr>
        <p:txBody>
          <a:bodyPr vert="vert270" wrap="square" rtlCol="0">
            <a:spAutoFit/>
          </a:bodyPr>
          <a:lstStyle/>
          <a:p>
            <a:pPr algn="ctr"/>
            <a:r>
              <a:rPr lang="es-ES_tradnl" dirty="0"/>
              <a:t>Evaluaciones</a:t>
            </a:r>
          </a:p>
        </p:txBody>
      </p:sp>
      <p:sp>
        <p:nvSpPr>
          <p:cNvPr id="6" name="TextBox 5">
            <a:extLst>
              <a:ext uri="{FF2B5EF4-FFF2-40B4-BE49-F238E27FC236}">
                <a16:creationId xmlns:a16="http://schemas.microsoft.com/office/drawing/2014/main" id="{55E3E225-490B-89E3-D2A9-10E28EECFD70}"/>
              </a:ext>
            </a:extLst>
          </p:cNvPr>
          <p:cNvSpPr txBox="1"/>
          <p:nvPr/>
        </p:nvSpPr>
        <p:spPr>
          <a:xfrm>
            <a:off x="233851" y="2545024"/>
            <a:ext cx="461665" cy="1325563"/>
          </a:xfrm>
          <a:prstGeom prst="rect">
            <a:avLst/>
          </a:prstGeom>
          <a:solidFill>
            <a:schemeClr val="accent6">
              <a:lumMod val="60000"/>
              <a:lumOff val="40000"/>
            </a:schemeClr>
          </a:solidFill>
        </p:spPr>
        <p:txBody>
          <a:bodyPr vert="vert270" wrap="square" rtlCol="0">
            <a:spAutoFit/>
          </a:bodyPr>
          <a:lstStyle/>
          <a:p>
            <a:pPr algn="ctr"/>
            <a:r>
              <a:rPr lang="es-ES_tradnl" dirty="0"/>
              <a:t>Contenido</a:t>
            </a:r>
          </a:p>
        </p:txBody>
      </p:sp>
    </p:spTree>
    <p:extLst>
      <p:ext uri="{BB962C8B-B14F-4D97-AF65-F5344CB8AC3E}">
        <p14:creationId xmlns:p14="http://schemas.microsoft.com/office/powerpoint/2010/main" val="30538565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16C64-59BF-CE57-CCE9-0C4F29BF04D0}"/>
              </a:ext>
            </a:extLst>
          </p:cNvPr>
          <p:cNvSpPr>
            <a:spLocks noGrp="1"/>
          </p:cNvSpPr>
          <p:nvPr>
            <p:ph type="title"/>
          </p:nvPr>
        </p:nvSpPr>
        <p:spPr/>
        <p:txBody>
          <a:bodyPr/>
          <a:lstStyle/>
          <a:p>
            <a:r>
              <a:rPr lang="es-ES_tradnl" dirty="0"/>
              <a:t>Por favor revisar el programa en detalle</a:t>
            </a:r>
          </a:p>
        </p:txBody>
      </p:sp>
      <p:sp>
        <p:nvSpPr>
          <p:cNvPr id="3" name="Content Placeholder 2">
            <a:extLst>
              <a:ext uri="{FF2B5EF4-FFF2-40B4-BE49-F238E27FC236}">
                <a16:creationId xmlns:a16="http://schemas.microsoft.com/office/drawing/2014/main" id="{95C050EA-B9D0-6584-681E-77359D77C66C}"/>
              </a:ext>
            </a:extLst>
          </p:cNvPr>
          <p:cNvSpPr>
            <a:spLocks noGrp="1"/>
          </p:cNvSpPr>
          <p:nvPr>
            <p:ph idx="1"/>
          </p:nvPr>
        </p:nvSpPr>
        <p:spPr>
          <a:xfrm>
            <a:off x="525717" y="2521885"/>
            <a:ext cx="10077557" cy="4005524"/>
          </a:xfrm>
        </p:spPr>
        <p:txBody>
          <a:bodyPr>
            <a:normAutofit/>
          </a:bodyPr>
          <a:lstStyle/>
          <a:p>
            <a:r>
              <a:rPr lang="es-ES_tradnl" dirty="0"/>
              <a:t>Políticas del curso con respecto a integridad académica y justificación de inasistencias.</a:t>
            </a:r>
          </a:p>
          <a:p>
            <a:r>
              <a:rPr lang="es-ES_tradnl" dirty="0"/>
              <a:t>Detalle sobre las evaluaciones</a:t>
            </a:r>
          </a:p>
          <a:p>
            <a:r>
              <a:rPr lang="es-ES_tradnl" dirty="0"/>
              <a:t>Calendarización completa (siempre sujeta a pequeños cambios): revisar ayudantías y fechas de entregas.</a:t>
            </a:r>
          </a:p>
          <a:p>
            <a:r>
              <a:rPr lang="es-ES_tradnl" dirty="0"/>
              <a:t>Sobre las lecturas:</a:t>
            </a:r>
          </a:p>
          <a:p>
            <a:r>
              <a:rPr lang="es-ES_tradnl" dirty="0"/>
              <a:t>	Mínimas marcadas con **</a:t>
            </a:r>
          </a:p>
          <a:p>
            <a:r>
              <a:rPr lang="es-ES_tradnl" dirty="0"/>
              <a:t>	Las demás son opcionales pero recomendadas</a:t>
            </a:r>
          </a:p>
          <a:p>
            <a:r>
              <a:rPr lang="es-ES_tradnl" dirty="0"/>
              <a:t>	Todo disponible en link en calendario en el programa</a:t>
            </a:r>
          </a:p>
        </p:txBody>
      </p:sp>
    </p:spTree>
    <p:extLst>
      <p:ext uri="{BB962C8B-B14F-4D97-AF65-F5344CB8AC3E}">
        <p14:creationId xmlns:p14="http://schemas.microsoft.com/office/powerpoint/2010/main" val="92038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F9C493A-9F03-49B4-B3FB-19CE5AC11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2" name="Title 1">
            <a:extLst>
              <a:ext uri="{FF2B5EF4-FFF2-40B4-BE49-F238E27FC236}">
                <a16:creationId xmlns:a16="http://schemas.microsoft.com/office/drawing/2014/main" id="{BC2B596F-F482-CECB-FCC5-76520DAC487E}"/>
              </a:ext>
            </a:extLst>
          </p:cNvPr>
          <p:cNvSpPr>
            <a:spLocks noGrp="1"/>
          </p:cNvSpPr>
          <p:nvPr>
            <p:ph type="title"/>
          </p:nvPr>
        </p:nvSpPr>
        <p:spPr>
          <a:xfrm>
            <a:off x="525717" y="787068"/>
            <a:ext cx="5566263" cy="1455091"/>
          </a:xfrm>
        </p:spPr>
        <p:txBody>
          <a:bodyPr>
            <a:normAutofit/>
          </a:bodyPr>
          <a:lstStyle/>
          <a:p>
            <a:r>
              <a:rPr lang="es-ES_tradnl" dirty="0"/>
              <a:t>Buenas prácticas</a:t>
            </a:r>
          </a:p>
        </p:txBody>
      </p:sp>
      <p:sp>
        <p:nvSpPr>
          <p:cNvPr id="11" name="Freeform: Shape 10">
            <a:extLst>
              <a:ext uri="{FF2B5EF4-FFF2-40B4-BE49-F238E27FC236}">
                <a16:creationId xmlns:a16="http://schemas.microsoft.com/office/drawing/2014/main" id="{90A46C7D-C1BB-49B8-8D37-39742820E9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15182" y="-615181"/>
            <a:ext cx="1085312" cy="2315675"/>
          </a:xfrm>
          <a:custGeom>
            <a:avLst/>
            <a:gdLst>
              <a:gd name="connsiteX0" fmla="*/ 0 w 1085312"/>
              <a:gd name="connsiteY0" fmla="*/ 2315675 h 2315675"/>
              <a:gd name="connsiteX1" fmla="*/ 0 w 1085312"/>
              <a:gd name="connsiteY1" fmla="*/ 0 h 2315675"/>
              <a:gd name="connsiteX2" fmla="*/ 53089 w 1085312"/>
              <a:gd name="connsiteY2" fmla="*/ 4542 h 2315675"/>
              <a:gd name="connsiteX3" fmla="*/ 790077 w 1085312"/>
              <a:gd name="connsiteY3" fmla="*/ 872756 h 2315675"/>
              <a:gd name="connsiteX4" fmla="*/ 1085252 w 1085312"/>
              <a:gd name="connsiteY4" fmla="*/ 1943649 h 2315675"/>
              <a:gd name="connsiteX5" fmla="*/ 1064832 w 1085312"/>
              <a:gd name="connsiteY5" fmla="*/ 2198094 h 2315675"/>
              <a:gd name="connsiteX6" fmla="*/ 1043734 w 1085312"/>
              <a:gd name="connsiteY6" fmla="*/ 2315675 h 2315675"/>
              <a:gd name="connsiteX7" fmla="*/ 0 w 1085312"/>
              <a:gd name="connsiteY7" fmla="*/ 2315675 h 2315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5312" h="2315675">
                <a:moveTo>
                  <a:pt x="0" y="2315675"/>
                </a:moveTo>
                <a:lnTo>
                  <a:pt x="0" y="0"/>
                </a:lnTo>
                <a:lnTo>
                  <a:pt x="53089" y="4542"/>
                </a:lnTo>
                <a:cubicBezTo>
                  <a:pt x="405263" y="73503"/>
                  <a:pt x="612623" y="486635"/>
                  <a:pt x="790077" y="872756"/>
                </a:cubicBezTo>
                <a:cubicBezTo>
                  <a:pt x="937425" y="1193596"/>
                  <a:pt x="1088787" y="1533232"/>
                  <a:pt x="1085252" y="1943649"/>
                </a:cubicBezTo>
                <a:cubicBezTo>
                  <a:pt x="1084528" y="2029058"/>
                  <a:pt x="1077341" y="2113833"/>
                  <a:pt x="1064832" y="2198094"/>
                </a:cubicBezTo>
                <a:lnTo>
                  <a:pt x="1043734" y="2315675"/>
                </a:lnTo>
                <a:lnTo>
                  <a:pt x="0" y="2315675"/>
                </a:lnTo>
                <a:close/>
              </a:path>
            </a:pathLst>
          </a:custGeom>
          <a:solidFill>
            <a:schemeClr val="accent5">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3" name="Graphic 78">
            <a:extLst>
              <a:ext uri="{FF2B5EF4-FFF2-40B4-BE49-F238E27FC236}">
                <a16:creationId xmlns:a16="http://schemas.microsoft.com/office/drawing/2014/main" id="{61BBAB6F-65E6-4E2B-B363-6AB27C84E0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25717" y="2585111"/>
            <a:ext cx="972241" cy="45718"/>
            <a:chOff x="4886325" y="3371754"/>
            <a:chExt cx="2418492" cy="113728"/>
          </a:xfrm>
          <a:solidFill>
            <a:schemeClr val="accent1"/>
          </a:solidFill>
        </p:grpSpPr>
        <p:sp>
          <p:nvSpPr>
            <p:cNvPr id="14" name="Graphic 78">
              <a:extLst>
                <a:ext uri="{FF2B5EF4-FFF2-40B4-BE49-F238E27FC236}">
                  <a16:creationId xmlns:a16="http://schemas.microsoft.com/office/drawing/2014/main" id="{6DA3BBB2-E620-4C13-98C9-FE1EF7D2ED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15" name="Graphic 78">
              <a:extLst>
                <a:ext uri="{FF2B5EF4-FFF2-40B4-BE49-F238E27FC236}">
                  <a16:creationId xmlns:a16="http://schemas.microsoft.com/office/drawing/2014/main" id="{ADC9AB5D-88A1-4FA9-B467-E8EF8FFE5B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4886709" y="3371754"/>
              <a:ext cx="2418108" cy="113728"/>
              <a:chOff x="4886709" y="3371754"/>
              <a:chExt cx="2418108" cy="113728"/>
            </a:xfrm>
            <a:grpFill/>
          </p:grpSpPr>
          <p:sp>
            <p:nvSpPr>
              <p:cNvPr id="16" name="Graphic 78">
                <a:extLst>
                  <a:ext uri="{FF2B5EF4-FFF2-40B4-BE49-F238E27FC236}">
                    <a16:creationId xmlns:a16="http://schemas.microsoft.com/office/drawing/2014/main" id="{0867B8E5-4535-4743-8235-6612FEA410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7" name="Graphic 78">
                <a:extLst>
                  <a:ext uri="{FF2B5EF4-FFF2-40B4-BE49-F238E27FC236}">
                    <a16:creationId xmlns:a16="http://schemas.microsoft.com/office/drawing/2014/main" id="{BE48FEA7-5915-4751-8090-63F309432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8" name="Graphic 78">
                <a:extLst>
                  <a:ext uri="{FF2B5EF4-FFF2-40B4-BE49-F238E27FC236}">
                    <a16:creationId xmlns:a16="http://schemas.microsoft.com/office/drawing/2014/main" id="{32B378CE-44FD-4120-B9ED-7828D4EE9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9" name="Graphic 78">
                <a:extLst>
                  <a:ext uri="{FF2B5EF4-FFF2-40B4-BE49-F238E27FC236}">
                    <a16:creationId xmlns:a16="http://schemas.microsoft.com/office/drawing/2014/main" id="{40FA43D3-D34B-4BC7-80D0-F3E75A222A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
        <p:nvSpPr>
          <p:cNvPr id="3" name="Content Placeholder 2">
            <a:extLst>
              <a:ext uri="{FF2B5EF4-FFF2-40B4-BE49-F238E27FC236}">
                <a16:creationId xmlns:a16="http://schemas.microsoft.com/office/drawing/2014/main" id="{0BC74D06-78FC-061B-A16C-0488DA9B5137}"/>
              </a:ext>
            </a:extLst>
          </p:cNvPr>
          <p:cNvSpPr>
            <a:spLocks noGrp="1"/>
          </p:cNvSpPr>
          <p:nvPr>
            <p:ph idx="1"/>
          </p:nvPr>
        </p:nvSpPr>
        <p:spPr>
          <a:xfrm>
            <a:off x="377317" y="2815559"/>
            <a:ext cx="5903751" cy="3787755"/>
          </a:xfrm>
        </p:spPr>
        <p:txBody>
          <a:bodyPr>
            <a:normAutofit/>
          </a:bodyPr>
          <a:lstStyle/>
          <a:p>
            <a:pPr marL="457200" indent="-457200">
              <a:buFont typeface="+mj-lt"/>
              <a:buAutoNum type="arabicPeriod"/>
            </a:pPr>
            <a:r>
              <a:rPr lang="es-ES_tradnl" dirty="0"/>
              <a:t>Preparación antes de la clase: lectura profunda y reflexiva de los materiales</a:t>
            </a:r>
          </a:p>
          <a:p>
            <a:pPr marL="457200" indent="-457200">
              <a:buFont typeface="+mj-lt"/>
              <a:buAutoNum type="arabicPeriod"/>
            </a:pPr>
            <a:r>
              <a:rPr lang="es-ES_tradnl" dirty="0"/>
              <a:t>Profesionalismo y compromiso</a:t>
            </a:r>
          </a:p>
          <a:p>
            <a:pPr marL="914400" lvl="2" indent="-457200">
              <a:buFont typeface="Arial" panose="020B0604020202020204" pitchFamily="34" charset="0"/>
              <a:buChar char="•"/>
            </a:pPr>
            <a:r>
              <a:rPr lang="es-ES_tradnl" sz="2000" dirty="0"/>
              <a:t>Asistencia y puntualidad</a:t>
            </a:r>
          </a:p>
          <a:p>
            <a:pPr marL="457200" indent="-457200">
              <a:buFont typeface="+mj-lt"/>
              <a:buAutoNum type="arabicPeriod"/>
            </a:pPr>
            <a:r>
              <a:rPr lang="es-ES_tradnl" dirty="0"/>
              <a:t>Uso de pantallas: en silencio y guardados, al menos que sea necesario</a:t>
            </a:r>
          </a:p>
          <a:p>
            <a:pPr marL="457200" indent="-457200">
              <a:buFont typeface="+mj-lt"/>
              <a:buAutoNum type="arabicPeriod"/>
            </a:pPr>
            <a:r>
              <a:rPr lang="es-ES_tradnl" dirty="0"/>
              <a:t>Participación en clases: escuchar de manera atenta y contribuir con tus ideas, preguntas y reflexiones</a:t>
            </a:r>
          </a:p>
        </p:txBody>
      </p:sp>
      <p:pic>
        <p:nvPicPr>
          <p:cNvPr id="5" name="Picture 4" descr="Amplio grupo de paracaidistas en el aire">
            <a:extLst>
              <a:ext uri="{FF2B5EF4-FFF2-40B4-BE49-F238E27FC236}">
                <a16:creationId xmlns:a16="http://schemas.microsoft.com/office/drawing/2014/main" id="{BF499E59-57E7-F01A-57C9-D8A11A49C640}"/>
              </a:ext>
            </a:extLst>
          </p:cNvPr>
          <p:cNvPicPr>
            <a:picLocks noChangeAspect="1"/>
          </p:cNvPicPr>
          <p:nvPr/>
        </p:nvPicPr>
        <p:blipFill rotWithShape="1">
          <a:blip r:embed="rId3"/>
          <a:srcRect l="23141" r="21973"/>
          <a:stretch/>
        </p:blipFill>
        <p:spPr>
          <a:xfrm>
            <a:off x="6531789" y="10"/>
            <a:ext cx="5660211" cy="6857990"/>
          </a:xfrm>
          <a:prstGeom prst="rect">
            <a:avLst/>
          </a:prstGeom>
        </p:spPr>
      </p:pic>
      <p:sp>
        <p:nvSpPr>
          <p:cNvPr id="21" name="Freeform: Shape 20">
            <a:extLst>
              <a:ext uri="{FF2B5EF4-FFF2-40B4-BE49-F238E27FC236}">
                <a16:creationId xmlns:a16="http://schemas.microsoft.com/office/drawing/2014/main" id="{55820E42-2F9D-41EF-B67F-522A133B33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753030" y="5516668"/>
            <a:ext cx="2438970" cy="1341332"/>
          </a:xfrm>
          <a:custGeom>
            <a:avLst/>
            <a:gdLst>
              <a:gd name="connsiteX0" fmla="*/ 2025355 w 2438970"/>
              <a:gd name="connsiteY0" fmla="*/ 235 h 1341332"/>
              <a:gd name="connsiteX1" fmla="*/ 2381960 w 2438970"/>
              <a:gd name="connsiteY1" fmla="*/ 44517 h 1341332"/>
              <a:gd name="connsiteX2" fmla="*/ 2438970 w 2438970"/>
              <a:gd name="connsiteY2" fmla="*/ 58872 h 1341332"/>
              <a:gd name="connsiteX3" fmla="*/ 2438970 w 2438970"/>
              <a:gd name="connsiteY3" fmla="*/ 1341332 h 1341332"/>
              <a:gd name="connsiteX4" fmla="*/ 0 w 2438970"/>
              <a:gd name="connsiteY4" fmla="*/ 1341332 h 1341332"/>
              <a:gd name="connsiteX5" fmla="*/ 13333 w 2438970"/>
              <a:gd name="connsiteY5" fmla="*/ 1328018 h 1341332"/>
              <a:gd name="connsiteX6" fmla="*/ 936262 w 2438970"/>
              <a:gd name="connsiteY6" fmla="*/ 459947 h 1341332"/>
              <a:gd name="connsiteX7" fmla="*/ 1554028 w 2438970"/>
              <a:gd name="connsiteY7" fmla="*/ 71153 h 1341332"/>
              <a:gd name="connsiteX8" fmla="*/ 2025355 w 2438970"/>
              <a:gd name="connsiteY8" fmla="*/ 235 h 1341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38970" h="1341332">
                <a:moveTo>
                  <a:pt x="2025355" y="235"/>
                </a:moveTo>
                <a:cubicBezTo>
                  <a:pt x="2143847" y="2306"/>
                  <a:pt x="2262766" y="17993"/>
                  <a:pt x="2381960" y="44517"/>
                </a:cubicBezTo>
                <a:lnTo>
                  <a:pt x="2438970" y="58872"/>
                </a:lnTo>
                <a:lnTo>
                  <a:pt x="2438970" y="1341332"/>
                </a:lnTo>
                <a:lnTo>
                  <a:pt x="0" y="1341332"/>
                </a:lnTo>
                <a:lnTo>
                  <a:pt x="13333" y="1328018"/>
                </a:lnTo>
                <a:cubicBezTo>
                  <a:pt x="324723" y="1028950"/>
                  <a:pt x="645390" y="738459"/>
                  <a:pt x="936262" y="459947"/>
                </a:cubicBezTo>
                <a:cubicBezTo>
                  <a:pt x="1139660" y="265152"/>
                  <a:pt x="1345794" y="140817"/>
                  <a:pt x="1554028" y="71153"/>
                </a:cubicBezTo>
                <a:cubicBezTo>
                  <a:pt x="1710136" y="18918"/>
                  <a:pt x="1867365" y="-2526"/>
                  <a:pt x="2025355" y="235"/>
                </a:cubicBezTo>
                <a:close/>
              </a:path>
            </a:pathLst>
          </a:cu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23" name="Group 22">
            <a:extLst>
              <a:ext uri="{FF2B5EF4-FFF2-40B4-BE49-F238E27FC236}">
                <a16:creationId xmlns:a16="http://schemas.microsoft.com/office/drawing/2014/main" id="{13D9BC31-B57D-4933-AD83-94F462D4C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776050" y="5204025"/>
            <a:ext cx="886141" cy="802496"/>
            <a:chOff x="10948005" y="3272152"/>
            <a:chExt cx="868640" cy="786648"/>
          </a:xfrm>
          <a:solidFill>
            <a:schemeClr val="accent1"/>
          </a:solidFill>
        </p:grpSpPr>
        <p:sp>
          <p:nvSpPr>
            <p:cNvPr id="24" name="Freeform: Shape 23">
              <a:extLst>
                <a:ext uri="{FF2B5EF4-FFF2-40B4-BE49-F238E27FC236}">
                  <a16:creationId xmlns:a16="http://schemas.microsoft.com/office/drawing/2014/main" id="{D84AFEA3-A055-41AE-96F3-34BA581424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94317" y="3944888"/>
              <a:ext cx="128449" cy="113912"/>
            </a:xfrm>
            <a:custGeom>
              <a:avLst/>
              <a:gdLst>
                <a:gd name="connsiteX0" fmla="*/ 237621 w 453152"/>
                <a:gd name="connsiteY0" fmla="*/ 965 h 401867"/>
                <a:gd name="connsiteX1" fmla="*/ 370246 w 453152"/>
                <a:gd name="connsiteY1" fmla="*/ 23666 h 401867"/>
                <a:gd name="connsiteX2" fmla="*/ 437392 w 453152"/>
                <a:gd name="connsiteY2" fmla="*/ 198545 h 401867"/>
                <a:gd name="connsiteX3" fmla="*/ 67745 w 453152"/>
                <a:gd name="connsiteY3" fmla="*/ 392003 h 401867"/>
                <a:gd name="connsiteX4" fmla="*/ 911 w 453152"/>
                <a:gd name="connsiteY4" fmla="*/ 254095 h 401867"/>
                <a:gd name="connsiteX5" fmla="*/ 115564 w 453152"/>
                <a:gd name="connsiteY5" fmla="*/ 51160 h 401867"/>
                <a:gd name="connsiteX6" fmla="*/ 237621 w 453152"/>
                <a:gd name="connsiteY6" fmla="*/ 965 h 40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152" h="401867">
                  <a:moveTo>
                    <a:pt x="237621" y="965"/>
                  </a:moveTo>
                  <a:cubicBezTo>
                    <a:pt x="283632" y="-2971"/>
                    <a:pt x="331405" y="5243"/>
                    <a:pt x="370246" y="23666"/>
                  </a:cubicBezTo>
                  <a:cubicBezTo>
                    <a:pt x="436830" y="55275"/>
                    <a:pt x="477168" y="116810"/>
                    <a:pt x="437392" y="198545"/>
                  </a:cubicBezTo>
                  <a:cubicBezTo>
                    <a:pt x="391568" y="292624"/>
                    <a:pt x="176850" y="441630"/>
                    <a:pt x="67745" y="392003"/>
                  </a:cubicBezTo>
                  <a:cubicBezTo>
                    <a:pt x="18056" y="369372"/>
                    <a:pt x="-5012" y="308398"/>
                    <a:pt x="911" y="254095"/>
                  </a:cubicBezTo>
                  <a:cubicBezTo>
                    <a:pt x="9203" y="178033"/>
                    <a:pt x="61012" y="103094"/>
                    <a:pt x="115564" y="51160"/>
                  </a:cubicBezTo>
                  <a:cubicBezTo>
                    <a:pt x="147361" y="20985"/>
                    <a:pt x="191610" y="4900"/>
                    <a:pt x="237621" y="96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5" name="Freeform: Shape 24">
              <a:extLst>
                <a:ext uri="{FF2B5EF4-FFF2-40B4-BE49-F238E27FC236}">
                  <a16:creationId xmlns:a16="http://schemas.microsoft.com/office/drawing/2014/main" id="{9028771F-62FA-4349-B7A8-CE1682D2C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53045" y="3808430"/>
              <a:ext cx="144912" cy="193414"/>
            </a:xfrm>
            <a:custGeom>
              <a:avLst/>
              <a:gdLst>
                <a:gd name="connsiteX0" fmla="*/ 390625 w 511232"/>
                <a:gd name="connsiteY0" fmla="*/ 1621 h 682341"/>
                <a:gd name="connsiteX1" fmla="*/ 508142 w 511232"/>
                <a:gd name="connsiteY1" fmla="*/ 64038 h 682341"/>
                <a:gd name="connsiteX2" fmla="*/ 508453 w 511232"/>
                <a:gd name="connsiteY2" fmla="*/ 121832 h 682341"/>
                <a:gd name="connsiteX3" fmla="*/ 316492 w 511232"/>
                <a:gd name="connsiteY3" fmla="*/ 567602 h 682341"/>
                <a:gd name="connsiteX4" fmla="*/ 80265 w 511232"/>
                <a:gd name="connsiteY4" fmla="*/ 640359 h 682341"/>
                <a:gd name="connsiteX5" fmla="*/ 13306 w 511232"/>
                <a:gd name="connsiteY5" fmla="*/ 274828 h 682341"/>
                <a:gd name="connsiteX6" fmla="*/ 140989 w 511232"/>
                <a:gd name="connsiteY6" fmla="*/ 107181 h 682341"/>
                <a:gd name="connsiteX7" fmla="*/ 390625 w 511232"/>
                <a:gd name="connsiteY7" fmla="*/ 1621 h 682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232" h="682341">
                  <a:moveTo>
                    <a:pt x="390625" y="1621"/>
                  </a:moveTo>
                  <a:cubicBezTo>
                    <a:pt x="446543" y="-5212"/>
                    <a:pt x="493343" y="8441"/>
                    <a:pt x="508142" y="64038"/>
                  </a:cubicBezTo>
                  <a:cubicBezTo>
                    <a:pt x="513192" y="82866"/>
                    <a:pt x="511134" y="102754"/>
                    <a:pt x="508453" y="121832"/>
                  </a:cubicBezTo>
                  <a:cubicBezTo>
                    <a:pt x="485324" y="287796"/>
                    <a:pt x="417242" y="443971"/>
                    <a:pt x="316492" y="567602"/>
                  </a:cubicBezTo>
                  <a:cubicBezTo>
                    <a:pt x="253024" y="645534"/>
                    <a:pt x="165055" y="737743"/>
                    <a:pt x="80265" y="640359"/>
                  </a:cubicBezTo>
                  <a:cubicBezTo>
                    <a:pt x="5014" y="553948"/>
                    <a:pt x="-17368" y="383621"/>
                    <a:pt x="13306" y="274828"/>
                  </a:cubicBezTo>
                  <a:cubicBezTo>
                    <a:pt x="33443" y="203318"/>
                    <a:pt x="83382" y="146521"/>
                    <a:pt x="140989" y="107181"/>
                  </a:cubicBezTo>
                  <a:cubicBezTo>
                    <a:pt x="178904" y="81308"/>
                    <a:pt x="297428" y="13010"/>
                    <a:pt x="390625" y="16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6" name="Freeform: Shape 25">
              <a:extLst>
                <a:ext uri="{FF2B5EF4-FFF2-40B4-BE49-F238E27FC236}">
                  <a16:creationId xmlns:a16="http://schemas.microsoft.com/office/drawing/2014/main" id="{319CDEE6-CB2F-49F0-B237-2A26A3D1DC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84524" y="3907536"/>
              <a:ext cx="132121" cy="93006"/>
            </a:xfrm>
            <a:custGeom>
              <a:avLst/>
              <a:gdLst>
                <a:gd name="connsiteX0" fmla="*/ 252822 w 466107"/>
                <a:gd name="connsiteY0" fmla="*/ 1539 h 328114"/>
                <a:gd name="connsiteX1" fmla="*/ 451641 w 466107"/>
                <a:gd name="connsiteY1" fmla="*/ 122177 h 328114"/>
                <a:gd name="connsiteX2" fmla="*/ 391790 w 466107"/>
                <a:gd name="connsiteY2" fmla="*/ 297430 h 328114"/>
                <a:gd name="connsiteX3" fmla="*/ 8614 w 466107"/>
                <a:gd name="connsiteY3" fmla="*/ 243252 h 328114"/>
                <a:gd name="connsiteX4" fmla="*/ 45897 w 466107"/>
                <a:gd name="connsiteY4" fmla="*/ 97302 h 328114"/>
                <a:gd name="connsiteX5" fmla="*/ 252822 w 466107"/>
                <a:gd name="connsiteY5" fmla="*/ 1539 h 328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107" h="328114">
                  <a:moveTo>
                    <a:pt x="252822" y="1539"/>
                  </a:moveTo>
                  <a:cubicBezTo>
                    <a:pt x="335429" y="-10494"/>
                    <a:pt x="418848" y="49794"/>
                    <a:pt x="451641" y="122177"/>
                  </a:cubicBezTo>
                  <a:cubicBezTo>
                    <a:pt x="479697" y="184273"/>
                    <a:pt x="470594" y="255285"/>
                    <a:pt x="391790" y="297430"/>
                  </a:cubicBezTo>
                  <a:cubicBezTo>
                    <a:pt x="301077" y="345935"/>
                    <a:pt x="55935" y="343254"/>
                    <a:pt x="8614" y="243252"/>
                  </a:cubicBezTo>
                  <a:cubicBezTo>
                    <a:pt x="-12895" y="197678"/>
                    <a:pt x="8240" y="136766"/>
                    <a:pt x="45897" y="97302"/>
                  </a:cubicBezTo>
                  <a:cubicBezTo>
                    <a:pt x="98704" y="42064"/>
                    <a:pt x="181872" y="11950"/>
                    <a:pt x="252822" y="1539"/>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7" name="Graphic 12">
              <a:extLst>
                <a:ext uri="{FF2B5EF4-FFF2-40B4-BE49-F238E27FC236}">
                  <a16:creationId xmlns:a16="http://schemas.microsoft.com/office/drawing/2014/main" id="{3DD82286-02D2-4210-A797-5D502D44A3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42141" y="3272152"/>
              <a:ext cx="180625" cy="158824"/>
            </a:xfrm>
            <a:custGeom>
              <a:avLst/>
              <a:gdLst>
                <a:gd name="connsiteX0" fmla="*/ 63289 w 3341477"/>
                <a:gd name="connsiteY0" fmla="*/ 1933384 h 2938167"/>
                <a:gd name="connsiteX1" fmla="*/ 263314 w 3341477"/>
                <a:gd name="connsiteY1" fmla="*/ 514159 h 2938167"/>
                <a:gd name="connsiteX2" fmla="*/ 1098276 w 3341477"/>
                <a:gd name="connsiteY2" fmla="*/ 952 h 2938167"/>
                <a:gd name="connsiteX3" fmla="*/ 2654089 w 3341477"/>
                <a:gd name="connsiteY3" fmla="*/ 371284 h 2938167"/>
                <a:gd name="connsiteX4" fmla="*/ 3219398 w 3341477"/>
                <a:gd name="connsiteY4" fmla="*/ 2080926 h 2938167"/>
                <a:gd name="connsiteX5" fmla="*/ 2044489 w 3341477"/>
                <a:gd name="connsiteY5" fmla="*/ 2933509 h 2938167"/>
                <a:gd name="connsiteX6" fmla="*/ 453814 w 3341477"/>
                <a:gd name="connsiteY6" fmla="*/ 2495359 h 2938167"/>
                <a:gd name="connsiteX7" fmla="*/ 63289 w 3341477"/>
                <a:gd name="connsiteY7" fmla="*/ 1933384 h 29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41477" h="2938167">
                  <a:moveTo>
                    <a:pt x="63289" y="1933384"/>
                  </a:moveTo>
                  <a:cubicBezTo>
                    <a:pt x="56717" y="1895856"/>
                    <a:pt x="-165311" y="914209"/>
                    <a:pt x="263314" y="514159"/>
                  </a:cubicBezTo>
                  <a:cubicBezTo>
                    <a:pt x="691939" y="114109"/>
                    <a:pt x="609262" y="11620"/>
                    <a:pt x="1098276" y="952"/>
                  </a:cubicBezTo>
                  <a:cubicBezTo>
                    <a:pt x="1587289" y="-9716"/>
                    <a:pt x="2320714" y="66484"/>
                    <a:pt x="2654089" y="371284"/>
                  </a:cubicBezTo>
                  <a:cubicBezTo>
                    <a:pt x="2987464" y="676084"/>
                    <a:pt x="3603732" y="1514094"/>
                    <a:pt x="3219398" y="2080926"/>
                  </a:cubicBezTo>
                  <a:cubicBezTo>
                    <a:pt x="2835064" y="2647759"/>
                    <a:pt x="2558839" y="2895409"/>
                    <a:pt x="2044489" y="2933509"/>
                  </a:cubicBezTo>
                  <a:cubicBezTo>
                    <a:pt x="1530139" y="2971609"/>
                    <a:pt x="701464" y="2771584"/>
                    <a:pt x="453814" y="2495359"/>
                  </a:cubicBezTo>
                  <a:cubicBezTo>
                    <a:pt x="206164" y="2219134"/>
                    <a:pt x="101389" y="2152459"/>
                    <a:pt x="63289" y="1933384"/>
                  </a:cubicBezTo>
                  <a:close/>
                </a:path>
              </a:pathLst>
            </a:custGeom>
            <a:grpFill/>
            <a:ln w="9525" cap="flat">
              <a:noFill/>
              <a:prstDash val="solid"/>
              <a:miter/>
            </a:ln>
          </p:spPr>
          <p:txBody>
            <a:bodyPr rtlCol="0" anchor="ctr"/>
            <a:lstStyle/>
            <a:p>
              <a:endParaRPr lang="en-US"/>
            </a:p>
          </p:txBody>
        </p:sp>
        <p:sp>
          <p:nvSpPr>
            <p:cNvPr id="28" name="Graphic 15">
              <a:extLst>
                <a:ext uri="{FF2B5EF4-FFF2-40B4-BE49-F238E27FC236}">
                  <a16:creationId xmlns:a16="http://schemas.microsoft.com/office/drawing/2014/main" id="{735449F4-80DA-4E06-B3B6-B9F519F4A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02136" y="3379098"/>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29" name="Graphic 15">
              <a:extLst>
                <a:ext uri="{FF2B5EF4-FFF2-40B4-BE49-F238E27FC236}">
                  <a16:creationId xmlns:a16="http://schemas.microsoft.com/office/drawing/2014/main" id="{61FABA3B-05B6-433C-90F9-8D9691A84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8005" y="3504095"/>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E1FEBA45-D0A3-4091-9956-161EDA21A0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43727" y="3666564"/>
              <a:ext cx="173527" cy="138496"/>
            </a:xfrm>
            <a:custGeom>
              <a:avLst/>
              <a:gdLst>
                <a:gd name="connsiteX0" fmla="*/ 237392 w 789043"/>
                <a:gd name="connsiteY0" fmla="*/ 81 h 629754"/>
                <a:gd name="connsiteX1" fmla="*/ 758692 w 789043"/>
                <a:gd name="connsiteY1" fmla="*/ 233550 h 629754"/>
                <a:gd name="connsiteX2" fmla="*/ 650647 w 789043"/>
                <a:gd name="connsiteY2" fmla="*/ 335111 h 629754"/>
                <a:gd name="connsiteX3" fmla="*/ 315041 w 789043"/>
                <a:gd name="connsiteY3" fmla="*/ 584992 h 629754"/>
                <a:gd name="connsiteX4" fmla="*/ 192159 w 789043"/>
                <a:gd name="connsiteY4" fmla="*/ 625953 h 629754"/>
                <a:gd name="connsiteX5" fmla="*/ 124264 w 789043"/>
                <a:gd name="connsiteY5" fmla="*/ 552260 h 629754"/>
                <a:gd name="connsiteX6" fmla="*/ 1631 w 789043"/>
                <a:gd name="connsiteY6" fmla="*/ 133735 h 629754"/>
                <a:gd name="connsiteX7" fmla="*/ 35422 w 789043"/>
                <a:gd name="connsiteY7" fmla="*/ 14157 h 629754"/>
                <a:gd name="connsiteX8" fmla="*/ 113728 w 789043"/>
                <a:gd name="connsiteY8" fmla="*/ 378 h 629754"/>
                <a:gd name="connsiteX9" fmla="*/ 237392 w 789043"/>
                <a:gd name="connsiteY9" fmla="*/ 81 h 629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043" h="629754">
                  <a:moveTo>
                    <a:pt x="237392" y="81"/>
                  </a:moveTo>
                  <a:cubicBezTo>
                    <a:pt x="474795" y="-992"/>
                    <a:pt x="907215" y="10463"/>
                    <a:pt x="758692" y="233550"/>
                  </a:cubicBezTo>
                  <a:cubicBezTo>
                    <a:pt x="731135" y="274948"/>
                    <a:pt x="690486" y="305435"/>
                    <a:pt x="650647" y="335111"/>
                  </a:cubicBezTo>
                  <a:cubicBezTo>
                    <a:pt x="538737" y="418405"/>
                    <a:pt x="426889" y="501698"/>
                    <a:pt x="315041" y="584992"/>
                  </a:cubicBezTo>
                  <a:cubicBezTo>
                    <a:pt x="278943" y="611863"/>
                    <a:pt x="234865" y="640167"/>
                    <a:pt x="192159" y="625953"/>
                  </a:cubicBezTo>
                  <a:cubicBezTo>
                    <a:pt x="159614" y="615105"/>
                    <a:pt x="139851" y="582810"/>
                    <a:pt x="124264" y="552260"/>
                  </a:cubicBezTo>
                  <a:cubicBezTo>
                    <a:pt x="57742" y="422021"/>
                    <a:pt x="15908" y="279250"/>
                    <a:pt x="1631" y="133735"/>
                  </a:cubicBezTo>
                  <a:cubicBezTo>
                    <a:pt x="-2671" y="90343"/>
                    <a:pt x="-676" y="38596"/>
                    <a:pt x="35422" y="14157"/>
                  </a:cubicBezTo>
                  <a:cubicBezTo>
                    <a:pt x="57804" y="-931"/>
                    <a:pt x="86795" y="-557"/>
                    <a:pt x="113728" y="378"/>
                  </a:cubicBezTo>
                  <a:cubicBezTo>
                    <a:pt x="138207" y="1243"/>
                    <a:pt x="182606" y="328"/>
                    <a:pt x="237392" y="8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659678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112AE-AF2C-9EF5-867E-A6169287EF35}"/>
              </a:ext>
            </a:extLst>
          </p:cNvPr>
          <p:cNvSpPr>
            <a:spLocks noGrp="1"/>
          </p:cNvSpPr>
          <p:nvPr>
            <p:ph type="title"/>
          </p:nvPr>
        </p:nvSpPr>
        <p:spPr/>
        <p:txBody>
          <a:bodyPr/>
          <a:lstStyle/>
          <a:p>
            <a:r>
              <a:rPr lang="es-ES_tradnl" dirty="0"/>
              <a:t>Acuerdo de buenas prácticas: creando un ambiente seguro</a:t>
            </a:r>
          </a:p>
        </p:txBody>
      </p:sp>
      <p:sp>
        <p:nvSpPr>
          <p:cNvPr id="3" name="Content Placeholder 2">
            <a:extLst>
              <a:ext uri="{FF2B5EF4-FFF2-40B4-BE49-F238E27FC236}">
                <a16:creationId xmlns:a16="http://schemas.microsoft.com/office/drawing/2014/main" id="{B892EC79-9620-6FF9-7B7C-9F81D3B5F9AC}"/>
              </a:ext>
            </a:extLst>
          </p:cNvPr>
          <p:cNvSpPr>
            <a:spLocks noGrp="1"/>
          </p:cNvSpPr>
          <p:nvPr>
            <p:ph idx="1"/>
          </p:nvPr>
        </p:nvSpPr>
        <p:spPr/>
        <p:txBody>
          <a:bodyPr>
            <a:normAutofit/>
          </a:bodyPr>
          <a:lstStyle/>
          <a:p>
            <a:pPr algn="ctr"/>
            <a:r>
              <a:rPr lang="es-ES_tradnl" sz="2800" dirty="0"/>
              <a:t>¿Qué debemos o no debemos hacer para tener discusiones respetuosas y fructíferas en el curso?</a:t>
            </a:r>
          </a:p>
          <a:p>
            <a:pPr algn="ctr"/>
            <a:r>
              <a:rPr lang="es-ES_tradnl" sz="2800" dirty="0"/>
              <a:t>¿Qué te haría sentir que estamos en un ambiente seguro y cómodo para dar tu opinión?</a:t>
            </a:r>
          </a:p>
          <a:p>
            <a:pPr algn="ctr"/>
            <a:r>
              <a:rPr lang="es-ES_tradnl" sz="2800" dirty="0"/>
              <a:t>¿Cómo aseguramos que todas las personas se sientan incluidas y con una voz?</a:t>
            </a:r>
          </a:p>
        </p:txBody>
      </p:sp>
    </p:spTree>
    <p:extLst>
      <p:ext uri="{BB962C8B-B14F-4D97-AF65-F5344CB8AC3E}">
        <p14:creationId xmlns:p14="http://schemas.microsoft.com/office/powerpoint/2010/main" val="27137306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556D-6963-D40B-9763-6CC80BB724AE}"/>
              </a:ext>
            </a:extLst>
          </p:cNvPr>
          <p:cNvSpPr>
            <a:spLocks noGrp="1"/>
          </p:cNvSpPr>
          <p:nvPr>
            <p:ph type="title"/>
          </p:nvPr>
        </p:nvSpPr>
        <p:spPr/>
        <p:txBody>
          <a:bodyPr/>
          <a:lstStyle/>
          <a:p>
            <a:r>
              <a:rPr lang="es-ES_tradnl" dirty="0"/>
              <a:t>Sugerencias para la lectura de artículos científicos</a:t>
            </a:r>
          </a:p>
        </p:txBody>
      </p:sp>
      <p:sp>
        <p:nvSpPr>
          <p:cNvPr id="10" name="Content 10"/>
          <p:cNvSpPr>
            <a:spLocks noGrp="1"/>
          </p:cNvSpPr>
          <p:nvPr>
            <p:ph idx="1"/>
          </p:nvPr>
        </p:nvSpPr>
        <p:spPr>
          <a:xfrm>
            <a:off x="525717" y="2696704"/>
            <a:ext cx="10734950" cy="3703295"/>
          </a:xfrm>
        </p:spPr>
        <p:txBody>
          <a:bodyPr/>
          <a:lstStyle/>
          <a:p>
            <a:pPr marL="457200" indent="-457200">
              <a:buFont typeface="Arial" panose="020B0604020202020204" pitchFamily="34" charset="0"/>
              <a:buChar char="•"/>
            </a:pPr>
            <a:r>
              <a:rPr lang="es-ES_tradnl" b="1" dirty="0"/>
              <a:t>Lee abstract, intro y conclusión primero — luego el cuerpo</a:t>
            </a:r>
          </a:p>
          <a:p>
            <a:pPr marL="457200" indent="-457200">
              <a:buFont typeface="Arial" panose="020B0604020202020204" pitchFamily="34" charset="0"/>
              <a:buChar char="•"/>
            </a:pPr>
            <a:r>
              <a:rPr lang="es-ES_tradnl" dirty="0"/>
              <a:t>Identifica el argumento central: ¿qué afirma el texto y cómo lo demuestra?</a:t>
            </a:r>
          </a:p>
          <a:p>
            <a:pPr marL="457200" indent="-457200">
              <a:buFont typeface="Arial" panose="020B0604020202020204" pitchFamily="34" charset="0"/>
              <a:buChar char="•"/>
            </a:pPr>
            <a:r>
              <a:rPr lang="es-ES_tradnl" dirty="0"/>
              <a:t>Anota lo que no entendiste — eso es lo que traes a clases</a:t>
            </a:r>
          </a:p>
          <a:p>
            <a:pPr marL="457200" indent="-457200">
              <a:buFont typeface="Arial" panose="020B0604020202020204" pitchFamily="34" charset="0"/>
              <a:buChar char="•"/>
            </a:pPr>
            <a:r>
              <a:rPr lang="es-ES_tradnl" dirty="0"/>
              <a:t>Trae una pregunta o desacuerdo: no necesitas compartir la postura del autor/a</a:t>
            </a:r>
          </a:p>
          <a:p>
            <a:pPr marL="457200" indent="-457200">
              <a:buNone/>
            </a:pPr>
            <a:r>
              <a:rPr lang="es-ES_tradnl" i="1" dirty="0"/>
              <a:t>No necesitas entenderlo todo perfectamente ni memorizar cada dato.</a:t>
            </a:r>
          </a:p>
        </p:txBody>
      </p:sp>
    </p:spTree>
    <p:extLst>
      <p:ext uri="{BB962C8B-B14F-4D97-AF65-F5344CB8AC3E}">
        <p14:creationId xmlns:p14="http://schemas.microsoft.com/office/powerpoint/2010/main" val="7952085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0FD1D-4396-E307-EC98-79B22D8E2947}"/>
              </a:ext>
            </a:extLst>
          </p:cNvPr>
          <p:cNvSpPr>
            <a:spLocks noGrp="1"/>
          </p:cNvSpPr>
          <p:nvPr>
            <p:ph type="title"/>
          </p:nvPr>
        </p:nvSpPr>
        <p:spPr/>
        <p:txBody>
          <a:bodyPr/>
          <a:lstStyle/>
          <a:p>
            <a:r>
              <a:rPr lang="es-ES_tradnl" dirty="0"/>
              <a:t>Sugerencias para la lectura de artículos científicos</a:t>
            </a:r>
          </a:p>
        </p:txBody>
      </p:sp>
      <p:graphicFrame>
        <p:nvGraphicFramePr>
          <p:cNvPr id="4" name="Content Placeholder 2">
            <a:extLst>
              <a:ext uri="{FF2B5EF4-FFF2-40B4-BE49-F238E27FC236}">
                <a16:creationId xmlns:a16="http://schemas.microsoft.com/office/drawing/2014/main" id="{2BEF8B71-D7E8-8ED6-1DA4-0A1E6F1EE684}"/>
              </a:ext>
            </a:extLst>
          </p:cNvPr>
          <p:cNvGraphicFramePr>
            <a:graphicFrameLocks noGrp="1"/>
          </p:cNvGraphicFramePr>
          <p:nvPr>
            <p:ph idx="1"/>
            <p:extLst>
              <p:ext uri="{D42A27DB-BD31-4B8C-83A1-F6EECF244321}">
                <p14:modId xmlns:p14="http://schemas.microsoft.com/office/powerpoint/2010/main" val="2763321479"/>
              </p:ext>
            </p:extLst>
          </p:nvPr>
        </p:nvGraphicFramePr>
        <p:xfrm>
          <a:off x="525463" y="2522538"/>
          <a:ext cx="10077450" cy="35480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21052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E20BB609-EF92-42DB-836C-0699A590B5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4" name="Picture 33" descr="Notas adhesivas con signos de interrogación">
            <a:extLst>
              <a:ext uri="{FF2B5EF4-FFF2-40B4-BE49-F238E27FC236}">
                <a16:creationId xmlns:a16="http://schemas.microsoft.com/office/drawing/2014/main" id="{0D37C929-7708-D3F2-6EB6-CF13D4A8AD30}"/>
              </a:ext>
            </a:extLst>
          </p:cNvPr>
          <p:cNvPicPr>
            <a:picLocks noChangeAspect="1"/>
          </p:cNvPicPr>
          <p:nvPr/>
        </p:nvPicPr>
        <p:blipFill rotWithShape="1">
          <a:blip r:embed="rId3"/>
          <a:srcRect t="10151" r="-1" b="5557"/>
          <a:stretch/>
        </p:blipFill>
        <p:spPr>
          <a:xfrm>
            <a:off x="20" y="10"/>
            <a:ext cx="12188932" cy="6857990"/>
          </a:xfrm>
          <a:prstGeom prst="rect">
            <a:avLst/>
          </a:prstGeom>
        </p:spPr>
      </p:pic>
      <p:sp>
        <p:nvSpPr>
          <p:cNvPr id="35" name="Rectangle 34">
            <a:extLst>
              <a:ext uri="{FF2B5EF4-FFF2-40B4-BE49-F238E27FC236}">
                <a16:creationId xmlns:a16="http://schemas.microsoft.com/office/drawing/2014/main" id="{ABC37145-583D-4973-AE68-23CB73494C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1524" y="0"/>
            <a:ext cx="12188952" cy="3652125"/>
          </a:xfrm>
          <a:prstGeom prst="rect">
            <a:avLst/>
          </a:prstGeom>
          <a:gradFill>
            <a:gsLst>
              <a:gs pos="100000">
                <a:srgbClr val="000000">
                  <a:alpha val="0"/>
                </a:srgbClr>
              </a:gs>
              <a:gs pos="0">
                <a:schemeClr val="tx1"/>
              </a:gs>
              <a:gs pos="0">
                <a:srgbClr val="000000">
                  <a:alpha val="70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ubtitle 3">
            <a:extLst>
              <a:ext uri="{FF2B5EF4-FFF2-40B4-BE49-F238E27FC236}">
                <a16:creationId xmlns:a16="http://schemas.microsoft.com/office/drawing/2014/main" id="{7598D55F-7C82-1A58-E306-B41C4836EC52}"/>
              </a:ext>
            </a:extLst>
          </p:cNvPr>
          <p:cNvSpPr>
            <a:spLocks noGrp="1"/>
          </p:cNvSpPr>
          <p:nvPr>
            <p:ph type="subTitle" idx="1"/>
          </p:nvPr>
        </p:nvSpPr>
        <p:spPr>
          <a:xfrm>
            <a:off x="6652366" y="1204332"/>
            <a:ext cx="5040785" cy="1351444"/>
          </a:xfrm>
        </p:spPr>
        <p:txBody>
          <a:bodyPr anchor="t">
            <a:normAutofit/>
          </a:bodyPr>
          <a:lstStyle/>
          <a:p>
            <a:endParaRPr lang="es-ES_tradnl">
              <a:solidFill>
                <a:srgbClr val="FFFFFF"/>
              </a:solidFill>
            </a:endParaRPr>
          </a:p>
        </p:txBody>
      </p:sp>
      <p:grpSp>
        <p:nvGrpSpPr>
          <p:cNvPr id="36" name="Graphic 78">
            <a:extLst>
              <a:ext uri="{FF2B5EF4-FFF2-40B4-BE49-F238E27FC236}">
                <a16:creationId xmlns:a16="http://schemas.microsoft.com/office/drawing/2014/main" id="{674FBD09-398F-4886-8D52-3CCAB16ED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657951" y="971370"/>
            <a:ext cx="972241" cy="45718"/>
            <a:chOff x="4886325" y="3371754"/>
            <a:chExt cx="2418492" cy="113728"/>
          </a:xfrm>
          <a:solidFill>
            <a:schemeClr val="accent1"/>
          </a:solidFill>
        </p:grpSpPr>
        <p:sp>
          <p:nvSpPr>
            <p:cNvPr id="37" name="Graphic 78">
              <a:extLst>
                <a:ext uri="{FF2B5EF4-FFF2-40B4-BE49-F238E27FC236}">
                  <a16:creationId xmlns:a16="http://schemas.microsoft.com/office/drawing/2014/main" id="{794E9BAB-B9ED-4E72-B558-1E4B87537E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16" name="Graphic 78">
              <a:extLst>
                <a:ext uri="{FF2B5EF4-FFF2-40B4-BE49-F238E27FC236}">
                  <a16:creationId xmlns:a16="http://schemas.microsoft.com/office/drawing/2014/main" id="{809A1029-A1BA-4EF8-959B-2AF852A34D8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4886709" y="3371754"/>
              <a:ext cx="2418108" cy="113728"/>
              <a:chOff x="4886709" y="3371754"/>
              <a:chExt cx="2418108" cy="113728"/>
            </a:xfrm>
            <a:grpFill/>
          </p:grpSpPr>
          <p:sp>
            <p:nvSpPr>
              <p:cNvPr id="38" name="Graphic 78">
                <a:extLst>
                  <a:ext uri="{FF2B5EF4-FFF2-40B4-BE49-F238E27FC236}">
                    <a16:creationId xmlns:a16="http://schemas.microsoft.com/office/drawing/2014/main" id="{1618CAAA-B087-4302-8144-EFDD1D9FDB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39" name="Graphic 78">
                <a:extLst>
                  <a:ext uri="{FF2B5EF4-FFF2-40B4-BE49-F238E27FC236}">
                    <a16:creationId xmlns:a16="http://schemas.microsoft.com/office/drawing/2014/main" id="{D71D93E1-AEA4-4F92-BA99-24786C8A11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40" name="Graphic 78">
                <a:extLst>
                  <a:ext uri="{FF2B5EF4-FFF2-40B4-BE49-F238E27FC236}">
                    <a16:creationId xmlns:a16="http://schemas.microsoft.com/office/drawing/2014/main" id="{CE7112A6-6EAE-4620-B089-30D687AA0A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41" name="Graphic 78">
                <a:extLst>
                  <a:ext uri="{FF2B5EF4-FFF2-40B4-BE49-F238E27FC236}">
                    <a16:creationId xmlns:a16="http://schemas.microsoft.com/office/drawing/2014/main" id="{6F45DEA9-D350-4D7C-B408-D0250EE30C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
        <p:nvSpPr>
          <p:cNvPr id="42" name="Freeform: Shape 21">
            <a:extLst>
              <a:ext uri="{FF2B5EF4-FFF2-40B4-BE49-F238E27FC236}">
                <a16:creationId xmlns:a16="http://schemas.microsoft.com/office/drawing/2014/main" id="{A37A46C7-8B27-4C69-A8D1-516FBC1EF2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676817"/>
            <a:ext cx="4185210" cy="2202204"/>
          </a:xfrm>
          <a:custGeom>
            <a:avLst/>
            <a:gdLst>
              <a:gd name="connsiteX0" fmla="*/ 0 w 4238069"/>
              <a:gd name="connsiteY0" fmla="*/ 0 h 1903025"/>
              <a:gd name="connsiteX1" fmla="*/ 113310 w 4238069"/>
              <a:gd name="connsiteY1" fmla="*/ 8960 h 1903025"/>
              <a:gd name="connsiteX2" fmla="*/ 291503 w 4238069"/>
              <a:gd name="connsiteY2" fmla="*/ 37000 h 1903025"/>
              <a:gd name="connsiteX3" fmla="*/ 3082930 w 4238069"/>
              <a:gd name="connsiteY3" fmla="*/ 1104916 h 1903025"/>
              <a:gd name="connsiteX4" fmla="*/ 3881548 w 4238069"/>
              <a:gd name="connsiteY4" fmla="*/ 1668276 h 1903025"/>
              <a:gd name="connsiteX5" fmla="*/ 4238069 w 4238069"/>
              <a:gd name="connsiteY5" fmla="*/ 1903025 h 1903025"/>
              <a:gd name="connsiteX6" fmla="*/ 0 w 4238069"/>
              <a:gd name="connsiteY6" fmla="*/ 1903025 h 1903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238069" h="1903025">
                <a:moveTo>
                  <a:pt x="0" y="0"/>
                </a:moveTo>
                <a:lnTo>
                  <a:pt x="113310" y="8960"/>
                </a:lnTo>
                <a:cubicBezTo>
                  <a:pt x="173365" y="16155"/>
                  <a:pt x="232870" y="25632"/>
                  <a:pt x="291503" y="37000"/>
                </a:cubicBezTo>
                <a:cubicBezTo>
                  <a:pt x="1250780" y="222537"/>
                  <a:pt x="2264787" y="499636"/>
                  <a:pt x="3082930" y="1104916"/>
                </a:cubicBezTo>
                <a:cubicBezTo>
                  <a:pt x="3348371" y="1301283"/>
                  <a:pt x="3614239" y="1488349"/>
                  <a:pt x="3881548" y="1668276"/>
                </a:cubicBezTo>
                <a:lnTo>
                  <a:pt x="4238069" y="1903025"/>
                </a:lnTo>
                <a:lnTo>
                  <a:pt x="0" y="1903025"/>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43" name="Group 42">
            <a:extLst>
              <a:ext uri="{FF2B5EF4-FFF2-40B4-BE49-F238E27FC236}">
                <a16:creationId xmlns:a16="http://schemas.microsoft.com/office/drawing/2014/main" id="{553453FD-7767-485F-BAF4-00C9DA30551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568557" y="4424829"/>
            <a:ext cx="886141" cy="802496"/>
            <a:chOff x="10948005" y="3272152"/>
            <a:chExt cx="868640" cy="786648"/>
          </a:xfrm>
          <a:solidFill>
            <a:schemeClr val="accent6"/>
          </a:solidFill>
        </p:grpSpPr>
        <p:sp>
          <p:nvSpPr>
            <p:cNvPr id="44" name="Freeform: Shape 24">
              <a:extLst>
                <a:ext uri="{FF2B5EF4-FFF2-40B4-BE49-F238E27FC236}">
                  <a16:creationId xmlns:a16="http://schemas.microsoft.com/office/drawing/2014/main" id="{82F1A995-9785-46F3-82E0-F9D08A9CE2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94317" y="3944888"/>
              <a:ext cx="128449" cy="113912"/>
            </a:xfrm>
            <a:custGeom>
              <a:avLst/>
              <a:gdLst>
                <a:gd name="connsiteX0" fmla="*/ 237621 w 453152"/>
                <a:gd name="connsiteY0" fmla="*/ 965 h 401867"/>
                <a:gd name="connsiteX1" fmla="*/ 370246 w 453152"/>
                <a:gd name="connsiteY1" fmla="*/ 23666 h 401867"/>
                <a:gd name="connsiteX2" fmla="*/ 437392 w 453152"/>
                <a:gd name="connsiteY2" fmla="*/ 198545 h 401867"/>
                <a:gd name="connsiteX3" fmla="*/ 67745 w 453152"/>
                <a:gd name="connsiteY3" fmla="*/ 392003 h 401867"/>
                <a:gd name="connsiteX4" fmla="*/ 911 w 453152"/>
                <a:gd name="connsiteY4" fmla="*/ 254095 h 401867"/>
                <a:gd name="connsiteX5" fmla="*/ 115564 w 453152"/>
                <a:gd name="connsiteY5" fmla="*/ 51160 h 401867"/>
                <a:gd name="connsiteX6" fmla="*/ 237621 w 453152"/>
                <a:gd name="connsiteY6" fmla="*/ 965 h 40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152" h="401867">
                  <a:moveTo>
                    <a:pt x="237621" y="965"/>
                  </a:moveTo>
                  <a:cubicBezTo>
                    <a:pt x="283632" y="-2971"/>
                    <a:pt x="331405" y="5243"/>
                    <a:pt x="370246" y="23666"/>
                  </a:cubicBezTo>
                  <a:cubicBezTo>
                    <a:pt x="436830" y="55275"/>
                    <a:pt x="477168" y="116810"/>
                    <a:pt x="437392" y="198545"/>
                  </a:cubicBezTo>
                  <a:cubicBezTo>
                    <a:pt x="391568" y="292624"/>
                    <a:pt x="176850" y="441630"/>
                    <a:pt x="67745" y="392003"/>
                  </a:cubicBezTo>
                  <a:cubicBezTo>
                    <a:pt x="18056" y="369372"/>
                    <a:pt x="-5012" y="308398"/>
                    <a:pt x="911" y="254095"/>
                  </a:cubicBezTo>
                  <a:cubicBezTo>
                    <a:pt x="9203" y="178033"/>
                    <a:pt x="61012" y="103094"/>
                    <a:pt x="115564" y="51160"/>
                  </a:cubicBezTo>
                  <a:cubicBezTo>
                    <a:pt x="147361" y="20985"/>
                    <a:pt x="191610" y="4900"/>
                    <a:pt x="237621" y="96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45" name="Freeform: Shape 25">
              <a:extLst>
                <a:ext uri="{FF2B5EF4-FFF2-40B4-BE49-F238E27FC236}">
                  <a16:creationId xmlns:a16="http://schemas.microsoft.com/office/drawing/2014/main" id="{73B01ED6-F6B2-42CA-BA1C-419FA3B8B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53045" y="3808430"/>
              <a:ext cx="144912" cy="193414"/>
            </a:xfrm>
            <a:custGeom>
              <a:avLst/>
              <a:gdLst>
                <a:gd name="connsiteX0" fmla="*/ 390625 w 511232"/>
                <a:gd name="connsiteY0" fmla="*/ 1621 h 682341"/>
                <a:gd name="connsiteX1" fmla="*/ 508142 w 511232"/>
                <a:gd name="connsiteY1" fmla="*/ 64038 h 682341"/>
                <a:gd name="connsiteX2" fmla="*/ 508453 w 511232"/>
                <a:gd name="connsiteY2" fmla="*/ 121832 h 682341"/>
                <a:gd name="connsiteX3" fmla="*/ 316492 w 511232"/>
                <a:gd name="connsiteY3" fmla="*/ 567602 h 682341"/>
                <a:gd name="connsiteX4" fmla="*/ 80265 w 511232"/>
                <a:gd name="connsiteY4" fmla="*/ 640359 h 682341"/>
                <a:gd name="connsiteX5" fmla="*/ 13306 w 511232"/>
                <a:gd name="connsiteY5" fmla="*/ 274828 h 682341"/>
                <a:gd name="connsiteX6" fmla="*/ 140989 w 511232"/>
                <a:gd name="connsiteY6" fmla="*/ 107181 h 682341"/>
                <a:gd name="connsiteX7" fmla="*/ 390625 w 511232"/>
                <a:gd name="connsiteY7" fmla="*/ 1621 h 682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232" h="682341">
                  <a:moveTo>
                    <a:pt x="390625" y="1621"/>
                  </a:moveTo>
                  <a:cubicBezTo>
                    <a:pt x="446543" y="-5212"/>
                    <a:pt x="493343" y="8441"/>
                    <a:pt x="508142" y="64038"/>
                  </a:cubicBezTo>
                  <a:cubicBezTo>
                    <a:pt x="513192" y="82866"/>
                    <a:pt x="511134" y="102754"/>
                    <a:pt x="508453" y="121832"/>
                  </a:cubicBezTo>
                  <a:cubicBezTo>
                    <a:pt x="485324" y="287796"/>
                    <a:pt x="417242" y="443971"/>
                    <a:pt x="316492" y="567602"/>
                  </a:cubicBezTo>
                  <a:cubicBezTo>
                    <a:pt x="253024" y="645534"/>
                    <a:pt x="165055" y="737743"/>
                    <a:pt x="80265" y="640359"/>
                  </a:cubicBezTo>
                  <a:cubicBezTo>
                    <a:pt x="5014" y="553948"/>
                    <a:pt x="-17368" y="383621"/>
                    <a:pt x="13306" y="274828"/>
                  </a:cubicBezTo>
                  <a:cubicBezTo>
                    <a:pt x="33443" y="203318"/>
                    <a:pt x="83382" y="146521"/>
                    <a:pt x="140989" y="107181"/>
                  </a:cubicBezTo>
                  <a:cubicBezTo>
                    <a:pt x="178904" y="81308"/>
                    <a:pt x="297428" y="13010"/>
                    <a:pt x="390625" y="16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46" name="Freeform: Shape 26">
              <a:extLst>
                <a:ext uri="{FF2B5EF4-FFF2-40B4-BE49-F238E27FC236}">
                  <a16:creationId xmlns:a16="http://schemas.microsoft.com/office/drawing/2014/main" id="{1380B7B3-FC5A-4FBF-81FF-B8D7B35984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84524" y="3907536"/>
              <a:ext cx="132121" cy="93006"/>
            </a:xfrm>
            <a:custGeom>
              <a:avLst/>
              <a:gdLst>
                <a:gd name="connsiteX0" fmla="*/ 252822 w 466107"/>
                <a:gd name="connsiteY0" fmla="*/ 1539 h 328114"/>
                <a:gd name="connsiteX1" fmla="*/ 451641 w 466107"/>
                <a:gd name="connsiteY1" fmla="*/ 122177 h 328114"/>
                <a:gd name="connsiteX2" fmla="*/ 391790 w 466107"/>
                <a:gd name="connsiteY2" fmla="*/ 297430 h 328114"/>
                <a:gd name="connsiteX3" fmla="*/ 8614 w 466107"/>
                <a:gd name="connsiteY3" fmla="*/ 243252 h 328114"/>
                <a:gd name="connsiteX4" fmla="*/ 45897 w 466107"/>
                <a:gd name="connsiteY4" fmla="*/ 97302 h 328114"/>
                <a:gd name="connsiteX5" fmla="*/ 252822 w 466107"/>
                <a:gd name="connsiteY5" fmla="*/ 1539 h 328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107" h="328114">
                  <a:moveTo>
                    <a:pt x="252822" y="1539"/>
                  </a:moveTo>
                  <a:cubicBezTo>
                    <a:pt x="335429" y="-10494"/>
                    <a:pt x="418848" y="49794"/>
                    <a:pt x="451641" y="122177"/>
                  </a:cubicBezTo>
                  <a:cubicBezTo>
                    <a:pt x="479697" y="184273"/>
                    <a:pt x="470594" y="255285"/>
                    <a:pt x="391790" y="297430"/>
                  </a:cubicBezTo>
                  <a:cubicBezTo>
                    <a:pt x="301077" y="345935"/>
                    <a:pt x="55935" y="343254"/>
                    <a:pt x="8614" y="243252"/>
                  </a:cubicBezTo>
                  <a:cubicBezTo>
                    <a:pt x="-12895" y="197678"/>
                    <a:pt x="8240" y="136766"/>
                    <a:pt x="45897" y="97302"/>
                  </a:cubicBezTo>
                  <a:cubicBezTo>
                    <a:pt x="98704" y="42064"/>
                    <a:pt x="181872" y="11950"/>
                    <a:pt x="252822" y="1539"/>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47" name="Graphic 12">
              <a:extLst>
                <a:ext uri="{FF2B5EF4-FFF2-40B4-BE49-F238E27FC236}">
                  <a16:creationId xmlns:a16="http://schemas.microsoft.com/office/drawing/2014/main" id="{C106BDF4-FA50-48FA-9E43-3C336BE815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42141" y="3272152"/>
              <a:ext cx="180625" cy="158824"/>
            </a:xfrm>
            <a:custGeom>
              <a:avLst/>
              <a:gdLst>
                <a:gd name="connsiteX0" fmla="*/ 63289 w 3341477"/>
                <a:gd name="connsiteY0" fmla="*/ 1933384 h 2938167"/>
                <a:gd name="connsiteX1" fmla="*/ 263314 w 3341477"/>
                <a:gd name="connsiteY1" fmla="*/ 514159 h 2938167"/>
                <a:gd name="connsiteX2" fmla="*/ 1098276 w 3341477"/>
                <a:gd name="connsiteY2" fmla="*/ 952 h 2938167"/>
                <a:gd name="connsiteX3" fmla="*/ 2654089 w 3341477"/>
                <a:gd name="connsiteY3" fmla="*/ 371284 h 2938167"/>
                <a:gd name="connsiteX4" fmla="*/ 3219398 w 3341477"/>
                <a:gd name="connsiteY4" fmla="*/ 2080926 h 2938167"/>
                <a:gd name="connsiteX5" fmla="*/ 2044489 w 3341477"/>
                <a:gd name="connsiteY5" fmla="*/ 2933509 h 2938167"/>
                <a:gd name="connsiteX6" fmla="*/ 453814 w 3341477"/>
                <a:gd name="connsiteY6" fmla="*/ 2495359 h 2938167"/>
                <a:gd name="connsiteX7" fmla="*/ 63289 w 3341477"/>
                <a:gd name="connsiteY7" fmla="*/ 1933384 h 29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41477" h="2938167">
                  <a:moveTo>
                    <a:pt x="63289" y="1933384"/>
                  </a:moveTo>
                  <a:cubicBezTo>
                    <a:pt x="56717" y="1895856"/>
                    <a:pt x="-165311" y="914209"/>
                    <a:pt x="263314" y="514159"/>
                  </a:cubicBezTo>
                  <a:cubicBezTo>
                    <a:pt x="691939" y="114109"/>
                    <a:pt x="609262" y="11620"/>
                    <a:pt x="1098276" y="952"/>
                  </a:cubicBezTo>
                  <a:cubicBezTo>
                    <a:pt x="1587289" y="-9716"/>
                    <a:pt x="2320714" y="66484"/>
                    <a:pt x="2654089" y="371284"/>
                  </a:cubicBezTo>
                  <a:cubicBezTo>
                    <a:pt x="2987464" y="676084"/>
                    <a:pt x="3603732" y="1514094"/>
                    <a:pt x="3219398" y="2080926"/>
                  </a:cubicBezTo>
                  <a:cubicBezTo>
                    <a:pt x="2835064" y="2647759"/>
                    <a:pt x="2558839" y="2895409"/>
                    <a:pt x="2044489" y="2933509"/>
                  </a:cubicBezTo>
                  <a:cubicBezTo>
                    <a:pt x="1530139" y="2971609"/>
                    <a:pt x="701464" y="2771584"/>
                    <a:pt x="453814" y="2495359"/>
                  </a:cubicBezTo>
                  <a:cubicBezTo>
                    <a:pt x="206164" y="2219134"/>
                    <a:pt x="101389" y="2152459"/>
                    <a:pt x="63289" y="1933384"/>
                  </a:cubicBezTo>
                  <a:close/>
                </a:path>
              </a:pathLst>
            </a:custGeom>
            <a:grpFill/>
            <a:ln w="9525" cap="flat">
              <a:noFill/>
              <a:prstDash val="solid"/>
              <a:miter/>
            </a:ln>
          </p:spPr>
          <p:txBody>
            <a:bodyPr rtlCol="0" anchor="ctr"/>
            <a:lstStyle/>
            <a:p>
              <a:endParaRPr lang="en-US"/>
            </a:p>
          </p:txBody>
        </p:sp>
        <p:sp>
          <p:nvSpPr>
            <p:cNvPr id="48" name="Graphic 15">
              <a:extLst>
                <a:ext uri="{FF2B5EF4-FFF2-40B4-BE49-F238E27FC236}">
                  <a16:creationId xmlns:a16="http://schemas.microsoft.com/office/drawing/2014/main" id="{2B32087A-3A42-42E4-924C-387D71FBCC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02136" y="3379098"/>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49" name="Graphic 15">
              <a:extLst>
                <a:ext uri="{FF2B5EF4-FFF2-40B4-BE49-F238E27FC236}">
                  <a16:creationId xmlns:a16="http://schemas.microsoft.com/office/drawing/2014/main" id="{F2F40815-4CE2-433E-BE64-F9DAD58D23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8005" y="3504095"/>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50" name="Freeform: Shape 30">
              <a:extLst>
                <a:ext uri="{FF2B5EF4-FFF2-40B4-BE49-F238E27FC236}">
                  <a16:creationId xmlns:a16="http://schemas.microsoft.com/office/drawing/2014/main" id="{E2E1C49B-D1A1-46C0-9937-A7A363EEFE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43727" y="3666564"/>
              <a:ext cx="173527" cy="138496"/>
            </a:xfrm>
            <a:custGeom>
              <a:avLst/>
              <a:gdLst>
                <a:gd name="connsiteX0" fmla="*/ 237392 w 789043"/>
                <a:gd name="connsiteY0" fmla="*/ 81 h 629754"/>
                <a:gd name="connsiteX1" fmla="*/ 758692 w 789043"/>
                <a:gd name="connsiteY1" fmla="*/ 233550 h 629754"/>
                <a:gd name="connsiteX2" fmla="*/ 650647 w 789043"/>
                <a:gd name="connsiteY2" fmla="*/ 335111 h 629754"/>
                <a:gd name="connsiteX3" fmla="*/ 315041 w 789043"/>
                <a:gd name="connsiteY3" fmla="*/ 584992 h 629754"/>
                <a:gd name="connsiteX4" fmla="*/ 192159 w 789043"/>
                <a:gd name="connsiteY4" fmla="*/ 625953 h 629754"/>
                <a:gd name="connsiteX5" fmla="*/ 124264 w 789043"/>
                <a:gd name="connsiteY5" fmla="*/ 552260 h 629754"/>
                <a:gd name="connsiteX6" fmla="*/ 1631 w 789043"/>
                <a:gd name="connsiteY6" fmla="*/ 133735 h 629754"/>
                <a:gd name="connsiteX7" fmla="*/ 35422 w 789043"/>
                <a:gd name="connsiteY7" fmla="*/ 14157 h 629754"/>
                <a:gd name="connsiteX8" fmla="*/ 113728 w 789043"/>
                <a:gd name="connsiteY8" fmla="*/ 378 h 629754"/>
                <a:gd name="connsiteX9" fmla="*/ 237392 w 789043"/>
                <a:gd name="connsiteY9" fmla="*/ 81 h 629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043" h="629754">
                  <a:moveTo>
                    <a:pt x="237392" y="81"/>
                  </a:moveTo>
                  <a:cubicBezTo>
                    <a:pt x="474795" y="-992"/>
                    <a:pt x="907215" y="10463"/>
                    <a:pt x="758692" y="233550"/>
                  </a:cubicBezTo>
                  <a:cubicBezTo>
                    <a:pt x="731135" y="274948"/>
                    <a:pt x="690486" y="305435"/>
                    <a:pt x="650647" y="335111"/>
                  </a:cubicBezTo>
                  <a:cubicBezTo>
                    <a:pt x="538737" y="418405"/>
                    <a:pt x="426889" y="501698"/>
                    <a:pt x="315041" y="584992"/>
                  </a:cubicBezTo>
                  <a:cubicBezTo>
                    <a:pt x="278943" y="611863"/>
                    <a:pt x="234865" y="640167"/>
                    <a:pt x="192159" y="625953"/>
                  </a:cubicBezTo>
                  <a:cubicBezTo>
                    <a:pt x="159614" y="615105"/>
                    <a:pt x="139851" y="582810"/>
                    <a:pt x="124264" y="552260"/>
                  </a:cubicBezTo>
                  <a:cubicBezTo>
                    <a:pt x="57742" y="422021"/>
                    <a:pt x="15908" y="279250"/>
                    <a:pt x="1631" y="133735"/>
                  </a:cubicBezTo>
                  <a:cubicBezTo>
                    <a:pt x="-2671" y="90343"/>
                    <a:pt x="-676" y="38596"/>
                    <a:pt x="35422" y="14157"/>
                  </a:cubicBezTo>
                  <a:cubicBezTo>
                    <a:pt x="57804" y="-931"/>
                    <a:pt x="86795" y="-557"/>
                    <a:pt x="113728" y="378"/>
                  </a:cubicBezTo>
                  <a:cubicBezTo>
                    <a:pt x="138207" y="1243"/>
                    <a:pt x="182606" y="328"/>
                    <a:pt x="237392" y="8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6">
            <a:extLst>
              <a:ext uri="{FF2B5EF4-FFF2-40B4-BE49-F238E27FC236}">
                <a16:creationId xmlns:a16="http://schemas.microsoft.com/office/drawing/2014/main" id="{974221F7-6556-CA09-545F-41B870B90018}"/>
              </a:ext>
            </a:extLst>
          </p:cNvPr>
          <p:cNvSpPr>
            <a:spLocks noGrp="1"/>
          </p:cNvSpPr>
          <p:nvPr>
            <p:ph type="ctrTitle"/>
          </p:nvPr>
        </p:nvSpPr>
        <p:spPr/>
        <p:txBody>
          <a:bodyPr/>
          <a:lstStyle/>
          <a:p>
            <a:endParaRPr lang="es-ES_tradnl"/>
          </a:p>
        </p:txBody>
      </p:sp>
    </p:spTree>
    <p:extLst>
      <p:ext uri="{BB962C8B-B14F-4D97-AF65-F5344CB8AC3E}">
        <p14:creationId xmlns:p14="http://schemas.microsoft.com/office/powerpoint/2010/main" val="9438431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56" name="Rectangle 55">
            <a:extLst>
              <a:ext uri="{FF2B5EF4-FFF2-40B4-BE49-F238E27FC236}">
                <a16:creationId xmlns:a16="http://schemas.microsoft.com/office/drawing/2014/main" id="{2F9C493A-9F03-49B4-B3FB-19CE5AC11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2" name="Title 1">
            <a:extLst>
              <a:ext uri="{FF2B5EF4-FFF2-40B4-BE49-F238E27FC236}">
                <a16:creationId xmlns:a16="http://schemas.microsoft.com/office/drawing/2014/main" id="{B94CA5B9-DC35-385C-2BD7-C0F93C9095B7}"/>
              </a:ext>
            </a:extLst>
          </p:cNvPr>
          <p:cNvSpPr>
            <a:spLocks noGrp="1"/>
          </p:cNvSpPr>
          <p:nvPr>
            <p:ph type="title"/>
          </p:nvPr>
        </p:nvSpPr>
        <p:spPr>
          <a:xfrm>
            <a:off x="525717" y="787068"/>
            <a:ext cx="5566263" cy="1455091"/>
          </a:xfrm>
        </p:spPr>
        <p:txBody>
          <a:bodyPr vert="horz" lIns="91440" tIns="45720" rIns="91440" bIns="45720" rtlCol="0">
            <a:normAutofit/>
          </a:bodyPr>
          <a:lstStyle/>
          <a:p>
            <a:r>
              <a:rPr lang="en-US"/>
              <a:t>Actividad: Termómetro de la verdad</a:t>
            </a:r>
          </a:p>
        </p:txBody>
      </p:sp>
      <p:sp>
        <p:nvSpPr>
          <p:cNvPr id="58" name="Freeform: Shape 57">
            <a:extLst>
              <a:ext uri="{FF2B5EF4-FFF2-40B4-BE49-F238E27FC236}">
                <a16:creationId xmlns:a16="http://schemas.microsoft.com/office/drawing/2014/main" id="{90A46C7D-C1BB-49B8-8D37-39742820E9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15182" y="-615181"/>
            <a:ext cx="1085312" cy="2315675"/>
          </a:xfrm>
          <a:custGeom>
            <a:avLst/>
            <a:gdLst>
              <a:gd name="connsiteX0" fmla="*/ 0 w 1085312"/>
              <a:gd name="connsiteY0" fmla="*/ 2315675 h 2315675"/>
              <a:gd name="connsiteX1" fmla="*/ 0 w 1085312"/>
              <a:gd name="connsiteY1" fmla="*/ 0 h 2315675"/>
              <a:gd name="connsiteX2" fmla="*/ 53089 w 1085312"/>
              <a:gd name="connsiteY2" fmla="*/ 4542 h 2315675"/>
              <a:gd name="connsiteX3" fmla="*/ 790077 w 1085312"/>
              <a:gd name="connsiteY3" fmla="*/ 872756 h 2315675"/>
              <a:gd name="connsiteX4" fmla="*/ 1085252 w 1085312"/>
              <a:gd name="connsiteY4" fmla="*/ 1943649 h 2315675"/>
              <a:gd name="connsiteX5" fmla="*/ 1064832 w 1085312"/>
              <a:gd name="connsiteY5" fmla="*/ 2198094 h 2315675"/>
              <a:gd name="connsiteX6" fmla="*/ 1043734 w 1085312"/>
              <a:gd name="connsiteY6" fmla="*/ 2315675 h 2315675"/>
              <a:gd name="connsiteX7" fmla="*/ 0 w 1085312"/>
              <a:gd name="connsiteY7" fmla="*/ 2315675 h 2315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5312" h="2315675">
                <a:moveTo>
                  <a:pt x="0" y="2315675"/>
                </a:moveTo>
                <a:lnTo>
                  <a:pt x="0" y="0"/>
                </a:lnTo>
                <a:lnTo>
                  <a:pt x="53089" y="4542"/>
                </a:lnTo>
                <a:cubicBezTo>
                  <a:pt x="405263" y="73503"/>
                  <a:pt x="612623" y="486635"/>
                  <a:pt x="790077" y="872756"/>
                </a:cubicBezTo>
                <a:cubicBezTo>
                  <a:pt x="937425" y="1193596"/>
                  <a:pt x="1088787" y="1533232"/>
                  <a:pt x="1085252" y="1943649"/>
                </a:cubicBezTo>
                <a:cubicBezTo>
                  <a:pt x="1084528" y="2029058"/>
                  <a:pt x="1077341" y="2113833"/>
                  <a:pt x="1064832" y="2198094"/>
                </a:cubicBezTo>
                <a:lnTo>
                  <a:pt x="1043734" y="2315675"/>
                </a:lnTo>
                <a:lnTo>
                  <a:pt x="0" y="2315675"/>
                </a:lnTo>
                <a:close/>
              </a:path>
            </a:pathLst>
          </a:custGeom>
          <a:solidFill>
            <a:schemeClr val="accent5">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60" name="Graphic 78">
            <a:extLst>
              <a:ext uri="{FF2B5EF4-FFF2-40B4-BE49-F238E27FC236}">
                <a16:creationId xmlns:a16="http://schemas.microsoft.com/office/drawing/2014/main" id="{61BBAB6F-65E6-4E2B-B363-6AB27C84E0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25717" y="2585111"/>
            <a:ext cx="972241" cy="45718"/>
            <a:chOff x="4886325" y="3371754"/>
            <a:chExt cx="2418492" cy="113728"/>
          </a:xfrm>
          <a:solidFill>
            <a:schemeClr val="accent1"/>
          </a:solidFill>
        </p:grpSpPr>
        <p:sp>
          <p:nvSpPr>
            <p:cNvPr id="61" name="Graphic 78">
              <a:extLst>
                <a:ext uri="{FF2B5EF4-FFF2-40B4-BE49-F238E27FC236}">
                  <a16:creationId xmlns:a16="http://schemas.microsoft.com/office/drawing/2014/main" id="{6DA3BBB2-E620-4C13-98C9-FE1EF7D2ED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62" name="Graphic 78">
              <a:extLst>
                <a:ext uri="{FF2B5EF4-FFF2-40B4-BE49-F238E27FC236}">
                  <a16:creationId xmlns:a16="http://schemas.microsoft.com/office/drawing/2014/main" id="{ADC9AB5D-88A1-4FA9-B467-E8EF8FFE5B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4886709" y="3371754"/>
              <a:ext cx="2418108" cy="113728"/>
              <a:chOff x="4886709" y="3371754"/>
              <a:chExt cx="2418108" cy="113728"/>
            </a:xfrm>
            <a:grpFill/>
          </p:grpSpPr>
          <p:sp>
            <p:nvSpPr>
              <p:cNvPr id="63" name="Graphic 78">
                <a:extLst>
                  <a:ext uri="{FF2B5EF4-FFF2-40B4-BE49-F238E27FC236}">
                    <a16:creationId xmlns:a16="http://schemas.microsoft.com/office/drawing/2014/main" id="{0867B8E5-4535-4743-8235-6612FEA410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64" name="Graphic 78">
                <a:extLst>
                  <a:ext uri="{FF2B5EF4-FFF2-40B4-BE49-F238E27FC236}">
                    <a16:creationId xmlns:a16="http://schemas.microsoft.com/office/drawing/2014/main" id="{BE48FEA7-5915-4751-8090-63F309432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65" name="Graphic 78">
                <a:extLst>
                  <a:ext uri="{FF2B5EF4-FFF2-40B4-BE49-F238E27FC236}">
                    <a16:creationId xmlns:a16="http://schemas.microsoft.com/office/drawing/2014/main" id="{32B378CE-44FD-4120-B9ED-7828D4EE9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66" name="Graphic 78">
                <a:extLst>
                  <a:ext uri="{FF2B5EF4-FFF2-40B4-BE49-F238E27FC236}">
                    <a16:creationId xmlns:a16="http://schemas.microsoft.com/office/drawing/2014/main" id="{40FA43D3-D34B-4BC7-80D0-F3E75A222A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
        <p:nvSpPr>
          <p:cNvPr id="4" name="Content Placeholder 3">
            <a:extLst>
              <a:ext uri="{FF2B5EF4-FFF2-40B4-BE49-F238E27FC236}">
                <a16:creationId xmlns:a16="http://schemas.microsoft.com/office/drawing/2014/main" id="{3033D7D0-E0E5-8C09-1F6C-3F291ECEA3DA}"/>
              </a:ext>
            </a:extLst>
          </p:cNvPr>
          <p:cNvSpPr>
            <a:spLocks noGrp="1"/>
          </p:cNvSpPr>
          <p:nvPr>
            <p:ph idx="1"/>
          </p:nvPr>
        </p:nvSpPr>
        <p:spPr>
          <a:xfrm>
            <a:off x="289151" y="2796427"/>
            <a:ext cx="5991917" cy="3817667"/>
          </a:xfrm>
        </p:spPr>
        <p:txBody>
          <a:bodyPr>
            <a:normAutofit/>
          </a:bodyPr>
          <a:lstStyle/>
          <a:p>
            <a:pPr>
              <a:lnSpc>
                <a:spcPct val="100000"/>
              </a:lnSpc>
            </a:pPr>
            <a:r>
              <a:rPr lang="es-ES_tradnl" sz="1800" dirty="0"/>
              <a:t>Grupos de discusión de máximo 5 personas.</a:t>
            </a:r>
          </a:p>
          <a:p>
            <a:pPr>
              <a:lnSpc>
                <a:spcPct val="100000"/>
              </a:lnSpc>
            </a:pPr>
            <a:r>
              <a:rPr lang="es-ES_tradnl" sz="1800" dirty="0"/>
              <a:t>Una tarjeta a la vez. Una persona la lee en voz alta.</a:t>
            </a:r>
          </a:p>
          <a:p>
            <a:pPr>
              <a:lnSpc>
                <a:spcPct val="100000"/>
              </a:lnSpc>
            </a:pPr>
            <a:r>
              <a:rPr lang="es-ES_tradnl" sz="1800" dirty="0"/>
              <a:t>Cada persona del grupo da su opinión.</a:t>
            </a:r>
          </a:p>
          <a:p>
            <a:pPr>
              <a:lnSpc>
                <a:spcPct val="100000"/>
              </a:lnSpc>
            </a:pPr>
            <a:r>
              <a:rPr lang="es-ES_tradnl" sz="1800" b="1" i="1" dirty="0"/>
              <a:t>¿qué tan verdad o mentira crees que es esta afirmación y por qué?</a:t>
            </a:r>
          </a:p>
          <a:p>
            <a:pPr>
              <a:lnSpc>
                <a:spcPct val="100000"/>
              </a:lnSpc>
            </a:pPr>
            <a:r>
              <a:rPr lang="es-ES_tradnl" sz="1800" dirty="0"/>
              <a:t>Luego de escuchar a todas las personas del grupo, se discute y busca un consenso.</a:t>
            </a:r>
          </a:p>
          <a:p>
            <a:pPr>
              <a:lnSpc>
                <a:spcPct val="100000"/>
              </a:lnSpc>
            </a:pPr>
            <a:r>
              <a:rPr lang="es-ES_tradnl" sz="1800" dirty="0"/>
              <a:t>La idea es que NO voten, si no conversar hasta que llegar un acuerdo.</a:t>
            </a:r>
          </a:p>
        </p:txBody>
      </p:sp>
      <p:pic>
        <p:nvPicPr>
          <p:cNvPr id="52" name="Picture 51">
            <a:extLst>
              <a:ext uri="{FF2B5EF4-FFF2-40B4-BE49-F238E27FC236}">
                <a16:creationId xmlns:a16="http://schemas.microsoft.com/office/drawing/2014/main" id="{FD4B861E-4E86-33A6-0EF8-279B80D4DB34}"/>
              </a:ext>
            </a:extLst>
          </p:cNvPr>
          <p:cNvPicPr>
            <a:picLocks noChangeAspect="1"/>
          </p:cNvPicPr>
          <p:nvPr/>
        </p:nvPicPr>
        <p:blipFill rotWithShape="1">
          <a:blip r:embed="rId3"/>
          <a:srcRect l="32350" r="21225"/>
          <a:stretch/>
        </p:blipFill>
        <p:spPr>
          <a:xfrm>
            <a:off x="6531789" y="10"/>
            <a:ext cx="5660211" cy="6857990"/>
          </a:xfrm>
          <a:prstGeom prst="rect">
            <a:avLst/>
          </a:prstGeom>
        </p:spPr>
      </p:pic>
      <p:sp>
        <p:nvSpPr>
          <p:cNvPr id="68" name="Freeform: Shape 67">
            <a:extLst>
              <a:ext uri="{FF2B5EF4-FFF2-40B4-BE49-F238E27FC236}">
                <a16:creationId xmlns:a16="http://schemas.microsoft.com/office/drawing/2014/main" id="{55820E42-2F9D-41EF-B67F-522A133B33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753030" y="5516668"/>
            <a:ext cx="2438970" cy="1341332"/>
          </a:xfrm>
          <a:custGeom>
            <a:avLst/>
            <a:gdLst>
              <a:gd name="connsiteX0" fmla="*/ 2025355 w 2438970"/>
              <a:gd name="connsiteY0" fmla="*/ 235 h 1341332"/>
              <a:gd name="connsiteX1" fmla="*/ 2381960 w 2438970"/>
              <a:gd name="connsiteY1" fmla="*/ 44517 h 1341332"/>
              <a:gd name="connsiteX2" fmla="*/ 2438970 w 2438970"/>
              <a:gd name="connsiteY2" fmla="*/ 58872 h 1341332"/>
              <a:gd name="connsiteX3" fmla="*/ 2438970 w 2438970"/>
              <a:gd name="connsiteY3" fmla="*/ 1341332 h 1341332"/>
              <a:gd name="connsiteX4" fmla="*/ 0 w 2438970"/>
              <a:gd name="connsiteY4" fmla="*/ 1341332 h 1341332"/>
              <a:gd name="connsiteX5" fmla="*/ 13333 w 2438970"/>
              <a:gd name="connsiteY5" fmla="*/ 1328018 h 1341332"/>
              <a:gd name="connsiteX6" fmla="*/ 936262 w 2438970"/>
              <a:gd name="connsiteY6" fmla="*/ 459947 h 1341332"/>
              <a:gd name="connsiteX7" fmla="*/ 1554028 w 2438970"/>
              <a:gd name="connsiteY7" fmla="*/ 71153 h 1341332"/>
              <a:gd name="connsiteX8" fmla="*/ 2025355 w 2438970"/>
              <a:gd name="connsiteY8" fmla="*/ 235 h 1341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38970" h="1341332">
                <a:moveTo>
                  <a:pt x="2025355" y="235"/>
                </a:moveTo>
                <a:cubicBezTo>
                  <a:pt x="2143847" y="2306"/>
                  <a:pt x="2262766" y="17993"/>
                  <a:pt x="2381960" y="44517"/>
                </a:cubicBezTo>
                <a:lnTo>
                  <a:pt x="2438970" y="58872"/>
                </a:lnTo>
                <a:lnTo>
                  <a:pt x="2438970" y="1341332"/>
                </a:lnTo>
                <a:lnTo>
                  <a:pt x="0" y="1341332"/>
                </a:lnTo>
                <a:lnTo>
                  <a:pt x="13333" y="1328018"/>
                </a:lnTo>
                <a:cubicBezTo>
                  <a:pt x="324723" y="1028950"/>
                  <a:pt x="645390" y="738459"/>
                  <a:pt x="936262" y="459947"/>
                </a:cubicBezTo>
                <a:cubicBezTo>
                  <a:pt x="1139660" y="265152"/>
                  <a:pt x="1345794" y="140817"/>
                  <a:pt x="1554028" y="71153"/>
                </a:cubicBezTo>
                <a:cubicBezTo>
                  <a:pt x="1710136" y="18918"/>
                  <a:pt x="1867365" y="-2526"/>
                  <a:pt x="2025355" y="235"/>
                </a:cubicBezTo>
                <a:close/>
              </a:path>
            </a:pathLst>
          </a:cu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70" name="Group 69">
            <a:extLst>
              <a:ext uri="{FF2B5EF4-FFF2-40B4-BE49-F238E27FC236}">
                <a16:creationId xmlns:a16="http://schemas.microsoft.com/office/drawing/2014/main" id="{13D9BC31-B57D-4933-AD83-94F462D4C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776050" y="5204025"/>
            <a:ext cx="886141" cy="802496"/>
            <a:chOff x="10948005" y="3272152"/>
            <a:chExt cx="868640" cy="786648"/>
          </a:xfrm>
          <a:solidFill>
            <a:schemeClr val="accent1"/>
          </a:solidFill>
        </p:grpSpPr>
        <p:sp>
          <p:nvSpPr>
            <p:cNvPr id="71" name="Freeform: Shape 70">
              <a:extLst>
                <a:ext uri="{FF2B5EF4-FFF2-40B4-BE49-F238E27FC236}">
                  <a16:creationId xmlns:a16="http://schemas.microsoft.com/office/drawing/2014/main" id="{D84AFEA3-A055-41AE-96F3-34BA581424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94317" y="3944888"/>
              <a:ext cx="128449" cy="113912"/>
            </a:xfrm>
            <a:custGeom>
              <a:avLst/>
              <a:gdLst>
                <a:gd name="connsiteX0" fmla="*/ 237621 w 453152"/>
                <a:gd name="connsiteY0" fmla="*/ 965 h 401867"/>
                <a:gd name="connsiteX1" fmla="*/ 370246 w 453152"/>
                <a:gd name="connsiteY1" fmla="*/ 23666 h 401867"/>
                <a:gd name="connsiteX2" fmla="*/ 437392 w 453152"/>
                <a:gd name="connsiteY2" fmla="*/ 198545 h 401867"/>
                <a:gd name="connsiteX3" fmla="*/ 67745 w 453152"/>
                <a:gd name="connsiteY3" fmla="*/ 392003 h 401867"/>
                <a:gd name="connsiteX4" fmla="*/ 911 w 453152"/>
                <a:gd name="connsiteY4" fmla="*/ 254095 h 401867"/>
                <a:gd name="connsiteX5" fmla="*/ 115564 w 453152"/>
                <a:gd name="connsiteY5" fmla="*/ 51160 h 401867"/>
                <a:gd name="connsiteX6" fmla="*/ 237621 w 453152"/>
                <a:gd name="connsiteY6" fmla="*/ 965 h 40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152" h="401867">
                  <a:moveTo>
                    <a:pt x="237621" y="965"/>
                  </a:moveTo>
                  <a:cubicBezTo>
                    <a:pt x="283632" y="-2971"/>
                    <a:pt x="331405" y="5243"/>
                    <a:pt x="370246" y="23666"/>
                  </a:cubicBezTo>
                  <a:cubicBezTo>
                    <a:pt x="436830" y="55275"/>
                    <a:pt x="477168" y="116810"/>
                    <a:pt x="437392" y="198545"/>
                  </a:cubicBezTo>
                  <a:cubicBezTo>
                    <a:pt x="391568" y="292624"/>
                    <a:pt x="176850" y="441630"/>
                    <a:pt x="67745" y="392003"/>
                  </a:cubicBezTo>
                  <a:cubicBezTo>
                    <a:pt x="18056" y="369372"/>
                    <a:pt x="-5012" y="308398"/>
                    <a:pt x="911" y="254095"/>
                  </a:cubicBezTo>
                  <a:cubicBezTo>
                    <a:pt x="9203" y="178033"/>
                    <a:pt x="61012" y="103094"/>
                    <a:pt x="115564" y="51160"/>
                  </a:cubicBezTo>
                  <a:cubicBezTo>
                    <a:pt x="147361" y="20985"/>
                    <a:pt x="191610" y="4900"/>
                    <a:pt x="237621" y="96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72" name="Freeform: Shape 71">
              <a:extLst>
                <a:ext uri="{FF2B5EF4-FFF2-40B4-BE49-F238E27FC236}">
                  <a16:creationId xmlns:a16="http://schemas.microsoft.com/office/drawing/2014/main" id="{9028771F-62FA-4349-B7A8-CE1682D2C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53045" y="3808430"/>
              <a:ext cx="144912" cy="193414"/>
            </a:xfrm>
            <a:custGeom>
              <a:avLst/>
              <a:gdLst>
                <a:gd name="connsiteX0" fmla="*/ 390625 w 511232"/>
                <a:gd name="connsiteY0" fmla="*/ 1621 h 682341"/>
                <a:gd name="connsiteX1" fmla="*/ 508142 w 511232"/>
                <a:gd name="connsiteY1" fmla="*/ 64038 h 682341"/>
                <a:gd name="connsiteX2" fmla="*/ 508453 w 511232"/>
                <a:gd name="connsiteY2" fmla="*/ 121832 h 682341"/>
                <a:gd name="connsiteX3" fmla="*/ 316492 w 511232"/>
                <a:gd name="connsiteY3" fmla="*/ 567602 h 682341"/>
                <a:gd name="connsiteX4" fmla="*/ 80265 w 511232"/>
                <a:gd name="connsiteY4" fmla="*/ 640359 h 682341"/>
                <a:gd name="connsiteX5" fmla="*/ 13306 w 511232"/>
                <a:gd name="connsiteY5" fmla="*/ 274828 h 682341"/>
                <a:gd name="connsiteX6" fmla="*/ 140989 w 511232"/>
                <a:gd name="connsiteY6" fmla="*/ 107181 h 682341"/>
                <a:gd name="connsiteX7" fmla="*/ 390625 w 511232"/>
                <a:gd name="connsiteY7" fmla="*/ 1621 h 682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232" h="682341">
                  <a:moveTo>
                    <a:pt x="390625" y="1621"/>
                  </a:moveTo>
                  <a:cubicBezTo>
                    <a:pt x="446543" y="-5212"/>
                    <a:pt x="493343" y="8441"/>
                    <a:pt x="508142" y="64038"/>
                  </a:cubicBezTo>
                  <a:cubicBezTo>
                    <a:pt x="513192" y="82866"/>
                    <a:pt x="511134" y="102754"/>
                    <a:pt x="508453" y="121832"/>
                  </a:cubicBezTo>
                  <a:cubicBezTo>
                    <a:pt x="485324" y="287796"/>
                    <a:pt x="417242" y="443971"/>
                    <a:pt x="316492" y="567602"/>
                  </a:cubicBezTo>
                  <a:cubicBezTo>
                    <a:pt x="253024" y="645534"/>
                    <a:pt x="165055" y="737743"/>
                    <a:pt x="80265" y="640359"/>
                  </a:cubicBezTo>
                  <a:cubicBezTo>
                    <a:pt x="5014" y="553948"/>
                    <a:pt x="-17368" y="383621"/>
                    <a:pt x="13306" y="274828"/>
                  </a:cubicBezTo>
                  <a:cubicBezTo>
                    <a:pt x="33443" y="203318"/>
                    <a:pt x="83382" y="146521"/>
                    <a:pt x="140989" y="107181"/>
                  </a:cubicBezTo>
                  <a:cubicBezTo>
                    <a:pt x="178904" y="81308"/>
                    <a:pt x="297428" y="13010"/>
                    <a:pt x="390625" y="16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73" name="Freeform: Shape 72">
              <a:extLst>
                <a:ext uri="{FF2B5EF4-FFF2-40B4-BE49-F238E27FC236}">
                  <a16:creationId xmlns:a16="http://schemas.microsoft.com/office/drawing/2014/main" id="{319CDEE6-CB2F-49F0-B237-2A26A3D1DC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84524" y="3907536"/>
              <a:ext cx="132121" cy="93006"/>
            </a:xfrm>
            <a:custGeom>
              <a:avLst/>
              <a:gdLst>
                <a:gd name="connsiteX0" fmla="*/ 252822 w 466107"/>
                <a:gd name="connsiteY0" fmla="*/ 1539 h 328114"/>
                <a:gd name="connsiteX1" fmla="*/ 451641 w 466107"/>
                <a:gd name="connsiteY1" fmla="*/ 122177 h 328114"/>
                <a:gd name="connsiteX2" fmla="*/ 391790 w 466107"/>
                <a:gd name="connsiteY2" fmla="*/ 297430 h 328114"/>
                <a:gd name="connsiteX3" fmla="*/ 8614 w 466107"/>
                <a:gd name="connsiteY3" fmla="*/ 243252 h 328114"/>
                <a:gd name="connsiteX4" fmla="*/ 45897 w 466107"/>
                <a:gd name="connsiteY4" fmla="*/ 97302 h 328114"/>
                <a:gd name="connsiteX5" fmla="*/ 252822 w 466107"/>
                <a:gd name="connsiteY5" fmla="*/ 1539 h 328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107" h="328114">
                  <a:moveTo>
                    <a:pt x="252822" y="1539"/>
                  </a:moveTo>
                  <a:cubicBezTo>
                    <a:pt x="335429" y="-10494"/>
                    <a:pt x="418848" y="49794"/>
                    <a:pt x="451641" y="122177"/>
                  </a:cubicBezTo>
                  <a:cubicBezTo>
                    <a:pt x="479697" y="184273"/>
                    <a:pt x="470594" y="255285"/>
                    <a:pt x="391790" y="297430"/>
                  </a:cubicBezTo>
                  <a:cubicBezTo>
                    <a:pt x="301077" y="345935"/>
                    <a:pt x="55935" y="343254"/>
                    <a:pt x="8614" y="243252"/>
                  </a:cubicBezTo>
                  <a:cubicBezTo>
                    <a:pt x="-12895" y="197678"/>
                    <a:pt x="8240" y="136766"/>
                    <a:pt x="45897" y="97302"/>
                  </a:cubicBezTo>
                  <a:cubicBezTo>
                    <a:pt x="98704" y="42064"/>
                    <a:pt x="181872" y="11950"/>
                    <a:pt x="252822" y="1539"/>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74" name="Graphic 12">
              <a:extLst>
                <a:ext uri="{FF2B5EF4-FFF2-40B4-BE49-F238E27FC236}">
                  <a16:creationId xmlns:a16="http://schemas.microsoft.com/office/drawing/2014/main" id="{3DD82286-02D2-4210-A797-5D502D44A3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42141" y="3272152"/>
              <a:ext cx="180625" cy="158824"/>
            </a:xfrm>
            <a:custGeom>
              <a:avLst/>
              <a:gdLst>
                <a:gd name="connsiteX0" fmla="*/ 63289 w 3341477"/>
                <a:gd name="connsiteY0" fmla="*/ 1933384 h 2938167"/>
                <a:gd name="connsiteX1" fmla="*/ 263314 w 3341477"/>
                <a:gd name="connsiteY1" fmla="*/ 514159 h 2938167"/>
                <a:gd name="connsiteX2" fmla="*/ 1098276 w 3341477"/>
                <a:gd name="connsiteY2" fmla="*/ 952 h 2938167"/>
                <a:gd name="connsiteX3" fmla="*/ 2654089 w 3341477"/>
                <a:gd name="connsiteY3" fmla="*/ 371284 h 2938167"/>
                <a:gd name="connsiteX4" fmla="*/ 3219398 w 3341477"/>
                <a:gd name="connsiteY4" fmla="*/ 2080926 h 2938167"/>
                <a:gd name="connsiteX5" fmla="*/ 2044489 w 3341477"/>
                <a:gd name="connsiteY5" fmla="*/ 2933509 h 2938167"/>
                <a:gd name="connsiteX6" fmla="*/ 453814 w 3341477"/>
                <a:gd name="connsiteY6" fmla="*/ 2495359 h 2938167"/>
                <a:gd name="connsiteX7" fmla="*/ 63289 w 3341477"/>
                <a:gd name="connsiteY7" fmla="*/ 1933384 h 29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41477" h="2938167">
                  <a:moveTo>
                    <a:pt x="63289" y="1933384"/>
                  </a:moveTo>
                  <a:cubicBezTo>
                    <a:pt x="56717" y="1895856"/>
                    <a:pt x="-165311" y="914209"/>
                    <a:pt x="263314" y="514159"/>
                  </a:cubicBezTo>
                  <a:cubicBezTo>
                    <a:pt x="691939" y="114109"/>
                    <a:pt x="609262" y="11620"/>
                    <a:pt x="1098276" y="952"/>
                  </a:cubicBezTo>
                  <a:cubicBezTo>
                    <a:pt x="1587289" y="-9716"/>
                    <a:pt x="2320714" y="66484"/>
                    <a:pt x="2654089" y="371284"/>
                  </a:cubicBezTo>
                  <a:cubicBezTo>
                    <a:pt x="2987464" y="676084"/>
                    <a:pt x="3603732" y="1514094"/>
                    <a:pt x="3219398" y="2080926"/>
                  </a:cubicBezTo>
                  <a:cubicBezTo>
                    <a:pt x="2835064" y="2647759"/>
                    <a:pt x="2558839" y="2895409"/>
                    <a:pt x="2044489" y="2933509"/>
                  </a:cubicBezTo>
                  <a:cubicBezTo>
                    <a:pt x="1530139" y="2971609"/>
                    <a:pt x="701464" y="2771584"/>
                    <a:pt x="453814" y="2495359"/>
                  </a:cubicBezTo>
                  <a:cubicBezTo>
                    <a:pt x="206164" y="2219134"/>
                    <a:pt x="101389" y="2152459"/>
                    <a:pt x="63289" y="1933384"/>
                  </a:cubicBezTo>
                  <a:close/>
                </a:path>
              </a:pathLst>
            </a:custGeom>
            <a:grpFill/>
            <a:ln w="9525" cap="flat">
              <a:noFill/>
              <a:prstDash val="solid"/>
              <a:miter/>
            </a:ln>
          </p:spPr>
          <p:txBody>
            <a:bodyPr rtlCol="0" anchor="ctr"/>
            <a:lstStyle/>
            <a:p>
              <a:endParaRPr lang="en-US"/>
            </a:p>
          </p:txBody>
        </p:sp>
        <p:sp>
          <p:nvSpPr>
            <p:cNvPr id="75" name="Graphic 15">
              <a:extLst>
                <a:ext uri="{FF2B5EF4-FFF2-40B4-BE49-F238E27FC236}">
                  <a16:creationId xmlns:a16="http://schemas.microsoft.com/office/drawing/2014/main" id="{735449F4-80DA-4E06-B3B6-B9F519F4A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02136" y="3379098"/>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76" name="Graphic 15">
              <a:extLst>
                <a:ext uri="{FF2B5EF4-FFF2-40B4-BE49-F238E27FC236}">
                  <a16:creationId xmlns:a16="http://schemas.microsoft.com/office/drawing/2014/main" id="{61FABA3B-05B6-433C-90F9-8D9691A84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8005" y="3504095"/>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E1FEBA45-D0A3-4091-9956-161EDA21A0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43727" y="3666564"/>
              <a:ext cx="173527" cy="138496"/>
            </a:xfrm>
            <a:custGeom>
              <a:avLst/>
              <a:gdLst>
                <a:gd name="connsiteX0" fmla="*/ 237392 w 789043"/>
                <a:gd name="connsiteY0" fmla="*/ 81 h 629754"/>
                <a:gd name="connsiteX1" fmla="*/ 758692 w 789043"/>
                <a:gd name="connsiteY1" fmla="*/ 233550 h 629754"/>
                <a:gd name="connsiteX2" fmla="*/ 650647 w 789043"/>
                <a:gd name="connsiteY2" fmla="*/ 335111 h 629754"/>
                <a:gd name="connsiteX3" fmla="*/ 315041 w 789043"/>
                <a:gd name="connsiteY3" fmla="*/ 584992 h 629754"/>
                <a:gd name="connsiteX4" fmla="*/ 192159 w 789043"/>
                <a:gd name="connsiteY4" fmla="*/ 625953 h 629754"/>
                <a:gd name="connsiteX5" fmla="*/ 124264 w 789043"/>
                <a:gd name="connsiteY5" fmla="*/ 552260 h 629754"/>
                <a:gd name="connsiteX6" fmla="*/ 1631 w 789043"/>
                <a:gd name="connsiteY6" fmla="*/ 133735 h 629754"/>
                <a:gd name="connsiteX7" fmla="*/ 35422 w 789043"/>
                <a:gd name="connsiteY7" fmla="*/ 14157 h 629754"/>
                <a:gd name="connsiteX8" fmla="*/ 113728 w 789043"/>
                <a:gd name="connsiteY8" fmla="*/ 378 h 629754"/>
                <a:gd name="connsiteX9" fmla="*/ 237392 w 789043"/>
                <a:gd name="connsiteY9" fmla="*/ 81 h 629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043" h="629754">
                  <a:moveTo>
                    <a:pt x="237392" y="81"/>
                  </a:moveTo>
                  <a:cubicBezTo>
                    <a:pt x="474795" y="-992"/>
                    <a:pt x="907215" y="10463"/>
                    <a:pt x="758692" y="233550"/>
                  </a:cubicBezTo>
                  <a:cubicBezTo>
                    <a:pt x="731135" y="274948"/>
                    <a:pt x="690486" y="305435"/>
                    <a:pt x="650647" y="335111"/>
                  </a:cubicBezTo>
                  <a:cubicBezTo>
                    <a:pt x="538737" y="418405"/>
                    <a:pt x="426889" y="501698"/>
                    <a:pt x="315041" y="584992"/>
                  </a:cubicBezTo>
                  <a:cubicBezTo>
                    <a:pt x="278943" y="611863"/>
                    <a:pt x="234865" y="640167"/>
                    <a:pt x="192159" y="625953"/>
                  </a:cubicBezTo>
                  <a:cubicBezTo>
                    <a:pt x="159614" y="615105"/>
                    <a:pt x="139851" y="582810"/>
                    <a:pt x="124264" y="552260"/>
                  </a:cubicBezTo>
                  <a:cubicBezTo>
                    <a:pt x="57742" y="422021"/>
                    <a:pt x="15908" y="279250"/>
                    <a:pt x="1631" y="133735"/>
                  </a:cubicBezTo>
                  <a:cubicBezTo>
                    <a:pt x="-2671" y="90343"/>
                    <a:pt x="-676" y="38596"/>
                    <a:pt x="35422" y="14157"/>
                  </a:cubicBezTo>
                  <a:cubicBezTo>
                    <a:pt x="57804" y="-931"/>
                    <a:pt x="86795" y="-557"/>
                    <a:pt x="113728" y="378"/>
                  </a:cubicBezTo>
                  <a:cubicBezTo>
                    <a:pt x="138207" y="1243"/>
                    <a:pt x="182606" y="328"/>
                    <a:pt x="237392" y="8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4477066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DE275-A0B1-23B3-60F2-39F2C265C5F2}"/>
              </a:ext>
            </a:extLst>
          </p:cNvPr>
          <p:cNvSpPr>
            <a:spLocks noGrp="1"/>
          </p:cNvSpPr>
          <p:nvPr>
            <p:ph idx="1"/>
          </p:nvPr>
        </p:nvSpPr>
        <p:spPr>
          <a:xfrm>
            <a:off x="1275946" y="651967"/>
            <a:ext cx="10077557" cy="3549045"/>
          </a:xfrm>
        </p:spPr>
        <p:txBody>
          <a:bodyPr>
            <a:normAutofit/>
          </a:bodyPr>
          <a:lstStyle/>
          <a:p>
            <a:pPr algn="ctr"/>
            <a:r>
              <a:rPr lang="es-ES_tradnl" sz="2800" dirty="0"/>
              <a:t>“Ahora que las mujeres y hombres tienen los mismos derechos y se ha alcanzado mayoritariamente la equidad, ya no necesitamos estudiar el género ni su rol en la sociedad.”</a:t>
            </a:r>
          </a:p>
        </p:txBody>
      </p:sp>
      <p:pic>
        <p:nvPicPr>
          <p:cNvPr id="4" name="Content Placeholder 4" descr="A group of rectangular white and blue rectangles&#10;&#10;Description automatically generated">
            <a:extLst>
              <a:ext uri="{FF2B5EF4-FFF2-40B4-BE49-F238E27FC236}">
                <a16:creationId xmlns:a16="http://schemas.microsoft.com/office/drawing/2014/main" id="{C0DEB5F4-29E0-2D58-CD7A-79635268A05F}"/>
              </a:ext>
            </a:extLst>
          </p:cNvPr>
          <p:cNvPicPr>
            <a:picLocks noChangeAspect="1"/>
          </p:cNvPicPr>
          <p:nvPr/>
        </p:nvPicPr>
        <p:blipFill>
          <a:blip r:embed="rId3"/>
          <a:stretch>
            <a:fillRect/>
          </a:stretch>
        </p:blipFill>
        <p:spPr>
          <a:xfrm>
            <a:off x="1275946" y="2793101"/>
            <a:ext cx="9640107" cy="3036634"/>
          </a:xfrm>
          <a:prstGeom prst="rect">
            <a:avLst/>
          </a:prstGeom>
        </p:spPr>
      </p:pic>
    </p:spTree>
    <p:extLst>
      <p:ext uri="{BB962C8B-B14F-4D97-AF65-F5344CB8AC3E}">
        <p14:creationId xmlns:p14="http://schemas.microsoft.com/office/powerpoint/2010/main" val="32574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12E6D-11C2-1410-2B8A-049A6DCCC96D}"/>
              </a:ext>
            </a:extLst>
          </p:cNvPr>
          <p:cNvSpPr>
            <a:spLocks noGrp="1"/>
          </p:cNvSpPr>
          <p:nvPr>
            <p:ph type="title"/>
          </p:nvPr>
        </p:nvSpPr>
        <p:spPr/>
        <p:txBody>
          <a:bodyPr/>
          <a:lstStyle/>
          <a:p>
            <a:r>
              <a:rPr lang="es-ES_tradnl" dirty="0"/>
              <a:t>Plenario</a:t>
            </a:r>
          </a:p>
        </p:txBody>
      </p:sp>
      <p:sp>
        <p:nvSpPr>
          <p:cNvPr id="3" name="Content Placeholder 2">
            <a:extLst>
              <a:ext uri="{FF2B5EF4-FFF2-40B4-BE49-F238E27FC236}">
                <a16:creationId xmlns:a16="http://schemas.microsoft.com/office/drawing/2014/main" id="{289D80F8-8AAF-F20B-D5E2-B08B8518889A}"/>
              </a:ext>
            </a:extLst>
          </p:cNvPr>
          <p:cNvSpPr>
            <a:spLocks noGrp="1"/>
          </p:cNvSpPr>
          <p:nvPr>
            <p:ph idx="1"/>
          </p:nvPr>
        </p:nvSpPr>
        <p:spPr/>
        <p:txBody>
          <a:bodyPr>
            <a:normAutofit/>
          </a:bodyPr>
          <a:lstStyle/>
          <a:p>
            <a:pPr marL="457200" indent="-457200">
              <a:buFont typeface="+mj-lt"/>
              <a:buAutoNum type="arabicPeriod"/>
            </a:pPr>
            <a:r>
              <a:rPr lang="es-ES_tradnl" sz="2400" dirty="0"/>
              <a:t>Elegir la afirmación más controversial</a:t>
            </a:r>
          </a:p>
          <a:p>
            <a:pPr marL="457200" indent="-457200">
              <a:buFont typeface="+mj-lt"/>
              <a:buAutoNum type="arabicPeriod"/>
            </a:pPr>
            <a:r>
              <a:rPr lang="es-ES_tradnl" sz="2400" dirty="0"/>
              <a:t>Leer la afirmación y la decisión del grupo</a:t>
            </a:r>
          </a:p>
          <a:p>
            <a:pPr marL="457200" indent="-457200">
              <a:buFont typeface="+mj-lt"/>
              <a:buAutoNum type="arabicPeriod"/>
            </a:pPr>
            <a:r>
              <a:rPr lang="es-ES_tradnl" sz="2400" dirty="0"/>
              <a:t>¿Qué fue lo que más les costó de la actividad?</a:t>
            </a:r>
          </a:p>
          <a:p>
            <a:pPr marL="457200" indent="-457200">
              <a:buFont typeface="+mj-lt"/>
              <a:buAutoNum type="arabicPeriod"/>
            </a:pPr>
            <a:r>
              <a:rPr lang="es-ES_tradnl" sz="2400" dirty="0"/>
              <a:t>¿Qué cosas ayudaron a avanzar en la discusión?</a:t>
            </a:r>
          </a:p>
          <a:p>
            <a:pPr marL="457200" indent="-457200">
              <a:buFont typeface="+mj-lt"/>
              <a:buAutoNum type="arabicPeriod"/>
            </a:pPr>
            <a:r>
              <a:rPr lang="es-ES_tradnl" sz="2400" dirty="0"/>
              <a:t>¿Qué cosas les sorprendieron de la discusión?</a:t>
            </a:r>
          </a:p>
          <a:p>
            <a:endParaRPr lang="es-ES_tradnl" sz="2400" dirty="0"/>
          </a:p>
        </p:txBody>
      </p:sp>
      <p:pic>
        <p:nvPicPr>
          <p:cNvPr id="5" name="Picture 4" descr="A group of rectangular white and blue rectangles&#10;&#10;Description automatically generated">
            <a:extLst>
              <a:ext uri="{FF2B5EF4-FFF2-40B4-BE49-F238E27FC236}">
                <a16:creationId xmlns:a16="http://schemas.microsoft.com/office/drawing/2014/main" id="{99C163AC-CB31-BBD5-D4AD-D3CCD2E81B75}"/>
              </a:ext>
            </a:extLst>
          </p:cNvPr>
          <p:cNvPicPr>
            <a:picLocks noChangeAspect="1"/>
          </p:cNvPicPr>
          <p:nvPr/>
        </p:nvPicPr>
        <p:blipFill>
          <a:blip r:embed="rId3"/>
          <a:stretch>
            <a:fillRect/>
          </a:stretch>
        </p:blipFill>
        <p:spPr>
          <a:xfrm>
            <a:off x="-6326667" y="10982252"/>
            <a:ext cx="5664200" cy="1778000"/>
          </a:xfrm>
          <a:prstGeom prst="rect">
            <a:avLst/>
          </a:prstGeom>
        </p:spPr>
      </p:pic>
    </p:spTree>
    <p:extLst>
      <p:ext uri="{BB962C8B-B14F-4D97-AF65-F5344CB8AC3E}">
        <p14:creationId xmlns:p14="http://schemas.microsoft.com/office/powerpoint/2010/main" val="2649165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D0B0D3-D735-4619-AA45-B57B791E17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000000"/>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pic>
        <p:nvPicPr>
          <p:cNvPr id="5" name="Picture 4" descr="Una imagen en primer plano de los peones de ajedrez">
            <a:extLst>
              <a:ext uri="{FF2B5EF4-FFF2-40B4-BE49-F238E27FC236}">
                <a16:creationId xmlns:a16="http://schemas.microsoft.com/office/drawing/2014/main" id="{9B0B47FB-ECAA-C773-6B11-0CA354555601}"/>
              </a:ext>
            </a:extLst>
          </p:cNvPr>
          <p:cNvPicPr>
            <a:picLocks noChangeAspect="1"/>
          </p:cNvPicPr>
          <p:nvPr/>
        </p:nvPicPr>
        <p:blipFill rotWithShape="1">
          <a:blip r:embed="rId3">
            <a:alphaModFix amt="40000"/>
          </a:blip>
          <a:srcRect t="14427" r="-1" b="-1"/>
          <a:stretch/>
        </p:blipFill>
        <p:spPr>
          <a:xfrm>
            <a:off x="20" y="10"/>
            <a:ext cx="12188932" cy="6857990"/>
          </a:xfrm>
          <a:prstGeom prst="rect">
            <a:avLst/>
          </a:prstGeom>
        </p:spPr>
      </p:pic>
      <p:sp>
        <p:nvSpPr>
          <p:cNvPr id="2" name="Title 1">
            <a:extLst>
              <a:ext uri="{FF2B5EF4-FFF2-40B4-BE49-F238E27FC236}">
                <a16:creationId xmlns:a16="http://schemas.microsoft.com/office/drawing/2014/main" id="{2ED8170B-199D-9D9F-2F8B-E384A16D34E8}"/>
              </a:ext>
            </a:extLst>
          </p:cNvPr>
          <p:cNvSpPr>
            <a:spLocks noGrp="1"/>
          </p:cNvSpPr>
          <p:nvPr>
            <p:ph type="ctrTitle"/>
          </p:nvPr>
        </p:nvSpPr>
        <p:spPr>
          <a:xfrm>
            <a:off x="1549238" y="1145080"/>
            <a:ext cx="9090476" cy="2179601"/>
          </a:xfrm>
        </p:spPr>
        <p:txBody>
          <a:bodyPr anchor="b">
            <a:normAutofit/>
          </a:bodyPr>
          <a:lstStyle/>
          <a:p>
            <a:pPr algn="ctr"/>
            <a:r>
              <a:rPr lang="es-ES_tradnl" sz="4800" dirty="0">
                <a:solidFill>
                  <a:srgbClr val="FFFFFF"/>
                </a:solidFill>
              </a:rPr>
              <a:t>¿Por qué una sociología del género?</a:t>
            </a:r>
          </a:p>
        </p:txBody>
      </p:sp>
      <p:sp>
        <p:nvSpPr>
          <p:cNvPr id="11" name="Freeform: Shape 10">
            <a:extLst>
              <a:ext uri="{FF2B5EF4-FFF2-40B4-BE49-F238E27FC236}">
                <a16:creationId xmlns:a16="http://schemas.microsoft.com/office/drawing/2014/main" id="{CF7F2079-504C-499A-A644-58F4DDC764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0491506" y="-615180"/>
            <a:ext cx="1085312" cy="2315675"/>
          </a:xfrm>
          <a:custGeom>
            <a:avLst/>
            <a:gdLst>
              <a:gd name="connsiteX0" fmla="*/ 0 w 1085312"/>
              <a:gd name="connsiteY0" fmla="*/ 2315675 h 2315675"/>
              <a:gd name="connsiteX1" fmla="*/ 0 w 1085312"/>
              <a:gd name="connsiteY1" fmla="*/ 0 h 2315675"/>
              <a:gd name="connsiteX2" fmla="*/ 53089 w 1085312"/>
              <a:gd name="connsiteY2" fmla="*/ 4542 h 2315675"/>
              <a:gd name="connsiteX3" fmla="*/ 790077 w 1085312"/>
              <a:gd name="connsiteY3" fmla="*/ 872756 h 2315675"/>
              <a:gd name="connsiteX4" fmla="*/ 1085252 w 1085312"/>
              <a:gd name="connsiteY4" fmla="*/ 1943649 h 2315675"/>
              <a:gd name="connsiteX5" fmla="*/ 1064832 w 1085312"/>
              <a:gd name="connsiteY5" fmla="*/ 2198094 h 2315675"/>
              <a:gd name="connsiteX6" fmla="*/ 1043734 w 1085312"/>
              <a:gd name="connsiteY6" fmla="*/ 2315675 h 2315675"/>
              <a:gd name="connsiteX7" fmla="*/ 0 w 1085312"/>
              <a:gd name="connsiteY7" fmla="*/ 2315675 h 2315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5312" h="2315675">
                <a:moveTo>
                  <a:pt x="0" y="2315675"/>
                </a:moveTo>
                <a:lnTo>
                  <a:pt x="0" y="0"/>
                </a:lnTo>
                <a:lnTo>
                  <a:pt x="53089" y="4542"/>
                </a:lnTo>
                <a:cubicBezTo>
                  <a:pt x="405263" y="73503"/>
                  <a:pt x="612623" y="486635"/>
                  <a:pt x="790077" y="872756"/>
                </a:cubicBezTo>
                <a:cubicBezTo>
                  <a:pt x="937425" y="1193596"/>
                  <a:pt x="1088787" y="1533232"/>
                  <a:pt x="1085252" y="1943649"/>
                </a:cubicBezTo>
                <a:cubicBezTo>
                  <a:pt x="1084528" y="2029058"/>
                  <a:pt x="1077341" y="2113833"/>
                  <a:pt x="1064832" y="2198094"/>
                </a:cubicBezTo>
                <a:lnTo>
                  <a:pt x="1043734" y="2315675"/>
                </a:lnTo>
                <a:lnTo>
                  <a:pt x="0" y="2315675"/>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3" name="Graphic 78">
            <a:extLst>
              <a:ext uri="{FF2B5EF4-FFF2-40B4-BE49-F238E27FC236}">
                <a16:creationId xmlns:a16="http://schemas.microsoft.com/office/drawing/2014/main" id="{DBBA0A0D-8F6A-400A-9E49-8C008E2C7D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608356" y="3533292"/>
            <a:ext cx="972241" cy="45718"/>
            <a:chOff x="4886325" y="3371754"/>
            <a:chExt cx="2418492" cy="113728"/>
          </a:xfrm>
          <a:solidFill>
            <a:schemeClr val="accent1"/>
          </a:solidFill>
        </p:grpSpPr>
        <p:sp>
          <p:nvSpPr>
            <p:cNvPr id="14" name="Graphic 78">
              <a:extLst>
                <a:ext uri="{FF2B5EF4-FFF2-40B4-BE49-F238E27FC236}">
                  <a16:creationId xmlns:a16="http://schemas.microsoft.com/office/drawing/2014/main" id="{A5DD701E-4BC9-48E3-AF4F-013B52D63D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15" name="Graphic 78">
              <a:extLst>
                <a:ext uri="{FF2B5EF4-FFF2-40B4-BE49-F238E27FC236}">
                  <a16:creationId xmlns:a16="http://schemas.microsoft.com/office/drawing/2014/main" id="{FB658B62-664D-4B3B-BBDA-235666290B4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4886709" y="3371754"/>
              <a:ext cx="2418108" cy="113728"/>
              <a:chOff x="4886709" y="3371754"/>
              <a:chExt cx="2418108" cy="113728"/>
            </a:xfrm>
            <a:grpFill/>
          </p:grpSpPr>
          <p:sp>
            <p:nvSpPr>
              <p:cNvPr id="16" name="Graphic 78">
                <a:extLst>
                  <a:ext uri="{FF2B5EF4-FFF2-40B4-BE49-F238E27FC236}">
                    <a16:creationId xmlns:a16="http://schemas.microsoft.com/office/drawing/2014/main" id="{B11F9D25-67B1-4BDB-A290-97B93A19DF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7" name="Graphic 78">
                <a:extLst>
                  <a:ext uri="{FF2B5EF4-FFF2-40B4-BE49-F238E27FC236}">
                    <a16:creationId xmlns:a16="http://schemas.microsoft.com/office/drawing/2014/main" id="{B9D5C40A-1B1B-4C25-9707-E8F1CF6EEC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18" name="Graphic 78">
                <a:extLst>
                  <a:ext uri="{FF2B5EF4-FFF2-40B4-BE49-F238E27FC236}">
                    <a16:creationId xmlns:a16="http://schemas.microsoft.com/office/drawing/2014/main" id="{2DD0C1D6-FF64-45AB-8775-83AB3C470B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19" name="Graphic 78">
                <a:extLst>
                  <a:ext uri="{FF2B5EF4-FFF2-40B4-BE49-F238E27FC236}">
                    <a16:creationId xmlns:a16="http://schemas.microsoft.com/office/drawing/2014/main" id="{15AFBB84-8485-4329-89FC-04663D985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dirty="0"/>
              </a:p>
            </p:txBody>
          </p:sp>
        </p:grpSp>
      </p:grpSp>
      <p:sp>
        <p:nvSpPr>
          <p:cNvPr id="21" name="Freeform: Shape 20">
            <a:extLst>
              <a:ext uri="{FF2B5EF4-FFF2-40B4-BE49-F238E27FC236}">
                <a16:creationId xmlns:a16="http://schemas.microsoft.com/office/drawing/2014/main" id="{3D505D40-32E9-4C48-81F8-AD80433BE6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516668"/>
            <a:ext cx="4187283" cy="1341332"/>
          </a:xfrm>
          <a:custGeom>
            <a:avLst/>
            <a:gdLst>
              <a:gd name="connsiteX0" fmla="*/ 2025355 w 2438970"/>
              <a:gd name="connsiteY0" fmla="*/ 235 h 1341332"/>
              <a:gd name="connsiteX1" fmla="*/ 2381960 w 2438970"/>
              <a:gd name="connsiteY1" fmla="*/ 44517 h 1341332"/>
              <a:gd name="connsiteX2" fmla="*/ 2438970 w 2438970"/>
              <a:gd name="connsiteY2" fmla="*/ 58872 h 1341332"/>
              <a:gd name="connsiteX3" fmla="*/ 2438970 w 2438970"/>
              <a:gd name="connsiteY3" fmla="*/ 1341332 h 1341332"/>
              <a:gd name="connsiteX4" fmla="*/ 0 w 2438970"/>
              <a:gd name="connsiteY4" fmla="*/ 1341332 h 1341332"/>
              <a:gd name="connsiteX5" fmla="*/ 13333 w 2438970"/>
              <a:gd name="connsiteY5" fmla="*/ 1328018 h 1341332"/>
              <a:gd name="connsiteX6" fmla="*/ 936262 w 2438970"/>
              <a:gd name="connsiteY6" fmla="*/ 459947 h 1341332"/>
              <a:gd name="connsiteX7" fmla="*/ 1554028 w 2438970"/>
              <a:gd name="connsiteY7" fmla="*/ 71153 h 1341332"/>
              <a:gd name="connsiteX8" fmla="*/ 2025355 w 2438970"/>
              <a:gd name="connsiteY8" fmla="*/ 235 h 1341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38970" h="1341332">
                <a:moveTo>
                  <a:pt x="2025355" y="235"/>
                </a:moveTo>
                <a:cubicBezTo>
                  <a:pt x="2143847" y="2306"/>
                  <a:pt x="2262766" y="17993"/>
                  <a:pt x="2381960" y="44517"/>
                </a:cubicBezTo>
                <a:lnTo>
                  <a:pt x="2438970" y="58872"/>
                </a:lnTo>
                <a:lnTo>
                  <a:pt x="2438970" y="1341332"/>
                </a:lnTo>
                <a:lnTo>
                  <a:pt x="0" y="1341332"/>
                </a:lnTo>
                <a:lnTo>
                  <a:pt x="13333" y="1328018"/>
                </a:lnTo>
                <a:cubicBezTo>
                  <a:pt x="324723" y="1028950"/>
                  <a:pt x="645390" y="738459"/>
                  <a:pt x="936262" y="459947"/>
                </a:cubicBezTo>
                <a:cubicBezTo>
                  <a:pt x="1139660" y="265152"/>
                  <a:pt x="1345794" y="140817"/>
                  <a:pt x="1554028" y="71153"/>
                </a:cubicBezTo>
                <a:cubicBezTo>
                  <a:pt x="1710136" y="18918"/>
                  <a:pt x="1867365" y="-2526"/>
                  <a:pt x="2025355" y="235"/>
                </a:cubicBez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23" name="Group 22">
            <a:extLst>
              <a:ext uri="{FF2B5EF4-FFF2-40B4-BE49-F238E27FC236}">
                <a16:creationId xmlns:a16="http://schemas.microsoft.com/office/drawing/2014/main" id="{C507BF36-B92B-4CAC-BCA7-8364B51E1F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4969850"/>
            <a:ext cx="886141" cy="802496"/>
            <a:chOff x="10948005" y="3272152"/>
            <a:chExt cx="868640" cy="786648"/>
          </a:xfrm>
          <a:solidFill>
            <a:schemeClr val="accent1"/>
          </a:solidFill>
        </p:grpSpPr>
        <p:sp>
          <p:nvSpPr>
            <p:cNvPr id="24" name="Freeform: Shape 23">
              <a:extLst>
                <a:ext uri="{FF2B5EF4-FFF2-40B4-BE49-F238E27FC236}">
                  <a16:creationId xmlns:a16="http://schemas.microsoft.com/office/drawing/2014/main" id="{2276237E-3A6D-452F-879C-FB8C77A18D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94317" y="3944888"/>
              <a:ext cx="128449" cy="113912"/>
            </a:xfrm>
            <a:custGeom>
              <a:avLst/>
              <a:gdLst>
                <a:gd name="connsiteX0" fmla="*/ 237621 w 453152"/>
                <a:gd name="connsiteY0" fmla="*/ 965 h 401867"/>
                <a:gd name="connsiteX1" fmla="*/ 370246 w 453152"/>
                <a:gd name="connsiteY1" fmla="*/ 23666 h 401867"/>
                <a:gd name="connsiteX2" fmla="*/ 437392 w 453152"/>
                <a:gd name="connsiteY2" fmla="*/ 198545 h 401867"/>
                <a:gd name="connsiteX3" fmla="*/ 67745 w 453152"/>
                <a:gd name="connsiteY3" fmla="*/ 392003 h 401867"/>
                <a:gd name="connsiteX4" fmla="*/ 911 w 453152"/>
                <a:gd name="connsiteY4" fmla="*/ 254095 h 401867"/>
                <a:gd name="connsiteX5" fmla="*/ 115564 w 453152"/>
                <a:gd name="connsiteY5" fmla="*/ 51160 h 401867"/>
                <a:gd name="connsiteX6" fmla="*/ 237621 w 453152"/>
                <a:gd name="connsiteY6" fmla="*/ 965 h 40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152" h="401867">
                  <a:moveTo>
                    <a:pt x="237621" y="965"/>
                  </a:moveTo>
                  <a:cubicBezTo>
                    <a:pt x="283632" y="-2971"/>
                    <a:pt x="331405" y="5243"/>
                    <a:pt x="370246" y="23666"/>
                  </a:cubicBezTo>
                  <a:cubicBezTo>
                    <a:pt x="436830" y="55275"/>
                    <a:pt x="477168" y="116810"/>
                    <a:pt x="437392" y="198545"/>
                  </a:cubicBezTo>
                  <a:cubicBezTo>
                    <a:pt x="391568" y="292624"/>
                    <a:pt x="176850" y="441630"/>
                    <a:pt x="67745" y="392003"/>
                  </a:cubicBezTo>
                  <a:cubicBezTo>
                    <a:pt x="18056" y="369372"/>
                    <a:pt x="-5012" y="308398"/>
                    <a:pt x="911" y="254095"/>
                  </a:cubicBezTo>
                  <a:cubicBezTo>
                    <a:pt x="9203" y="178033"/>
                    <a:pt x="61012" y="103094"/>
                    <a:pt x="115564" y="51160"/>
                  </a:cubicBezTo>
                  <a:cubicBezTo>
                    <a:pt x="147361" y="20985"/>
                    <a:pt x="191610" y="4900"/>
                    <a:pt x="237621" y="96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5" name="Freeform: Shape 24">
              <a:extLst>
                <a:ext uri="{FF2B5EF4-FFF2-40B4-BE49-F238E27FC236}">
                  <a16:creationId xmlns:a16="http://schemas.microsoft.com/office/drawing/2014/main" id="{38BC9243-F4BF-48A7-89AE-DFA5B37DE6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53045" y="3808430"/>
              <a:ext cx="144912" cy="193414"/>
            </a:xfrm>
            <a:custGeom>
              <a:avLst/>
              <a:gdLst>
                <a:gd name="connsiteX0" fmla="*/ 390625 w 511232"/>
                <a:gd name="connsiteY0" fmla="*/ 1621 h 682341"/>
                <a:gd name="connsiteX1" fmla="*/ 508142 w 511232"/>
                <a:gd name="connsiteY1" fmla="*/ 64038 h 682341"/>
                <a:gd name="connsiteX2" fmla="*/ 508453 w 511232"/>
                <a:gd name="connsiteY2" fmla="*/ 121832 h 682341"/>
                <a:gd name="connsiteX3" fmla="*/ 316492 w 511232"/>
                <a:gd name="connsiteY3" fmla="*/ 567602 h 682341"/>
                <a:gd name="connsiteX4" fmla="*/ 80265 w 511232"/>
                <a:gd name="connsiteY4" fmla="*/ 640359 h 682341"/>
                <a:gd name="connsiteX5" fmla="*/ 13306 w 511232"/>
                <a:gd name="connsiteY5" fmla="*/ 274828 h 682341"/>
                <a:gd name="connsiteX6" fmla="*/ 140989 w 511232"/>
                <a:gd name="connsiteY6" fmla="*/ 107181 h 682341"/>
                <a:gd name="connsiteX7" fmla="*/ 390625 w 511232"/>
                <a:gd name="connsiteY7" fmla="*/ 1621 h 682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232" h="682341">
                  <a:moveTo>
                    <a:pt x="390625" y="1621"/>
                  </a:moveTo>
                  <a:cubicBezTo>
                    <a:pt x="446543" y="-5212"/>
                    <a:pt x="493343" y="8441"/>
                    <a:pt x="508142" y="64038"/>
                  </a:cubicBezTo>
                  <a:cubicBezTo>
                    <a:pt x="513192" y="82866"/>
                    <a:pt x="511134" y="102754"/>
                    <a:pt x="508453" y="121832"/>
                  </a:cubicBezTo>
                  <a:cubicBezTo>
                    <a:pt x="485324" y="287796"/>
                    <a:pt x="417242" y="443971"/>
                    <a:pt x="316492" y="567602"/>
                  </a:cubicBezTo>
                  <a:cubicBezTo>
                    <a:pt x="253024" y="645534"/>
                    <a:pt x="165055" y="737743"/>
                    <a:pt x="80265" y="640359"/>
                  </a:cubicBezTo>
                  <a:cubicBezTo>
                    <a:pt x="5014" y="553948"/>
                    <a:pt x="-17368" y="383621"/>
                    <a:pt x="13306" y="274828"/>
                  </a:cubicBezTo>
                  <a:cubicBezTo>
                    <a:pt x="33443" y="203318"/>
                    <a:pt x="83382" y="146521"/>
                    <a:pt x="140989" y="107181"/>
                  </a:cubicBezTo>
                  <a:cubicBezTo>
                    <a:pt x="178904" y="81308"/>
                    <a:pt x="297428" y="13010"/>
                    <a:pt x="390625" y="16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6" name="Freeform: Shape 25">
              <a:extLst>
                <a:ext uri="{FF2B5EF4-FFF2-40B4-BE49-F238E27FC236}">
                  <a16:creationId xmlns:a16="http://schemas.microsoft.com/office/drawing/2014/main" id="{5DE414EC-F3DF-412E-9B22-5328DAA99C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84524" y="3907536"/>
              <a:ext cx="132121" cy="93006"/>
            </a:xfrm>
            <a:custGeom>
              <a:avLst/>
              <a:gdLst>
                <a:gd name="connsiteX0" fmla="*/ 252822 w 466107"/>
                <a:gd name="connsiteY0" fmla="*/ 1539 h 328114"/>
                <a:gd name="connsiteX1" fmla="*/ 451641 w 466107"/>
                <a:gd name="connsiteY1" fmla="*/ 122177 h 328114"/>
                <a:gd name="connsiteX2" fmla="*/ 391790 w 466107"/>
                <a:gd name="connsiteY2" fmla="*/ 297430 h 328114"/>
                <a:gd name="connsiteX3" fmla="*/ 8614 w 466107"/>
                <a:gd name="connsiteY3" fmla="*/ 243252 h 328114"/>
                <a:gd name="connsiteX4" fmla="*/ 45897 w 466107"/>
                <a:gd name="connsiteY4" fmla="*/ 97302 h 328114"/>
                <a:gd name="connsiteX5" fmla="*/ 252822 w 466107"/>
                <a:gd name="connsiteY5" fmla="*/ 1539 h 328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107" h="328114">
                  <a:moveTo>
                    <a:pt x="252822" y="1539"/>
                  </a:moveTo>
                  <a:cubicBezTo>
                    <a:pt x="335429" y="-10494"/>
                    <a:pt x="418848" y="49794"/>
                    <a:pt x="451641" y="122177"/>
                  </a:cubicBezTo>
                  <a:cubicBezTo>
                    <a:pt x="479697" y="184273"/>
                    <a:pt x="470594" y="255285"/>
                    <a:pt x="391790" y="297430"/>
                  </a:cubicBezTo>
                  <a:cubicBezTo>
                    <a:pt x="301077" y="345935"/>
                    <a:pt x="55935" y="343254"/>
                    <a:pt x="8614" y="243252"/>
                  </a:cubicBezTo>
                  <a:cubicBezTo>
                    <a:pt x="-12895" y="197678"/>
                    <a:pt x="8240" y="136766"/>
                    <a:pt x="45897" y="97302"/>
                  </a:cubicBezTo>
                  <a:cubicBezTo>
                    <a:pt x="98704" y="42064"/>
                    <a:pt x="181872" y="11950"/>
                    <a:pt x="252822" y="1539"/>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7" name="Graphic 12">
              <a:extLst>
                <a:ext uri="{FF2B5EF4-FFF2-40B4-BE49-F238E27FC236}">
                  <a16:creationId xmlns:a16="http://schemas.microsoft.com/office/drawing/2014/main" id="{039C06B1-FDEA-47B1-8222-7D622CD72F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42141" y="3272152"/>
              <a:ext cx="180625" cy="158824"/>
            </a:xfrm>
            <a:custGeom>
              <a:avLst/>
              <a:gdLst>
                <a:gd name="connsiteX0" fmla="*/ 63289 w 3341477"/>
                <a:gd name="connsiteY0" fmla="*/ 1933384 h 2938167"/>
                <a:gd name="connsiteX1" fmla="*/ 263314 w 3341477"/>
                <a:gd name="connsiteY1" fmla="*/ 514159 h 2938167"/>
                <a:gd name="connsiteX2" fmla="*/ 1098276 w 3341477"/>
                <a:gd name="connsiteY2" fmla="*/ 952 h 2938167"/>
                <a:gd name="connsiteX3" fmla="*/ 2654089 w 3341477"/>
                <a:gd name="connsiteY3" fmla="*/ 371284 h 2938167"/>
                <a:gd name="connsiteX4" fmla="*/ 3219398 w 3341477"/>
                <a:gd name="connsiteY4" fmla="*/ 2080926 h 2938167"/>
                <a:gd name="connsiteX5" fmla="*/ 2044489 w 3341477"/>
                <a:gd name="connsiteY5" fmla="*/ 2933509 h 2938167"/>
                <a:gd name="connsiteX6" fmla="*/ 453814 w 3341477"/>
                <a:gd name="connsiteY6" fmla="*/ 2495359 h 2938167"/>
                <a:gd name="connsiteX7" fmla="*/ 63289 w 3341477"/>
                <a:gd name="connsiteY7" fmla="*/ 1933384 h 29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41477" h="2938167">
                  <a:moveTo>
                    <a:pt x="63289" y="1933384"/>
                  </a:moveTo>
                  <a:cubicBezTo>
                    <a:pt x="56717" y="1895856"/>
                    <a:pt x="-165311" y="914209"/>
                    <a:pt x="263314" y="514159"/>
                  </a:cubicBezTo>
                  <a:cubicBezTo>
                    <a:pt x="691939" y="114109"/>
                    <a:pt x="609262" y="11620"/>
                    <a:pt x="1098276" y="952"/>
                  </a:cubicBezTo>
                  <a:cubicBezTo>
                    <a:pt x="1587289" y="-9716"/>
                    <a:pt x="2320714" y="66484"/>
                    <a:pt x="2654089" y="371284"/>
                  </a:cubicBezTo>
                  <a:cubicBezTo>
                    <a:pt x="2987464" y="676084"/>
                    <a:pt x="3603732" y="1514094"/>
                    <a:pt x="3219398" y="2080926"/>
                  </a:cubicBezTo>
                  <a:cubicBezTo>
                    <a:pt x="2835064" y="2647759"/>
                    <a:pt x="2558839" y="2895409"/>
                    <a:pt x="2044489" y="2933509"/>
                  </a:cubicBezTo>
                  <a:cubicBezTo>
                    <a:pt x="1530139" y="2971609"/>
                    <a:pt x="701464" y="2771584"/>
                    <a:pt x="453814" y="2495359"/>
                  </a:cubicBezTo>
                  <a:cubicBezTo>
                    <a:pt x="206164" y="2219134"/>
                    <a:pt x="101389" y="2152459"/>
                    <a:pt x="63289" y="1933384"/>
                  </a:cubicBezTo>
                  <a:close/>
                </a:path>
              </a:pathLst>
            </a:custGeom>
            <a:grpFill/>
            <a:ln w="9525" cap="flat">
              <a:noFill/>
              <a:prstDash val="solid"/>
              <a:miter/>
            </a:ln>
          </p:spPr>
          <p:txBody>
            <a:bodyPr rtlCol="0" anchor="ctr"/>
            <a:lstStyle/>
            <a:p>
              <a:endParaRPr lang="en-US"/>
            </a:p>
          </p:txBody>
        </p:sp>
        <p:sp>
          <p:nvSpPr>
            <p:cNvPr id="28" name="Graphic 15">
              <a:extLst>
                <a:ext uri="{FF2B5EF4-FFF2-40B4-BE49-F238E27FC236}">
                  <a16:creationId xmlns:a16="http://schemas.microsoft.com/office/drawing/2014/main" id="{B834C8C1-9BD1-4635-8E5B-65815F9017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02136" y="3379098"/>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29" name="Graphic 15">
              <a:extLst>
                <a:ext uri="{FF2B5EF4-FFF2-40B4-BE49-F238E27FC236}">
                  <a16:creationId xmlns:a16="http://schemas.microsoft.com/office/drawing/2014/main" id="{2963D456-B3F4-4EDC-827E-645741F64D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8005" y="3504095"/>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3A58845-EFFB-4806-BC6D-47418C1555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43727" y="3666564"/>
              <a:ext cx="173527" cy="138496"/>
            </a:xfrm>
            <a:custGeom>
              <a:avLst/>
              <a:gdLst>
                <a:gd name="connsiteX0" fmla="*/ 237392 w 789043"/>
                <a:gd name="connsiteY0" fmla="*/ 81 h 629754"/>
                <a:gd name="connsiteX1" fmla="*/ 758692 w 789043"/>
                <a:gd name="connsiteY1" fmla="*/ 233550 h 629754"/>
                <a:gd name="connsiteX2" fmla="*/ 650647 w 789043"/>
                <a:gd name="connsiteY2" fmla="*/ 335111 h 629754"/>
                <a:gd name="connsiteX3" fmla="*/ 315041 w 789043"/>
                <a:gd name="connsiteY3" fmla="*/ 584992 h 629754"/>
                <a:gd name="connsiteX4" fmla="*/ 192159 w 789043"/>
                <a:gd name="connsiteY4" fmla="*/ 625953 h 629754"/>
                <a:gd name="connsiteX5" fmla="*/ 124264 w 789043"/>
                <a:gd name="connsiteY5" fmla="*/ 552260 h 629754"/>
                <a:gd name="connsiteX6" fmla="*/ 1631 w 789043"/>
                <a:gd name="connsiteY6" fmla="*/ 133735 h 629754"/>
                <a:gd name="connsiteX7" fmla="*/ 35422 w 789043"/>
                <a:gd name="connsiteY7" fmla="*/ 14157 h 629754"/>
                <a:gd name="connsiteX8" fmla="*/ 113728 w 789043"/>
                <a:gd name="connsiteY8" fmla="*/ 378 h 629754"/>
                <a:gd name="connsiteX9" fmla="*/ 237392 w 789043"/>
                <a:gd name="connsiteY9" fmla="*/ 81 h 629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043" h="629754">
                  <a:moveTo>
                    <a:pt x="237392" y="81"/>
                  </a:moveTo>
                  <a:cubicBezTo>
                    <a:pt x="474795" y="-992"/>
                    <a:pt x="907215" y="10463"/>
                    <a:pt x="758692" y="233550"/>
                  </a:cubicBezTo>
                  <a:cubicBezTo>
                    <a:pt x="731135" y="274948"/>
                    <a:pt x="690486" y="305435"/>
                    <a:pt x="650647" y="335111"/>
                  </a:cubicBezTo>
                  <a:cubicBezTo>
                    <a:pt x="538737" y="418405"/>
                    <a:pt x="426889" y="501698"/>
                    <a:pt x="315041" y="584992"/>
                  </a:cubicBezTo>
                  <a:cubicBezTo>
                    <a:pt x="278943" y="611863"/>
                    <a:pt x="234865" y="640167"/>
                    <a:pt x="192159" y="625953"/>
                  </a:cubicBezTo>
                  <a:cubicBezTo>
                    <a:pt x="159614" y="615105"/>
                    <a:pt x="139851" y="582810"/>
                    <a:pt x="124264" y="552260"/>
                  </a:cubicBezTo>
                  <a:cubicBezTo>
                    <a:pt x="57742" y="422021"/>
                    <a:pt x="15908" y="279250"/>
                    <a:pt x="1631" y="133735"/>
                  </a:cubicBezTo>
                  <a:cubicBezTo>
                    <a:pt x="-2671" y="90343"/>
                    <a:pt x="-676" y="38596"/>
                    <a:pt x="35422" y="14157"/>
                  </a:cubicBezTo>
                  <a:cubicBezTo>
                    <a:pt x="57804" y="-931"/>
                    <a:pt x="86795" y="-557"/>
                    <a:pt x="113728" y="378"/>
                  </a:cubicBezTo>
                  <a:cubicBezTo>
                    <a:pt x="138207" y="1243"/>
                    <a:pt x="182606" y="328"/>
                    <a:pt x="237392" y="8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Subtitle 5">
            <a:extLst>
              <a:ext uri="{FF2B5EF4-FFF2-40B4-BE49-F238E27FC236}">
                <a16:creationId xmlns:a16="http://schemas.microsoft.com/office/drawing/2014/main" id="{B61AEB1F-4253-7529-C592-887896A00F0C}"/>
              </a:ext>
            </a:extLst>
          </p:cNvPr>
          <p:cNvSpPr>
            <a:spLocks noGrp="1"/>
          </p:cNvSpPr>
          <p:nvPr>
            <p:ph type="subTitle" idx="1"/>
          </p:nvPr>
        </p:nvSpPr>
        <p:spPr>
          <a:xfrm>
            <a:off x="633032" y="4165467"/>
            <a:ext cx="10072922" cy="1747837"/>
          </a:xfrm>
        </p:spPr>
        <p:txBody>
          <a:bodyPr/>
          <a:lstStyle/>
          <a:p>
            <a:pPr algn="ctr"/>
            <a:r>
              <a:rPr lang="es-ES_tradnl" dirty="0">
                <a:solidFill>
                  <a:schemeClr val="bg1"/>
                </a:solidFill>
              </a:rPr>
              <a:t>Un breve recorrido a la sociología del género</a:t>
            </a:r>
          </a:p>
        </p:txBody>
      </p:sp>
    </p:spTree>
    <p:extLst>
      <p:ext uri="{BB962C8B-B14F-4D97-AF65-F5344CB8AC3E}">
        <p14:creationId xmlns:p14="http://schemas.microsoft.com/office/powerpoint/2010/main" val="705945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34291A6-A212-2603-D776-377F16ACF793}"/>
              </a:ext>
            </a:extLst>
          </p:cNvPr>
          <p:cNvSpPr txBox="1"/>
          <p:nvPr/>
        </p:nvSpPr>
        <p:spPr>
          <a:xfrm>
            <a:off x="1465490" y="1665981"/>
            <a:ext cx="8854168" cy="1323439"/>
          </a:xfrm>
          <a:prstGeom prst="rect">
            <a:avLst/>
          </a:prstGeom>
          <a:noFill/>
        </p:spPr>
        <p:txBody>
          <a:bodyPr wrap="square">
            <a:spAutoFit/>
          </a:bodyPr>
          <a:lstStyle/>
          <a:p>
            <a:pPr marL="342900" lvl="0" indent="-342900" algn="ctr">
              <a:buFont typeface="Arial" panose="020B0604020202020204" pitchFamily="34" charset="0"/>
              <a:buChar char="•"/>
            </a:pPr>
            <a:r>
              <a:rPr lang="en-CL" sz="2000" i="1" dirty="0"/>
              <a:t>Suecia vs. Arabia Saudita</a:t>
            </a:r>
            <a:r>
              <a:rPr lang="en-CL" sz="2000" dirty="0"/>
              <a:t>: misma biología humana, expectativas de género radicalmente distintas</a:t>
            </a:r>
          </a:p>
          <a:p>
            <a:pPr marL="342900" lvl="0" indent="-342900" algn="ctr">
              <a:buFont typeface="Arial" panose="020B0604020202020204" pitchFamily="34" charset="0"/>
              <a:buChar char="•"/>
            </a:pPr>
            <a:r>
              <a:rPr lang="en-CL" sz="2000" i="1" dirty="0"/>
              <a:t>Chile 1960 vs. Chile 2024</a:t>
            </a:r>
            <a:r>
              <a:rPr lang="en-CL" sz="2000" dirty="0"/>
              <a:t>: la participación laboral femenina pasó de ~25% a ~50%</a:t>
            </a:r>
          </a:p>
        </p:txBody>
      </p:sp>
      <p:sp>
        <p:nvSpPr>
          <p:cNvPr id="7" name="TextBox 6">
            <a:extLst>
              <a:ext uri="{FF2B5EF4-FFF2-40B4-BE49-F238E27FC236}">
                <a16:creationId xmlns:a16="http://schemas.microsoft.com/office/drawing/2014/main" id="{37002B50-8EF5-7C41-DC25-B350634BA054}"/>
              </a:ext>
            </a:extLst>
          </p:cNvPr>
          <p:cNvSpPr txBox="1"/>
          <p:nvPr/>
        </p:nvSpPr>
        <p:spPr>
          <a:xfrm>
            <a:off x="1587273" y="3641034"/>
            <a:ext cx="9017453" cy="2677656"/>
          </a:xfrm>
          <a:prstGeom prst="rect">
            <a:avLst/>
          </a:prstGeom>
          <a:solidFill>
            <a:schemeClr val="tx2">
              <a:lumMod val="25000"/>
              <a:lumOff val="75000"/>
              <a:alpha val="83000"/>
            </a:schemeClr>
          </a:solidFill>
        </p:spPr>
        <p:txBody>
          <a:bodyPr wrap="square" anchor="ctr">
            <a:spAutoFit/>
          </a:bodyPr>
          <a:lstStyle/>
          <a:p>
            <a:pPr algn="ctr"/>
            <a:r>
              <a:rPr lang="en-CL" sz="2800" dirty="0"/>
              <a:t>Si el género fuera solo biología, sería igual en todos lados y en todos los tiempos. </a:t>
            </a:r>
          </a:p>
          <a:p>
            <a:pPr algn="ctr"/>
            <a:endParaRPr lang="en-CL" sz="2800" dirty="0"/>
          </a:p>
          <a:p>
            <a:pPr algn="ctr"/>
            <a:r>
              <a:rPr lang="en-CL" sz="2800" dirty="0"/>
              <a:t>No lo es. Eso es lo que hace posible y </a:t>
            </a:r>
            <a:r>
              <a:rPr lang="en-CL" sz="2800" i="1" dirty="0"/>
              <a:t>necesaria</a:t>
            </a:r>
            <a:r>
              <a:rPr lang="en-CL" sz="2800" dirty="0"/>
              <a:t> una sociología del género.</a:t>
            </a:r>
            <a:endParaRPr lang="es-ES_tradnl" sz="2800" dirty="0"/>
          </a:p>
          <a:p>
            <a:endParaRPr lang="es-ES_tradnl" sz="2800" dirty="0"/>
          </a:p>
        </p:txBody>
      </p:sp>
    </p:spTree>
    <p:extLst>
      <p:ext uri="{BB962C8B-B14F-4D97-AF65-F5344CB8AC3E}">
        <p14:creationId xmlns:p14="http://schemas.microsoft.com/office/powerpoint/2010/main" val="30952024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72B59-FF8A-67DE-F20F-35D5D1C86310}"/>
              </a:ext>
            </a:extLst>
          </p:cNvPr>
          <p:cNvSpPr>
            <a:spLocks noGrp="1"/>
          </p:cNvSpPr>
          <p:nvPr>
            <p:ph type="title"/>
          </p:nvPr>
        </p:nvSpPr>
        <p:spPr/>
        <p:txBody>
          <a:bodyPr>
            <a:normAutofit/>
          </a:bodyPr>
          <a:lstStyle/>
          <a:p>
            <a:r>
              <a:rPr lang="es-ES_tradnl" dirty="0"/>
              <a:t>Crítica feminista a las ciencias sociales</a:t>
            </a:r>
            <a:br>
              <a:rPr lang="es-ES_tradnl" dirty="0"/>
            </a:br>
            <a:r>
              <a:rPr lang="es-ES_tradnl" sz="2200" dirty="0"/>
              <a:t>(</a:t>
            </a:r>
            <a:r>
              <a:rPr lang="es-ES_tradnl" sz="2200" dirty="0" err="1"/>
              <a:t>Acker</a:t>
            </a:r>
            <a:r>
              <a:rPr lang="es-ES_tradnl" sz="2200" dirty="0"/>
              <a:t> 1992; </a:t>
            </a:r>
            <a:r>
              <a:rPr lang="es-ES_tradnl" sz="2200" dirty="0" err="1"/>
              <a:t>Ferree</a:t>
            </a:r>
            <a:r>
              <a:rPr lang="es-ES_tradnl" sz="2200" dirty="0"/>
              <a:t> &amp; Hess 1987; Stacey &amp; Thorne 1985)</a:t>
            </a:r>
          </a:p>
        </p:txBody>
      </p:sp>
      <p:sp>
        <p:nvSpPr>
          <p:cNvPr id="3" name="Content Placeholder 2">
            <a:extLst>
              <a:ext uri="{FF2B5EF4-FFF2-40B4-BE49-F238E27FC236}">
                <a16:creationId xmlns:a16="http://schemas.microsoft.com/office/drawing/2014/main" id="{32ED0853-FF0D-780F-A4EF-27F1B1C09F2A}"/>
              </a:ext>
            </a:extLst>
          </p:cNvPr>
          <p:cNvSpPr>
            <a:spLocks noGrp="1"/>
          </p:cNvSpPr>
          <p:nvPr>
            <p:ph idx="1"/>
          </p:nvPr>
        </p:nvSpPr>
        <p:spPr>
          <a:xfrm>
            <a:off x="525717" y="2521885"/>
            <a:ext cx="10502501" cy="3991457"/>
          </a:xfrm>
        </p:spPr>
        <p:txBody>
          <a:bodyPr>
            <a:noAutofit/>
          </a:bodyPr>
          <a:lstStyle/>
          <a:p>
            <a:pPr marL="342900" indent="-342900">
              <a:buFont typeface="Arial" panose="020B0604020202020204" pitchFamily="34" charset="0"/>
              <a:buChar char="•"/>
            </a:pPr>
            <a:r>
              <a:rPr lang="es-ES_tradnl" dirty="0"/>
              <a:t>Exclusión y devaluación de las mujeres</a:t>
            </a:r>
          </a:p>
          <a:p>
            <a:pPr marL="342900" indent="-342900">
              <a:buFont typeface="Arial" panose="020B0604020202020204" pitchFamily="34" charset="0"/>
              <a:buChar char="•"/>
            </a:pPr>
            <a:r>
              <a:rPr lang="es-ES_tradnl" dirty="0"/>
              <a:t>Hombre-centrismo que ha posicionado a las mujeres sólo en relación a los hombres.</a:t>
            </a:r>
          </a:p>
          <a:p>
            <a:pPr marL="342900" indent="-342900">
              <a:buFont typeface="Arial" panose="020B0604020202020204" pitchFamily="34" charset="0"/>
              <a:buChar char="•"/>
            </a:pPr>
            <a:r>
              <a:rPr lang="es-ES_tradnl" dirty="0"/>
              <a:t>Inclusión de mujeres en los paradigmas existentes es muy superficial: "agregar a las mujeres y revolver”</a:t>
            </a:r>
          </a:p>
          <a:p>
            <a:pPr marL="800100" lvl="2" indent="-342900">
              <a:buFont typeface="Arial" panose="020B0604020202020204" pitchFamily="34" charset="0"/>
              <a:buChar char="•"/>
            </a:pPr>
            <a:r>
              <a:rPr lang="es-ES_tradnl" sz="2000" dirty="0"/>
              <a:t>Implica repensar marcos conceptuales básicos</a:t>
            </a:r>
          </a:p>
          <a:p>
            <a:pPr marL="342900" lvl="1" indent="-342900"/>
            <a:r>
              <a:rPr lang="es-ES_tradnl" sz="2000" dirty="0"/>
              <a:t>Ignora variaciones dentro de un mismo grupo, cosificando las diferencias grupales como atributos individuales.</a:t>
            </a:r>
          </a:p>
          <a:p>
            <a:pPr marL="342900" lvl="1" indent="-342900"/>
            <a:r>
              <a:rPr lang="es-ES_tradnl" sz="2000" dirty="0"/>
              <a:t>Género como área de estudio periférica</a:t>
            </a:r>
          </a:p>
          <a:p>
            <a:pPr marL="342900" lvl="1" indent="-342900"/>
            <a:r>
              <a:rPr lang="es-ES_tradnl" sz="2000" dirty="0"/>
              <a:t>Género como variable</a:t>
            </a:r>
          </a:p>
        </p:txBody>
      </p:sp>
    </p:spTree>
    <p:extLst>
      <p:ext uri="{BB962C8B-B14F-4D97-AF65-F5344CB8AC3E}">
        <p14:creationId xmlns:p14="http://schemas.microsoft.com/office/powerpoint/2010/main" val="28056845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946B8-84D4-BA4E-FB43-11DBBAA8A691}"/>
              </a:ext>
            </a:extLst>
          </p:cNvPr>
          <p:cNvSpPr>
            <a:spLocks noGrp="1"/>
          </p:cNvSpPr>
          <p:nvPr>
            <p:ph type="title"/>
          </p:nvPr>
        </p:nvSpPr>
        <p:spPr/>
        <p:txBody>
          <a:bodyPr>
            <a:normAutofit/>
          </a:bodyPr>
          <a:lstStyle/>
          <a:p>
            <a:r>
              <a:rPr lang="es-ES_tradnl" dirty="0"/>
              <a:t>Etapas en la investigación de género</a:t>
            </a:r>
            <a:br>
              <a:rPr lang="es-ES_tradnl" dirty="0"/>
            </a:br>
            <a:r>
              <a:rPr lang="en-US" sz="2200" dirty="0"/>
              <a:t>(Acker 1992; </a:t>
            </a:r>
            <a:r>
              <a:rPr lang="en-US" sz="2200" dirty="0" err="1"/>
              <a:t>Bokser</a:t>
            </a:r>
            <a:r>
              <a:rPr lang="en-US" sz="2200" dirty="0"/>
              <a:t> Misses-</a:t>
            </a:r>
            <a:r>
              <a:rPr lang="en-US" sz="2200" dirty="0" err="1"/>
              <a:t>Liwerant</a:t>
            </a:r>
            <a:r>
              <a:rPr lang="en-US" sz="2200" dirty="0"/>
              <a:t> (2020): </a:t>
            </a:r>
            <a:r>
              <a:rPr lang="en-US" sz="2200" dirty="0" err="1"/>
              <a:t>Ferre</a:t>
            </a:r>
            <a:r>
              <a:rPr lang="en-US" sz="2200" dirty="0"/>
              <a:t> &amp; Hess 1987; </a:t>
            </a:r>
            <a:r>
              <a:rPr lang="en-US" sz="2200" dirty="0" err="1"/>
              <a:t>Risman</a:t>
            </a:r>
            <a:r>
              <a:rPr lang="en-US" sz="2200" dirty="0"/>
              <a:t> 2018)</a:t>
            </a:r>
            <a:endParaRPr lang="es-ES_tradnl" sz="2200" dirty="0"/>
          </a:p>
        </p:txBody>
      </p:sp>
      <p:graphicFrame>
        <p:nvGraphicFramePr>
          <p:cNvPr id="8" name="Content Placeholder 7">
            <a:extLst>
              <a:ext uri="{FF2B5EF4-FFF2-40B4-BE49-F238E27FC236}">
                <a16:creationId xmlns:a16="http://schemas.microsoft.com/office/drawing/2014/main" id="{566BE35C-30BC-C4FE-DC4A-C19871FF0AD7}"/>
              </a:ext>
            </a:extLst>
          </p:cNvPr>
          <p:cNvGraphicFramePr>
            <a:graphicFrameLocks noGrp="1"/>
          </p:cNvGraphicFramePr>
          <p:nvPr>
            <p:ph idx="1"/>
            <p:extLst>
              <p:ext uri="{D42A27DB-BD31-4B8C-83A1-F6EECF244321}">
                <p14:modId xmlns:p14="http://schemas.microsoft.com/office/powerpoint/2010/main" val="1231786075"/>
              </p:ext>
            </p:extLst>
          </p:nvPr>
        </p:nvGraphicFramePr>
        <p:xfrm>
          <a:off x="940963" y="2245035"/>
          <a:ext cx="9477460" cy="3942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86608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C44E6-BE27-5F14-5398-ED0A69471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B1AD01-F145-FFA6-4F75-37A690ED3203}"/>
              </a:ext>
            </a:extLst>
          </p:cNvPr>
          <p:cNvSpPr>
            <a:spLocks noGrp="1"/>
          </p:cNvSpPr>
          <p:nvPr>
            <p:ph type="title"/>
          </p:nvPr>
        </p:nvSpPr>
        <p:spPr/>
        <p:txBody>
          <a:bodyPr>
            <a:normAutofit/>
          </a:bodyPr>
          <a:lstStyle/>
          <a:p>
            <a:r>
              <a:rPr lang="es-ES_tradnl" dirty="0"/>
              <a:t>Etapas en la investigación de género</a:t>
            </a:r>
            <a:br>
              <a:rPr lang="es-ES_tradnl" dirty="0"/>
            </a:br>
            <a:r>
              <a:rPr lang="en-US" sz="2400" dirty="0"/>
              <a:t>(Acker 1992; </a:t>
            </a:r>
            <a:r>
              <a:rPr lang="en-US" sz="2400" dirty="0" err="1"/>
              <a:t>Ferre</a:t>
            </a:r>
            <a:r>
              <a:rPr lang="en-US" sz="2400" dirty="0"/>
              <a:t> &amp; Hess 1987; </a:t>
            </a:r>
            <a:r>
              <a:rPr lang="en-US" sz="2400" dirty="0" err="1"/>
              <a:t>Risman</a:t>
            </a:r>
            <a:r>
              <a:rPr lang="en-US" sz="2400" dirty="0"/>
              <a:t> 2018)</a:t>
            </a:r>
            <a:endParaRPr lang="es-ES_tradnl" sz="2400" dirty="0"/>
          </a:p>
        </p:txBody>
      </p:sp>
      <p:sp>
        <p:nvSpPr>
          <p:cNvPr id="3" name="Content Placeholder 2">
            <a:extLst>
              <a:ext uri="{FF2B5EF4-FFF2-40B4-BE49-F238E27FC236}">
                <a16:creationId xmlns:a16="http://schemas.microsoft.com/office/drawing/2014/main" id="{8ED56259-89DB-FEC3-D291-FBC172916A0C}"/>
              </a:ext>
            </a:extLst>
          </p:cNvPr>
          <p:cNvSpPr>
            <a:spLocks noGrp="1"/>
          </p:cNvSpPr>
          <p:nvPr>
            <p:ph idx="1"/>
          </p:nvPr>
        </p:nvSpPr>
        <p:spPr/>
        <p:txBody>
          <a:bodyPr>
            <a:normAutofit/>
          </a:bodyPr>
          <a:lstStyle/>
          <a:p>
            <a:pPr marL="457200" indent="-457200">
              <a:buAutoNum type="arabicPeriod"/>
            </a:pPr>
            <a:r>
              <a:rPr lang="es-ES_tradnl" dirty="0"/>
              <a:t>Diferencias entre sexos</a:t>
            </a:r>
          </a:p>
          <a:p>
            <a:pPr marL="457200" indent="-457200">
              <a:buAutoNum type="arabicPeriod"/>
            </a:pPr>
            <a:r>
              <a:rPr lang="es-ES_tradnl" dirty="0"/>
              <a:t>Sexo como rol</a:t>
            </a:r>
          </a:p>
          <a:p>
            <a:pPr marL="457200" indent="-457200">
              <a:buAutoNum type="arabicPeriod"/>
            </a:pPr>
            <a:r>
              <a:rPr lang="es-ES_tradnl" dirty="0"/>
              <a:t>Género como respuesta al “sexo como rol”</a:t>
            </a:r>
          </a:p>
          <a:p>
            <a:pPr marL="457200" indent="-457200">
              <a:buAutoNum type="arabicPeriod"/>
            </a:pPr>
            <a:r>
              <a:rPr lang="es-ES_tradnl" dirty="0"/>
              <a:t>Compresión social del género</a:t>
            </a:r>
          </a:p>
          <a:p>
            <a:pPr marL="914400" lvl="2" indent="-457200">
              <a:buFont typeface="Arial" panose="020B0604020202020204" pitchFamily="34" charset="0"/>
              <a:buChar char="•"/>
            </a:pPr>
            <a:r>
              <a:rPr lang="es-ES_tradnl" dirty="0"/>
              <a:t>El género es algo que “hacemos” no que “somos”</a:t>
            </a:r>
          </a:p>
          <a:p>
            <a:pPr marL="914400" lvl="2" indent="-457200">
              <a:buFont typeface="Arial" panose="020B0604020202020204" pitchFamily="34" charset="0"/>
              <a:buChar char="•"/>
            </a:pPr>
            <a:r>
              <a:rPr lang="es-ES_tradnl" dirty="0"/>
              <a:t>Teorías estructurales de género como sistema</a:t>
            </a:r>
          </a:p>
          <a:p>
            <a:pPr marL="457200" indent="-457200">
              <a:buAutoNum type="arabicPeriod" startAt="4"/>
            </a:pPr>
            <a:r>
              <a:rPr lang="es-ES_tradnl" dirty="0"/>
              <a:t>Crítica al feminismo blanco</a:t>
            </a:r>
          </a:p>
          <a:p>
            <a:pPr marL="457200" indent="-457200">
              <a:buAutoNum type="arabicPeriod" startAt="4"/>
            </a:pPr>
            <a:r>
              <a:rPr lang="es-ES_tradnl" dirty="0"/>
              <a:t>Siglo 21: líneas teóricas recientes</a:t>
            </a:r>
          </a:p>
          <a:p>
            <a:endParaRPr lang="es-ES_tradnl" dirty="0"/>
          </a:p>
        </p:txBody>
      </p:sp>
    </p:spTree>
    <p:extLst>
      <p:ext uri="{BB962C8B-B14F-4D97-AF65-F5344CB8AC3E}">
        <p14:creationId xmlns:p14="http://schemas.microsoft.com/office/powerpoint/2010/main" val="38088391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F9C493A-9F03-49B4-B3FB-19CE5AC11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2" name="Title 1">
            <a:extLst>
              <a:ext uri="{FF2B5EF4-FFF2-40B4-BE49-F238E27FC236}">
                <a16:creationId xmlns:a16="http://schemas.microsoft.com/office/drawing/2014/main" id="{43E84F78-8FA7-0424-BDB1-144D72EF673F}"/>
              </a:ext>
            </a:extLst>
          </p:cNvPr>
          <p:cNvSpPr>
            <a:spLocks noGrp="1"/>
          </p:cNvSpPr>
          <p:nvPr>
            <p:ph type="title"/>
          </p:nvPr>
        </p:nvSpPr>
        <p:spPr>
          <a:xfrm>
            <a:off x="525717" y="787068"/>
            <a:ext cx="4663649" cy="1455091"/>
          </a:xfrm>
        </p:spPr>
        <p:txBody>
          <a:bodyPr>
            <a:normAutofit/>
          </a:bodyPr>
          <a:lstStyle/>
          <a:p>
            <a:r>
              <a:rPr lang="es-ES_tradnl" dirty="0"/>
              <a:t>1. Diferencias entre sexos</a:t>
            </a:r>
          </a:p>
        </p:txBody>
      </p:sp>
      <p:sp>
        <p:nvSpPr>
          <p:cNvPr id="13" name="Freeform: Shape 12">
            <a:extLst>
              <a:ext uri="{FF2B5EF4-FFF2-40B4-BE49-F238E27FC236}">
                <a16:creationId xmlns:a16="http://schemas.microsoft.com/office/drawing/2014/main" id="{90A46C7D-C1BB-49B8-8D37-39742820E9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15182" y="-615181"/>
            <a:ext cx="1085312" cy="2315675"/>
          </a:xfrm>
          <a:custGeom>
            <a:avLst/>
            <a:gdLst>
              <a:gd name="connsiteX0" fmla="*/ 0 w 1085312"/>
              <a:gd name="connsiteY0" fmla="*/ 2315675 h 2315675"/>
              <a:gd name="connsiteX1" fmla="*/ 0 w 1085312"/>
              <a:gd name="connsiteY1" fmla="*/ 0 h 2315675"/>
              <a:gd name="connsiteX2" fmla="*/ 53089 w 1085312"/>
              <a:gd name="connsiteY2" fmla="*/ 4542 h 2315675"/>
              <a:gd name="connsiteX3" fmla="*/ 790077 w 1085312"/>
              <a:gd name="connsiteY3" fmla="*/ 872756 h 2315675"/>
              <a:gd name="connsiteX4" fmla="*/ 1085252 w 1085312"/>
              <a:gd name="connsiteY4" fmla="*/ 1943649 h 2315675"/>
              <a:gd name="connsiteX5" fmla="*/ 1064832 w 1085312"/>
              <a:gd name="connsiteY5" fmla="*/ 2198094 h 2315675"/>
              <a:gd name="connsiteX6" fmla="*/ 1043734 w 1085312"/>
              <a:gd name="connsiteY6" fmla="*/ 2315675 h 2315675"/>
              <a:gd name="connsiteX7" fmla="*/ 0 w 1085312"/>
              <a:gd name="connsiteY7" fmla="*/ 2315675 h 2315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5312" h="2315675">
                <a:moveTo>
                  <a:pt x="0" y="2315675"/>
                </a:moveTo>
                <a:lnTo>
                  <a:pt x="0" y="0"/>
                </a:lnTo>
                <a:lnTo>
                  <a:pt x="53089" y="4542"/>
                </a:lnTo>
                <a:cubicBezTo>
                  <a:pt x="405263" y="73503"/>
                  <a:pt x="612623" y="486635"/>
                  <a:pt x="790077" y="872756"/>
                </a:cubicBezTo>
                <a:cubicBezTo>
                  <a:pt x="937425" y="1193596"/>
                  <a:pt x="1088787" y="1533232"/>
                  <a:pt x="1085252" y="1943649"/>
                </a:cubicBezTo>
                <a:cubicBezTo>
                  <a:pt x="1084528" y="2029058"/>
                  <a:pt x="1077341" y="2113833"/>
                  <a:pt x="1064832" y="2198094"/>
                </a:cubicBezTo>
                <a:lnTo>
                  <a:pt x="1043734" y="2315675"/>
                </a:lnTo>
                <a:lnTo>
                  <a:pt x="0" y="2315675"/>
                </a:lnTo>
                <a:close/>
              </a:path>
            </a:pathLst>
          </a:custGeom>
          <a:solidFill>
            <a:schemeClr val="accent6">
              <a:lumMod val="40000"/>
              <a:lumOff val="6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5" name="Graphic 78">
            <a:extLst>
              <a:ext uri="{FF2B5EF4-FFF2-40B4-BE49-F238E27FC236}">
                <a16:creationId xmlns:a16="http://schemas.microsoft.com/office/drawing/2014/main" id="{61BBAB6F-65E6-4E2B-B363-6AB27C84E0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25717" y="2585111"/>
            <a:ext cx="972241" cy="45718"/>
            <a:chOff x="4886325" y="3371754"/>
            <a:chExt cx="2418492" cy="113728"/>
          </a:xfrm>
          <a:solidFill>
            <a:schemeClr val="accent1"/>
          </a:solidFill>
        </p:grpSpPr>
        <p:sp>
          <p:nvSpPr>
            <p:cNvPr id="16" name="Graphic 78">
              <a:extLst>
                <a:ext uri="{FF2B5EF4-FFF2-40B4-BE49-F238E27FC236}">
                  <a16:creationId xmlns:a16="http://schemas.microsoft.com/office/drawing/2014/main" id="{6DA3BBB2-E620-4C13-98C9-FE1EF7D2ED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17" name="Graphic 78">
              <a:extLst>
                <a:ext uri="{FF2B5EF4-FFF2-40B4-BE49-F238E27FC236}">
                  <a16:creationId xmlns:a16="http://schemas.microsoft.com/office/drawing/2014/main" id="{ADC9AB5D-88A1-4FA9-B467-E8EF8FFE5B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4886709" y="3371754"/>
              <a:ext cx="2418108" cy="113728"/>
              <a:chOff x="4886709" y="3371754"/>
              <a:chExt cx="2418108" cy="113728"/>
            </a:xfrm>
            <a:grpFill/>
          </p:grpSpPr>
          <p:sp>
            <p:nvSpPr>
              <p:cNvPr id="18" name="Graphic 78">
                <a:extLst>
                  <a:ext uri="{FF2B5EF4-FFF2-40B4-BE49-F238E27FC236}">
                    <a16:creationId xmlns:a16="http://schemas.microsoft.com/office/drawing/2014/main" id="{0867B8E5-4535-4743-8235-6612FEA410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19" name="Graphic 78">
                <a:extLst>
                  <a:ext uri="{FF2B5EF4-FFF2-40B4-BE49-F238E27FC236}">
                    <a16:creationId xmlns:a16="http://schemas.microsoft.com/office/drawing/2014/main" id="{BE48FEA7-5915-4751-8090-63F309432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20" name="Graphic 78">
                <a:extLst>
                  <a:ext uri="{FF2B5EF4-FFF2-40B4-BE49-F238E27FC236}">
                    <a16:creationId xmlns:a16="http://schemas.microsoft.com/office/drawing/2014/main" id="{32B378CE-44FD-4120-B9ED-7828D4EE9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21" name="Graphic 78">
                <a:extLst>
                  <a:ext uri="{FF2B5EF4-FFF2-40B4-BE49-F238E27FC236}">
                    <a16:creationId xmlns:a16="http://schemas.microsoft.com/office/drawing/2014/main" id="{40FA43D3-D34B-4BC7-80D0-F3E75A222A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
        <p:nvSpPr>
          <p:cNvPr id="3" name="Content Placeholder 2">
            <a:extLst>
              <a:ext uri="{FF2B5EF4-FFF2-40B4-BE49-F238E27FC236}">
                <a16:creationId xmlns:a16="http://schemas.microsoft.com/office/drawing/2014/main" id="{EDAD2799-6D97-5F1C-B140-718905901DFD}"/>
              </a:ext>
            </a:extLst>
          </p:cNvPr>
          <p:cNvSpPr>
            <a:spLocks noGrp="1"/>
          </p:cNvSpPr>
          <p:nvPr>
            <p:ph idx="1"/>
          </p:nvPr>
        </p:nvSpPr>
        <p:spPr>
          <a:xfrm>
            <a:off x="525717" y="2796427"/>
            <a:ext cx="5975330" cy="3274503"/>
          </a:xfrm>
        </p:spPr>
        <p:txBody>
          <a:bodyPr>
            <a:normAutofit/>
          </a:bodyPr>
          <a:lstStyle/>
          <a:p>
            <a:pPr>
              <a:lnSpc>
                <a:spcPct val="100000"/>
              </a:lnSpc>
            </a:pPr>
            <a:r>
              <a:rPr lang="es-ES_tradnl" dirty="0"/>
              <a:t>Principal foco en las </a:t>
            </a:r>
            <a:r>
              <a:rPr lang="es-ES_tradnl" b="1" dirty="0"/>
              <a:t>diferencias biológicas entre hombres y mujeres</a:t>
            </a:r>
            <a:r>
              <a:rPr lang="es-ES_tradnl" dirty="0"/>
              <a:t> que históricamente se han usado para justificar y explicar la dominación de los hombres.</a:t>
            </a:r>
          </a:p>
          <a:p>
            <a:pPr marL="342900" indent="-342900">
              <a:lnSpc>
                <a:spcPct val="100000"/>
              </a:lnSpc>
              <a:buFont typeface="Arial" panose="020B0604020202020204" pitchFamily="34" charset="0"/>
              <a:buChar char="•"/>
            </a:pPr>
            <a:r>
              <a:rPr lang="es-ES_tradnl" dirty="0"/>
              <a:t>Sexo = diferencias biológicas entre los cuerpos de hombres y mujeres (visión binaria)</a:t>
            </a:r>
          </a:p>
          <a:p>
            <a:pPr marL="342900" lvl="1" indent="-342900">
              <a:lnSpc>
                <a:spcPct val="100000"/>
              </a:lnSpc>
            </a:pPr>
            <a:r>
              <a:rPr lang="es-ES_tradnl" sz="2000" dirty="0"/>
              <a:t>Hormonas afectan el desarrollo del cerebro y estas diferencias explican la feminidad, masculinidad, y las diferencias de género</a:t>
            </a:r>
          </a:p>
          <a:p>
            <a:pPr lvl="1" indent="0">
              <a:lnSpc>
                <a:spcPct val="100000"/>
              </a:lnSpc>
              <a:buNone/>
            </a:pPr>
            <a:endParaRPr lang="es-ES_tradnl" sz="2000" dirty="0"/>
          </a:p>
          <a:p>
            <a:pPr>
              <a:lnSpc>
                <a:spcPct val="100000"/>
              </a:lnSpc>
            </a:pPr>
            <a:endParaRPr lang="es-ES_tradnl" dirty="0"/>
          </a:p>
        </p:txBody>
      </p:sp>
      <p:pic>
        <p:nvPicPr>
          <p:cNvPr id="5" name="Picture 4" descr="A person and person's brain&#10;&#10;Description automatically generated">
            <a:extLst>
              <a:ext uri="{FF2B5EF4-FFF2-40B4-BE49-F238E27FC236}">
                <a16:creationId xmlns:a16="http://schemas.microsoft.com/office/drawing/2014/main" id="{372172DF-412D-4A3B-1838-ABB1A483B96A}"/>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7002636" y="2260494"/>
            <a:ext cx="4691795" cy="2639134"/>
          </a:xfrm>
          <a:prstGeom prst="rect">
            <a:avLst/>
          </a:prstGeom>
        </p:spPr>
      </p:pic>
      <p:sp>
        <p:nvSpPr>
          <p:cNvPr id="23" name="Freeform: Shape 22">
            <a:extLst>
              <a:ext uri="{FF2B5EF4-FFF2-40B4-BE49-F238E27FC236}">
                <a16:creationId xmlns:a16="http://schemas.microsoft.com/office/drawing/2014/main" id="{55820E42-2F9D-41EF-B67F-522A133B33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753030" y="5516668"/>
            <a:ext cx="2438970" cy="1341332"/>
          </a:xfrm>
          <a:custGeom>
            <a:avLst/>
            <a:gdLst>
              <a:gd name="connsiteX0" fmla="*/ 2025355 w 2438970"/>
              <a:gd name="connsiteY0" fmla="*/ 235 h 1341332"/>
              <a:gd name="connsiteX1" fmla="*/ 2381960 w 2438970"/>
              <a:gd name="connsiteY1" fmla="*/ 44517 h 1341332"/>
              <a:gd name="connsiteX2" fmla="*/ 2438970 w 2438970"/>
              <a:gd name="connsiteY2" fmla="*/ 58872 h 1341332"/>
              <a:gd name="connsiteX3" fmla="*/ 2438970 w 2438970"/>
              <a:gd name="connsiteY3" fmla="*/ 1341332 h 1341332"/>
              <a:gd name="connsiteX4" fmla="*/ 0 w 2438970"/>
              <a:gd name="connsiteY4" fmla="*/ 1341332 h 1341332"/>
              <a:gd name="connsiteX5" fmla="*/ 13333 w 2438970"/>
              <a:gd name="connsiteY5" fmla="*/ 1328018 h 1341332"/>
              <a:gd name="connsiteX6" fmla="*/ 936262 w 2438970"/>
              <a:gd name="connsiteY6" fmla="*/ 459947 h 1341332"/>
              <a:gd name="connsiteX7" fmla="*/ 1554028 w 2438970"/>
              <a:gd name="connsiteY7" fmla="*/ 71153 h 1341332"/>
              <a:gd name="connsiteX8" fmla="*/ 2025355 w 2438970"/>
              <a:gd name="connsiteY8" fmla="*/ 235 h 1341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38970" h="1341332">
                <a:moveTo>
                  <a:pt x="2025355" y="235"/>
                </a:moveTo>
                <a:cubicBezTo>
                  <a:pt x="2143847" y="2306"/>
                  <a:pt x="2262766" y="17993"/>
                  <a:pt x="2381960" y="44517"/>
                </a:cubicBezTo>
                <a:lnTo>
                  <a:pt x="2438970" y="58872"/>
                </a:lnTo>
                <a:lnTo>
                  <a:pt x="2438970" y="1341332"/>
                </a:lnTo>
                <a:lnTo>
                  <a:pt x="0" y="1341332"/>
                </a:lnTo>
                <a:lnTo>
                  <a:pt x="13333" y="1328018"/>
                </a:lnTo>
                <a:cubicBezTo>
                  <a:pt x="324723" y="1028950"/>
                  <a:pt x="645390" y="738459"/>
                  <a:pt x="936262" y="459947"/>
                </a:cubicBezTo>
                <a:cubicBezTo>
                  <a:pt x="1139660" y="265152"/>
                  <a:pt x="1345794" y="140817"/>
                  <a:pt x="1554028" y="71153"/>
                </a:cubicBezTo>
                <a:cubicBezTo>
                  <a:pt x="1710136" y="18918"/>
                  <a:pt x="1867365" y="-2526"/>
                  <a:pt x="2025355" y="235"/>
                </a:cubicBezTo>
                <a:close/>
              </a:path>
            </a:pathLst>
          </a:cu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25" name="Group 24">
            <a:extLst>
              <a:ext uri="{FF2B5EF4-FFF2-40B4-BE49-F238E27FC236}">
                <a16:creationId xmlns:a16="http://schemas.microsoft.com/office/drawing/2014/main" id="{13D9BC31-B57D-4933-AD83-94F462D4C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776050" y="5204025"/>
            <a:ext cx="886141" cy="802496"/>
            <a:chOff x="10948005" y="3272152"/>
            <a:chExt cx="868640" cy="786648"/>
          </a:xfrm>
          <a:solidFill>
            <a:schemeClr val="accent1"/>
          </a:solidFill>
        </p:grpSpPr>
        <p:sp>
          <p:nvSpPr>
            <p:cNvPr id="26" name="Freeform: Shape 25">
              <a:extLst>
                <a:ext uri="{FF2B5EF4-FFF2-40B4-BE49-F238E27FC236}">
                  <a16:creationId xmlns:a16="http://schemas.microsoft.com/office/drawing/2014/main" id="{D84AFEA3-A055-41AE-96F3-34BA581424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94317" y="3944888"/>
              <a:ext cx="128449" cy="113912"/>
            </a:xfrm>
            <a:custGeom>
              <a:avLst/>
              <a:gdLst>
                <a:gd name="connsiteX0" fmla="*/ 237621 w 453152"/>
                <a:gd name="connsiteY0" fmla="*/ 965 h 401867"/>
                <a:gd name="connsiteX1" fmla="*/ 370246 w 453152"/>
                <a:gd name="connsiteY1" fmla="*/ 23666 h 401867"/>
                <a:gd name="connsiteX2" fmla="*/ 437392 w 453152"/>
                <a:gd name="connsiteY2" fmla="*/ 198545 h 401867"/>
                <a:gd name="connsiteX3" fmla="*/ 67745 w 453152"/>
                <a:gd name="connsiteY3" fmla="*/ 392003 h 401867"/>
                <a:gd name="connsiteX4" fmla="*/ 911 w 453152"/>
                <a:gd name="connsiteY4" fmla="*/ 254095 h 401867"/>
                <a:gd name="connsiteX5" fmla="*/ 115564 w 453152"/>
                <a:gd name="connsiteY5" fmla="*/ 51160 h 401867"/>
                <a:gd name="connsiteX6" fmla="*/ 237621 w 453152"/>
                <a:gd name="connsiteY6" fmla="*/ 965 h 40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152" h="401867">
                  <a:moveTo>
                    <a:pt x="237621" y="965"/>
                  </a:moveTo>
                  <a:cubicBezTo>
                    <a:pt x="283632" y="-2971"/>
                    <a:pt x="331405" y="5243"/>
                    <a:pt x="370246" y="23666"/>
                  </a:cubicBezTo>
                  <a:cubicBezTo>
                    <a:pt x="436830" y="55275"/>
                    <a:pt x="477168" y="116810"/>
                    <a:pt x="437392" y="198545"/>
                  </a:cubicBezTo>
                  <a:cubicBezTo>
                    <a:pt x="391568" y="292624"/>
                    <a:pt x="176850" y="441630"/>
                    <a:pt x="67745" y="392003"/>
                  </a:cubicBezTo>
                  <a:cubicBezTo>
                    <a:pt x="18056" y="369372"/>
                    <a:pt x="-5012" y="308398"/>
                    <a:pt x="911" y="254095"/>
                  </a:cubicBezTo>
                  <a:cubicBezTo>
                    <a:pt x="9203" y="178033"/>
                    <a:pt x="61012" y="103094"/>
                    <a:pt x="115564" y="51160"/>
                  </a:cubicBezTo>
                  <a:cubicBezTo>
                    <a:pt x="147361" y="20985"/>
                    <a:pt x="191610" y="4900"/>
                    <a:pt x="237621" y="96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7" name="Freeform: Shape 26">
              <a:extLst>
                <a:ext uri="{FF2B5EF4-FFF2-40B4-BE49-F238E27FC236}">
                  <a16:creationId xmlns:a16="http://schemas.microsoft.com/office/drawing/2014/main" id="{9028771F-62FA-4349-B7A8-CE1682D2C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53045" y="3808430"/>
              <a:ext cx="144912" cy="193414"/>
            </a:xfrm>
            <a:custGeom>
              <a:avLst/>
              <a:gdLst>
                <a:gd name="connsiteX0" fmla="*/ 390625 w 511232"/>
                <a:gd name="connsiteY0" fmla="*/ 1621 h 682341"/>
                <a:gd name="connsiteX1" fmla="*/ 508142 w 511232"/>
                <a:gd name="connsiteY1" fmla="*/ 64038 h 682341"/>
                <a:gd name="connsiteX2" fmla="*/ 508453 w 511232"/>
                <a:gd name="connsiteY2" fmla="*/ 121832 h 682341"/>
                <a:gd name="connsiteX3" fmla="*/ 316492 w 511232"/>
                <a:gd name="connsiteY3" fmla="*/ 567602 h 682341"/>
                <a:gd name="connsiteX4" fmla="*/ 80265 w 511232"/>
                <a:gd name="connsiteY4" fmla="*/ 640359 h 682341"/>
                <a:gd name="connsiteX5" fmla="*/ 13306 w 511232"/>
                <a:gd name="connsiteY5" fmla="*/ 274828 h 682341"/>
                <a:gd name="connsiteX6" fmla="*/ 140989 w 511232"/>
                <a:gd name="connsiteY6" fmla="*/ 107181 h 682341"/>
                <a:gd name="connsiteX7" fmla="*/ 390625 w 511232"/>
                <a:gd name="connsiteY7" fmla="*/ 1621 h 682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232" h="682341">
                  <a:moveTo>
                    <a:pt x="390625" y="1621"/>
                  </a:moveTo>
                  <a:cubicBezTo>
                    <a:pt x="446543" y="-5212"/>
                    <a:pt x="493343" y="8441"/>
                    <a:pt x="508142" y="64038"/>
                  </a:cubicBezTo>
                  <a:cubicBezTo>
                    <a:pt x="513192" y="82866"/>
                    <a:pt x="511134" y="102754"/>
                    <a:pt x="508453" y="121832"/>
                  </a:cubicBezTo>
                  <a:cubicBezTo>
                    <a:pt x="485324" y="287796"/>
                    <a:pt x="417242" y="443971"/>
                    <a:pt x="316492" y="567602"/>
                  </a:cubicBezTo>
                  <a:cubicBezTo>
                    <a:pt x="253024" y="645534"/>
                    <a:pt x="165055" y="737743"/>
                    <a:pt x="80265" y="640359"/>
                  </a:cubicBezTo>
                  <a:cubicBezTo>
                    <a:pt x="5014" y="553948"/>
                    <a:pt x="-17368" y="383621"/>
                    <a:pt x="13306" y="274828"/>
                  </a:cubicBezTo>
                  <a:cubicBezTo>
                    <a:pt x="33443" y="203318"/>
                    <a:pt x="83382" y="146521"/>
                    <a:pt x="140989" y="107181"/>
                  </a:cubicBezTo>
                  <a:cubicBezTo>
                    <a:pt x="178904" y="81308"/>
                    <a:pt x="297428" y="13010"/>
                    <a:pt x="390625" y="16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8" name="Freeform: Shape 27">
              <a:extLst>
                <a:ext uri="{FF2B5EF4-FFF2-40B4-BE49-F238E27FC236}">
                  <a16:creationId xmlns:a16="http://schemas.microsoft.com/office/drawing/2014/main" id="{319CDEE6-CB2F-49F0-B237-2A26A3D1DC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84524" y="3907536"/>
              <a:ext cx="132121" cy="93006"/>
            </a:xfrm>
            <a:custGeom>
              <a:avLst/>
              <a:gdLst>
                <a:gd name="connsiteX0" fmla="*/ 252822 w 466107"/>
                <a:gd name="connsiteY0" fmla="*/ 1539 h 328114"/>
                <a:gd name="connsiteX1" fmla="*/ 451641 w 466107"/>
                <a:gd name="connsiteY1" fmla="*/ 122177 h 328114"/>
                <a:gd name="connsiteX2" fmla="*/ 391790 w 466107"/>
                <a:gd name="connsiteY2" fmla="*/ 297430 h 328114"/>
                <a:gd name="connsiteX3" fmla="*/ 8614 w 466107"/>
                <a:gd name="connsiteY3" fmla="*/ 243252 h 328114"/>
                <a:gd name="connsiteX4" fmla="*/ 45897 w 466107"/>
                <a:gd name="connsiteY4" fmla="*/ 97302 h 328114"/>
                <a:gd name="connsiteX5" fmla="*/ 252822 w 466107"/>
                <a:gd name="connsiteY5" fmla="*/ 1539 h 328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107" h="328114">
                  <a:moveTo>
                    <a:pt x="252822" y="1539"/>
                  </a:moveTo>
                  <a:cubicBezTo>
                    <a:pt x="335429" y="-10494"/>
                    <a:pt x="418848" y="49794"/>
                    <a:pt x="451641" y="122177"/>
                  </a:cubicBezTo>
                  <a:cubicBezTo>
                    <a:pt x="479697" y="184273"/>
                    <a:pt x="470594" y="255285"/>
                    <a:pt x="391790" y="297430"/>
                  </a:cubicBezTo>
                  <a:cubicBezTo>
                    <a:pt x="301077" y="345935"/>
                    <a:pt x="55935" y="343254"/>
                    <a:pt x="8614" y="243252"/>
                  </a:cubicBezTo>
                  <a:cubicBezTo>
                    <a:pt x="-12895" y="197678"/>
                    <a:pt x="8240" y="136766"/>
                    <a:pt x="45897" y="97302"/>
                  </a:cubicBezTo>
                  <a:cubicBezTo>
                    <a:pt x="98704" y="42064"/>
                    <a:pt x="181872" y="11950"/>
                    <a:pt x="252822" y="1539"/>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9" name="Graphic 12">
              <a:extLst>
                <a:ext uri="{FF2B5EF4-FFF2-40B4-BE49-F238E27FC236}">
                  <a16:creationId xmlns:a16="http://schemas.microsoft.com/office/drawing/2014/main" id="{3DD82286-02D2-4210-A797-5D502D44A3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42141" y="3272152"/>
              <a:ext cx="180625" cy="158824"/>
            </a:xfrm>
            <a:custGeom>
              <a:avLst/>
              <a:gdLst>
                <a:gd name="connsiteX0" fmla="*/ 63289 w 3341477"/>
                <a:gd name="connsiteY0" fmla="*/ 1933384 h 2938167"/>
                <a:gd name="connsiteX1" fmla="*/ 263314 w 3341477"/>
                <a:gd name="connsiteY1" fmla="*/ 514159 h 2938167"/>
                <a:gd name="connsiteX2" fmla="*/ 1098276 w 3341477"/>
                <a:gd name="connsiteY2" fmla="*/ 952 h 2938167"/>
                <a:gd name="connsiteX3" fmla="*/ 2654089 w 3341477"/>
                <a:gd name="connsiteY3" fmla="*/ 371284 h 2938167"/>
                <a:gd name="connsiteX4" fmla="*/ 3219398 w 3341477"/>
                <a:gd name="connsiteY4" fmla="*/ 2080926 h 2938167"/>
                <a:gd name="connsiteX5" fmla="*/ 2044489 w 3341477"/>
                <a:gd name="connsiteY5" fmla="*/ 2933509 h 2938167"/>
                <a:gd name="connsiteX6" fmla="*/ 453814 w 3341477"/>
                <a:gd name="connsiteY6" fmla="*/ 2495359 h 2938167"/>
                <a:gd name="connsiteX7" fmla="*/ 63289 w 3341477"/>
                <a:gd name="connsiteY7" fmla="*/ 1933384 h 29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41477" h="2938167">
                  <a:moveTo>
                    <a:pt x="63289" y="1933384"/>
                  </a:moveTo>
                  <a:cubicBezTo>
                    <a:pt x="56717" y="1895856"/>
                    <a:pt x="-165311" y="914209"/>
                    <a:pt x="263314" y="514159"/>
                  </a:cubicBezTo>
                  <a:cubicBezTo>
                    <a:pt x="691939" y="114109"/>
                    <a:pt x="609262" y="11620"/>
                    <a:pt x="1098276" y="952"/>
                  </a:cubicBezTo>
                  <a:cubicBezTo>
                    <a:pt x="1587289" y="-9716"/>
                    <a:pt x="2320714" y="66484"/>
                    <a:pt x="2654089" y="371284"/>
                  </a:cubicBezTo>
                  <a:cubicBezTo>
                    <a:pt x="2987464" y="676084"/>
                    <a:pt x="3603732" y="1514094"/>
                    <a:pt x="3219398" y="2080926"/>
                  </a:cubicBezTo>
                  <a:cubicBezTo>
                    <a:pt x="2835064" y="2647759"/>
                    <a:pt x="2558839" y="2895409"/>
                    <a:pt x="2044489" y="2933509"/>
                  </a:cubicBezTo>
                  <a:cubicBezTo>
                    <a:pt x="1530139" y="2971609"/>
                    <a:pt x="701464" y="2771584"/>
                    <a:pt x="453814" y="2495359"/>
                  </a:cubicBezTo>
                  <a:cubicBezTo>
                    <a:pt x="206164" y="2219134"/>
                    <a:pt x="101389" y="2152459"/>
                    <a:pt x="63289" y="1933384"/>
                  </a:cubicBezTo>
                  <a:close/>
                </a:path>
              </a:pathLst>
            </a:custGeom>
            <a:grpFill/>
            <a:ln w="9525" cap="flat">
              <a:noFill/>
              <a:prstDash val="solid"/>
              <a:miter/>
            </a:ln>
          </p:spPr>
          <p:txBody>
            <a:bodyPr rtlCol="0" anchor="ctr"/>
            <a:lstStyle/>
            <a:p>
              <a:endParaRPr lang="en-US"/>
            </a:p>
          </p:txBody>
        </p:sp>
        <p:sp>
          <p:nvSpPr>
            <p:cNvPr id="30" name="Graphic 15">
              <a:extLst>
                <a:ext uri="{FF2B5EF4-FFF2-40B4-BE49-F238E27FC236}">
                  <a16:creationId xmlns:a16="http://schemas.microsoft.com/office/drawing/2014/main" id="{735449F4-80DA-4E06-B3B6-B9F519F4A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02136" y="3379098"/>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31" name="Graphic 15">
              <a:extLst>
                <a:ext uri="{FF2B5EF4-FFF2-40B4-BE49-F238E27FC236}">
                  <a16:creationId xmlns:a16="http://schemas.microsoft.com/office/drawing/2014/main" id="{61FABA3B-05B6-433C-90F9-8D9691A84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8005" y="3504095"/>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1FEBA45-D0A3-4091-9956-161EDA21A0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43727" y="3666564"/>
              <a:ext cx="173527" cy="138496"/>
            </a:xfrm>
            <a:custGeom>
              <a:avLst/>
              <a:gdLst>
                <a:gd name="connsiteX0" fmla="*/ 237392 w 789043"/>
                <a:gd name="connsiteY0" fmla="*/ 81 h 629754"/>
                <a:gd name="connsiteX1" fmla="*/ 758692 w 789043"/>
                <a:gd name="connsiteY1" fmla="*/ 233550 h 629754"/>
                <a:gd name="connsiteX2" fmla="*/ 650647 w 789043"/>
                <a:gd name="connsiteY2" fmla="*/ 335111 h 629754"/>
                <a:gd name="connsiteX3" fmla="*/ 315041 w 789043"/>
                <a:gd name="connsiteY3" fmla="*/ 584992 h 629754"/>
                <a:gd name="connsiteX4" fmla="*/ 192159 w 789043"/>
                <a:gd name="connsiteY4" fmla="*/ 625953 h 629754"/>
                <a:gd name="connsiteX5" fmla="*/ 124264 w 789043"/>
                <a:gd name="connsiteY5" fmla="*/ 552260 h 629754"/>
                <a:gd name="connsiteX6" fmla="*/ 1631 w 789043"/>
                <a:gd name="connsiteY6" fmla="*/ 133735 h 629754"/>
                <a:gd name="connsiteX7" fmla="*/ 35422 w 789043"/>
                <a:gd name="connsiteY7" fmla="*/ 14157 h 629754"/>
                <a:gd name="connsiteX8" fmla="*/ 113728 w 789043"/>
                <a:gd name="connsiteY8" fmla="*/ 378 h 629754"/>
                <a:gd name="connsiteX9" fmla="*/ 237392 w 789043"/>
                <a:gd name="connsiteY9" fmla="*/ 81 h 629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043" h="629754">
                  <a:moveTo>
                    <a:pt x="237392" y="81"/>
                  </a:moveTo>
                  <a:cubicBezTo>
                    <a:pt x="474795" y="-992"/>
                    <a:pt x="907215" y="10463"/>
                    <a:pt x="758692" y="233550"/>
                  </a:cubicBezTo>
                  <a:cubicBezTo>
                    <a:pt x="731135" y="274948"/>
                    <a:pt x="690486" y="305435"/>
                    <a:pt x="650647" y="335111"/>
                  </a:cubicBezTo>
                  <a:cubicBezTo>
                    <a:pt x="538737" y="418405"/>
                    <a:pt x="426889" y="501698"/>
                    <a:pt x="315041" y="584992"/>
                  </a:cubicBezTo>
                  <a:cubicBezTo>
                    <a:pt x="278943" y="611863"/>
                    <a:pt x="234865" y="640167"/>
                    <a:pt x="192159" y="625953"/>
                  </a:cubicBezTo>
                  <a:cubicBezTo>
                    <a:pt x="159614" y="615105"/>
                    <a:pt x="139851" y="582810"/>
                    <a:pt x="124264" y="552260"/>
                  </a:cubicBezTo>
                  <a:cubicBezTo>
                    <a:pt x="57742" y="422021"/>
                    <a:pt x="15908" y="279250"/>
                    <a:pt x="1631" y="133735"/>
                  </a:cubicBezTo>
                  <a:cubicBezTo>
                    <a:pt x="-2671" y="90343"/>
                    <a:pt x="-676" y="38596"/>
                    <a:pt x="35422" y="14157"/>
                  </a:cubicBezTo>
                  <a:cubicBezTo>
                    <a:pt x="57804" y="-931"/>
                    <a:pt x="86795" y="-557"/>
                    <a:pt x="113728" y="378"/>
                  </a:cubicBezTo>
                  <a:cubicBezTo>
                    <a:pt x="138207" y="1243"/>
                    <a:pt x="182606" y="328"/>
                    <a:pt x="237392" y="8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TextBox 5">
            <a:extLst>
              <a:ext uri="{FF2B5EF4-FFF2-40B4-BE49-F238E27FC236}">
                <a16:creationId xmlns:a16="http://schemas.microsoft.com/office/drawing/2014/main" id="{3B2730CD-E6E8-C2B8-F554-4C448A8AA0AF}"/>
              </a:ext>
            </a:extLst>
          </p:cNvPr>
          <p:cNvSpPr txBox="1"/>
          <p:nvPr/>
        </p:nvSpPr>
        <p:spPr>
          <a:xfrm>
            <a:off x="8822842" y="4775400"/>
            <a:ext cx="2791149" cy="200055"/>
          </a:xfrm>
          <a:prstGeom prst="rect">
            <a:avLst/>
          </a:prstGeom>
          <a:solidFill>
            <a:srgbClr val="000000"/>
          </a:solidFill>
        </p:spPr>
        <p:txBody>
          <a:bodyPr wrap="none" rtlCol="0">
            <a:spAutoFit/>
          </a:bodyPr>
          <a:lstStyle/>
          <a:p>
            <a:pPr algn="r">
              <a:spcAft>
                <a:spcPts val="600"/>
              </a:spcAft>
            </a:pPr>
            <a:r>
              <a:rPr lang="es-ES_tradnl" sz="700">
                <a:solidFill>
                  <a:srgbClr val="FFFFFF"/>
                </a:solidFill>
                <a:hlinkClick r:id="rId4" tooltip="https://mappingignorance.org/2017/05/10/sexual-differences-in-the-human-brain/">
                  <a:extLst>
                    <a:ext uri="{A12FA001-AC4F-418D-AE19-62706E023703}">
                      <ahyp:hlinkClr xmlns:ahyp="http://schemas.microsoft.com/office/drawing/2018/hyperlinkcolor" val="tx"/>
                    </a:ext>
                  </a:extLst>
                </a:hlinkClick>
              </a:rPr>
              <a:t>This Photo</a:t>
            </a:r>
            <a:r>
              <a:rPr lang="es-ES_tradnl" sz="700">
                <a:solidFill>
                  <a:srgbClr val="FFFFFF"/>
                </a:solidFill>
              </a:rPr>
              <a:t> by Unknown Author is licensed under </a:t>
            </a:r>
            <a:r>
              <a:rPr lang="es-ES_tradnl" sz="700">
                <a:solidFill>
                  <a:srgbClr val="FFFFFF"/>
                </a:solidFill>
                <a:hlinkClick r:id="rId5" tooltip="https://creativecommons.org/licenses/by-nc-nd/3.0/">
                  <a:extLst>
                    <a:ext uri="{A12FA001-AC4F-418D-AE19-62706E023703}">
                      <ahyp:hlinkClr xmlns:ahyp="http://schemas.microsoft.com/office/drawing/2018/hyperlinkcolor" val="tx"/>
                    </a:ext>
                  </a:extLst>
                </a:hlinkClick>
              </a:rPr>
              <a:t>CC BY-NC-ND</a:t>
            </a:r>
            <a:endParaRPr lang="es-ES_tradnl" sz="700">
              <a:solidFill>
                <a:srgbClr val="FFFFFF"/>
              </a:solidFill>
            </a:endParaRPr>
          </a:p>
        </p:txBody>
      </p:sp>
    </p:spTree>
    <p:extLst>
      <p:ext uri="{BB962C8B-B14F-4D97-AF65-F5344CB8AC3E}">
        <p14:creationId xmlns:p14="http://schemas.microsoft.com/office/powerpoint/2010/main" val="38230012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2F9C493A-9F03-49B4-B3FB-19CE5AC11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2" name="Title 1">
            <a:extLst>
              <a:ext uri="{FF2B5EF4-FFF2-40B4-BE49-F238E27FC236}">
                <a16:creationId xmlns:a16="http://schemas.microsoft.com/office/drawing/2014/main" id="{F8BAB400-0A41-E599-E03D-21BC382B37A7}"/>
              </a:ext>
            </a:extLst>
          </p:cNvPr>
          <p:cNvSpPr>
            <a:spLocks noGrp="1"/>
          </p:cNvSpPr>
          <p:nvPr>
            <p:ph type="title"/>
          </p:nvPr>
        </p:nvSpPr>
        <p:spPr>
          <a:xfrm>
            <a:off x="525717" y="787068"/>
            <a:ext cx="4663649" cy="1455091"/>
          </a:xfrm>
        </p:spPr>
        <p:txBody>
          <a:bodyPr>
            <a:normAutofit/>
          </a:bodyPr>
          <a:lstStyle/>
          <a:p>
            <a:r>
              <a:rPr lang="es-ES_tradnl" dirty="0"/>
              <a:t>2. Sexo como rol (psicología)</a:t>
            </a:r>
          </a:p>
        </p:txBody>
      </p:sp>
      <p:sp>
        <p:nvSpPr>
          <p:cNvPr id="17" name="Freeform: Shape 16">
            <a:extLst>
              <a:ext uri="{FF2B5EF4-FFF2-40B4-BE49-F238E27FC236}">
                <a16:creationId xmlns:a16="http://schemas.microsoft.com/office/drawing/2014/main" id="{90A46C7D-C1BB-49B8-8D37-39742820E9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15182" y="-615181"/>
            <a:ext cx="1085312" cy="2315675"/>
          </a:xfrm>
          <a:custGeom>
            <a:avLst/>
            <a:gdLst>
              <a:gd name="connsiteX0" fmla="*/ 0 w 1085312"/>
              <a:gd name="connsiteY0" fmla="*/ 2315675 h 2315675"/>
              <a:gd name="connsiteX1" fmla="*/ 0 w 1085312"/>
              <a:gd name="connsiteY1" fmla="*/ 0 h 2315675"/>
              <a:gd name="connsiteX2" fmla="*/ 53089 w 1085312"/>
              <a:gd name="connsiteY2" fmla="*/ 4542 h 2315675"/>
              <a:gd name="connsiteX3" fmla="*/ 790077 w 1085312"/>
              <a:gd name="connsiteY3" fmla="*/ 872756 h 2315675"/>
              <a:gd name="connsiteX4" fmla="*/ 1085252 w 1085312"/>
              <a:gd name="connsiteY4" fmla="*/ 1943649 h 2315675"/>
              <a:gd name="connsiteX5" fmla="*/ 1064832 w 1085312"/>
              <a:gd name="connsiteY5" fmla="*/ 2198094 h 2315675"/>
              <a:gd name="connsiteX6" fmla="*/ 1043734 w 1085312"/>
              <a:gd name="connsiteY6" fmla="*/ 2315675 h 2315675"/>
              <a:gd name="connsiteX7" fmla="*/ 0 w 1085312"/>
              <a:gd name="connsiteY7" fmla="*/ 2315675 h 2315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5312" h="2315675">
                <a:moveTo>
                  <a:pt x="0" y="2315675"/>
                </a:moveTo>
                <a:lnTo>
                  <a:pt x="0" y="0"/>
                </a:lnTo>
                <a:lnTo>
                  <a:pt x="53089" y="4542"/>
                </a:lnTo>
                <a:cubicBezTo>
                  <a:pt x="405263" y="73503"/>
                  <a:pt x="612623" y="486635"/>
                  <a:pt x="790077" y="872756"/>
                </a:cubicBezTo>
                <a:cubicBezTo>
                  <a:pt x="937425" y="1193596"/>
                  <a:pt x="1088787" y="1533232"/>
                  <a:pt x="1085252" y="1943649"/>
                </a:cubicBezTo>
                <a:cubicBezTo>
                  <a:pt x="1084528" y="2029058"/>
                  <a:pt x="1077341" y="2113833"/>
                  <a:pt x="1064832" y="2198094"/>
                </a:cubicBezTo>
                <a:lnTo>
                  <a:pt x="1043734" y="2315675"/>
                </a:lnTo>
                <a:lnTo>
                  <a:pt x="0" y="2315675"/>
                </a:lnTo>
                <a:close/>
              </a:path>
            </a:pathLst>
          </a:custGeom>
          <a:solidFill>
            <a:schemeClr val="accent6">
              <a:lumMod val="40000"/>
              <a:lumOff val="6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9" name="Graphic 78">
            <a:extLst>
              <a:ext uri="{FF2B5EF4-FFF2-40B4-BE49-F238E27FC236}">
                <a16:creationId xmlns:a16="http://schemas.microsoft.com/office/drawing/2014/main" id="{61BBAB6F-65E6-4E2B-B363-6AB27C84E0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25717" y="2585111"/>
            <a:ext cx="972241" cy="45718"/>
            <a:chOff x="4886325" y="3371754"/>
            <a:chExt cx="2418492" cy="113728"/>
          </a:xfrm>
          <a:solidFill>
            <a:schemeClr val="accent1"/>
          </a:solidFill>
        </p:grpSpPr>
        <p:sp>
          <p:nvSpPr>
            <p:cNvPr id="20" name="Graphic 78">
              <a:extLst>
                <a:ext uri="{FF2B5EF4-FFF2-40B4-BE49-F238E27FC236}">
                  <a16:creationId xmlns:a16="http://schemas.microsoft.com/office/drawing/2014/main" id="{6DA3BBB2-E620-4C13-98C9-FE1EF7D2ED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325" y="3428428"/>
              <a:ext cx="2418302" cy="9525"/>
            </a:xfrm>
            <a:custGeom>
              <a:avLst/>
              <a:gdLst>
                <a:gd name="connsiteX0" fmla="*/ 0 w 2418302"/>
                <a:gd name="connsiteY0" fmla="*/ 0 h 9525"/>
                <a:gd name="connsiteX1" fmla="*/ 2418302 w 2418302"/>
                <a:gd name="connsiteY1" fmla="*/ 0 h 9525"/>
              </a:gdLst>
              <a:ahLst/>
              <a:cxnLst>
                <a:cxn ang="0">
                  <a:pos x="connsiteX0" y="connsiteY0"/>
                </a:cxn>
                <a:cxn ang="0">
                  <a:pos x="connsiteX1" y="connsiteY1"/>
                </a:cxn>
              </a:cxnLst>
              <a:rect l="l" t="t" r="r" b="b"/>
              <a:pathLst>
                <a:path w="2418302" h="9525">
                  <a:moveTo>
                    <a:pt x="0" y="0"/>
                  </a:moveTo>
                  <a:lnTo>
                    <a:pt x="2418302" y="0"/>
                  </a:lnTo>
                </a:path>
              </a:pathLst>
            </a:custGeom>
            <a:grpFill/>
            <a:ln w="9525" cap="flat">
              <a:noFill/>
              <a:prstDash val="solid"/>
              <a:miter/>
            </a:ln>
          </p:spPr>
          <p:txBody>
            <a:bodyPr rtlCol="0" anchor="ctr"/>
            <a:lstStyle/>
            <a:p>
              <a:pPr algn="ctr"/>
              <a:endParaRPr lang="en-US"/>
            </a:p>
          </p:txBody>
        </p:sp>
        <p:grpSp>
          <p:nvGrpSpPr>
            <p:cNvPr id="21" name="Graphic 78">
              <a:extLst>
                <a:ext uri="{FF2B5EF4-FFF2-40B4-BE49-F238E27FC236}">
                  <a16:creationId xmlns:a16="http://schemas.microsoft.com/office/drawing/2014/main" id="{ADC9AB5D-88A1-4FA9-B467-E8EF8FFE5B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4886709" y="3371754"/>
              <a:ext cx="2418108" cy="113728"/>
              <a:chOff x="4886709" y="3371754"/>
              <a:chExt cx="2418108" cy="113728"/>
            </a:xfrm>
            <a:grpFill/>
          </p:grpSpPr>
          <p:sp>
            <p:nvSpPr>
              <p:cNvPr id="22" name="Graphic 78">
                <a:extLst>
                  <a:ext uri="{FF2B5EF4-FFF2-40B4-BE49-F238E27FC236}">
                    <a16:creationId xmlns:a16="http://schemas.microsoft.com/office/drawing/2014/main" id="{0867B8E5-4535-4743-8235-6612FEA410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95088" y="3474384"/>
                <a:ext cx="32575" cy="2906"/>
              </a:xfrm>
              <a:custGeom>
                <a:avLst/>
                <a:gdLst>
                  <a:gd name="connsiteX0" fmla="*/ 0 w 32575"/>
                  <a:gd name="connsiteY0" fmla="*/ 49 h 2906"/>
                  <a:gd name="connsiteX1" fmla="*/ 32576 w 32575"/>
                  <a:gd name="connsiteY1" fmla="*/ 2907 h 2906"/>
                  <a:gd name="connsiteX2" fmla="*/ 0 w 32575"/>
                  <a:gd name="connsiteY2" fmla="*/ 49 h 2906"/>
                </a:gdLst>
                <a:ahLst/>
                <a:cxnLst>
                  <a:cxn ang="0">
                    <a:pos x="connsiteX0" y="connsiteY0"/>
                  </a:cxn>
                  <a:cxn ang="0">
                    <a:pos x="connsiteX1" y="connsiteY1"/>
                  </a:cxn>
                  <a:cxn ang="0">
                    <a:pos x="connsiteX2" y="connsiteY2"/>
                  </a:cxn>
                </a:cxnLst>
                <a:rect l="l" t="t" r="r" b="b"/>
                <a:pathLst>
                  <a:path w="32575" h="2906">
                    <a:moveTo>
                      <a:pt x="0" y="49"/>
                    </a:moveTo>
                    <a:cubicBezTo>
                      <a:pt x="7430" y="2335"/>
                      <a:pt x="20384" y="2526"/>
                      <a:pt x="32576" y="2907"/>
                    </a:cubicBezTo>
                    <a:cubicBezTo>
                      <a:pt x="23146" y="716"/>
                      <a:pt x="13240" y="-236"/>
                      <a:pt x="0" y="49"/>
                    </a:cubicBezTo>
                    <a:close/>
                  </a:path>
                </a:pathLst>
              </a:custGeom>
              <a:grpFill/>
              <a:ln w="9525" cap="flat">
                <a:noFill/>
                <a:prstDash val="solid"/>
                <a:miter/>
              </a:ln>
            </p:spPr>
            <p:txBody>
              <a:bodyPr rtlCol="0" anchor="ctr"/>
              <a:lstStyle/>
              <a:p>
                <a:pPr algn="ctr"/>
                <a:endParaRPr lang="en-US"/>
              </a:p>
            </p:txBody>
          </p:sp>
          <p:sp>
            <p:nvSpPr>
              <p:cNvPr id="23" name="Graphic 78">
                <a:extLst>
                  <a:ext uri="{FF2B5EF4-FFF2-40B4-BE49-F238E27FC236}">
                    <a16:creationId xmlns:a16="http://schemas.microsoft.com/office/drawing/2014/main" id="{BE48FEA7-5915-4751-8090-63F309432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27758" y="3477344"/>
                <a:ext cx="380" cy="42"/>
              </a:xfrm>
              <a:custGeom>
                <a:avLst/>
                <a:gdLst>
                  <a:gd name="connsiteX0" fmla="*/ 190 w 380"/>
                  <a:gd name="connsiteY0" fmla="*/ 42 h 42"/>
                  <a:gd name="connsiteX1" fmla="*/ 381 w 380"/>
                  <a:gd name="connsiteY1" fmla="*/ 42 h 42"/>
                  <a:gd name="connsiteX2" fmla="*/ 0 w 380"/>
                  <a:gd name="connsiteY2" fmla="*/ 42 h 42"/>
                  <a:gd name="connsiteX3" fmla="*/ 190 w 380"/>
                  <a:gd name="connsiteY3" fmla="*/ 42 h 42"/>
                </a:gdLst>
                <a:ahLst/>
                <a:cxnLst>
                  <a:cxn ang="0">
                    <a:pos x="connsiteX0" y="connsiteY0"/>
                  </a:cxn>
                  <a:cxn ang="0">
                    <a:pos x="connsiteX1" y="connsiteY1"/>
                  </a:cxn>
                  <a:cxn ang="0">
                    <a:pos x="connsiteX2" y="connsiteY2"/>
                  </a:cxn>
                  <a:cxn ang="0">
                    <a:pos x="connsiteX3" y="connsiteY3"/>
                  </a:cxn>
                </a:cxnLst>
                <a:rect l="l" t="t" r="r" b="b"/>
                <a:pathLst>
                  <a:path w="380" h="42">
                    <a:moveTo>
                      <a:pt x="190" y="42"/>
                    </a:moveTo>
                    <a:cubicBezTo>
                      <a:pt x="190" y="42"/>
                      <a:pt x="286" y="42"/>
                      <a:pt x="381" y="42"/>
                    </a:cubicBezTo>
                    <a:cubicBezTo>
                      <a:pt x="190" y="42"/>
                      <a:pt x="95" y="42"/>
                      <a:pt x="0" y="42"/>
                    </a:cubicBezTo>
                    <a:cubicBezTo>
                      <a:pt x="0" y="-53"/>
                      <a:pt x="95" y="42"/>
                      <a:pt x="190" y="42"/>
                    </a:cubicBezTo>
                    <a:close/>
                  </a:path>
                </a:pathLst>
              </a:custGeom>
              <a:grpFill/>
              <a:ln w="9525" cap="flat">
                <a:noFill/>
                <a:prstDash val="solid"/>
                <a:miter/>
              </a:ln>
            </p:spPr>
            <p:txBody>
              <a:bodyPr rtlCol="0" anchor="ctr"/>
              <a:lstStyle/>
              <a:p>
                <a:pPr algn="ctr"/>
                <a:endParaRPr lang="en-US"/>
              </a:p>
            </p:txBody>
          </p:sp>
          <p:sp>
            <p:nvSpPr>
              <p:cNvPr id="24" name="Graphic 78">
                <a:extLst>
                  <a:ext uri="{FF2B5EF4-FFF2-40B4-BE49-F238E27FC236}">
                    <a16:creationId xmlns:a16="http://schemas.microsoft.com/office/drawing/2014/main" id="{32B378CE-44FD-4120-B9ED-7828D4EE9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285577" y="3374517"/>
                <a:ext cx="10001" cy="190"/>
              </a:xfrm>
              <a:custGeom>
                <a:avLst/>
                <a:gdLst>
                  <a:gd name="connsiteX0" fmla="*/ 10001 w 10001"/>
                  <a:gd name="connsiteY0" fmla="*/ 0 h 190"/>
                  <a:gd name="connsiteX1" fmla="*/ 0 w 10001"/>
                  <a:gd name="connsiteY1" fmla="*/ 191 h 190"/>
                  <a:gd name="connsiteX2" fmla="*/ 10001 w 10001"/>
                  <a:gd name="connsiteY2" fmla="*/ 0 h 190"/>
                </a:gdLst>
                <a:ahLst/>
                <a:cxnLst>
                  <a:cxn ang="0">
                    <a:pos x="connsiteX0" y="connsiteY0"/>
                  </a:cxn>
                  <a:cxn ang="0">
                    <a:pos x="connsiteX1" y="connsiteY1"/>
                  </a:cxn>
                  <a:cxn ang="0">
                    <a:pos x="connsiteX2" y="connsiteY2"/>
                  </a:cxn>
                </a:cxnLst>
                <a:rect l="l" t="t" r="r" b="b"/>
                <a:pathLst>
                  <a:path w="10001" h="190">
                    <a:moveTo>
                      <a:pt x="10001" y="0"/>
                    </a:moveTo>
                    <a:cubicBezTo>
                      <a:pt x="6953" y="0"/>
                      <a:pt x="3524" y="95"/>
                      <a:pt x="0" y="191"/>
                    </a:cubicBezTo>
                    <a:cubicBezTo>
                      <a:pt x="3334" y="191"/>
                      <a:pt x="6763" y="191"/>
                      <a:pt x="10001" y="0"/>
                    </a:cubicBezTo>
                    <a:close/>
                  </a:path>
                </a:pathLst>
              </a:custGeom>
              <a:grpFill/>
              <a:ln w="9525" cap="flat">
                <a:noFill/>
                <a:prstDash val="solid"/>
                <a:miter/>
              </a:ln>
            </p:spPr>
            <p:txBody>
              <a:bodyPr rtlCol="0" anchor="ctr"/>
              <a:lstStyle/>
              <a:p>
                <a:pPr algn="ctr"/>
                <a:endParaRPr lang="en-US"/>
              </a:p>
            </p:txBody>
          </p:sp>
          <p:sp>
            <p:nvSpPr>
              <p:cNvPr id="25" name="Graphic 78">
                <a:extLst>
                  <a:ext uri="{FF2B5EF4-FFF2-40B4-BE49-F238E27FC236}">
                    <a16:creationId xmlns:a16="http://schemas.microsoft.com/office/drawing/2014/main" id="{40FA43D3-D34B-4BC7-80D0-F3E75A222A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886709" y="3371754"/>
                <a:ext cx="2418108" cy="113728"/>
              </a:xfrm>
              <a:custGeom>
                <a:avLst/>
                <a:gdLst>
                  <a:gd name="connsiteX0" fmla="*/ 632266 w 2418108"/>
                  <a:gd name="connsiteY0" fmla="*/ 112205 h 113728"/>
                  <a:gd name="connsiteX1" fmla="*/ 723039 w 2418108"/>
                  <a:gd name="connsiteY1" fmla="*/ 109538 h 113728"/>
                  <a:gd name="connsiteX2" fmla="*/ 735136 w 2418108"/>
                  <a:gd name="connsiteY2" fmla="*/ 111823 h 113728"/>
                  <a:gd name="connsiteX3" fmla="*/ 752471 w 2418108"/>
                  <a:gd name="connsiteY3" fmla="*/ 108680 h 113728"/>
                  <a:gd name="connsiteX4" fmla="*/ 772569 w 2418108"/>
                  <a:gd name="connsiteY4" fmla="*/ 110585 h 113728"/>
                  <a:gd name="connsiteX5" fmla="*/ 1112993 w 2418108"/>
                  <a:gd name="connsiteY5" fmla="*/ 112967 h 113728"/>
                  <a:gd name="connsiteX6" fmla="*/ 1083465 w 2418108"/>
                  <a:gd name="connsiteY6" fmla="*/ 108776 h 113728"/>
                  <a:gd name="connsiteX7" fmla="*/ 1296825 w 2418108"/>
                  <a:gd name="connsiteY7" fmla="*/ 108966 h 113728"/>
                  <a:gd name="connsiteX8" fmla="*/ 1346736 w 2418108"/>
                  <a:gd name="connsiteY8" fmla="*/ 103632 h 113728"/>
                  <a:gd name="connsiteX9" fmla="*/ 1360643 w 2418108"/>
                  <a:gd name="connsiteY9" fmla="*/ 107633 h 113728"/>
                  <a:gd name="connsiteX10" fmla="*/ 1381788 w 2418108"/>
                  <a:gd name="connsiteY10" fmla="*/ 107442 h 113728"/>
                  <a:gd name="connsiteX11" fmla="*/ 1371692 w 2418108"/>
                  <a:gd name="connsiteY11" fmla="*/ 106490 h 113728"/>
                  <a:gd name="connsiteX12" fmla="*/ 1430080 w 2418108"/>
                  <a:gd name="connsiteY12" fmla="*/ 105537 h 113728"/>
                  <a:gd name="connsiteX13" fmla="*/ 1420269 w 2418108"/>
                  <a:gd name="connsiteY13" fmla="*/ 104108 h 113728"/>
                  <a:gd name="connsiteX14" fmla="*/ 1455702 w 2418108"/>
                  <a:gd name="connsiteY14" fmla="*/ 107061 h 113728"/>
                  <a:gd name="connsiteX15" fmla="*/ 1439414 w 2418108"/>
                  <a:gd name="connsiteY15" fmla="*/ 108109 h 113728"/>
                  <a:gd name="connsiteX16" fmla="*/ 1503613 w 2418108"/>
                  <a:gd name="connsiteY16" fmla="*/ 105918 h 113728"/>
                  <a:gd name="connsiteX17" fmla="*/ 1495802 w 2418108"/>
                  <a:gd name="connsiteY17" fmla="*/ 105823 h 113728"/>
                  <a:gd name="connsiteX18" fmla="*/ 1695923 w 2418108"/>
                  <a:gd name="connsiteY18" fmla="*/ 95155 h 113728"/>
                  <a:gd name="connsiteX19" fmla="*/ 1684016 w 2418108"/>
                  <a:gd name="connsiteY19" fmla="*/ 92488 h 113728"/>
                  <a:gd name="connsiteX20" fmla="*/ 1706210 w 2418108"/>
                  <a:gd name="connsiteY20" fmla="*/ 90202 h 113728"/>
                  <a:gd name="connsiteX21" fmla="*/ 1693351 w 2418108"/>
                  <a:gd name="connsiteY21" fmla="*/ 98108 h 113728"/>
                  <a:gd name="connsiteX22" fmla="*/ 2058539 w 2418108"/>
                  <a:gd name="connsiteY22" fmla="*/ 102203 h 113728"/>
                  <a:gd name="connsiteX23" fmla="*/ 2064540 w 2418108"/>
                  <a:gd name="connsiteY23" fmla="*/ 95060 h 113728"/>
                  <a:gd name="connsiteX24" fmla="*/ 2227132 w 2418108"/>
                  <a:gd name="connsiteY24" fmla="*/ 96203 h 113728"/>
                  <a:gd name="connsiteX25" fmla="*/ 2245229 w 2418108"/>
                  <a:gd name="connsiteY25" fmla="*/ 96869 h 113728"/>
                  <a:gd name="connsiteX26" fmla="*/ 2254278 w 2418108"/>
                  <a:gd name="connsiteY26" fmla="*/ 94393 h 113728"/>
                  <a:gd name="connsiteX27" fmla="*/ 2418108 w 2418108"/>
                  <a:gd name="connsiteY27" fmla="*/ 5810 h 113728"/>
                  <a:gd name="connsiteX28" fmla="*/ 2399058 w 2418108"/>
                  <a:gd name="connsiteY28" fmla="*/ 2858 h 113728"/>
                  <a:gd name="connsiteX29" fmla="*/ 2241039 w 2418108"/>
                  <a:gd name="connsiteY29" fmla="*/ 1905 h 113728"/>
                  <a:gd name="connsiteX30" fmla="*/ 2243991 w 2418108"/>
                  <a:gd name="connsiteY30" fmla="*/ 1048 h 113728"/>
                  <a:gd name="connsiteX31" fmla="*/ 2197128 w 2418108"/>
                  <a:gd name="connsiteY31" fmla="*/ 0 h 113728"/>
                  <a:gd name="connsiteX32" fmla="*/ 1710591 w 2418108"/>
                  <a:gd name="connsiteY32" fmla="*/ 6287 h 113728"/>
                  <a:gd name="connsiteX33" fmla="*/ 1713353 w 2418108"/>
                  <a:gd name="connsiteY33" fmla="*/ 5906 h 113728"/>
                  <a:gd name="connsiteX34" fmla="*/ 1210814 w 2418108"/>
                  <a:gd name="connsiteY34" fmla="*/ 7715 h 113728"/>
                  <a:gd name="connsiteX35" fmla="*/ 684463 w 2418108"/>
                  <a:gd name="connsiteY35" fmla="*/ 13716 h 113728"/>
                  <a:gd name="connsiteX36" fmla="*/ 687511 w 2418108"/>
                  <a:gd name="connsiteY36" fmla="*/ 12859 h 113728"/>
                  <a:gd name="connsiteX37" fmla="*/ 435670 w 2418108"/>
                  <a:gd name="connsiteY37" fmla="*/ 12192 h 113728"/>
                  <a:gd name="connsiteX38" fmla="*/ 440718 w 2418108"/>
                  <a:gd name="connsiteY38" fmla="*/ 12668 h 113728"/>
                  <a:gd name="connsiteX39" fmla="*/ 386807 w 2418108"/>
                  <a:gd name="connsiteY39" fmla="*/ 9906 h 113728"/>
                  <a:gd name="connsiteX40" fmla="*/ 16856 w 2418108"/>
                  <a:gd name="connsiteY40" fmla="*/ 12192 h 113728"/>
                  <a:gd name="connsiteX41" fmla="*/ 63528 w 2418108"/>
                  <a:gd name="connsiteY41" fmla="*/ 102870 h 113728"/>
                  <a:gd name="connsiteX42" fmla="*/ 42668 w 2418108"/>
                  <a:gd name="connsiteY42" fmla="*/ 102584 h 113728"/>
                  <a:gd name="connsiteX43" fmla="*/ 41430 w 2418108"/>
                  <a:gd name="connsiteY43" fmla="*/ 105537 h 113728"/>
                  <a:gd name="connsiteX44" fmla="*/ 54575 w 2418108"/>
                  <a:gd name="connsiteY44" fmla="*/ 105347 h 113728"/>
                  <a:gd name="connsiteX45" fmla="*/ 388140 w 2418108"/>
                  <a:gd name="connsiteY45" fmla="*/ 112109 h 113728"/>
                  <a:gd name="connsiteX46" fmla="*/ 482152 w 2418108"/>
                  <a:gd name="connsiteY46" fmla="*/ 113729 h 113728"/>
                  <a:gd name="connsiteX47" fmla="*/ 632266 w 2418108"/>
                  <a:gd name="connsiteY47" fmla="*/ 112205 h 113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418108" h="113728">
                    <a:moveTo>
                      <a:pt x="632266" y="112205"/>
                    </a:moveTo>
                    <a:cubicBezTo>
                      <a:pt x="656364" y="104680"/>
                      <a:pt x="694940" y="114110"/>
                      <a:pt x="723039" y="109538"/>
                    </a:cubicBezTo>
                    <a:cubicBezTo>
                      <a:pt x="722849" y="109919"/>
                      <a:pt x="735898" y="110109"/>
                      <a:pt x="735136" y="111823"/>
                    </a:cubicBezTo>
                    <a:cubicBezTo>
                      <a:pt x="735041" y="108776"/>
                      <a:pt x="767616" y="112300"/>
                      <a:pt x="752471" y="108680"/>
                    </a:cubicBezTo>
                    <a:cubicBezTo>
                      <a:pt x="754757" y="107633"/>
                      <a:pt x="790571" y="107633"/>
                      <a:pt x="772569" y="110585"/>
                    </a:cubicBezTo>
                    <a:cubicBezTo>
                      <a:pt x="822099" y="111633"/>
                      <a:pt x="1059653" y="114395"/>
                      <a:pt x="1112993" y="112967"/>
                    </a:cubicBezTo>
                    <a:cubicBezTo>
                      <a:pt x="1106135" y="110776"/>
                      <a:pt x="1089656" y="112205"/>
                      <a:pt x="1083465" y="108776"/>
                    </a:cubicBezTo>
                    <a:cubicBezTo>
                      <a:pt x="1153950" y="111728"/>
                      <a:pt x="1230626" y="113157"/>
                      <a:pt x="1296825" y="108966"/>
                    </a:cubicBezTo>
                    <a:cubicBezTo>
                      <a:pt x="1277680" y="103251"/>
                      <a:pt x="1356071" y="110966"/>
                      <a:pt x="1346736" y="103632"/>
                    </a:cubicBezTo>
                    <a:cubicBezTo>
                      <a:pt x="1351213" y="105347"/>
                      <a:pt x="1374454" y="106109"/>
                      <a:pt x="1360643" y="107633"/>
                    </a:cubicBezTo>
                    <a:cubicBezTo>
                      <a:pt x="1368548" y="107728"/>
                      <a:pt x="1376168" y="108299"/>
                      <a:pt x="1381788" y="107442"/>
                    </a:cubicBezTo>
                    <a:lnTo>
                      <a:pt x="1371692" y="106490"/>
                    </a:lnTo>
                    <a:cubicBezTo>
                      <a:pt x="1398266" y="106013"/>
                      <a:pt x="1412744" y="108680"/>
                      <a:pt x="1430080" y="105537"/>
                    </a:cubicBezTo>
                    <a:lnTo>
                      <a:pt x="1420269" y="104108"/>
                    </a:lnTo>
                    <a:cubicBezTo>
                      <a:pt x="1436176" y="103918"/>
                      <a:pt x="1449416" y="103632"/>
                      <a:pt x="1455702" y="107061"/>
                    </a:cubicBezTo>
                    <a:lnTo>
                      <a:pt x="1439414" y="108109"/>
                    </a:lnTo>
                    <a:cubicBezTo>
                      <a:pt x="1465799" y="108014"/>
                      <a:pt x="1481610" y="107823"/>
                      <a:pt x="1503613" y="105918"/>
                    </a:cubicBezTo>
                    <a:lnTo>
                      <a:pt x="1495802" y="105823"/>
                    </a:lnTo>
                    <a:cubicBezTo>
                      <a:pt x="1523806" y="102394"/>
                      <a:pt x="1670110" y="99441"/>
                      <a:pt x="1695923" y="95155"/>
                    </a:cubicBezTo>
                    <a:lnTo>
                      <a:pt x="1684016" y="92488"/>
                    </a:lnTo>
                    <a:lnTo>
                      <a:pt x="1706210" y="90202"/>
                    </a:lnTo>
                    <a:cubicBezTo>
                      <a:pt x="1703543" y="90202"/>
                      <a:pt x="1695542" y="98965"/>
                      <a:pt x="1693351" y="98108"/>
                    </a:cubicBezTo>
                    <a:cubicBezTo>
                      <a:pt x="1757549" y="99441"/>
                      <a:pt x="2045109" y="91345"/>
                      <a:pt x="2058539" y="102203"/>
                    </a:cubicBezTo>
                    <a:cubicBezTo>
                      <a:pt x="2079780" y="101917"/>
                      <a:pt x="2071303" y="103918"/>
                      <a:pt x="2064540" y="95060"/>
                    </a:cubicBezTo>
                    <a:cubicBezTo>
                      <a:pt x="2086638" y="95441"/>
                      <a:pt x="2259707" y="88773"/>
                      <a:pt x="2227132" y="96203"/>
                    </a:cubicBezTo>
                    <a:cubicBezTo>
                      <a:pt x="2232371" y="96298"/>
                      <a:pt x="2240372" y="95917"/>
                      <a:pt x="2245229" y="96869"/>
                    </a:cubicBezTo>
                    <a:cubicBezTo>
                      <a:pt x="2235704" y="94583"/>
                      <a:pt x="2261708" y="95345"/>
                      <a:pt x="2254278" y="94393"/>
                    </a:cubicBezTo>
                    <a:cubicBezTo>
                      <a:pt x="2395724" y="108776"/>
                      <a:pt x="2341527" y="36576"/>
                      <a:pt x="2418108" y="5810"/>
                    </a:cubicBezTo>
                    <a:cubicBezTo>
                      <a:pt x="2398772" y="4763"/>
                      <a:pt x="2335717" y="7239"/>
                      <a:pt x="2399058" y="2858"/>
                    </a:cubicBezTo>
                    <a:cubicBezTo>
                      <a:pt x="2343527" y="-572"/>
                      <a:pt x="2296283" y="1238"/>
                      <a:pt x="2241039" y="1905"/>
                    </a:cubicBezTo>
                    <a:lnTo>
                      <a:pt x="2243991" y="1048"/>
                    </a:lnTo>
                    <a:cubicBezTo>
                      <a:pt x="2234181" y="-381"/>
                      <a:pt x="2214845" y="1524"/>
                      <a:pt x="2197128" y="0"/>
                    </a:cubicBezTo>
                    <a:cubicBezTo>
                      <a:pt x="2115880" y="6096"/>
                      <a:pt x="1816128" y="3524"/>
                      <a:pt x="1710591" y="6287"/>
                    </a:cubicBezTo>
                    <a:lnTo>
                      <a:pt x="1713353" y="5906"/>
                    </a:lnTo>
                    <a:cubicBezTo>
                      <a:pt x="1577146" y="5429"/>
                      <a:pt x="1349308" y="11240"/>
                      <a:pt x="1210814" y="7715"/>
                    </a:cubicBezTo>
                    <a:cubicBezTo>
                      <a:pt x="1095848" y="23717"/>
                      <a:pt x="819051" y="5429"/>
                      <a:pt x="684463" y="13716"/>
                    </a:cubicBezTo>
                    <a:lnTo>
                      <a:pt x="687511" y="12859"/>
                    </a:lnTo>
                    <a:cubicBezTo>
                      <a:pt x="655316" y="14192"/>
                      <a:pt x="473008" y="10954"/>
                      <a:pt x="435670" y="12192"/>
                    </a:cubicBezTo>
                    <a:lnTo>
                      <a:pt x="440718" y="12668"/>
                    </a:lnTo>
                    <a:cubicBezTo>
                      <a:pt x="408047" y="14764"/>
                      <a:pt x="412524" y="11049"/>
                      <a:pt x="386807" y="9906"/>
                    </a:cubicBezTo>
                    <a:cubicBezTo>
                      <a:pt x="275174" y="28004"/>
                      <a:pt x="142395" y="18764"/>
                      <a:pt x="16856" y="12192"/>
                    </a:cubicBezTo>
                    <a:cubicBezTo>
                      <a:pt x="-6195" y="35528"/>
                      <a:pt x="-17434" y="114395"/>
                      <a:pt x="63528" y="102870"/>
                    </a:cubicBezTo>
                    <a:cubicBezTo>
                      <a:pt x="63528" y="102870"/>
                      <a:pt x="42668" y="102584"/>
                      <a:pt x="42668" y="102584"/>
                    </a:cubicBezTo>
                    <a:cubicBezTo>
                      <a:pt x="58004" y="103156"/>
                      <a:pt x="47336" y="104299"/>
                      <a:pt x="41430" y="105537"/>
                    </a:cubicBezTo>
                    <a:cubicBezTo>
                      <a:pt x="46764" y="105537"/>
                      <a:pt x="68386" y="107442"/>
                      <a:pt x="54575" y="105347"/>
                    </a:cubicBezTo>
                    <a:cubicBezTo>
                      <a:pt x="158588" y="108109"/>
                      <a:pt x="297462" y="110109"/>
                      <a:pt x="388140" y="112109"/>
                    </a:cubicBezTo>
                    <a:cubicBezTo>
                      <a:pt x="420525" y="113348"/>
                      <a:pt x="453577" y="106680"/>
                      <a:pt x="482152" y="113729"/>
                    </a:cubicBezTo>
                    <a:cubicBezTo>
                      <a:pt x="477580" y="111919"/>
                      <a:pt x="629885" y="111728"/>
                      <a:pt x="632266" y="112205"/>
                    </a:cubicBezTo>
                    <a:close/>
                  </a:path>
                </a:pathLst>
              </a:custGeom>
              <a:grpFill/>
              <a:ln w="9525" cap="flat">
                <a:noFill/>
                <a:prstDash val="solid"/>
                <a:miter/>
              </a:ln>
            </p:spPr>
            <p:txBody>
              <a:bodyPr rtlCol="0" anchor="ctr"/>
              <a:lstStyle/>
              <a:p>
                <a:pPr algn="ctr"/>
                <a:endParaRPr lang="en-US"/>
              </a:p>
            </p:txBody>
          </p:sp>
        </p:grpSp>
      </p:grpSp>
      <p:sp>
        <p:nvSpPr>
          <p:cNvPr id="3" name="Content Placeholder 2">
            <a:extLst>
              <a:ext uri="{FF2B5EF4-FFF2-40B4-BE49-F238E27FC236}">
                <a16:creationId xmlns:a16="http://schemas.microsoft.com/office/drawing/2014/main" id="{359A5A2D-4436-1930-C27A-FBE683F78E78}"/>
              </a:ext>
            </a:extLst>
          </p:cNvPr>
          <p:cNvSpPr>
            <a:spLocks noGrp="1"/>
          </p:cNvSpPr>
          <p:nvPr>
            <p:ph idx="1"/>
          </p:nvPr>
        </p:nvSpPr>
        <p:spPr>
          <a:xfrm>
            <a:off x="345701" y="2779384"/>
            <a:ext cx="6137503" cy="3672915"/>
          </a:xfrm>
        </p:spPr>
        <p:txBody>
          <a:bodyPr>
            <a:normAutofit lnSpcReduction="10000"/>
          </a:bodyPr>
          <a:lstStyle/>
          <a:p>
            <a:pPr marL="800100" indent="-342900">
              <a:lnSpc>
                <a:spcPct val="100000"/>
              </a:lnSpc>
              <a:buFont typeface="Arial" panose="020B0604020202020204" pitchFamily="34" charset="0"/>
              <a:buChar char="•"/>
            </a:pPr>
            <a:r>
              <a:rPr lang="es-ES_tradnl" dirty="0"/>
              <a:t>Desafía la idea de que la feminidad y masculinidad se pueden medir en escalas unidimensionales (polos opuestos)</a:t>
            </a:r>
          </a:p>
          <a:p>
            <a:pPr marL="800100" indent="-342900">
              <a:lnSpc>
                <a:spcPct val="100000"/>
              </a:lnSpc>
              <a:buFont typeface="Arial" panose="020B0604020202020204" pitchFamily="34" charset="0"/>
              <a:buChar char="•"/>
            </a:pPr>
            <a:r>
              <a:rPr lang="es-ES_tradnl" dirty="0" err="1"/>
              <a:t>Bem</a:t>
            </a:r>
            <a:r>
              <a:rPr lang="es-ES_tradnl" dirty="0"/>
              <a:t> planteo que la feminidad y masculinidad eran independientes del sexo de las personas; la masculinidad y feminidad son dimensiones paralelas.</a:t>
            </a:r>
          </a:p>
          <a:p>
            <a:pPr marL="800100" indent="-342900">
              <a:lnSpc>
                <a:spcPct val="100000"/>
              </a:lnSpc>
              <a:buFont typeface="Arial" panose="020B0604020202020204" pitchFamily="34" charset="0"/>
              <a:buChar char="•"/>
            </a:pPr>
            <a:r>
              <a:rPr lang="es-ES_tradnl" dirty="0"/>
              <a:t>Inicio del estudio de los estereotipos de género, diferencia entre los estereotipos descriptivos (lo que algo es) y los prescriptivos (lo que algo debe ser)</a:t>
            </a:r>
          </a:p>
          <a:p>
            <a:pPr>
              <a:lnSpc>
                <a:spcPct val="100000"/>
              </a:lnSpc>
            </a:pPr>
            <a:endParaRPr lang="es-ES_tradnl" dirty="0"/>
          </a:p>
        </p:txBody>
      </p:sp>
      <p:pic>
        <p:nvPicPr>
          <p:cNvPr id="10" name="Picture 9" descr="A white and red text with black text&#10;&#10;Description automatically generated with medium confidence">
            <a:extLst>
              <a:ext uri="{FF2B5EF4-FFF2-40B4-BE49-F238E27FC236}">
                <a16:creationId xmlns:a16="http://schemas.microsoft.com/office/drawing/2014/main" id="{88DAFCB0-0304-5784-3DA8-F58AC9394C28}"/>
              </a:ext>
            </a:extLst>
          </p:cNvPr>
          <p:cNvPicPr>
            <a:picLocks noChangeAspect="1"/>
          </p:cNvPicPr>
          <p:nvPr/>
        </p:nvPicPr>
        <p:blipFill>
          <a:blip r:embed="rId3"/>
          <a:stretch>
            <a:fillRect/>
          </a:stretch>
        </p:blipFill>
        <p:spPr>
          <a:xfrm>
            <a:off x="6852250" y="598272"/>
            <a:ext cx="4786653" cy="5661456"/>
          </a:xfrm>
          <a:prstGeom prst="rect">
            <a:avLst/>
          </a:prstGeom>
        </p:spPr>
      </p:pic>
      <p:sp>
        <p:nvSpPr>
          <p:cNvPr id="27" name="Freeform: Shape 26">
            <a:extLst>
              <a:ext uri="{FF2B5EF4-FFF2-40B4-BE49-F238E27FC236}">
                <a16:creationId xmlns:a16="http://schemas.microsoft.com/office/drawing/2014/main" id="{55820E42-2F9D-41EF-B67F-522A133B33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753030" y="5516668"/>
            <a:ext cx="2438970" cy="1341332"/>
          </a:xfrm>
          <a:custGeom>
            <a:avLst/>
            <a:gdLst>
              <a:gd name="connsiteX0" fmla="*/ 2025355 w 2438970"/>
              <a:gd name="connsiteY0" fmla="*/ 235 h 1341332"/>
              <a:gd name="connsiteX1" fmla="*/ 2381960 w 2438970"/>
              <a:gd name="connsiteY1" fmla="*/ 44517 h 1341332"/>
              <a:gd name="connsiteX2" fmla="*/ 2438970 w 2438970"/>
              <a:gd name="connsiteY2" fmla="*/ 58872 h 1341332"/>
              <a:gd name="connsiteX3" fmla="*/ 2438970 w 2438970"/>
              <a:gd name="connsiteY3" fmla="*/ 1341332 h 1341332"/>
              <a:gd name="connsiteX4" fmla="*/ 0 w 2438970"/>
              <a:gd name="connsiteY4" fmla="*/ 1341332 h 1341332"/>
              <a:gd name="connsiteX5" fmla="*/ 13333 w 2438970"/>
              <a:gd name="connsiteY5" fmla="*/ 1328018 h 1341332"/>
              <a:gd name="connsiteX6" fmla="*/ 936262 w 2438970"/>
              <a:gd name="connsiteY6" fmla="*/ 459947 h 1341332"/>
              <a:gd name="connsiteX7" fmla="*/ 1554028 w 2438970"/>
              <a:gd name="connsiteY7" fmla="*/ 71153 h 1341332"/>
              <a:gd name="connsiteX8" fmla="*/ 2025355 w 2438970"/>
              <a:gd name="connsiteY8" fmla="*/ 235 h 1341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38970" h="1341332">
                <a:moveTo>
                  <a:pt x="2025355" y="235"/>
                </a:moveTo>
                <a:cubicBezTo>
                  <a:pt x="2143847" y="2306"/>
                  <a:pt x="2262766" y="17993"/>
                  <a:pt x="2381960" y="44517"/>
                </a:cubicBezTo>
                <a:lnTo>
                  <a:pt x="2438970" y="58872"/>
                </a:lnTo>
                <a:lnTo>
                  <a:pt x="2438970" y="1341332"/>
                </a:lnTo>
                <a:lnTo>
                  <a:pt x="0" y="1341332"/>
                </a:lnTo>
                <a:lnTo>
                  <a:pt x="13333" y="1328018"/>
                </a:lnTo>
                <a:cubicBezTo>
                  <a:pt x="324723" y="1028950"/>
                  <a:pt x="645390" y="738459"/>
                  <a:pt x="936262" y="459947"/>
                </a:cubicBezTo>
                <a:cubicBezTo>
                  <a:pt x="1139660" y="265152"/>
                  <a:pt x="1345794" y="140817"/>
                  <a:pt x="1554028" y="71153"/>
                </a:cubicBezTo>
                <a:cubicBezTo>
                  <a:pt x="1710136" y="18918"/>
                  <a:pt x="1867365" y="-2526"/>
                  <a:pt x="2025355" y="235"/>
                </a:cubicBezTo>
                <a:close/>
              </a:path>
            </a:pathLst>
          </a:cu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29" name="Group 28">
            <a:extLst>
              <a:ext uri="{FF2B5EF4-FFF2-40B4-BE49-F238E27FC236}">
                <a16:creationId xmlns:a16="http://schemas.microsoft.com/office/drawing/2014/main" id="{13D9BC31-B57D-4933-AD83-94F462D4C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776050" y="5204025"/>
            <a:ext cx="886141" cy="802496"/>
            <a:chOff x="10948005" y="3272152"/>
            <a:chExt cx="868640" cy="786648"/>
          </a:xfrm>
          <a:solidFill>
            <a:schemeClr val="accent1"/>
          </a:solidFill>
        </p:grpSpPr>
        <p:sp>
          <p:nvSpPr>
            <p:cNvPr id="30" name="Freeform: Shape 29">
              <a:extLst>
                <a:ext uri="{FF2B5EF4-FFF2-40B4-BE49-F238E27FC236}">
                  <a16:creationId xmlns:a16="http://schemas.microsoft.com/office/drawing/2014/main" id="{D84AFEA3-A055-41AE-96F3-34BA581424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94317" y="3944888"/>
              <a:ext cx="128449" cy="113912"/>
            </a:xfrm>
            <a:custGeom>
              <a:avLst/>
              <a:gdLst>
                <a:gd name="connsiteX0" fmla="*/ 237621 w 453152"/>
                <a:gd name="connsiteY0" fmla="*/ 965 h 401867"/>
                <a:gd name="connsiteX1" fmla="*/ 370246 w 453152"/>
                <a:gd name="connsiteY1" fmla="*/ 23666 h 401867"/>
                <a:gd name="connsiteX2" fmla="*/ 437392 w 453152"/>
                <a:gd name="connsiteY2" fmla="*/ 198545 h 401867"/>
                <a:gd name="connsiteX3" fmla="*/ 67745 w 453152"/>
                <a:gd name="connsiteY3" fmla="*/ 392003 h 401867"/>
                <a:gd name="connsiteX4" fmla="*/ 911 w 453152"/>
                <a:gd name="connsiteY4" fmla="*/ 254095 h 401867"/>
                <a:gd name="connsiteX5" fmla="*/ 115564 w 453152"/>
                <a:gd name="connsiteY5" fmla="*/ 51160 h 401867"/>
                <a:gd name="connsiteX6" fmla="*/ 237621 w 453152"/>
                <a:gd name="connsiteY6" fmla="*/ 965 h 40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3152" h="401867">
                  <a:moveTo>
                    <a:pt x="237621" y="965"/>
                  </a:moveTo>
                  <a:cubicBezTo>
                    <a:pt x="283632" y="-2971"/>
                    <a:pt x="331405" y="5243"/>
                    <a:pt x="370246" y="23666"/>
                  </a:cubicBezTo>
                  <a:cubicBezTo>
                    <a:pt x="436830" y="55275"/>
                    <a:pt x="477168" y="116810"/>
                    <a:pt x="437392" y="198545"/>
                  </a:cubicBezTo>
                  <a:cubicBezTo>
                    <a:pt x="391568" y="292624"/>
                    <a:pt x="176850" y="441630"/>
                    <a:pt x="67745" y="392003"/>
                  </a:cubicBezTo>
                  <a:cubicBezTo>
                    <a:pt x="18056" y="369372"/>
                    <a:pt x="-5012" y="308398"/>
                    <a:pt x="911" y="254095"/>
                  </a:cubicBezTo>
                  <a:cubicBezTo>
                    <a:pt x="9203" y="178033"/>
                    <a:pt x="61012" y="103094"/>
                    <a:pt x="115564" y="51160"/>
                  </a:cubicBezTo>
                  <a:cubicBezTo>
                    <a:pt x="147361" y="20985"/>
                    <a:pt x="191610" y="4900"/>
                    <a:pt x="237621" y="96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31" name="Freeform: Shape 30">
              <a:extLst>
                <a:ext uri="{FF2B5EF4-FFF2-40B4-BE49-F238E27FC236}">
                  <a16:creationId xmlns:a16="http://schemas.microsoft.com/office/drawing/2014/main" id="{9028771F-62FA-4349-B7A8-CE1682D2C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53045" y="3808430"/>
              <a:ext cx="144912" cy="193414"/>
            </a:xfrm>
            <a:custGeom>
              <a:avLst/>
              <a:gdLst>
                <a:gd name="connsiteX0" fmla="*/ 390625 w 511232"/>
                <a:gd name="connsiteY0" fmla="*/ 1621 h 682341"/>
                <a:gd name="connsiteX1" fmla="*/ 508142 w 511232"/>
                <a:gd name="connsiteY1" fmla="*/ 64038 h 682341"/>
                <a:gd name="connsiteX2" fmla="*/ 508453 w 511232"/>
                <a:gd name="connsiteY2" fmla="*/ 121832 h 682341"/>
                <a:gd name="connsiteX3" fmla="*/ 316492 w 511232"/>
                <a:gd name="connsiteY3" fmla="*/ 567602 h 682341"/>
                <a:gd name="connsiteX4" fmla="*/ 80265 w 511232"/>
                <a:gd name="connsiteY4" fmla="*/ 640359 h 682341"/>
                <a:gd name="connsiteX5" fmla="*/ 13306 w 511232"/>
                <a:gd name="connsiteY5" fmla="*/ 274828 h 682341"/>
                <a:gd name="connsiteX6" fmla="*/ 140989 w 511232"/>
                <a:gd name="connsiteY6" fmla="*/ 107181 h 682341"/>
                <a:gd name="connsiteX7" fmla="*/ 390625 w 511232"/>
                <a:gd name="connsiteY7" fmla="*/ 1621 h 682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1232" h="682341">
                  <a:moveTo>
                    <a:pt x="390625" y="1621"/>
                  </a:moveTo>
                  <a:cubicBezTo>
                    <a:pt x="446543" y="-5212"/>
                    <a:pt x="493343" y="8441"/>
                    <a:pt x="508142" y="64038"/>
                  </a:cubicBezTo>
                  <a:cubicBezTo>
                    <a:pt x="513192" y="82866"/>
                    <a:pt x="511134" y="102754"/>
                    <a:pt x="508453" y="121832"/>
                  </a:cubicBezTo>
                  <a:cubicBezTo>
                    <a:pt x="485324" y="287796"/>
                    <a:pt x="417242" y="443971"/>
                    <a:pt x="316492" y="567602"/>
                  </a:cubicBezTo>
                  <a:cubicBezTo>
                    <a:pt x="253024" y="645534"/>
                    <a:pt x="165055" y="737743"/>
                    <a:pt x="80265" y="640359"/>
                  </a:cubicBezTo>
                  <a:cubicBezTo>
                    <a:pt x="5014" y="553948"/>
                    <a:pt x="-17368" y="383621"/>
                    <a:pt x="13306" y="274828"/>
                  </a:cubicBezTo>
                  <a:cubicBezTo>
                    <a:pt x="33443" y="203318"/>
                    <a:pt x="83382" y="146521"/>
                    <a:pt x="140989" y="107181"/>
                  </a:cubicBezTo>
                  <a:cubicBezTo>
                    <a:pt x="178904" y="81308"/>
                    <a:pt x="297428" y="13010"/>
                    <a:pt x="390625" y="162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32" name="Freeform: Shape 31">
              <a:extLst>
                <a:ext uri="{FF2B5EF4-FFF2-40B4-BE49-F238E27FC236}">
                  <a16:creationId xmlns:a16="http://schemas.microsoft.com/office/drawing/2014/main" id="{319CDEE6-CB2F-49F0-B237-2A26A3D1DC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84524" y="3907536"/>
              <a:ext cx="132121" cy="93006"/>
            </a:xfrm>
            <a:custGeom>
              <a:avLst/>
              <a:gdLst>
                <a:gd name="connsiteX0" fmla="*/ 252822 w 466107"/>
                <a:gd name="connsiteY0" fmla="*/ 1539 h 328114"/>
                <a:gd name="connsiteX1" fmla="*/ 451641 w 466107"/>
                <a:gd name="connsiteY1" fmla="*/ 122177 h 328114"/>
                <a:gd name="connsiteX2" fmla="*/ 391790 w 466107"/>
                <a:gd name="connsiteY2" fmla="*/ 297430 h 328114"/>
                <a:gd name="connsiteX3" fmla="*/ 8614 w 466107"/>
                <a:gd name="connsiteY3" fmla="*/ 243252 h 328114"/>
                <a:gd name="connsiteX4" fmla="*/ 45897 w 466107"/>
                <a:gd name="connsiteY4" fmla="*/ 97302 h 328114"/>
                <a:gd name="connsiteX5" fmla="*/ 252822 w 466107"/>
                <a:gd name="connsiteY5" fmla="*/ 1539 h 328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107" h="328114">
                  <a:moveTo>
                    <a:pt x="252822" y="1539"/>
                  </a:moveTo>
                  <a:cubicBezTo>
                    <a:pt x="335429" y="-10494"/>
                    <a:pt x="418848" y="49794"/>
                    <a:pt x="451641" y="122177"/>
                  </a:cubicBezTo>
                  <a:cubicBezTo>
                    <a:pt x="479697" y="184273"/>
                    <a:pt x="470594" y="255285"/>
                    <a:pt x="391790" y="297430"/>
                  </a:cubicBezTo>
                  <a:cubicBezTo>
                    <a:pt x="301077" y="345935"/>
                    <a:pt x="55935" y="343254"/>
                    <a:pt x="8614" y="243252"/>
                  </a:cubicBezTo>
                  <a:cubicBezTo>
                    <a:pt x="-12895" y="197678"/>
                    <a:pt x="8240" y="136766"/>
                    <a:pt x="45897" y="97302"/>
                  </a:cubicBezTo>
                  <a:cubicBezTo>
                    <a:pt x="98704" y="42064"/>
                    <a:pt x="181872" y="11950"/>
                    <a:pt x="252822" y="1539"/>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33" name="Graphic 12">
              <a:extLst>
                <a:ext uri="{FF2B5EF4-FFF2-40B4-BE49-F238E27FC236}">
                  <a16:creationId xmlns:a16="http://schemas.microsoft.com/office/drawing/2014/main" id="{3DD82286-02D2-4210-A797-5D502D44A3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142141" y="3272152"/>
              <a:ext cx="180625" cy="158824"/>
            </a:xfrm>
            <a:custGeom>
              <a:avLst/>
              <a:gdLst>
                <a:gd name="connsiteX0" fmla="*/ 63289 w 3341477"/>
                <a:gd name="connsiteY0" fmla="*/ 1933384 h 2938167"/>
                <a:gd name="connsiteX1" fmla="*/ 263314 w 3341477"/>
                <a:gd name="connsiteY1" fmla="*/ 514159 h 2938167"/>
                <a:gd name="connsiteX2" fmla="*/ 1098276 w 3341477"/>
                <a:gd name="connsiteY2" fmla="*/ 952 h 2938167"/>
                <a:gd name="connsiteX3" fmla="*/ 2654089 w 3341477"/>
                <a:gd name="connsiteY3" fmla="*/ 371284 h 2938167"/>
                <a:gd name="connsiteX4" fmla="*/ 3219398 w 3341477"/>
                <a:gd name="connsiteY4" fmla="*/ 2080926 h 2938167"/>
                <a:gd name="connsiteX5" fmla="*/ 2044489 w 3341477"/>
                <a:gd name="connsiteY5" fmla="*/ 2933509 h 2938167"/>
                <a:gd name="connsiteX6" fmla="*/ 453814 w 3341477"/>
                <a:gd name="connsiteY6" fmla="*/ 2495359 h 2938167"/>
                <a:gd name="connsiteX7" fmla="*/ 63289 w 3341477"/>
                <a:gd name="connsiteY7" fmla="*/ 1933384 h 29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41477" h="2938167">
                  <a:moveTo>
                    <a:pt x="63289" y="1933384"/>
                  </a:moveTo>
                  <a:cubicBezTo>
                    <a:pt x="56717" y="1895856"/>
                    <a:pt x="-165311" y="914209"/>
                    <a:pt x="263314" y="514159"/>
                  </a:cubicBezTo>
                  <a:cubicBezTo>
                    <a:pt x="691939" y="114109"/>
                    <a:pt x="609262" y="11620"/>
                    <a:pt x="1098276" y="952"/>
                  </a:cubicBezTo>
                  <a:cubicBezTo>
                    <a:pt x="1587289" y="-9716"/>
                    <a:pt x="2320714" y="66484"/>
                    <a:pt x="2654089" y="371284"/>
                  </a:cubicBezTo>
                  <a:cubicBezTo>
                    <a:pt x="2987464" y="676084"/>
                    <a:pt x="3603732" y="1514094"/>
                    <a:pt x="3219398" y="2080926"/>
                  </a:cubicBezTo>
                  <a:cubicBezTo>
                    <a:pt x="2835064" y="2647759"/>
                    <a:pt x="2558839" y="2895409"/>
                    <a:pt x="2044489" y="2933509"/>
                  </a:cubicBezTo>
                  <a:cubicBezTo>
                    <a:pt x="1530139" y="2971609"/>
                    <a:pt x="701464" y="2771584"/>
                    <a:pt x="453814" y="2495359"/>
                  </a:cubicBezTo>
                  <a:cubicBezTo>
                    <a:pt x="206164" y="2219134"/>
                    <a:pt x="101389" y="2152459"/>
                    <a:pt x="63289" y="1933384"/>
                  </a:cubicBezTo>
                  <a:close/>
                </a:path>
              </a:pathLst>
            </a:custGeom>
            <a:grpFill/>
            <a:ln w="9525" cap="flat">
              <a:noFill/>
              <a:prstDash val="solid"/>
              <a:miter/>
            </a:ln>
          </p:spPr>
          <p:txBody>
            <a:bodyPr rtlCol="0" anchor="ctr"/>
            <a:lstStyle/>
            <a:p>
              <a:endParaRPr lang="en-US"/>
            </a:p>
          </p:txBody>
        </p:sp>
        <p:sp>
          <p:nvSpPr>
            <p:cNvPr id="34" name="Graphic 15">
              <a:extLst>
                <a:ext uri="{FF2B5EF4-FFF2-40B4-BE49-F238E27FC236}">
                  <a16:creationId xmlns:a16="http://schemas.microsoft.com/office/drawing/2014/main" id="{735449F4-80DA-4E06-B3B6-B9F519F4A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602136" y="3379098"/>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35" name="Graphic 15">
              <a:extLst>
                <a:ext uri="{FF2B5EF4-FFF2-40B4-BE49-F238E27FC236}">
                  <a16:creationId xmlns:a16="http://schemas.microsoft.com/office/drawing/2014/main" id="{61FABA3B-05B6-433C-90F9-8D9691A84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8005" y="3504095"/>
              <a:ext cx="82388" cy="75292"/>
            </a:xfrm>
            <a:custGeom>
              <a:avLst/>
              <a:gdLst>
                <a:gd name="connsiteX0" fmla="*/ 17664 w 5240764"/>
                <a:gd name="connsiteY0" fmla="*/ 2947947 h 4789394"/>
                <a:gd name="connsiteX1" fmla="*/ 903489 w 5240764"/>
                <a:gd name="connsiteY1" fmla="*/ 195222 h 4789394"/>
                <a:gd name="connsiteX2" fmla="*/ 3560964 w 5240764"/>
                <a:gd name="connsiteY2" fmla="*/ 357147 h 4789394"/>
                <a:gd name="connsiteX3" fmla="*/ 5240602 w 5240764"/>
                <a:gd name="connsiteY3" fmla="*/ 2076409 h 4789394"/>
                <a:gd name="connsiteX4" fmla="*/ 4568328 w 5240764"/>
                <a:gd name="connsiteY4" fmla="*/ 3879397 h 4789394"/>
                <a:gd name="connsiteX5" fmla="*/ 3284739 w 5240764"/>
                <a:gd name="connsiteY5" fmla="*/ 4605297 h 4789394"/>
                <a:gd name="connsiteX6" fmla="*/ 1074939 w 5240764"/>
                <a:gd name="connsiteY6" fmla="*/ 4357647 h 4789394"/>
                <a:gd name="connsiteX7" fmla="*/ 15187 w 5240764"/>
                <a:gd name="connsiteY7" fmla="*/ 2830313 h 478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40764" h="4789394">
                  <a:moveTo>
                    <a:pt x="17664" y="2947947"/>
                  </a:moveTo>
                  <a:cubicBezTo>
                    <a:pt x="17664" y="2900322"/>
                    <a:pt x="-201411" y="490497"/>
                    <a:pt x="903489" y="195222"/>
                  </a:cubicBezTo>
                  <a:cubicBezTo>
                    <a:pt x="2008389" y="-100053"/>
                    <a:pt x="2598939" y="-71478"/>
                    <a:pt x="3560964" y="357147"/>
                  </a:cubicBezTo>
                  <a:cubicBezTo>
                    <a:pt x="4522989" y="785772"/>
                    <a:pt x="5253271" y="1338222"/>
                    <a:pt x="5240602" y="2076409"/>
                  </a:cubicBezTo>
                  <a:cubicBezTo>
                    <a:pt x="5227934" y="2814597"/>
                    <a:pt x="4842267" y="3677276"/>
                    <a:pt x="4568328" y="3879397"/>
                  </a:cubicBezTo>
                  <a:cubicBezTo>
                    <a:pt x="4294389" y="4081422"/>
                    <a:pt x="4065789" y="4548147"/>
                    <a:pt x="3284739" y="4605297"/>
                  </a:cubicBezTo>
                  <a:cubicBezTo>
                    <a:pt x="2503689" y="4662447"/>
                    <a:pt x="1579764" y="5110122"/>
                    <a:pt x="1074939" y="4357647"/>
                  </a:cubicBezTo>
                  <a:cubicBezTo>
                    <a:pt x="570114" y="3605172"/>
                    <a:pt x="12615" y="3617554"/>
                    <a:pt x="15187" y="2830313"/>
                  </a:cubicBezTo>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E1FEBA45-D0A3-4091-9956-161EDA21A0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43727" y="3666564"/>
              <a:ext cx="173527" cy="138496"/>
            </a:xfrm>
            <a:custGeom>
              <a:avLst/>
              <a:gdLst>
                <a:gd name="connsiteX0" fmla="*/ 237392 w 789043"/>
                <a:gd name="connsiteY0" fmla="*/ 81 h 629754"/>
                <a:gd name="connsiteX1" fmla="*/ 758692 w 789043"/>
                <a:gd name="connsiteY1" fmla="*/ 233550 h 629754"/>
                <a:gd name="connsiteX2" fmla="*/ 650647 w 789043"/>
                <a:gd name="connsiteY2" fmla="*/ 335111 h 629754"/>
                <a:gd name="connsiteX3" fmla="*/ 315041 w 789043"/>
                <a:gd name="connsiteY3" fmla="*/ 584992 h 629754"/>
                <a:gd name="connsiteX4" fmla="*/ 192159 w 789043"/>
                <a:gd name="connsiteY4" fmla="*/ 625953 h 629754"/>
                <a:gd name="connsiteX5" fmla="*/ 124264 w 789043"/>
                <a:gd name="connsiteY5" fmla="*/ 552260 h 629754"/>
                <a:gd name="connsiteX6" fmla="*/ 1631 w 789043"/>
                <a:gd name="connsiteY6" fmla="*/ 133735 h 629754"/>
                <a:gd name="connsiteX7" fmla="*/ 35422 w 789043"/>
                <a:gd name="connsiteY7" fmla="*/ 14157 h 629754"/>
                <a:gd name="connsiteX8" fmla="*/ 113728 w 789043"/>
                <a:gd name="connsiteY8" fmla="*/ 378 h 629754"/>
                <a:gd name="connsiteX9" fmla="*/ 237392 w 789043"/>
                <a:gd name="connsiteY9" fmla="*/ 81 h 629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043" h="629754">
                  <a:moveTo>
                    <a:pt x="237392" y="81"/>
                  </a:moveTo>
                  <a:cubicBezTo>
                    <a:pt x="474795" y="-992"/>
                    <a:pt x="907215" y="10463"/>
                    <a:pt x="758692" y="233550"/>
                  </a:cubicBezTo>
                  <a:cubicBezTo>
                    <a:pt x="731135" y="274948"/>
                    <a:pt x="690486" y="305435"/>
                    <a:pt x="650647" y="335111"/>
                  </a:cubicBezTo>
                  <a:cubicBezTo>
                    <a:pt x="538737" y="418405"/>
                    <a:pt x="426889" y="501698"/>
                    <a:pt x="315041" y="584992"/>
                  </a:cubicBezTo>
                  <a:cubicBezTo>
                    <a:pt x="278943" y="611863"/>
                    <a:pt x="234865" y="640167"/>
                    <a:pt x="192159" y="625953"/>
                  </a:cubicBezTo>
                  <a:cubicBezTo>
                    <a:pt x="159614" y="615105"/>
                    <a:pt x="139851" y="582810"/>
                    <a:pt x="124264" y="552260"/>
                  </a:cubicBezTo>
                  <a:cubicBezTo>
                    <a:pt x="57742" y="422021"/>
                    <a:pt x="15908" y="279250"/>
                    <a:pt x="1631" y="133735"/>
                  </a:cubicBezTo>
                  <a:cubicBezTo>
                    <a:pt x="-2671" y="90343"/>
                    <a:pt x="-676" y="38596"/>
                    <a:pt x="35422" y="14157"/>
                  </a:cubicBezTo>
                  <a:cubicBezTo>
                    <a:pt x="57804" y="-931"/>
                    <a:pt x="86795" y="-557"/>
                    <a:pt x="113728" y="378"/>
                  </a:cubicBezTo>
                  <a:cubicBezTo>
                    <a:pt x="138207" y="1243"/>
                    <a:pt x="182606" y="328"/>
                    <a:pt x="237392" y="81"/>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794051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D1A18-0161-8C44-D45B-AC06590AD4C9}"/>
              </a:ext>
            </a:extLst>
          </p:cNvPr>
          <p:cNvSpPr>
            <a:spLocks noGrp="1"/>
          </p:cNvSpPr>
          <p:nvPr>
            <p:ph type="title"/>
          </p:nvPr>
        </p:nvSpPr>
        <p:spPr>
          <a:xfrm>
            <a:off x="525718" y="897904"/>
            <a:ext cx="6179882" cy="1325563"/>
          </a:xfrm>
        </p:spPr>
        <p:txBody>
          <a:bodyPr/>
          <a:lstStyle/>
          <a:p>
            <a:r>
              <a:rPr lang="es-ES_tradnl" dirty="0"/>
              <a:t>3. Género como respuesta a “sexo como rol”</a:t>
            </a:r>
          </a:p>
        </p:txBody>
      </p:sp>
      <p:sp>
        <p:nvSpPr>
          <p:cNvPr id="3" name="Content Placeholder 2">
            <a:extLst>
              <a:ext uri="{FF2B5EF4-FFF2-40B4-BE49-F238E27FC236}">
                <a16:creationId xmlns:a16="http://schemas.microsoft.com/office/drawing/2014/main" id="{E8C602F1-57D7-3BA1-08A0-CB3A77914D1E}"/>
              </a:ext>
            </a:extLst>
          </p:cNvPr>
          <p:cNvSpPr>
            <a:spLocks noGrp="1"/>
          </p:cNvSpPr>
          <p:nvPr>
            <p:ph idx="1"/>
          </p:nvPr>
        </p:nvSpPr>
        <p:spPr>
          <a:xfrm>
            <a:off x="221673" y="2411051"/>
            <a:ext cx="9836727" cy="2465749"/>
          </a:xfrm>
        </p:spPr>
        <p:txBody>
          <a:bodyPr>
            <a:normAutofit/>
          </a:bodyPr>
          <a:lstStyle/>
          <a:p>
            <a:pPr marL="800100" indent="-342900">
              <a:buFont typeface="Arial" panose="020B0604020202020204" pitchFamily="34" charset="0"/>
              <a:buChar char="•"/>
            </a:pPr>
            <a:r>
              <a:rPr lang="es-ES_tradnl" dirty="0"/>
              <a:t>Género = diferencias de tipo relacional y social entre los hombres y las mujeres.</a:t>
            </a:r>
          </a:p>
          <a:p>
            <a:pPr marL="800100" indent="-342900">
              <a:buFont typeface="Arial" panose="020B0604020202020204" pitchFamily="34" charset="0"/>
              <a:buChar char="•"/>
            </a:pPr>
            <a:r>
              <a:rPr lang="es-ES_tradnl" dirty="0"/>
              <a:t>Crítica al uso de "roles" (</a:t>
            </a:r>
            <a:r>
              <a:rPr lang="es-ES_tradnl" dirty="0" err="1"/>
              <a:t>Lopata</a:t>
            </a:r>
            <a:r>
              <a:rPr lang="es-ES_tradnl" dirty="0"/>
              <a:t> &amp; Thorne 1978) porque ignora aspectos de poder y privilegio, lo mira como funciones complementarias e implica una estabilidad a través de espacio-tiempo-grupos. </a:t>
            </a:r>
          </a:p>
        </p:txBody>
      </p:sp>
      <p:pic>
        <p:nvPicPr>
          <p:cNvPr id="9" name="Picture 8" descr="A cake with shoes on the side and football on the side&#10;&#10;Description automatically generated">
            <a:extLst>
              <a:ext uri="{FF2B5EF4-FFF2-40B4-BE49-F238E27FC236}">
                <a16:creationId xmlns:a16="http://schemas.microsoft.com/office/drawing/2014/main" id="{609E046A-E25D-D7B7-6DD8-3118EF07E4E6}"/>
              </a:ext>
            </a:extLst>
          </p:cNvPr>
          <p:cNvPicPr>
            <a:picLocks noChangeAspect="1"/>
          </p:cNvPicPr>
          <p:nvPr/>
        </p:nvPicPr>
        <p:blipFill>
          <a:blip r:embed="rId3"/>
          <a:stretch>
            <a:fillRect/>
          </a:stretch>
        </p:blipFill>
        <p:spPr>
          <a:xfrm>
            <a:off x="8136721" y="4178900"/>
            <a:ext cx="3864086" cy="2679100"/>
          </a:xfrm>
          <a:prstGeom prst="rect">
            <a:avLst/>
          </a:prstGeom>
        </p:spPr>
      </p:pic>
      <p:sp>
        <p:nvSpPr>
          <p:cNvPr id="11" name="TextBox 10">
            <a:extLst>
              <a:ext uri="{FF2B5EF4-FFF2-40B4-BE49-F238E27FC236}">
                <a16:creationId xmlns:a16="http://schemas.microsoft.com/office/drawing/2014/main" id="{23838D5E-E662-673D-03D4-33477D0BCC45}"/>
              </a:ext>
            </a:extLst>
          </p:cNvPr>
          <p:cNvSpPr txBox="1"/>
          <p:nvPr/>
        </p:nvSpPr>
        <p:spPr>
          <a:xfrm>
            <a:off x="221673" y="4331301"/>
            <a:ext cx="7800108" cy="1015663"/>
          </a:xfrm>
          <a:prstGeom prst="rect">
            <a:avLst/>
          </a:prstGeom>
          <a:noFill/>
        </p:spPr>
        <p:txBody>
          <a:bodyPr wrap="square">
            <a:spAutoFit/>
          </a:bodyPr>
          <a:lstStyle/>
          <a:p>
            <a:pPr marL="800100" indent="-342900">
              <a:buFont typeface="Arial" panose="020B0604020202020204" pitchFamily="34" charset="0"/>
              <a:buChar char="•"/>
            </a:pPr>
            <a:r>
              <a:rPr lang="es-ES_tradnl" sz="2000" dirty="0"/>
              <a:t>Socialización de género: cómo las personas que son asignadas a la categoría "hombre" al nacer, son criadas de tal manera que incentivan comportamiento "masculinos".</a:t>
            </a:r>
          </a:p>
        </p:txBody>
      </p:sp>
    </p:spTree>
    <p:extLst>
      <p:ext uri="{BB962C8B-B14F-4D97-AF65-F5344CB8AC3E}">
        <p14:creationId xmlns:p14="http://schemas.microsoft.com/office/powerpoint/2010/main" val="29839563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758C8-40F7-DA02-07ED-278D39DC57CE}"/>
              </a:ext>
            </a:extLst>
          </p:cNvPr>
          <p:cNvSpPr>
            <a:spLocks noGrp="1"/>
          </p:cNvSpPr>
          <p:nvPr>
            <p:ph type="title"/>
          </p:nvPr>
        </p:nvSpPr>
        <p:spPr/>
        <p:txBody>
          <a:bodyPr/>
          <a:lstStyle/>
          <a:p>
            <a:r>
              <a:rPr lang="es-ES_tradnl" dirty="0"/>
              <a:t>4. Hacia una comprensión social del género</a:t>
            </a:r>
          </a:p>
        </p:txBody>
      </p:sp>
      <p:sp>
        <p:nvSpPr>
          <p:cNvPr id="3" name="Content Placeholder 2">
            <a:extLst>
              <a:ext uri="{FF2B5EF4-FFF2-40B4-BE49-F238E27FC236}">
                <a16:creationId xmlns:a16="http://schemas.microsoft.com/office/drawing/2014/main" id="{400F5A91-7CAA-6F9B-3229-64663403E753}"/>
              </a:ext>
            </a:extLst>
          </p:cNvPr>
          <p:cNvSpPr>
            <a:spLocks noGrp="1"/>
          </p:cNvSpPr>
          <p:nvPr>
            <p:ph idx="1"/>
          </p:nvPr>
        </p:nvSpPr>
        <p:spPr/>
        <p:txBody>
          <a:bodyPr>
            <a:normAutofit/>
          </a:bodyPr>
          <a:lstStyle/>
          <a:p>
            <a:pPr marL="457200" lvl="1" indent="0">
              <a:buNone/>
            </a:pPr>
            <a:r>
              <a:rPr lang="es-ES_tradnl" sz="2000" b="1" dirty="0"/>
              <a:t>Teorías de "</a:t>
            </a:r>
            <a:r>
              <a:rPr lang="es-ES_tradnl" sz="2000" b="1" dirty="0" err="1"/>
              <a:t>doing</a:t>
            </a:r>
            <a:r>
              <a:rPr lang="es-ES_tradnl" sz="2000" b="1" dirty="0"/>
              <a:t> </a:t>
            </a:r>
            <a:r>
              <a:rPr lang="es-ES_tradnl" sz="2000" b="1" dirty="0" err="1"/>
              <a:t>gender</a:t>
            </a:r>
            <a:r>
              <a:rPr lang="es-ES_tradnl" sz="2000" b="1" dirty="0"/>
              <a:t>”</a:t>
            </a:r>
          </a:p>
          <a:p>
            <a:pPr marL="742950" lvl="1" indent="-285750"/>
            <a:r>
              <a:rPr lang="es-ES_tradnl" sz="2000" dirty="0"/>
              <a:t>El género es algo que "hacemos", no que "somos" (West &amp; Zimmerman 1987). </a:t>
            </a:r>
          </a:p>
          <a:p>
            <a:pPr marL="742950" lvl="1" indent="-285750"/>
            <a:r>
              <a:rPr lang="es-ES_tradnl" sz="2000" dirty="0"/>
              <a:t>Tenemos la presión de "actuar" nuestro género como se nos espera que lo hagamos. </a:t>
            </a:r>
          </a:p>
          <a:p>
            <a:pPr marL="742950" lvl="1" indent="-285750"/>
            <a:r>
              <a:rPr lang="es-ES_tradnl" sz="2000" dirty="0"/>
              <a:t>Conectado con la teoría de Butler de la performatividad.</a:t>
            </a:r>
          </a:p>
        </p:txBody>
      </p:sp>
    </p:spTree>
    <p:extLst>
      <p:ext uri="{BB962C8B-B14F-4D97-AF65-F5344CB8AC3E}">
        <p14:creationId xmlns:p14="http://schemas.microsoft.com/office/powerpoint/2010/main" val="25480752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71064-CDE9-8B05-698D-E1A7F24C03C5}"/>
              </a:ext>
            </a:extLst>
          </p:cNvPr>
          <p:cNvSpPr>
            <a:spLocks noGrp="1"/>
          </p:cNvSpPr>
          <p:nvPr>
            <p:ph type="title"/>
          </p:nvPr>
        </p:nvSpPr>
        <p:spPr/>
        <p:txBody>
          <a:bodyPr/>
          <a:lstStyle/>
          <a:p>
            <a:r>
              <a:rPr lang="es-ES_tradnl" dirty="0"/>
              <a:t>4. Hacia una comprensión social del género</a:t>
            </a:r>
          </a:p>
        </p:txBody>
      </p:sp>
      <p:sp>
        <p:nvSpPr>
          <p:cNvPr id="3" name="Content Placeholder 2">
            <a:extLst>
              <a:ext uri="{FF2B5EF4-FFF2-40B4-BE49-F238E27FC236}">
                <a16:creationId xmlns:a16="http://schemas.microsoft.com/office/drawing/2014/main" id="{C56DF775-593E-00FD-615A-C17E3249A5CA}"/>
              </a:ext>
            </a:extLst>
          </p:cNvPr>
          <p:cNvSpPr>
            <a:spLocks noGrp="1"/>
          </p:cNvSpPr>
          <p:nvPr>
            <p:ph idx="1"/>
          </p:nvPr>
        </p:nvSpPr>
        <p:spPr>
          <a:xfrm>
            <a:off x="152399" y="2355272"/>
            <a:ext cx="10557164" cy="4364182"/>
          </a:xfrm>
        </p:spPr>
        <p:txBody>
          <a:bodyPr>
            <a:normAutofit/>
          </a:bodyPr>
          <a:lstStyle/>
          <a:p>
            <a:pPr marL="457200" lvl="1" indent="0">
              <a:buNone/>
            </a:pPr>
            <a:r>
              <a:rPr lang="es-ES_tradnl" b="1" dirty="0"/>
              <a:t>Teorías estructurales</a:t>
            </a:r>
          </a:p>
          <a:p>
            <a:pPr marL="742950" lvl="1" indent="-285750"/>
            <a:r>
              <a:rPr lang="es-ES_tradnl" sz="1900" dirty="0"/>
              <a:t>Nacen de las primeras explicaciones estructurales a las diferencias de género en el trabajo (Kanter 1977). </a:t>
            </a:r>
          </a:p>
          <a:p>
            <a:pPr marL="1200150" lvl="2" indent="-285750">
              <a:buFont typeface="Arial" panose="020B0604020202020204" pitchFamily="34" charset="0"/>
              <a:buChar char="•"/>
            </a:pPr>
            <a:r>
              <a:rPr lang="es-ES_tradnl" sz="1700" dirty="0"/>
              <a:t>La desigualdad no se explica por diferencias de personalidad (preferencias, estilos, habilidades) si no de las </a:t>
            </a:r>
            <a:r>
              <a:rPr lang="es-ES_tradnl" sz="1700" b="1" dirty="0"/>
              <a:t>oportunidades disponibles a hombres y mujeres, el poder masculino, la segregación de grupos.</a:t>
            </a:r>
          </a:p>
          <a:p>
            <a:pPr marL="1200150" lvl="2" indent="-285750">
              <a:buFont typeface="Arial" panose="020B0604020202020204" pitchFamily="34" charset="0"/>
              <a:buChar char="•"/>
            </a:pPr>
            <a:r>
              <a:rPr lang="es-ES_tradnl" sz="1800" dirty="0"/>
              <a:t>Las mismas condiciones estructurales generan comportamientos similares entre hombres y mujeres, pero hombres y mujeres rara vez tienen permitido realizar los mismos roles sociales.</a:t>
            </a:r>
            <a:endParaRPr lang="es-ES_tradnl" sz="1700" b="1" dirty="0"/>
          </a:p>
          <a:p>
            <a:pPr marL="742950" lvl="1" indent="-285750"/>
            <a:r>
              <a:rPr lang="es-ES_tradnl" sz="1900" dirty="0"/>
              <a:t>Al avanzar la investigación, apoyo a la idea de que los aspectos estructurales son importantes y a veces más importantes que los aspectos individuales</a:t>
            </a:r>
            <a:r>
              <a:rPr lang="es-ES_tradnl" sz="1900" b="1" dirty="0"/>
              <a:t>, pero no son la única explicación</a:t>
            </a:r>
            <a:r>
              <a:rPr lang="es-ES_tradnl" sz="1900" dirty="0"/>
              <a:t>.</a:t>
            </a:r>
          </a:p>
        </p:txBody>
      </p:sp>
    </p:spTree>
    <p:extLst>
      <p:ext uri="{BB962C8B-B14F-4D97-AF65-F5344CB8AC3E}">
        <p14:creationId xmlns:p14="http://schemas.microsoft.com/office/powerpoint/2010/main" val="1851622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8B6F91-4C4B-6C6C-602C-9D8B009737A9}"/>
              </a:ext>
            </a:extLst>
          </p:cNvPr>
          <p:cNvSpPr>
            <a:spLocks noGrp="1"/>
          </p:cNvSpPr>
          <p:nvPr>
            <p:ph type="title"/>
          </p:nvPr>
        </p:nvSpPr>
        <p:spPr>
          <a:xfrm>
            <a:off x="525717" y="787068"/>
            <a:ext cx="5566263" cy="1455091"/>
          </a:xfrm>
        </p:spPr>
        <p:txBody>
          <a:bodyPr>
            <a:normAutofit/>
          </a:bodyPr>
          <a:lstStyle/>
          <a:p>
            <a:r>
              <a:rPr lang="es-ES_tradnl" dirty="0"/>
              <a:t>5. Crítica al feminismo blanco/privilegiado</a:t>
            </a:r>
          </a:p>
        </p:txBody>
      </p:sp>
      <p:graphicFrame>
        <p:nvGraphicFramePr>
          <p:cNvPr id="9" name="Content Placeholder 2">
            <a:extLst>
              <a:ext uri="{FF2B5EF4-FFF2-40B4-BE49-F238E27FC236}">
                <a16:creationId xmlns:a16="http://schemas.microsoft.com/office/drawing/2014/main" id="{64EF398C-622C-B426-CDB0-1A1F2DC5F57B}"/>
              </a:ext>
            </a:extLst>
          </p:cNvPr>
          <p:cNvGraphicFramePr>
            <a:graphicFrameLocks noGrp="1"/>
          </p:cNvGraphicFramePr>
          <p:nvPr>
            <p:ph idx="1"/>
          </p:nvPr>
        </p:nvGraphicFramePr>
        <p:xfrm>
          <a:off x="525717" y="3964827"/>
          <a:ext cx="6484683" cy="327450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Rounded Rectangular Callout 5">
            <a:extLst>
              <a:ext uri="{FF2B5EF4-FFF2-40B4-BE49-F238E27FC236}">
                <a16:creationId xmlns:a16="http://schemas.microsoft.com/office/drawing/2014/main" id="{897079EC-A1E8-3998-6542-C1A66779E3FE}"/>
              </a:ext>
            </a:extLst>
          </p:cNvPr>
          <p:cNvSpPr/>
          <p:nvPr/>
        </p:nvSpPr>
        <p:spPr>
          <a:xfrm>
            <a:off x="542373" y="2568189"/>
            <a:ext cx="5566263" cy="1372101"/>
          </a:xfrm>
          <a:prstGeom prst="wedgeRoundRectCallout">
            <a:avLst>
              <a:gd name="adj1" fmla="val -21372"/>
              <a:gd name="adj2" fmla="val 6579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”la </a:t>
            </a:r>
            <a:r>
              <a:rPr lang="en-US" sz="1800" dirty="0" err="1"/>
              <a:t>priorización</a:t>
            </a:r>
            <a:r>
              <a:rPr lang="en-US" sz="1800" dirty="0"/>
              <a:t> del </a:t>
            </a:r>
            <a:r>
              <a:rPr lang="en-US" sz="1800" dirty="0" err="1"/>
              <a:t>género</a:t>
            </a:r>
            <a:r>
              <a:rPr lang="en-US" sz="1800" dirty="0"/>
              <a:t> </a:t>
            </a:r>
            <a:r>
              <a:rPr lang="en-US" sz="1800" dirty="0" err="1"/>
              <a:t>sobre</a:t>
            </a:r>
            <a:r>
              <a:rPr lang="en-US" sz="1800" dirty="0"/>
              <a:t> </a:t>
            </a:r>
            <a:r>
              <a:rPr lang="en-US" sz="1800" dirty="0" err="1"/>
              <a:t>otras</a:t>
            </a:r>
            <a:r>
              <a:rPr lang="en-US" sz="1800" dirty="0"/>
              <a:t> </a:t>
            </a:r>
            <a:r>
              <a:rPr lang="en-US" sz="1800" dirty="0" err="1"/>
              <a:t>identidades</a:t>
            </a:r>
            <a:r>
              <a:rPr lang="en-US" sz="1800" dirty="0"/>
              <a:t> y </a:t>
            </a:r>
            <a:r>
              <a:rPr lang="en-US" sz="1800" dirty="0" err="1"/>
              <a:t>formas</a:t>
            </a:r>
            <a:r>
              <a:rPr lang="en-US" sz="1800" dirty="0"/>
              <a:t> de </a:t>
            </a:r>
            <a:r>
              <a:rPr lang="en-US" sz="1800" dirty="0" err="1"/>
              <a:t>opresión</a:t>
            </a:r>
            <a:r>
              <a:rPr lang="en-US" sz="1800" dirty="0"/>
              <a:t> </a:t>
            </a:r>
            <a:r>
              <a:rPr lang="en-US" sz="1800" dirty="0" err="1"/>
              <a:t>sólo</a:t>
            </a:r>
            <a:r>
              <a:rPr lang="en-US" sz="1800" dirty="0"/>
              <a:t> </a:t>
            </a:r>
            <a:r>
              <a:rPr lang="en-US" sz="1800" dirty="0" err="1"/>
              <a:t>reproducía</a:t>
            </a:r>
            <a:r>
              <a:rPr lang="en-US" sz="1800" dirty="0"/>
              <a:t> </a:t>
            </a:r>
            <a:r>
              <a:rPr lang="en-US" sz="1800" dirty="0" err="1"/>
              <a:t>jerarquías</a:t>
            </a:r>
            <a:r>
              <a:rPr lang="en-US" sz="1800" dirty="0"/>
              <a:t> de </a:t>
            </a:r>
            <a:r>
              <a:rPr lang="en-US" sz="1800" dirty="0" err="1"/>
              <a:t>poder</a:t>
            </a:r>
            <a:r>
              <a:rPr lang="en-US" sz="1800" dirty="0"/>
              <a:t> </a:t>
            </a:r>
            <a:r>
              <a:rPr lang="en-US" sz="1800" dirty="0" err="1"/>
              <a:t>racistas</a:t>
            </a:r>
            <a:r>
              <a:rPr lang="en-US" sz="1800" dirty="0"/>
              <a:t>, </a:t>
            </a:r>
            <a:r>
              <a:rPr lang="en-US" sz="1800" dirty="0" err="1"/>
              <a:t>heterosexistas</a:t>
            </a:r>
            <a:r>
              <a:rPr lang="en-US" sz="1800" dirty="0"/>
              <a:t> e </a:t>
            </a:r>
            <a:r>
              <a:rPr lang="en-US" sz="1800" dirty="0" err="1"/>
              <a:t>imperialistas</a:t>
            </a:r>
            <a:r>
              <a:rPr lang="en-US" sz="1800" dirty="0"/>
              <a:t>” </a:t>
            </a:r>
            <a:r>
              <a:rPr lang="en-US" sz="1800" dirty="0" err="1"/>
              <a:t>Bokser</a:t>
            </a:r>
            <a:r>
              <a:rPr lang="en-US" sz="1800" dirty="0"/>
              <a:t> Misses-</a:t>
            </a:r>
            <a:r>
              <a:rPr lang="en-US" sz="1800" dirty="0" err="1"/>
              <a:t>Liwerant</a:t>
            </a:r>
            <a:r>
              <a:rPr lang="en-US" sz="1800" dirty="0"/>
              <a:t> (2020)</a:t>
            </a:r>
          </a:p>
          <a:p>
            <a:pPr algn="ctr"/>
            <a:endParaRPr lang="es-ES_tradnl" dirty="0"/>
          </a:p>
        </p:txBody>
      </p:sp>
      <p:pic>
        <p:nvPicPr>
          <p:cNvPr id="10" name="Picture 9" descr="A group of people holding signs&#10;&#10;Description automatically generated">
            <a:extLst>
              <a:ext uri="{FF2B5EF4-FFF2-40B4-BE49-F238E27FC236}">
                <a16:creationId xmlns:a16="http://schemas.microsoft.com/office/drawing/2014/main" id="{D1C3435D-E53C-BD11-07D7-65C13258E828}"/>
              </a:ext>
            </a:extLst>
          </p:cNvPr>
          <p:cNvPicPr>
            <a:picLocks noChangeAspect="1"/>
          </p:cNvPicPr>
          <p:nvPr/>
        </p:nvPicPr>
        <p:blipFill>
          <a:blip r:embed="rId8"/>
          <a:stretch>
            <a:fillRect/>
          </a:stretch>
        </p:blipFill>
        <p:spPr>
          <a:xfrm>
            <a:off x="7327299" y="3348741"/>
            <a:ext cx="4338984" cy="3254239"/>
          </a:xfrm>
          <a:prstGeom prst="rect">
            <a:avLst/>
          </a:prstGeom>
        </p:spPr>
      </p:pic>
      <p:pic>
        <p:nvPicPr>
          <p:cNvPr id="13" name="Picture 12" descr="A wall with graffiti on it&#10;&#10;Description automatically generated">
            <a:extLst>
              <a:ext uri="{FF2B5EF4-FFF2-40B4-BE49-F238E27FC236}">
                <a16:creationId xmlns:a16="http://schemas.microsoft.com/office/drawing/2014/main" id="{52452A68-F3A2-4FB3-6A47-6DFF13C13A49}"/>
              </a:ext>
            </a:extLst>
          </p:cNvPr>
          <p:cNvPicPr>
            <a:picLocks noChangeAspect="1"/>
          </p:cNvPicPr>
          <p:nvPr/>
        </p:nvPicPr>
        <p:blipFill>
          <a:blip r:embed="rId9"/>
          <a:stretch>
            <a:fillRect/>
          </a:stretch>
        </p:blipFill>
        <p:spPr>
          <a:xfrm>
            <a:off x="7010400" y="895934"/>
            <a:ext cx="5118977" cy="2207559"/>
          </a:xfrm>
          <a:prstGeom prst="rect">
            <a:avLst/>
          </a:prstGeom>
        </p:spPr>
      </p:pic>
    </p:spTree>
    <p:extLst>
      <p:ext uri="{BB962C8B-B14F-4D97-AF65-F5344CB8AC3E}">
        <p14:creationId xmlns:p14="http://schemas.microsoft.com/office/powerpoint/2010/main" val="1988949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A544E-B6F5-0376-189A-4A4108B2D621}"/>
              </a:ext>
            </a:extLst>
          </p:cNvPr>
          <p:cNvSpPr>
            <a:spLocks noGrp="1"/>
          </p:cNvSpPr>
          <p:nvPr>
            <p:ph type="title"/>
          </p:nvPr>
        </p:nvSpPr>
        <p:spPr>
          <a:xfrm>
            <a:off x="525717" y="620813"/>
            <a:ext cx="10077557" cy="1325563"/>
          </a:xfrm>
        </p:spPr>
        <p:txBody>
          <a:bodyPr/>
          <a:lstStyle/>
          <a:p>
            <a:r>
              <a:rPr lang="es-ES_tradnl" dirty="0"/>
              <a:t>6. Siglo 21</a:t>
            </a:r>
          </a:p>
        </p:txBody>
      </p:sp>
      <p:sp>
        <p:nvSpPr>
          <p:cNvPr id="3" name="Content Placeholder 2">
            <a:extLst>
              <a:ext uri="{FF2B5EF4-FFF2-40B4-BE49-F238E27FC236}">
                <a16:creationId xmlns:a16="http://schemas.microsoft.com/office/drawing/2014/main" id="{0A9570C9-2E3B-BB3C-DCAF-5B60C39E5B7F}"/>
              </a:ext>
            </a:extLst>
          </p:cNvPr>
          <p:cNvSpPr>
            <a:spLocks noGrp="1"/>
          </p:cNvSpPr>
          <p:nvPr>
            <p:ph idx="1"/>
          </p:nvPr>
        </p:nvSpPr>
        <p:spPr>
          <a:xfrm>
            <a:off x="525717" y="2521885"/>
            <a:ext cx="10077557" cy="3878915"/>
          </a:xfrm>
        </p:spPr>
        <p:txBody>
          <a:bodyPr>
            <a:normAutofit lnSpcReduction="10000"/>
          </a:bodyPr>
          <a:lstStyle/>
          <a:p>
            <a:pPr marL="800100" indent="-342900">
              <a:buFont typeface="Arial" panose="020B0604020202020204" pitchFamily="34" charset="0"/>
              <a:buChar char="•"/>
            </a:pPr>
            <a:r>
              <a:rPr lang="es-ES_tradnl" b="1" dirty="0"/>
              <a:t>Expectativas de status </a:t>
            </a:r>
            <a:r>
              <a:rPr lang="es-ES_tradnl" dirty="0"/>
              <a:t>enmarcan el género: genero enmarca lo que vemos, cómo categorizamos a las personas de manera inconsciente y cómo reaccionamos a ellas. </a:t>
            </a:r>
          </a:p>
          <a:p>
            <a:pPr marL="800100" indent="-342900">
              <a:buFont typeface="Arial" panose="020B0604020202020204" pitchFamily="34" charset="0"/>
              <a:buChar char="•"/>
            </a:pPr>
            <a:r>
              <a:rPr lang="es-ES_tradnl" b="1" dirty="0"/>
              <a:t>Lógicas culturales</a:t>
            </a:r>
          </a:p>
          <a:p>
            <a:pPr marL="1257300" lvl="2" indent="-342900">
              <a:buFont typeface="Arial" panose="020B0604020202020204" pitchFamily="34" charset="0"/>
              <a:buChar char="•"/>
            </a:pPr>
            <a:r>
              <a:rPr lang="es-ES_tradnl" sz="1800" dirty="0" err="1"/>
              <a:t>Ej</a:t>
            </a:r>
            <a:r>
              <a:rPr lang="es-ES_tradnl" sz="1800" dirty="0"/>
              <a:t>: Las estructuras organizacionales no son neutras. El género está inscrito en el diseño de las organizaciones, la definición de lo que es un trabajo y la jerarquía. </a:t>
            </a:r>
          </a:p>
          <a:p>
            <a:pPr marL="800100" indent="-342900">
              <a:buFont typeface="Arial" panose="020B0604020202020204" pitchFamily="34" charset="0"/>
              <a:buChar char="•"/>
            </a:pPr>
            <a:r>
              <a:rPr lang="es-ES_tradnl" b="1" dirty="0"/>
              <a:t>Teorías queer de género</a:t>
            </a:r>
            <a:r>
              <a:rPr lang="es-ES_tradnl" dirty="0"/>
              <a:t>: desafía las ideas binarias que suponen las teorías de genero al problematizar el privilegio masculino. Trae la sexualidad al centro, la heteronormatividad esta mezclada con la desigualdad de género. </a:t>
            </a:r>
          </a:p>
          <a:p>
            <a:pPr marL="1257300" lvl="2" indent="-342900">
              <a:buFont typeface="Arial" panose="020B0604020202020204" pitchFamily="34" charset="0"/>
              <a:buChar char="•"/>
            </a:pPr>
            <a:r>
              <a:rPr lang="es-ES_tradnl" sz="1800" dirty="0"/>
              <a:t>Importantes estudios de personas trans que ha desafiado la consistencia entre sexo asignado al nacer, género y sexualidad.</a:t>
            </a:r>
          </a:p>
        </p:txBody>
      </p:sp>
    </p:spTree>
    <p:extLst>
      <p:ext uri="{BB962C8B-B14F-4D97-AF65-F5344CB8AC3E}">
        <p14:creationId xmlns:p14="http://schemas.microsoft.com/office/powerpoint/2010/main" val="40491355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DAC39-D84B-08B0-091A-06A099F379A9}"/>
              </a:ext>
            </a:extLst>
          </p:cNvPr>
          <p:cNvSpPr>
            <a:spLocks noGrp="1"/>
          </p:cNvSpPr>
          <p:nvPr>
            <p:ph type="title"/>
          </p:nvPr>
        </p:nvSpPr>
        <p:spPr>
          <a:xfrm>
            <a:off x="1057221" y="833563"/>
            <a:ext cx="10077557" cy="4242132"/>
          </a:xfrm>
        </p:spPr>
        <p:txBody>
          <a:bodyPr>
            <a:normAutofit/>
          </a:bodyPr>
          <a:lstStyle/>
          <a:p>
            <a:pPr algn="ctr"/>
            <a:r>
              <a:rPr lang="es-ES_tradnl" sz="5400" dirty="0"/>
              <a:t>¿Qué es el género?</a:t>
            </a:r>
            <a:br>
              <a:rPr lang="es-ES_tradnl" dirty="0"/>
            </a:br>
            <a:br>
              <a:rPr lang="es-ES_tradnl" dirty="0"/>
            </a:br>
            <a:br>
              <a:rPr lang="es-ES_tradnl" dirty="0"/>
            </a:br>
            <a:r>
              <a:rPr lang="es-ES_tradnl" dirty="0"/>
              <a:t>Responde en </a:t>
            </a:r>
            <a:r>
              <a:rPr lang="es-ES_tradnl" dirty="0" err="1"/>
              <a:t>Wooclap</a:t>
            </a:r>
            <a:r>
              <a:rPr lang="es-ES_tradnl" dirty="0"/>
              <a:t>.</a:t>
            </a:r>
            <a:br>
              <a:rPr lang="es-ES_tradnl" dirty="0"/>
            </a:br>
            <a:br>
              <a:rPr lang="es-ES_tradnl" dirty="0"/>
            </a:br>
            <a:r>
              <a:rPr lang="es-ES_tradnl" sz="2200" dirty="0"/>
              <a:t>Nota sobre </a:t>
            </a:r>
            <a:r>
              <a:rPr lang="es-ES_tradnl" sz="2200" dirty="0" err="1"/>
              <a:t>Wooclap</a:t>
            </a:r>
            <a:r>
              <a:rPr lang="es-ES_tradnl" sz="2200" dirty="0"/>
              <a:t>: siempre iniciar sesión, para poder llevar registro de completitud de actividades. </a:t>
            </a:r>
            <a:br>
              <a:rPr lang="es-ES_tradnl" sz="2200" dirty="0"/>
            </a:br>
            <a:r>
              <a:rPr lang="es-ES_tradnl" sz="2200" dirty="0"/>
              <a:t>Las actividades que no sean anónimas serán avisadas anteriormente.</a:t>
            </a:r>
            <a:endParaRPr lang="es-ES_tradnl" dirty="0"/>
          </a:p>
        </p:txBody>
      </p:sp>
    </p:spTree>
    <p:extLst>
      <p:ext uri="{BB962C8B-B14F-4D97-AF65-F5344CB8AC3E}">
        <p14:creationId xmlns:p14="http://schemas.microsoft.com/office/powerpoint/2010/main" val="40674006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B14BB9-55BA-F053-EC2C-CD0C88B420AA}"/>
              </a:ext>
            </a:extLst>
          </p:cNvPr>
          <p:cNvSpPr>
            <a:spLocks noGrp="1"/>
          </p:cNvSpPr>
          <p:nvPr>
            <p:ph type="title"/>
          </p:nvPr>
        </p:nvSpPr>
        <p:spPr/>
        <p:txBody>
          <a:bodyPr/>
          <a:lstStyle/>
          <a:p>
            <a:r>
              <a:rPr lang="es-ES_tradnl" dirty="0"/>
              <a:t>Consenso (siempre en construcción)</a:t>
            </a:r>
          </a:p>
        </p:txBody>
      </p:sp>
      <p:sp>
        <p:nvSpPr>
          <p:cNvPr id="3" name="Content Placeholder 2">
            <a:extLst>
              <a:ext uri="{FF2B5EF4-FFF2-40B4-BE49-F238E27FC236}">
                <a16:creationId xmlns:a16="http://schemas.microsoft.com/office/drawing/2014/main" id="{2AC1373C-754E-B544-9C61-229EB1C25030}"/>
              </a:ext>
            </a:extLst>
          </p:cNvPr>
          <p:cNvSpPr>
            <a:spLocks noGrp="1"/>
          </p:cNvSpPr>
          <p:nvPr>
            <p:ph idx="1"/>
          </p:nvPr>
        </p:nvSpPr>
        <p:spPr/>
        <p:txBody>
          <a:bodyPr>
            <a:normAutofit/>
          </a:bodyPr>
          <a:lstStyle/>
          <a:p>
            <a:r>
              <a:rPr lang="es-ES_tradnl" sz="2400" dirty="0"/>
              <a:t>El género es un </a:t>
            </a:r>
            <a:r>
              <a:rPr lang="es-ES_tradnl" sz="2400" b="1" dirty="0"/>
              <a:t>sistema</a:t>
            </a:r>
            <a:r>
              <a:rPr lang="es-ES_tradnl" sz="2400" dirty="0"/>
              <a:t> de estratificación que va más allá de las características individuales y que varía a lo largo de diferentes ejes de desigualdad, como la sexualidad, raza/etnia, clase social, nacionalidad, entre otras. </a:t>
            </a:r>
          </a:p>
          <a:p>
            <a:r>
              <a:rPr lang="es-ES_tradnl" sz="2400" dirty="0"/>
              <a:t>El género es un sistema social que restringe y motiva patrones de comportamiento y genera desigualdades. Es sobre la distribución de poder, propiedad y prestigio. </a:t>
            </a:r>
          </a:p>
        </p:txBody>
      </p:sp>
    </p:spTree>
    <p:extLst>
      <p:ext uri="{BB962C8B-B14F-4D97-AF65-F5344CB8AC3E}">
        <p14:creationId xmlns:p14="http://schemas.microsoft.com/office/powerpoint/2010/main" val="605424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763EE3-363A-DA8C-44D6-48246EAB5B28}"/>
              </a:ext>
            </a:extLst>
          </p:cNvPr>
          <p:cNvSpPr>
            <a:spLocks noGrp="1"/>
          </p:cNvSpPr>
          <p:nvPr>
            <p:ph type="title"/>
          </p:nvPr>
        </p:nvSpPr>
        <p:spPr/>
        <p:txBody>
          <a:bodyPr>
            <a:normAutofit/>
          </a:bodyPr>
          <a:lstStyle/>
          <a:p>
            <a:r>
              <a:rPr lang="es-ES_tradnl" dirty="0"/>
              <a:t>Próxima semana</a:t>
            </a:r>
          </a:p>
        </p:txBody>
      </p:sp>
      <p:sp>
        <p:nvSpPr>
          <p:cNvPr id="3" name="Content Placeholder 2">
            <a:extLst>
              <a:ext uri="{FF2B5EF4-FFF2-40B4-BE49-F238E27FC236}">
                <a16:creationId xmlns:a16="http://schemas.microsoft.com/office/drawing/2014/main" id="{538C295D-0C7E-23F7-EB05-B80577072129}"/>
              </a:ext>
            </a:extLst>
          </p:cNvPr>
          <p:cNvSpPr>
            <a:spLocks noGrp="1"/>
          </p:cNvSpPr>
          <p:nvPr>
            <p:ph idx="1"/>
          </p:nvPr>
        </p:nvSpPr>
        <p:spPr>
          <a:xfrm>
            <a:off x="267027" y="2396836"/>
            <a:ext cx="10802755" cy="4197927"/>
          </a:xfrm>
        </p:spPr>
        <p:txBody>
          <a:bodyPr>
            <a:normAutofit/>
          </a:bodyPr>
          <a:lstStyle/>
          <a:p>
            <a:pPr lvl="1" indent="0">
              <a:spcBef>
                <a:spcPts val="1000"/>
              </a:spcBef>
              <a:spcAft>
                <a:spcPts val="600"/>
              </a:spcAft>
              <a:buNone/>
            </a:pPr>
            <a:r>
              <a:rPr lang="en-US" sz="2400" dirty="0" err="1"/>
              <a:t>Conceptos</a:t>
            </a:r>
            <a:r>
              <a:rPr lang="en-US" sz="2400" dirty="0"/>
              <a:t> </a:t>
            </a:r>
            <a:r>
              <a:rPr lang="en-US" sz="2400" dirty="0" err="1"/>
              <a:t>fundamentales</a:t>
            </a:r>
            <a:r>
              <a:rPr lang="en-US" sz="2400" dirty="0"/>
              <a:t>: </a:t>
            </a:r>
            <a:r>
              <a:rPr lang="en-US" sz="2400" dirty="0" err="1"/>
              <a:t>Binarismo</a:t>
            </a:r>
            <a:r>
              <a:rPr lang="en-US" sz="2400" dirty="0"/>
              <a:t>, </a:t>
            </a:r>
            <a:r>
              <a:rPr lang="en-US" sz="2400" dirty="0" err="1"/>
              <a:t>esencialismo</a:t>
            </a:r>
            <a:r>
              <a:rPr lang="en-US" sz="2400" dirty="0"/>
              <a:t> y </a:t>
            </a:r>
            <a:r>
              <a:rPr lang="en-US" sz="2400" dirty="0" err="1"/>
              <a:t>patriarcado</a:t>
            </a:r>
            <a:r>
              <a:rPr lang="en-US" sz="2400" dirty="0"/>
              <a:t>.</a:t>
            </a:r>
          </a:p>
          <a:p>
            <a:pPr lvl="1" indent="0">
              <a:spcBef>
                <a:spcPts val="1000"/>
              </a:spcBef>
              <a:spcAft>
                <a:spcPts val="600"/>
              </a:spcAft>
              <a:buNone/>
            </a:pPr>
            <a:r>
              <a:rPr lang="en-US" sz="2400" b="1" dirty="0" err="1"/>
              <a:t>Lecturas</a:t>
            </a:r>
            <a:r>
              <a:rPr lang="en-US" sz="2400" b="1" dirty="0"/>
              <a:t> </a:t>
            </a:r>
            <a:r>
              <a:rPr lang="en-US" sz="2400" b="1" dirty="0" err="1"/>
              <a:t>mínimas</a:t>
            </a:r>
            <a:r>
              <a:rPr lang="en-US" sz="2400" b="1" dirty="0"/>
              <a:t>:</a:t>
            </a:r>
          </a:p>
          <a:p>
            <a:pPr lvl="1" indent="0">
              <a:spcBef>
                <a:spcPts val="1000"/>
              </a:spcBef>
              <a:spcAft>
                <a:spcPts val="600"/>
              </a:spcAft>
              <a:buNone/>
            </a:pPr>
            <a:r>
              <a:rPr lang="en-US" sz="2400" dirty="0"/>
              <a:t>Connell - "The Question of Gender” pp. 9-18</a:t>
            </a:r>
            <a:endParaRPr lang="en-US" sz="2400" b="1" dirty="0"/>
          </a:p>
          <a:p>
            <a:pPr lvl="1" indent="0">
              <a:spcBef>
                <a:spcPts val="1000"/>
              </a:spcBef>
              <a:spcAft>
                <a:spcPts val="600"/>
              </a:spcAft>
              <a:buNone/>
            </a:pPr>
            <a:r>
              <a:rPr lang="en-US" sz="2400" dirty="0"/>
              <a:t>Human Rights Watch. 2018. </a:t>
            </a:r>
            <a:r>
              <a:rPr lang="en-US" sz="2400" dirty="0" err="1"/>
              <a:t>Acabar</a:t>
            </a:r>
            <a:r>
              <a:rPr lang="en-US" sz="2400" dirty="0"/>
              <a:t> con la </a:t>
            </a:r>
            <a:r>
              <a:rPr lang="en-US" sz="2400" dirty="0" err="1"/>
              <a:t>alteración</a:t>
            </a:r>
            <a:r>
              <a:rPr lang="en-US" sz="2400" dirty="0"/>
              <a:t> intersexual. </a:t>
            </a:r>
          </a:p>
          <a:p>
            <a:pPr lvl="1" indent="0">
              <a:spcBef>
                <a:spcPts val="1000"/>
              </a:spcBef>
              <a:spcAft>
                <a:spcPts val="600"/>
              </a:spcAft>
              <a:buNone/>
            </a:pPr>
            <a:r>
              <a:rPr lang="en-US" sz="2400" dirty="0"/>
              <a:t>Compton &amp; Bridges (2013). "On Queering Parenting and Gender-Neutrality”.</a:t>
            </a:r>
            <a:endParaRPr lang="en-US" sz="2400" b="1" dirty="0"/>
          </a:p>
          <a:p>
            <a:pPr lvl="1" indent="0">
              <a:spcBef>
                <a:spcPts val="1000"/>
              </a:spcBef>
              <a:spcAft>
                <a:spcPts val="600"/>
              </a:spcAft>
              <a:buNone/>
            </a:pPr>
            <a:endParaRPr lang="en-US" sz="2400" b="1" dirty="0"/>
          </a:p>
        </p:txBody>
      </p:sp>
    </p:spTree>
    <p:extLst>
      <p:ext uri="{BB962C8B-B14F-4D97-AF65-F5344CB8AC3E}">
        <p14:creationId xmlns:p14="http://schemas.microsoft.com/office/powerpoint/2010/main" val="285415787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0.0"/>
  <p:tag name="SLIDO_PRESENTATION_ID" val="00000000-0000-0000-0000-000000000000"/>
  <p:tag name="SLIDO_EVENT_UUID" val="49aaf32d-47fa-4b67-9d2e-19b4ec34f820"/>
  <p:tag name="SLIDO_EVENT_SECTION_UUID" val="95952c9d-73cb-4153-9248-57bc65f837fd"/>
</p:tagLst>
</file>

<file path=ppt/theme/theme1.xml><?xml version="1.0" encoding="utf-8"?>
<a:theme xmlns:a="http://schemas.openxmlformats.org/drawingml/2006/main" name="RocaVTI">
  <a:themeElements>
    <a:clrScheme name="AnalogousFromLightSeedLeftStep">
      <a:dk1>
        <a:srgbClr val="000000"/>
      </a:dk1>
      <a:lt1>
        <a:srgbClr val="FFFFFF"/>
      </a:lt1>
      <a:dk2>
        <a:srgbClr val="242741"/>
      </a:dk2>
      <a:lt2>
        <a:srgbClr val="E6E2E8"/>
      </a:lt2>
      <a:accent1>
        <a:srgbClr val="89AB74"/>
      </a:accent1>
      <a:accent2>
        <a:srgbClr val="9AA862"/>
      </a:accent2>
      <a:accent3>
        <a:srgbClr val="ADA175"/>
      </a:accent3>
      <a:accent4>
        <a:srgbClr val="C59173"/>
      </a:accent4>
      <a:accent5>
        <a:srgbClr val="D08D90"/>
      </a:accent5>
      <a:accent6>
        <a:srgbClr val="C5739A"/>
      </a:accent6>
      <a:hlink>
        <a:srgbClr val="9469AE"/>
      </a:hlink>
      <a:folHlink>
        <a:srgbClr val="7F7F7F"/>
      </a:folHlink>
    </a:clrScheme>
    <a:fontScheme name="Custom 36">
      <a:majorFont>
        <a:latin typeface="Georgia Pro Semibold"/>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ocaVTI" id="{D79FE1D1-0489-4A69-8531-D0B8CDC31CBE}" vid="{CEBA7FE6-C04B-474E-964F-B022887AD13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16301</TotalTime>
  <Words>2754</Words>
  <Application>Microsoft Macintosh PowerPoint</Application>
  <PresentationFormat>Widescreen</PresentationFormat>
  <Paragraphs>231</Paragraphs>
  <Slides>30</Slides>
  <Notes>28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Avenir Next LT Pro</vt:lpstr>
      <vt:lpstr>Avenir Next LT Pro Light</vt:lpstr>
      <vt:lpstr>Calibri</vt:lpstr>
      <vt:lpstr>Georgia Pro Semibold</vt:lpstr>
      <vt:lpstr>RocaVTI</vt:lpstr>
      <vt:lpstr>Sociología del Género</vt:lpstr>
      <vt:lpstr>Plan de clase</vt:lpstr>
      <vt:lpstr>Un poco sobre mí</vt:lpstr>
      <vt:lpstr>Ayudantes</vt:lpstr>
      <vt:lpstr>Introducciones: 20 segundos!</vt:lpstr>
      <vt:lpstr>Hoja de ruta del curso</vt:lpstr>
      <vt:lpstr>Por favor revisar el programa en detalle</vt:lpstr>
      <vt:lpstr>Buenas prácticas</vt:lpstr>
      <vt:lpstr>Acuerdo de buenas prácticas: creando un ambiente seguro</vt:lpstr>
      <vt:lpstr>Sugerencias para la lectura de artículos científicos</vt:lpstr>
      <vt:lpstr>Sugerencias para la lectura de artículos científicos</vt:lpstr>
      <vt:lpstr>PowerPoint Presentation</vt:lpstr>
      <vt:lpstr>Actividad: Termómetro de la verdad</vt:lpstr>
      <vt:lpstr>PowerPoint Presentation</vt:lpstr>
      <vt:lpstr>Plenario</vt:lpstr>
      <vt:lpstr>¿Por qué una sociología del género?</vt:lpstr>
      <vt:lpstr>PowerPoint Presentation</vt:lpstr>
      <vt:lpstr>Crítica feminista a las ciencias sociales (Acker 1992; Ferree &amp; Hess 1987; Stacey &amp; Thorne 1985)</vt:lpstr>
      <vt:lpstr>Etapas en la investigación de género (Acker 1992; Bokser Misses-Liwerant (2020): Ferre &amp; Hess 1987; Risman 2018)</vt:lpstr>
      <vt:lpstr>Etapas en la investigación de género (Acker 1992; Ferre &amp; Hess 1987; Risman 2018)</vt:lpstr>
      <vt:lpstr>1. Diferencias entre sexos</vt:lpstr>
      <vt:lpstr>2. Sexo como rol (psicología)</vt:lpstr>
      <vt:lpstr>3. Género como respuesta a “sexo como rol”</vt:lpstr>
      <vt:lpstr>4. Hacia una comprensión social del género</vt:lpstr>
      <vt:lpstr>4. Hacia una comprensión social del género</vt:lpstr>
      <vt:lpstr>5. Crítica al feminismo blanco/privilegiado</vt:lpstr>
      <vt:lpstr>6. Siglo 21</vt:lpstr>
      <vt:lpstr>¿Qué es el género?   Responde en Wooclap.  Nota sobre Wooclap: siempre iniciar sesión, para poder llevar registro de completitud de actividades.  Las actividades que no sean anónimas serán avisadas anteriormente.</vt:lpstr>
      <vt:lpstr>Consenso (siempre en construcción)</vt:lpstr>
      <vt:lpstr>Próxima semana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Sociología del Género</dc:title>
  <dc:creator>Cabello-Hutt, Tania</dc:creator>
  <cp:lastModifiedBy>Tania Hutt</cp:lastModifiedBy>
  <cp:revision>32</cp:revision>
  <cp:lastPrinted>2024-03-12T15:22:39Z</cp:lastPrinted>
  <dcterms:created xsi:type="dcterms:W3CDTF">2023-10-10T15:39:50Z</dcterms:created>
  <dcterms:modified xsi:type="dcterms:W3CDTF">2026-08-13T14:41:13Z</dcterms:modified>
</cp:coreProperties>
</file>