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sldIdLst>
    <p:sldId id="256" r:id="rId2"/>
    <p:sldId id="271" r:id="rId3"/>
    <p:sldId id="269" r:id="rId4"/>
    <p:sldId id="273" r:id="rId5"/>
    <p:sldId id="270" r:id="rId6"/>
    <p:sldId id="274" r:id="rId7"/>
    <p:sldId id="283" r:id="rId8"/>
    <p:sldId id="275" r:id="rId9"/>
    <p:sldId id="282" r:id="rId10"/>
    <p:sldId id="280" r:id="rId11"/>
    <p:sldId id="288" r:id="rId12"/>
    <p:sldId id="287" r:id="rId13"/>
    <p:sldId id="281" r:id="rId14"/>
    <p:sldId id="285" r:id="rId15"/>
    <p:sldId id="284" r:id="rId16"/>
    <p:sldId id="278" r:id="rId17"/>
    <p:sldId id="289" r:id="rId18"/>
    <p:sldId id="257" r:id="rId19"/>
    <p:sldId id="259" r:id="rId20"/>
    <p:sldId id="279" r:id="rId21"/>
    <p:sldId id="260" r:id="rId22"/>
    <p:sldId id="261" r:id="rId23"/>
    <p:sldId id="262" r:id="rId24"/>
    <p:sldId id="263" r:id="rId25"/>
    <p:sldId id="264" r:id="rId26"/>
    <p:sldId id="265" r:id="rId27"/>
    <p:sldId id="266" r:id="rId28"/>
    <p:sldId id="286" r:id="rId29"/>
    <p:sldId id="267" r:id="rId30"/>
    <p:sldId id="268" r:id="rId31"/>
  </p:sldIdLst>
  <p:sldSz cx="12192000" cy="6858000"/>
  <p:notesSz cx="9144000" cy="6858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68"/>
    <p:restoredTop sz="67192"/>
  </p:normalViewPr>
  <p:slideViewPr>
    <p:cSldViewPr snapToGrid="0">
      <p:cViewPr varScale="1">
        <p:scale>
          <a:sx n="78" d="100"/>
          <a:sy n="78" d="100"/>
        </p:scale>
        <p:origin x="192"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5" Type="http://schemas.openxmlformats.org/officeDocument/2006/relationships/image" Target="../media/image12.sv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5" Type="http://schemas.openxmlformats.org/officeDocument/2006/relationships/image" Target="../media/image12.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156268-F207-8F4B-8B7D-FA07756A14AD}" type="doc">
      <dgm:prSet loTypeId="urn:microsoft.com/office/officeart/2005/8/layout/process1" loCatId="process" qsTypeId="urn:microsoft.com/office/officeart/2005/8/quickstyle/simple1" qsCatId="simple" csTypeId="urn:microsoft.com/office/officeart/2005/8/colors/colorful4" csCatId="colorful" phldr="1"/>
      <dgm:spPr/>
      <dgm:t>
        <a:bodyPr/>
        <a:lstStyle/>
        <a:p>
          <a:endParaRPr lang="en-US"/>
        </a:p>
      </dgm:t>
    </dgm:pt>
    <dgm:pt modelId="{03E73A16-603B-AD4D-B19B-F25EAFC68CC9}">
      <dgm:prSet custT="1"/>
      <dgm:spPr/>
      <dgm:t>
        <a:bodyPr/>
        <a:lstStyle/>
        <a:p>
          <a:r>
            <a:rPr lang="es-ES_tradnl" sz="2000" dirty="0"/>
            <a:t>Bases: conceptos y perspectivas teóricas fundamentales (C1-6)</a:t>
          </a:r>
          <a:endParaRPr lang="en-CL" sz="2000" dirty="0"/>
        </a:p>
      </dgm:t>
    </dgm:pt>
    <dgm:pt modelId="{A339B6C8-EF2E-B94A-9C08-C445B091D653}" type="parTrans" cxnId="{196F95ED-CB3E-4145-A5A0-61745AE5E79F}">
      <dgm:prSet/>
      <dgm:spPr/>
      <dgm:t>
        <a:bodyPr/>
        <a:lstStyle/>
        <a:p>
          <a:endParaRPr lang="en-US" sz="2000"/>
        </a:p>
      </dgm:t>
    </dgm:pt>
    <dgm:pt modelId="{C79E9CC6-EC97-A043-AD5B-D3DD900D42C5}" type="sibTrans" cxnId="{196F95ED-CB3E-4145-A5A0-61745AE5E79F}">
      <dgm:prSet custT="1"/>
      <dgm:spPr/>
      <dgm:t>
        <a:bodyPr/>
        <a:lstStyle/>
        <a:p>
          <a:endParaRPr lang="en-US" sz="2000"/>
        </a:p>
      </dgm:t>
    </dgm:pt>
    <dgm:pt modelId="{4D780B6C-C701-5848-8012-EAC6E28B3EA7}">
      <dgm:prSet custT="1"/>
      <dgm:spPr/>
      <dgm:t>
        <a:bodyPr/>
        <a:lstStyle/>
        <a:p>
          <a:r>
            <a:rPr lang="es-ES_tradnl" sz="2000" dirty="0"/>
            <a:t>Aplicación de conceptos y teorías a diversos ámbitos de la vida social (C7-14)</a:t>
          </a:r>
          <a:endParaRPr lang="en-CL" sz="2000" dirty="0"/>
        </a:p>
      </dgm:t>
    </dgm:pt>
    <dgm:pt modelId="{7C3FC5F4-F0DA-4042-85EF-BD371F2BBD6A}" type="parTrans" cxnId="{ACAFE7EB-4339-994E-BE10-B84E59707BE3}">
      <dgm:prSet/>
      <dgm:spPr/>
      <dgm:t>
        <a:bodyPr/>
        <a:lstStyle/>
        <a:p>
          <a:endParaRPr lang="en-US" sz="2000"/>
        </a:p>
      </dgm:t>
    </dgm:pt>
    <dgm:pt modelId="{E401E39E-B0B6-8F42-9394-D2C225EE7813}" type="sibTrans" cxnId="{ACAFE7EB-4339-994E-BE10-B84E59707BE3}">
      <dgm:prSet/>
      <dgm:spPr/>
      <dgm:t>
        <a:bodyPr/>
        <a:lstStyle/>
        <a:p>
          <a:endParaRPr lang="en-US" sz="2000"/>
        </a:p>
      </dgm:t>
    </dgm:pt>
    <dgm:pt modelId="{0FFB416D-EA52-904B-824B-E50C2B67FC42}" type="pres">
      <dgm:prSet presAssocID="{26156268-F207-8F4B-8B7D-FA07756A14AD}" presName="Name0" presStyleCnt="0">
        <dgm:presLayoutVars>
          <dgm:dir/>
          <dgm:resizeHandles val="exact"/>
        </dgm:presLayoutVars>
      </dgm:prSet>
      <dgm:spPr/>
    </dgm:pt>
    <dgm:pt modelId="{D44908C7-FCDC-E945-868F-91CA997F3C23}" type="pres">
      <dgm:prSet presAssocID="{03E73A16-603B-AD4D-B19B-F25EAFC68CC9}" presName="node" presStyleLbl="node1" presStyleIdx="0" presStyleCnt="2" custLinFactNeighborX="4277" custLinFactNeighborY="-9551">
        <dgm:presLayoutVars>
          <dgm:bulletEnabled val="1"/>
        </dgm:presLayoutVars>
      </dgm:prSet>
      <dgm:spPr/>
    </dgm:pt>
    <dgm:pt modelId="{46DF3D97-F217-CE40-B88B-3DFAC05481BB}" type="pres">
      <dgm:prSet presAssocID="{C79E9CC6-EC97-A043-AD5B-D3DD900D42C5}" presName="sibTrans" presStyleLbl="sibTrans2D1" presStyleIdx="0" presStyleCnt="1"/>
      <dgm:spPr/>
    </dgm:pt>
    <dgm:pt modelId="{05D15972-3CD5-F540-A9C1-8F15B9A9D85A}" type="pres">
      <dgm:prSet presAssocID="{C79E9CC6-EC97-A043-AD5B-D3DD900D42C5}" presName="connectorText" presStyleLbl="sibTrans2D1" presStyleIdx="0" presStyleCnt="1"/>
      <dgm:spPr/>
    </dgm:pt>
    <dgm:pt modelId="{86ED2A72-794C-884D-8506-AA1AC3BA1955}" type="pres">
      <dgm:prSet presAssocID="{4D780B6C-C701-5848-8012-EAC6E28B3EA7}" presName="node" presStyleLbl="node1" presStyleIdx="1" presStyleCnt="2" custLinFactNeighborX="1456" custLinFactNeighborY="-377">
        <dgm:presLayoutVars>
          <dgm:bulletEnabled val="1"/>
        </dgm:presLayoutVars>
      </dgm:prSet>
      <dgm:spPr/>
    </dgm:pt>
  </dgm:ptLst>
  <dgm:cxnLst>
    <dgm:cxn modelId="{46B7EF50-7E91-CD40-8694-2018888EB7EB}" type="presOf" srcId="{C79E9CC6-EC97-A043-AD5B-D3DD900D42C5}" destId="{05D15972-3CD5-F540-A9C1-8F15B9A9D85A}" srcOrd="1" destOrd="0" presId="urn:microsoft.com/office/officeart/2005/8/layout/process1"/>
    <dgm:cxn modelId="{38221EB2-0B42-5E40-BBC4-7CD3AF133F69}" type="presOf" srcId="{03E73A16-603B-AD4D-B19B-F25EAFC68CC9}" destId="{D44908C7-FCDC-E945-868F-91CA997F3C23}" srcOrd="0" destOrd="0" presId="urn:microsoft.com/office/officeart/2005/8/layout/process1"/>
    <dgm:cxn modelId="{A03F73B8-40F8-4F46-B1BF-5687AD3BA96B}" type="presOf" srcId="{4D780B6C-C701-5848-8012-EAC6E28B3EA7}" destId="{86ED2A72-794C-884D-8506-AA1AC3BA1955}" srcOrd="0" destOrd="0" presId="urn:microsoft.com/office/officeart/2005/8/layout/process1"/>
    <dgm:cxn modelId="{33A17DC7-7132-EC49-AB27-47103FEC62AF}" type="presOf" srcId="{26156268-F207-8F4B-8B7D-FA07756A14AD}" destId="{0FFB416D-EA52-904B-824B-E50C2B67FC42}" srcOrd="0" destOrd="0" presId="urn:microsoft.com/office/officeart/2005/8/layout/process1"/>
    <dgm:cxn modelId="{ACAFE7EB-4339-994E-BE10-B84E59707BE3}" srcId="{26156268-F207-8F4B-8B7D-FA07756A14AD}" destId="{4D780B6C-C701-5848-8012-EAC6E28B3EA7}" srcOrd="1" destOrd="0" parTransId="{7C3FC5F4-F0DA-4042-85EF-BD371F2BBD6A}" sibTransId="{E401E39E-B0B6-8F42-9394-D2C225EE7813}"/>
    <dgm:cxn modelId="{196F95ED-CB3E-4145-A5A0-61745AE5E79F}" srcId="{26156268-F207-8F4B-8B7D-FA07756A14AD}" destId="{03E73A16-603B-AD4D-B19B-F25EAFC68CC9}" srcOrd="0" destOrd="0" parTransId="{A339B6C8-EF2E-B94A-9C08-C445B091D653}" sibTransId="{C79E9CC6-EC97-A043-AD5B-D3DD900D42C5}"/>
    <dgm:cxn modelId="{806907FB-49A0-A44B-A53E-6073A3390A66}" type="presOf" srcId="{C79E9CC6-EC97-A043-AD5B-D3DD900D42C5}" destId="{46DF3D97-F217-CE40-B88B-3DFAC05481BB}" srcOrd="0" destOrd="0" presId="urn:microsoft.com/office/officeart/2005/8/layout/process1"/>
    <dgm:cxn modelId="{555B6618-F421-F440-9A42-D36ED742356C}" type="presParOf" srcId="{0FFB416D-EA52-904B-824B-E50C2B67FC42}" destId="{D44908C7-FCDC-E945-868F-91CA997F3C23}" srcOrd="0" destOrd="0" presId="urn:microsoft.com/office/officeart/2005/8/layout/process1"/>
    <dgm:cxn modelId="{B88F4E0C-31A8-ED46-A654-6EBBDA3DD184}" type="presParOf" srcId="{0FFB416D-EA52-904B-824B-E50C2B67FC42}" destId="{46DF3D97-F217-CE40-B88B-3DFAC05481BB}" srcOrd="1" destOrd="0" presId="urn:microsoft.com/office/officeart/2005/8/layout/process1"/>
    <dgm:cxn modelId="{ECE82E59-B723-2140-90CE-EFBB2F51DA14}" type="presParOf" srcId="{46DF3D97-F217-CE40-B88B-3DFAC05481BB}" destId="{05D15972-3CD5-F540-A9C1-8F15B9A9D85A}" srcOrd="0" destOrd="0" presId="urn:microsoft.com/office/officeart/2005/8/layout/process1"/>
    <dgm:cxn modelId="{1B099AF5-0709-094D-80B7-D8AFB0F00374}" type="presParOf" srcId="{0FFB416D-EA52-904B-824B-E50C2B67FC42}" destId="{86ED2A72-794C-884D-8506-AA1AC3BA1955}"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6CAB13-ACE8-400B-B774-C31A6E3789A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44882E7-A75B-42A8-A32E-C0950177351B}">
      <dgm:prSet/>
      <dgm:spPr/>
      <dgm:t>
        <a:bodyPr/>
        <a:lstStyle/>
        <a:p>
          <a:pPr>
            <a:lnSpc>
              <a:spcPct val="100000"/>
            </a:lnSpc>
          </a:pPr>
          <a:r>
            <a:rPr lang="en-US" b="1" dirty="0"/>
            <a:t>Abstract/</a:t>
          </a:r>
          <a:r>
            <a:rPr lang="en-US" b="1" dirty="0" err="1"/>
            <a:t>Resumen</a:t>
          </a:r>
          <a:r>
            <a:rPr lang="en-US" b="1" dirty="0"/>
            <a:t>: </a:t>
          </a:r>
          <a:r>
            <a:rPr lang="en-US" dirty="0"/>
            <a:t>Visión general de </a:t>
          </a:r>
          <a:r>
            <a:rPr lang="en-US" dirty="0" err="1"/>
            <a:t>todo</a:t>
          </a:r>
          <a:r>
            <a:rPr lang="en-US" dirty="0"/>
            <a:t> el </a:t>
          </a:r>
          <a:r>
            <a:rPr lang="en-US" dirty="0" err="1"/>
            <a:t>documento</a:t>
          </a:r>
          <a:r>
            <a:rPr lang="en-US" dirty="0"/>
            <a:t> </a:t>
          </a:r>
          <a:r>
            <a:rPr lang="en-US" b="1" dirty="0"/>
            <a:t>**Leer </a:t>
          </a:r>
          <a:r>
            <a:rPr lang="en-US" b="1" dirty="0" err="1"/>
            <a:t>siempre</a:t>
          </a:r>
          <a:r>
            <a:rPr lang="en-US" b="1" dirty="0"/>
            <a:t> y </a:t>
          </a:r>
          <a:r>
            <a:rPr lang="en-US" b="1" dirty="0" err="1"/>
            <a:t>en</a:t>
          </a:r>
          <a:r>
            <a:rPr lang="en-US" b="1" dirty="0"/>
            <a:t> </a:t>
          </a:r>
          <a:r>
            <a:rPr lang="en-US" b="1" dirty="0" err="1"/>
            <a:t>detalle</a:t>
          </a:r>
          <a:r>
            <a:rPr lang="en-US" b="1" dirty="0"/>
            <a:t>**</a:t>
          </a:r>
          <a:endParaRPr lang="en-US" dirty="0"/>
        </a:p>
      </dgm:t>
    </dgm:pt>
    <dgm:pt modelId="{DDF97323-40C2-4C3E-9032-E5628A40A444}" type="parTrans" cxnId="{0F3B6137-7FA4-436A-AC8F-193C2893186F}">
      <dgm:prSet/>
      <dgm:spPr/>
      <dgm:t>
        <a:bodyPr/>
        <a:lstStyle/>
        <a:p>
          <a:endParaRPr lang="en-US"/>
        </a:p>
      </dgm:t>
    </dgm:pt>
    <dgm:pt modelId="{664251F1-0350-4CCF-8395-8567F6C71253}" type="sibTrans" cxnId="{0F3B6137-7FA4-436A-AC8F-193C2893186F}">
      <dgm:prSet/>
      <dgm:spPr/>
      <dgm:t>
        <a:bodyPr/>
        <a:lstStyle/>
        <a:p>
          <a:endParaRPr lang="en-US"/>
        </a:p>
      </dgm:t>
    </dgm:pt>
    <dgm:pt modelId="{8916D93C-E529-4AB0-874F-19DAE9CF622C}">
      <dgm:prSet/>
      <dgm:spPr/>
      <dgm:t>
        <a:bodyPr/>
        <a:lstStyle/>
        <a:p>
          <a:pPr>
            <a:lnSpc>
              <a:spcPct val="100000"/>
            </a:lnSpc>
          </a:pPr>
          <a:r>
            <a:rPr lang="en-US" b="1"/>
            <a:t>Introducción: </a:t>
          </a:r>
          <a:r>
            <a:rPr lang="en-US"/>
            <a:t>Presentación del estudio, proporcionando información de fondo sobre lo que ya se ha hecho. </a:t>
          </a:r>
          <a:r>
            <a:rPr lang="en-US" b="1"/>
            <a:t>Escanear o leer las oraciones clave.</a:t>
          </a:r>
          <a:endParaRPr lang="en-US"/>
        </a:p>
      </dgm:t>
    </dgm:pt>
    <dgm:pt modelId="{0A8717B9-7D90-45ED-B783-35355D2D9B46}" type="parTrans" cxnId="{CA4E75D1-45E7-4F1B-AFDB-2802FCF7EB9E}">
      <dgm:prSet/>
      <dgm:spPr/>
      <dgm:t>
        <a:bodyPr/>
        <a:lstStyle/>
        <a:p>
          <a:endParaRPr lang="en-US"/>
        </a:p>
      </dgm:t>
    </dgm:pt>
    <dgm:pt modelId="{B1FDC996-77B7-4D78-9AC2-00321774E50F}" type="sibTrans" cxnId="{CA4E75D1-45E7-4F1B-AFDB-2802FCF7EB9E}">
      <dgm:prSet/>
      <dgm:spPr/>
      <dgm:t>
        <a:bodyPr/>
        <a:lstStyle/>
        <a:p>
          <a:endParaRPr lang="en-US"/>
        </a:p>
      </dgm:t>
    </dgm:pt>
    <dgm:pt modelId="{BA19AAEC-03F6-42C0-BBE4-8D3957EA61CC}">
      <dgm:prSet/>
      <dgm:spPr/>
      <dgm:t>
        <a:bodyPr/>
        <a:lstStyle/>
        <a:p>
          <a:pPr>
            <a:lnSpc>
              <a:spcPct val="100000"/>
            </a:lnSpc>
          </a:pPr>
          <a:r>
            <a:rPr lang="en-US" b="1" dirty="0" err="1"/>
            <a:t>Métodos</a:t>
          </a:r>
          <a:r>
            <a:rPr lang="en-US" b="1" dirty="0"/>
            <a:t>: </a:t>
          </a:r>
          <a:r>
            <a:rPr lang="en-US" dirty="0"/>
            <a:t>¿</a:t>
          </a:r>
          <a:r>
            <a:rPr lang="en-US" dirty="0" err="1"/>
            <a:t>Qué</a:t>
          </a:r>
          <a:r>
            <a:rPr lang="en-US" dirty="0"/>
            <a:t> </a:t>
          </a:r>
          <a:r>
            <a:rPr lang="en-US" dirty="0" err="1"/>
            <a:t>hicieron</a:t>
          </a:r>
          <a:r>
            <a:rPr lang="en-US" dirty="0"/>
            <a:t> </a:t>
          </a:r>
          <a:r>
            <a:rPr lang="en-US" dirty="0" err="1"/>
            <a:t>en</a:t>
          </a:r>
          <a:r>
            <a:rPr lang="en-US" dirty="0"/>
            <a:t> </a:t>
          </a:r>
          <a:r>
            <a:rPr lang="en-US" dirty="0" err="1"/>
            <a:t>el</a:t>
          </a:r>
          <a:r>
            <a:rPr lang="en-US" dirty="0"/>
            <a:t> </a:t>
          </a:r>
          <a:r>
            <a:rPr lang="en-US" dirty="0" err="1"/>
            <a:t>estudio</a:t>
          </a:r>
          <a:r>
            <a:rPr lang="en-US" dirty="0"/>
            <a:t>? </a:t>
          </a:r>
          <a:r>
            <a:rPr lang="en-US" b="1" dirty="0" err="1"/>
            <a:t>Escanear</a:t>
          </a:r>
          <a:r>
            <a:rPr lang="en-US" b="1" dirty="0"/>
            <a:t> o leer las </a:t>
          </a:r>
          <a:r>
            <a:rPr lang="en-US" b="1" dirty="0" err="1"/>
            <a:t>oraciones</a:t>
          </a:r>
          <a:r>
            <a:rPr lang="en-US" b="1" dirty="0"/>
            <a:t> clave.</a:t>
          </a:r>
          <a:endParaRPr lang="en-US" dirty="0"/>
        </a:p>
      </dgm:t>
    </dgm:pt>
    <dgm:pt modelId="{7CD66CC0-D0AF-4C16-BE7C-82052A4564ED}" type="parTrans" cxnId="{18D9D448-A44C-44C9-B974-627471D7124B}">
      <dgm:prSet/>
      <dgm:spPr/>
      <dgm:t>
        <a:bodyPr/>
        <a:lstStyle/>
        <a:p>
          <a:endParaRPr lang="en-US"/>
        </a:p>
      </dgm:t>
    </dgm:pt>
    <dgm:pt modelId="{FFCD61F6-78EE-449F-857B-0453A348DF19}" type="sibTrans" cxnId="{18D9D448-A44C-44C9-B974-627471D7124B}">
      <dgm:prSet/>
      <dgm:spPr/>
      <dgm:t>
        <a:bodyPr/>
        <a:lstStyle/>
        <a:p>
          <a:endParaRPr lang="en-US"/>
        </a:p>
      </dgm:t>
    </dgm:pt>
    <dgm:pt modelId="{4EAD683A-2388-49F2-A948-0C84377CA536}">
      <dgm:prSet/>
      <dgm:spPr/>
      <dgm:t>
        <a:bodyPr/>
        <a:lstStyle/>
        <a:p>
          <a:pPr>
            <a:lnSpc>
              <a:spcPct val="100000"/>
            </a:lnSpc>
          </a:pPr>
          <a:r>
            <a:rPr lang="en-US" b="1"/>
            <a:t>Resultados: </a:t>
          </a:r>
          <a:r>
            <a:rPr lang="en-US"/>
            <a:t>¿Qué encontraron? </a:t>
          </a:r>
          <a:r>
            <a:rPr lang="en-US" b="1"/>
            <a:t>Escanear o leer las oraciones clave.</a:t>
          </a:r>
          <a:endParaRPr lang="en-US"/>
        </a:p>
      </dgm:t>
    </dgm:pt>
    <dgm:pt modelId="{F166CC41-A62F-4B87-9ECA-138FCC50B006}" type="parTrans" cxnId="{D1E24033-C8E7-405E-B57B-E5AF3CFC10A8}">
      <dgm:prSet/>
      <dgm:spPr/>
      <dgm:t>
        <a:bodyPr/>
        <a:lstStyle/>
        <a:p>
          <a:endParaRPr lang="en-US"/>
        </a:p>
      </dgm:t>
    </dgm:pt>
    <dgm:pt modelId="{857718B8-68AF-4B8B-B389-11A1EA6DE595}" type="sibTrans" cxnId="{D1E24033-C8E7-405E-B57B-E5AF3CFC10A8}">
      <dgm:prSet/>
      <dgm:spPr/>
      <dgm:t>
        <a:bodyPr/>
        <a:lstStyle/>
        <a:p>
          <a:endParaRPr lang="en-US"/>
        </a:p>
      </dgm:t>
    </dgm:pt>
    <dgm:pt modelId="{EA69B7B3-315B-44B8-B68A-BF6A6B51FF5B}">
      <dgm:prSet/>
      <dgm:spPr/>
      <dgm:t>
        <a:bodyPr/>
        <a:lstStyle/>
        <a:p>
          <a:pPr>
            <a:lnSpc>
              <a:spcPct val="100000"/>
            </a:lnSpc>
          </a:pPr>
          <a:r>
            <a:rPr lang="en-US" b="1" dirty="0" err="1"/>
            <a:t>Discusión</a:t>
          </a:r>
          <a:r>
            <a:rPr lang="en-US" b="1" dirty="0"/>
            <a:t>/</a:t>
          </a:r>
          <a:r>
            <a:rPr lang="en-US" b="1" dirty="0" err="1"/>
            <a:t>Conclusión</a:t>
          </a:r>
          <a:r>
            <a:rPr lang="en-US" b="1" dirty="0"/>
            <a:t>: </a:t>
          </a:r>
          <a:r>
            <a:rPr lang="en-US" dirty="0"/>
            <a:t>¿</a:t>
          </a:r>
          <a:r>
            <a:rPr lang="en-US" dirty="0" err="1"/>
            <a:t>Cuáles</a:t>
          </a:r>
          <a:r>
            <a:rPr lang="en-US" dirty="0"/>
            <a:t> son las </a:t>
          </a:r>
          <a:r>
            <a:rPr lang="en-US" dirty="0" err="1"/>
            <a:t>conclusiones</a:t>
          </a:r>
          <a:r>
            <a:rPr lang="en-US" dirty="0"/>
            <a:t> </a:t>
          </a:r>
          <a:r>
            <a:rPr lang="en-US" dirty="0" err="1"/>
            <a:t>generales</a:t>
          </a:r>
          <a:r>
            <a:rPr lang="en-US" dirty="0"/>
            <a:t> que se </a:t>
          </a:r>
          <a:r>
            <a:rPr lang="en-US" dirty="0" err="1"/>
            <a:t>pueden</a:t>
          </a:r>
          <a:r>
            <a:rPr lang="en-US" dirty="0"/>
            <a:t> </a:t>
          </a:r>
          <a:r>
            <a:rPr lang="en-US" dirty="0" err="1"/>
            <a:t>extraer</a:t>
          </a:r>
          <a:r>
            <a:rPr lang="en-US" dirty="0"/>
            <a:t> y </a:t>
          </a:r>
          <a:r>
            <a:rPr lang="en-US" dirty="0" err="1"/>
            <a:t>por</a:t>
          </a:r>
          <a:r>
            <a:rPr lang="en-US" dirty="0"/>
            <a:t> </a:t>
          </a:r>
          <a:r>
            <a:rPr lang="en-US" dirty="0" err="1"/>
            <a:t>qué</a:t>
          </a:r>
          <a:r>
            <a:rPr lang="en-US" dirty="0"/>
            <a:t> es </a:t>
          </a:r>
          <a:r>
            <a:rPr lang="en-US" dirty="0" err="1"/>
            <a:t>esto</a:t>
          </a:r>
          <a:r>
            <a:rPr lang="en-US" dirty="0"/>
            <a:t> </a:t>
          </a:r>
          <a:r>
            <a:rPr lang="en-US" dirty="0" err="1"/>
            <a:t>importante</a:t>
          </a:r>
          <a:r>
            <a:rPr lang="en-US" b="0" dirty="0"/>
            <a:t>? </a:t>
          </a:r>
          <a:r>
            <a:rPr lang="en-US" b="1" dirty="0"/>
            <a:t>A menudo es </a:t>
          </a:r>
          <a:r>
            <a:rPr lang="en-US" b="1" dirty="0" err="1"/>
            <a:t>útil</a:t>
          </a:r>
          <a:r>
            <a:rPr lang="en-US" b="1" dirty="0"/>
            <a:t> leer </a:t>
          </a:r>
          <a:r>
            <a:rPr lang="en-US" b="1" dirty="0" err="1"/>
            <a:t>los</a:t>
          </a:r>
          <a:r>
            <a:rPr lang="en-US" b="1" dirty="0"/>
            <a:t> </a:t>
          </a:r>
          <a:r>
            <a:rPr lang="en-US" b="1" dirty="0" err="1"/>
            <a:t>primeros</a:t>
          </a:r>
          <a:r>
            <a:rPr lang="en-US" b="1" dirty="0"/>
            <a:t> </a:t>
          </a:r>
          <a:r>
            <a:rPr lang="en-US" b="1" dirty="0" err="1"/>
            <a:t>párrafos</a:t>
          </a:r>
          <a:r>
            <a:rPr lang="en-US" b="1" dirty="0"/>
            <a:t> y </a:t>
          </a:r>
          <a:r>
            <a:rPr lang="en-US" b="1" dirty="0" err="1"/>
            <a:t>luego</a:t>
          </a:r>
          <a:r>
            <a:rPr lang="en-US" b="1" dirty="0"/>
            <a:t> </a:t>
          </a:r>
          <a:r>
            <a:rPr lang="en-US" b="1" dirty="0" err="1"/>
            <a:t>escanear</a:t>
          </a:r>
          <a:r>
            <a:rPr lang="en-US" b="1" dirty="0"/>
            <a:t> o leer las </a:t>
          </a:r>
          <a:r>
            <a:rPr lang="en-US" b="1" dirty="0" err="1"/>
            <a:t>oraciones</a:t>
          </a:r>
          <a:r>
            <a:rPr lang="en-US" b="1" dirty="0"/>
            <a:t> clave.</a:t>
          </a:r>
          <a:endParaRPr lang="en-US" dirty="0"/>
        </a:p>
      </dgm:t>
    </dgm:pt>
    <dgm:pt modelId="{738AB271-7C9A-4284-8B10-F8C4837C8DF1}" type="parTrans" cxnId="{BCF63FB7-FABA-4D66-BC00-F7E080B6BCAD}">
      <dgm:prSet/>
      <dgm:spPr/>
      <dgm:t>
        <a:bodyPr/>
        <a:lstStyle/>
        <a:p>
          <a:endParaRPr lang="en-US"/>
        </a:p>
      </dgm:t>
    </dgm:pt>
    <dgm:pt modelId="{239FBFC9-3F2C-40A5-9E17-A210A0E757C0}" type="sibTrans" cxnId="{BCF63FB7-FABA-4D66-BC00-F7E080B6BCAD}">
      <dgm:prSet/>
      <dgm:spPr/>
      <dgm:t>
        <a:bodyPr/>
        <a:lstStyle/>
        <a:p>
          <a:endParaRPr lang="en-US"/>
        </a:p>
      </dgm:t>
    </dgm:pt>
    <dgm:pt modelId="{048D46DE-BAC1-46A6-B0D7-58AD1D8AAD01}" type="pres">
      <dgm:prSet presAssocID="{A56CAB13-ACE8-400B-B774-C31A6E3789AB}" presName="root" presStyleCnt="0">
        <dgm:presLayoutVars>
          <dgm:dir/>
          <dgm:resizeHandles val="exact"/>
        </dgm:presLayoutVars>
      </dgm:prSet>
      <dgm:spPr/>
    </dgm:pt>
    <dgm:pt modelId="{1D7570B5-DF41-40C3-BB45-6DB7D8E57AB3}" type="pres">
      <dgm:prSet presAssocID="{E44882E7-A75B-42A8-A32E-C0950177351B}" presName="compNode" presStyleCnt="0"/>
      <dgm:spPr/>
    </dgm:pt>
    <dgm:pt modelId="{C05FD1E8-0E71-4B78-8E95-FA11BB06C384}" type="pres">
      <dgm:prSet presAssocID="{E44882E7-A75B-42A8-A32E-C0950177351B}" presName="bgRect" presStyleLbl="bgShp" presStyleIdx="0" presStyleCnt="5"/>
      <dgm:spPr/>
    </dgm:pt>
    <dgm:pt modelId="{3EFA047A-F58C-4197-8022-6E8DDF0CD66C}" type="pres">
      <dgm:prSet presAssocID="{E44882E7-A75B-42A8-A32E-C0950177351B}"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ooks"/>
        </a:ext>
      </dgm:extLst>
    </dgm:pt>
    <dgm:pt modelId="{17A9792C-EBF3-4FBD-B7DB-93F94280FCB6}" type="pres">
      <dgm:prSet presAssocID="{E44882E7-A75B-42A8-A32E-C0950177351B}" presName="spaceRect" presStyleCnt="0"/>
      <dgm:spPr/>
    </dgm:pt>
    <dgm:pt modelId="{A9598E79-D511-40E0-AC8B-DA0EA212D713}" type="pres">
      <dgm:prSet presAssocID="{E44882E7-A75B-42A8-A32E-C0950177351B}" presName="parTx" presStyleLbl="revTx" presStyleIdx="0" presStyleCnt="5">
        <dgm:presLayoutVars>
          <dgm:chMax val="0"/>
          <dgm:chPref val="0"/>
        </dgm:presLayoutVars>
      </dgm:prSet>
      <dgm:spPr/>
    </dgm:pt>
    <dgm:pt modelId="{C356D8C8-16D4-4CB1-8987-4125D5E21261}" type="pres">
      <dgm:prSet presAssocID="{664251F1-0350-4CCF-8395-8567F6C71253}" presName="sibTrans" presStyleCnt="0"/>
      <dgm:spPr/>
    </dgm:pt>
    <dgm:pt modelId="{989AB33C-73B1-42A1-B595-2B6A770813C8}" type="pres">
      <dgm:prSet presAssocID="{8916D93C-E529-4AB0-874F-19DAE9CF622C}" presName="compNode" presStyleCnt="0"/>
      <dgm:spPr/>
    </dgm:pt>
    <dgm:pt modelId="{B70D5C06-8326-48F3-A344-72B2558D35D6}" type="pres">
      <dgm:prSet presAssocID="{8916D93C-E529-4AB0-874F-19DAE9CF622C}" presName="bgRect" presStyleLbl="bgShp" presStyleIdx="1" presStyleCnt="5"/>
      <dgm:spPr/>
    </dgm:pt>
    <dgm:pt modelId="{0C4F2D05-E6CC-4DE8-8834-4B91311429EC}" type="pres">
      <dgm:prSet presAssocID="{8916D93C-E529-4AB0-874F-19DAE9CF622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ecturer"/>
        </a:ext>
      </dgm:extLst>
    </dgm:pt>
    <dgm:pt modelId="{B1F32223-B7C9-4B3F-91B7-1FF0E87C8868}" type="pres">
      <dgm:prSet presAssocID="{8916D93C-E529-4AB0-874F-19DAE9CF622C}" presName="spaceRect" presStyleCnt="0"/>
      <dgm:spPr/>
    </dgm:pt>
    <dgm:pt modelId="{FD8BF8B7-2A24-46E7-B264-12CCFA2C8609}" type="pres">
      <dgm:prSet presAssocID="{8916D93C-E529-4AB0-874F-19DAE9CF622C}" presName="parTx" presStyleLbl="revTx" presStyleIdx="1" presStyleCnt="5">
        <dgm:presLayoutVars>
          <dgm:chMax val="0"/>
          <dgm:chPref val="0"/>
        </dgm:presLayoutVars>
      </dgm:prSet>
      <dgm:spPr/>
    </dgm:pt>
    <dgm:pt modelId="{554E1C3C-CE88-4AAF-9ED7-0DAADDAA91FD}" type="pres">
      <dgm:prSet presAssocID="{B1FDC996-77B7-4D78-9AC2-00321774E50F}" presName="sibTrans" presStyleCnt="0"/>
      <dgm:spPr/>
    </dgm:pt>
    <dgm:pt modelId="{7CE4DCD4-CC6B-445C-8C4C-406E50D7EA05}" type="pres">
      <dgm:prSet presAssocID="{BA19AAEC-03F6-42C0-BBE4-8D3957EA61CC}" presName="compNode" presStyleCnt="0"/>
      <dgm:spPr/>
    </dgm:pt>
    <dgm:pt modelId="{CC1116C7-3E39-442B-BD83-E9BBBF21C49F}" type="pres">
      <dgm:prSet presAssocID="{BA19AAEC-03F6-42C0-BBE4-8D3957EA61CC}" presName="bgRect" presStyleLbl="bgShp" presStyleIdx="2" presStyleCnt="5"/>
      <dgm:spPr/>
    </dgm:pt>
    <dgm:pt modelId="{1589A7E3-5F43-4DE1-8402-C17D3604839F}" type="pres">
      <dgm:prSet presAssocID="{BA19AAEC-03F6-42C0-BBE4-8D3957EA61CC}"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Alterations &amp; Tailoring with solid fill"/>
        </a:ext>
      </dgm:extLst>
    </dgm:pt>
    <dgm:pt modelId="{2BBF6B9F-7A3B-4D71-B0A5-16965F7A6F06}" type="pres">
      <dgm:prSet presAssocID="{BA19AAEC-03F6-42C0-BBE4-8D3957EA61CC}" presName="spaceRect" presStyleCnt="0"/>
      <dgm:spPr/>
    </dgm:pt>
    <dgm:pt modelId="{4D131DB9-A194-4B01-A435-6451DDF500A5}" type="pres">
      <dgm:prSet presAssocID="{BA19AAEC-03F6-42C0-BBE4-8D3957EA61CC}" presName="parTx" presStyleLbl="revTx" presStyleIdx="2" presStyleCnt="5">
        <dgm:presLayoutVars>
          <dgm:chMax val="0"/>
          <dgm:chPref val="0"/>
        </dgm:presLayoutVars>
      </dgm:prSet>
      <dgm:spPr/>
    </dgm:pt>
    <dgm:pt modelId="{48CD41A7-B402-4681-8CAF-22590E74900F}" type="pres">
      <dgm:prSet presAssocID="{FFCD61F6-78EE-449F-857B-0453A348DF19}" presName="sibTrans" presStyleCnt="0"/>
      <dgm:spPr/>
    </dgm:pt>
    <dgm:pt modelId="{6DFC77BC-A8DB-4158-A1DB-949663DF3606}" type="pres">
      <dgm:prSet presAssocID="{4EAD683A-2388-49F2-A948-0C84377CA536}" presName="compNode" presStyleCnt="0"/>
      <dgm:spPr/>
    </dgm:pt>
    <dgm:pt modelId="{A1ABF480-FA77-4B7D-8EBF-F7F0E35EAC46}" type="pres">
      <dgm:prSet presAssocID="{4EAD683A-2388-49F2-A948-0C84377CA536}" presName="bgRect" presStyleLbl="bgShp" presStyleIdx="3" presStyleCnt="5"/>
      <dgm:spPr/>
    </dgm:pt>
    <dgm:pt modelId="{9A5FA7D1-5D72-4D85-8DB3-CC7583AEA996}" type="pres">
      <dgm:prSet presAssocID="{4EAD683A-2388-49F2-A948-0C84377CA536}"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r chart outline"/>
        </a:ext>
      </dgm:extLst>
    </dgm:pt>
    <dgm:pt modelId="{03554AE3-3459-4A91-8E70-008F9304A804}" type="pres">
      <dgm:prSet presAssocID="{4EAD683A-2388-49F2-A948-0C84377CA536}" presName="spaceRect" presStyleCnt="0"/>
      <dgm:spPr/>
    </dgm:pt>
    <dgm:pt modelId="{F1D116EE-606E-44EA-9FBB-09D83DD49159}" type="pres">
      <dgm:prSet presAssocID="{4EAD683A-2388-49F2-A948-0C84377CA536}" presName="parTx" presStyleLbl="revTx" presStyleIdx="3" presStyleCnt="5">
        <dgm:presLayoutVars>
          <dgm:chMax val="0"/>
          <dgm:chPref val="0"/>
        </dgm:presLayoutVars>
      </dgm:prSet>
      <dgm:spPr/>
    </dgm:pt>
    <dgm:pt modelId="{7EF4DC7B-9907-4849-A8B3-EF0C2DC7D7FE}" type="pres">
      <dgm:prSet presAssocID="{857718B8-68AF-4B8B-B389-11A1EA6DE595}" presName="sibTrans" presStyleCnt="0"/>
      <dgm:spPr/>
    </dgm:pt>
    <dgm:pt modelId="{3A14D933-804F-4A6B-AC74-018B3F55D094}" type="pres">
      <dgm:prSet presAssocID="{EA69B7B3-315B-44B8-B68A-BF6A6B51FF5B}" presName="compNode" presStyleCnt="0"/>
      <dgm:spPr/>
    </dgm:pt>
    <dgm:pt modelId="{D39C9EC4-0C8C-4DD0-BD41-07195FD0402E}" type="pres">
      <dgm:prSet presAssocID="{EA69B7B3-315B-44B8-B68A-BF6A6B51FF5B}" presName="bgRect" presStyleLbl="bgShp" presStyleIdx="4" presStyleCnt="5"/>
      <dgm:spPr/>
    </dgm:pt>
    <dgm:pt modelId="{D49A5999-1125-41A8-9F2D-BCC86A6200CB}" type="pres">
      <dgm:prSet presAssocID="{EA69B7B3-315B-44B8-B68A-BF6A6B51FF5B}"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Head with Gears"/>
        </a:ext>
      </dgm:extLst>
    </dgm:pt>
    <dgm:pt modelId="{D99268BA-AE4B-47F6-9448-F5EFF3E54992}" type="pres">
      <dgm:prSet presAssocID="{EA69B7B3-315B-44B8-B68A-BF6A6B51FF5B}" presName="spaceRect" presStyleCnt="0"/>
      <dgm:spPr/>
    </dgm:pt>
    <dgm:pt modelId="{56C00967-ABE9-4E27-8C8C-7EAFD59F89D7}" type="pres">
      <dgm:prSet presAssocID="{EA69B7B3-315B-44B8-B68A-BF6A6B51FF5B}" presName="parTx" presStyleLbl="revTx" presStyleIdx="4" presStyleCnt="5">
        <dgm:presLayoutVars>
          <dgm:chMax val="0"/>
          <dgm:chPref val="0"/>
        </dgm:presLayoutVars>
      </dgm:prSet>
      <dgm:spPr/>
    </dgm:pt>
  </dgm:ptLst>
  <dgm:cxnLst>
    <dgm:cxn modelId="{A4E5C60B-07EB-422D-8C59-525002A76864}" type="presOf" srcId="{EA69B7B3-315B-44B8-B68A-BF6A6B51FF5B}" destId="{56C00967-ABE9-4E27-8C8C-7EAFD59F89D7}" srcOrd="0" destOrd="0" presId="urn:microsoft.com/office/officeart/2018/2/layout/IconVerticalSolidList"/>
    <dgm:cxn modelId="{346A901B-8487-4C6E-8109-AF12A8FDB9A3}" type="presOf" srcId="{A56CAB13-ACE8-400B-B774-C31A6E3789AB}" destId="{048D46DE-BAC1-46A6-B0D7-58AD1D8AAD01}" srcOrd="0" destOrd="0" presId="urn:microsoft.com/office/officeart/2018/2/layout/IconVerticalSolidList"/>
    <dgm:cxn modelId="{D1E24033-C8E7-405E-B57B-E5AF3CFC10A8}" srcId="{A56CAB13-ACE8-400B-B774-C31A6E3789AB}" destId="{4EAD683A-2388-49F2-A948-0C84377CA536}" srcOrd="3" destOrd="0" parTransId="{F166CC41-A62F-4B87-9ECA-138FCC50B006}" sibTransId="{857718B8-68AF-4B8B-B389-11A1EA6DE595}"/>
    <dgm:cxn modelId="{0F3B6137-7FA4-436A-AC8F-193C2893186F}" srcId="{A56CAB13-ACE8-400B-B774-C31A6E3789AB}" destId="{E44882E7-A75B-42A8-A32E-C0950177351B}" srcOrd="0" destOrd="0" parTransId="{DDF97323-40C2-4C3E-9032-E5628A40A444}" sibTransId="{664251F1-0350-4CCF-8395-8567F6C71253}"/>
    <dgm:cxn modelId="{18D9D448-A44C-44C9-B974-627471D7124B}" srcId="{A56CAB13-ACE8-400B-B774-C31A6E3789AB}" destId="{BA19AAEC-03F6-42C0-BBE4-8D3957EA61CC}" srcOrd="2" destOrd="0" parTransId="{7CD66CC0-D0AF-4C16-BE7C-82052A4564ED}" sibTransId="{FFCD61F6-78EE-449F-857B-0453A348DF19}"/>
    <dgm:cxn modelId="{1ACB5F69-69CB-4493-B74F-803A9AB4608E}" type="presOf" srcId="{4EAD683A-2388-49F2-A948-0C84377CA536}" destId="{F1D116EE-606E-44EA-9FBB-09D83DD49159}" srcOrd="0" destOrd="0" presId="urn:microsoft.com/office/officeart/2018/2/layout/IconVerticalSolidList"/>
    <dgm:cxn modelId="{187A2297-B814-4A1F-9D65-4600D7DF91C1}" type="presOf" srcId="{E44882E7-A75B-42A8-A32E-C0950177351B}" destId="{A9598E79-D511-40E0-AC8B-DA0EA212D713}" srcOrd="0" destOrd="0" presId="urn:microsoft.com/office/officeart/2018/2/layout/IconVerticalSolidList"/>
    <dgm:cxn modelId="{BCF63FB7-FABA-4D66-BC00-F7E080B6BCAD}" srcId="{A56CAB13-ACE8-400B-B774-C31A6E3789AB}" destId="{EA69B7B3-315B-44B8-B68A-BF6A6B51FF5B}" srcOrd="4" destOrd="0" parTransId="{738AB271-7C9A-4284-8B10-F8C4837C8DF1}" sibTransId="{239FBFC9-3F2C-40A5-9E17-A210A0E757C0}"/>
    <dgm:cxn modelId="{55D92CC4-AA6C-40AD-9782-F83BEACAC9EB}" type="presOf" srcId="{8916D93C-E529-4AB0-874F-19DAE9CF622C}" destId="{FD8BF8B7-2A24-46E7-B264-12CCFA2C8609}" srcOrd="0" destOrd="0" presId="urn:microsoft.com/office/officeart/2018/2/layout/IconVerticalSolidList"/>
    <dgm:cxn modelId="{8F5419D0-708B-404E-929E-BA6AD3F1F637}" type="presOf" srcId="{BA19AAEC-03F6-42C0-BBE4-8D3957EA61CC}" destId="{4D131DB9-A194-4B01-A435-6451DDF500A5}" srcOrd="0" destOrd="0" presId="urn:microsoft.com/office/officeart/2018/2/layout/IconVerticalSolidList"/>
    <dgm:cxn modelId="{CA4E75D1-45E7-4F1B-AFDB-2802FCF7EB9E}" srcId="{A56CAB13-ACE8-400B-B774-C31A6E3789AB}" destId="{8916D93C-E529-4AB0-874F-19DAE9CF622C}" srcOrd="1" destOrd="0" parTransId="{0A8717B9-7D90-45ED-B783-35355D2D9B46}" sibTransId="{B1FDC996-77B7-4D78-9AC2-00321774E50F}"/>
    <dgm:cxn modelId="{F066F133-B5E4-4FA9-8FAC-4272CE349037}" type="presParOf" srcId="{048D46DE-BAC1-46A6-B0D7-58AD1D8AAD01}" destId="{1D7570B5-DF41-40C3-BB45-6DB7D8E57AB3}" srcOrd="0" destOrd="0" presId="urn:microsoft.com/office/officeart/2018/2/layout/IconVerticalSolidList"/>
    <dgm:cxn modelId="{77D4703B-3A0E-48CB-BFEF-1FF117393503}" type="presParOf" srcId="{1D7570B5-DF41-40C3-BB45-6DB7D8E57AB3}" destId="{C05FD1E8-0E71-4B78-8E95-FA11BB06C384}" srcOrd="0" destOrd="0" presId="urn:microsoft.com/office/officeart/2018/2/layout/IconVerticalSolidList"/>
    <dgm:cxn modelId="{F0628B30-931A-4FC1-A0CC-C850B6D6741C}" type="presParOf" srcId="{1D7570B5-DF41-40C3-BB45-6DB7D8E57AB3}" destId="{3EFA047A-F58C-4197-8022-6E8DDF0CD66C}" srcOrd="1" destOrd="0" presId="urn:microsoft.com/office/officeart/2018/2/layout/IconVerticalSolidList"/>
    <dgm:cxn modelId="{08BC583F-26C6-45D1-808C-626C057D3FC0}" type="presParOf" srcId="{1D7570B5-DF41-40C3-BB45-6DB7D8E57AB3}" destId="{17A9792C-EBF3-4FBD-B7DB-93F94280FCB6}" srcOrd="2" destOrd="0" presId="urn:microsoft.com/office/officeart/2018/2/layout/IconVerticalSolidList"/>
    <dgm:cxn modelId="{60A0F9C0-7FD7-4AA0-A8F2-D259311C68BC}" type="presParOf" srcId="{1D7570B5-DF41-40C3-BB45-6DB7D8E57AB3}" destId="{A9598E79-D511-40E0-AC8B-DA0EA212D713}" srcOrd="3" destOrd="0" presId="urn:microsoft.com/office/officeart/2018/2/layout/IconVerticalSolidList"/>
    <dgm:cxn modelId="{AE2E7B97-050C-4C0E-8749-9B523A88A0CB}" type="presParOf" srcId="{048D46DE-BAC1-46A6-B0D7-58AD1D8AAD01}" destId="{C356D8C8-16D4-4CB1-8987-4125D5E21261}" srcOrd="1" destOrd="0" presId="urn:microsoft.com/office/officeart/2018/2/layout/IconVerticalSolidList"/>
    <dgm:cxn modelId="{1BFB90D0-4765-466D-80F9-41724AF04CC8}" type="presParOf" srcId="{048D46DE-BAC1-46A6-B0D7-58AD1D8AAD01}" destId="{989AB33C-73B1-42A1-B595-2B6A770813C8}" srcOrd="2" destOrd="0" presId="urn:microsoft.com/office/officeart/2018/2/layout/IconVerticalSolidList"/>
    <dgm:cxn modelId="{1B0F7ECC-F07C-442E-8748-EF616868F40E}" type="presParOf" srcId="{989AB33C-73B1-42A1-B595-2B6A770813C8}" destId="{B70D5C06-8326-48F3-A344-72B2558D35D6}" srcOrd="0" destOrd="0" presId="urn:microsoft.com/office/officeart/2018/2/layout/IconVerticalSolidList"/>
    <dgm:cxn modelId="{E527B4EB-BD2E-4FD5-BD58-5C7BD610FD2A}" type="presParOf" srcId="{989AB33C-73B1-42A1-B595-2B6A770813C8}" destId="{0C4F2D05-E6CC-4DE8-8834-4B91311429EC}" srcOrd="1" destOrd="0" presId="urn:microsoft.com/office/officeart/2018/2/layout/IconVerticalSolidList"/>
    <dgm:cxn modelId="{E2825009-BE59-4BDB-8FA1-F395FF50BA6C}" type="presParOf" srcId="{989AB33C-73B1-42A1-B595-2B6A770813C8}" destId="{B1F32223-B7C9-4B3F-91B7-1FF0E87C8868}" srcOrd="2" destOrd="0" presId="urn:microsoft.com/office/officeart/2018/2/layout/IconVerticalSolidList"/>
    <dgm:cxn modelId="{D8EDAA2A-2BE2-4EE0-8100-C14970C2246A}" type="presParOf" srcId="{989AB33C-73B1-42A1-B595-2B6A770813C8}" destId="{FD8BF8B7-2A24-46E7-B264-12CCFA2C8609}" srcOrd="3" destOrd="0" presId="urn:microsoft.com/office/officeart/2018/2/layout/IconVerticalSolidList"/>
    <dgm:cxn modelId="{EAD22074-3E27-45A4-8596-46C8074EECCB}" type="presParOf" srcId="{048D46DE-BAC1-46A6-B0D7-58AD1D8AAD01}" destId="{554E1C3C-CE88-4AAF-9ED7-0DAADDAA91FD}" srcOrd="3" destOrd="0" presId="urn:microsoft.com/office/officeart/2018/2/layout/IconVerticalSolidList"/>
    <dgm:cxn modelId="{87C05167-1DC2-4C57-A9DA-FA95921843E4}" type="presParOf" srcId="{048D46DE-BAC1-46A6-B0D7-58AD1D8AAD01}" destId="{7CE4DCD4-CC6B-445C-8C4C-406E50D7EA05}" srcOrd="4" destOrd="0" presId="urn:microsoft.com/office/officeart/2018/2/layout/IconVerticalSolidList"/>
    <dgm:cxn modelId="{3C22CA96-B444-42EC-B5F7-22629E768233}" type="presParOf" srcId="{7CE4DCD4-CC6B-445C-8C4C-406E50D7EA05}" destId="{CC1116C7-3E39-442B-BD83-E9BBBF21C49F}" srcOrd="0" destOrd="0" presId="urn:microsoft.com/office/officeart/2018/2/layout/IconVerticalSolidList"/>
    <dgm:cxn modelId="{E2214DD4-AD81-441C-91EF-B1183C050D2E}" type="presParOf" srcId="{7CE4DCD4-CC6B-445C-8C4C-406E50D7EA05}" destId="{1589A7E3-5F43-4DE1-8402-C17D3604839F}" srcOrd="1" destOrd="0" presId="urn:microsoft.com/office/officeart/2018/2/layout/IconVerticalSolidList"/>
    <dgm:cxn modelId="{31C849E7-C89E-47FD-BEA8-39CF0837CC79}" type="presParOf" srcId="{7CE4DCD4-CC6B-445C-8C4C-406E50D7EA05}" destId="{2BBF6B9F-7A3B-4D71-B0A5-16965F7A6F06}" srcOrd="2" destOrd="0" presId="urn:microsoft.com/office/officeart/2018/2/layout/IconVerticalSolidList"/>
    <dgm:cxn modelId="{651E036C-8189-46D8-A6AD-AE4BBD15B698}" type="presParOf" srcId="{7CE4DCD4-CC6B-445C-8C4C-406E50D7EA05}" destId="{4D131DB9-A194-4B01-A435-6451DDF500A5}" srcOrd="3" destOrd="0" presId="urn:microsoft.com/office/officeart/2018/2/layout/IconVerticalSolidList"/>
    <dgm:cxn modelId="{2822EF13-0D70-45EF-9A81-7C4809790F55}" type="presParOf" srcId="{048D46DE-BAC1-46A6-B0D7-58AD1D8AAD01}" destId="{48CD41A7-B402-4681-8CAF-22590E74900F}" srcOrd="5" destOrd="0" presId="urn:microsoft.com/office/officeart/2018/2/layout/IconVerticalSolidList"/>
    <dgm:cxn modelId="{F9EB8B4C-4F1F-4F31-93BE-AFE2CE625520}" type="presParOf" srcId="{048D46DE-BAC1-46A6-B0D7-58AD1D8AAD01}" destId="{6DFC77BC-A8DB-4158-A1DB-949663DF3606}" srcOrd="6" destOrd="0" presId="urn:microsoft.com/office/officeart/2018/2/layout/IconVerticalSolidList"/>
    <dgm:cxn modelId="{B6A0A73F-4C0C-4DC4-8C3D-B897173EEF19}" type="presParOf" srcId="{6DFC77BC-A8DB-4158-A1DB-949663DF3606}" destId="{A1ABF480-FA77-4B7D-8EBF-F7F0E35EAC46}" srcOrd="0" destOrd="0" presId="urn:microsoft.com/office/officeart/2018/2/layout/IconVerticalSolidList"/>
    <dgm:cxn modelId="{5B65A4C6-74A5-4C93-9835-B917C322695A}" type="presParOf" srcId="{6DFC77BC-A8DB-4158-A1DB-949663DF3606}" destId="{9A5FA7D1-5D72-4D85-8DB3-CC7583AEA996}" srcOrd="1" destOrd="0" presId="urn:microsoft.com/office/officeart/2018/2/layout/IconVerticalSolidList"/>
    <dgm:cxn modelId="{54627F00-4381-4883-BE8B-30026F6D0071}" type="presParOf" srcId="{6DFC77BC-A8DB-4158-A1DB-949663DF3606}" destId="{03554AE3-3459-4A91-8E70-008F9304A804}" srcOrd="2" destOrd="0" presId="urn:microsoft.com/office/officeart/2018/2/layout/IconVerticalSolidList"/>
    <dgm:cxn modelId="{209E664E-6961-4F9E-8D1E-BD29871291FA}" type="presParOf" srcId="{6DFC77BC-A8DB-4158-A1DB-949663DF3606}" destId="{F1D116EE-606E-44EA-9FBB-09D83DD49159}" srcOrd="3" destOrd="0" presId="urn:microsoft.com/office/officeart/2018/2/layout/IconVerticalSolidList"/>
    <dgm:cxn modelId="{4C787C02-0C99-4544-8EC1-BCA80AEE23AF}" type="presParOf" srcId="{048D46DE-BAC1-46A6-B0D7-58AD1D8AAD01}" destId="{7EF4DC7B-9907-4849-A8B3-EF0C2DC7D7FE}" srcOrd="7" destOrd="0" presId="urn:microsoft.com/office/officeart/2018/2/layout/IconVerticalSolidList"/>
    <dgm:cxn modelId="{1184EA2D-900E-46A8-BDF3-89D9A2CD02E6}" type="presParOf" srcId="{048D46DE-BAC1-46A6-B0D7-58AD1D8AAD01}" destId="{3A14D933-804F-4A6B-AC74-018B3F55D094}" srcOrd="8" destOrd="0" presId="urn:microsoft.com/office/officeart/2018/2/layout/IconVerticalSolidList"/>
    <dgm:cxn modelId="{91F25109-CC4D-4039-8C2A-8B5DA944C810}" type="presParOf" srcId="{3A14D933-804F-4A6B-AC74-018B3F55D094}" destId="{D39C9EC4-0C8C-4DD0-BD41-07195FD0402E}" srcOrd="0" destOrd="0" presId="urn:microsoft.com/office/officeart/2018/2/layout/IconVerticalSolidList"/>
    <dgm:cxn modelId="{0E0C72EE-25E9-48EB-8827-D31F51C1AAEB}" type="presParOf" srcId="{3A14D933-804F-4A6B-AC74-018B3F55D094}" destId="{D49A5999-1125-41A8-9F2D-BCC86A6200CB}" srcOrd="1" destOrd="0" presId="urn:microsoft.com/office/officeart/2018/2/layout/IconVerticalSolidList"/>
    <dgm:cxn modelId="{9642A6C4-D0BE-44DD-B053-295F611DC5E3}" type="presParOf" srcId="{3A14D933-804F-4A6B-AC74-018B3F55D094}" destId="{D99268BA-AE4B-47F6-9448-F5EFF3E54992}" srcOrd="2" destOrd="0" presId="urn:microsoft.com/office/officeart/2018/2/layout/IconVerticalSolidList"/>
    <dgm:cxn modelId="{96037F52-EAED-4DA0-BD65-B98AA9129327}" type="presParOf" srcId="{3A14D933-804F-4A6B-AC74-018B3F55D094}" destId="{56C00967-ABE9-4E27-8C8C-7EAFD59F89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5A49A0-F288-C041-9D00-24FA89AE6BA4}" type="doc">
      <dgm:prSet loTypeId="urn:microsoft.com/office/officeart/2005/8/layout/hProcess3" loCatId="process" qsTypeId="urn:microsoft.com/office/officeart/2005/8/quickstyle/3d3" qsCatId="3D" csTypeId="urn:microsoft.com/office/officeart/2005/8/colors/accent1_2" csCatId="accent1" phldr="1"/>
      <dgm:spPr/>
      <dgm:t>
        <a:bodyPr/>
        <a:lstStyle/>
        <a:p>
          <a:endParaRPr lang="en-US"/>
        </a:p>
      </dgm:t>
    </dgm:pt>
    <dgm:pt modelId="{33AC531A-0359-EC45-8557-3F13207CBF36}">
      <dgm:prSet custT="1"/>
      <dgm:spPr/>
      <dgm:t>
        <a:bodyPr/>
        <a:lstStyle/>
        <a:p>
          <a:r>
            <a:rPr lang="es-ES_tradnl" sz="1800" b="1" dirty="0"/>
            <a:t>Individual</a:t>
          </a:r>
          <a:endParaRPr lang="es-ES_tradnl" sz="1700" b="1" dirty="0"/>
        </a:p>
        <a:p>
          <a:r>
            <a:rPr lang="es-ES_tradnl" sz="1700" dirty="0"/>
            <a:t>Cuestionamiento a supuesta naturalidad originaria</a:t>
          </a:r>
        </a:p>
      </dgm:t>
    </dgm:pt>
    <dgm:pt modelId="{47D6EFB2-B786-5F46-94B4-563E6A8A71CB}" type="parTrans" cxnId="{270E9BCF-0933-E149-8736-FBCC5F9FAEC4}">
      <dgm:prSet/>
      <dgm:spPr/>
      <dgm:t>
        <a:bodyPr/>
        <a:lstStyle/>
        <a:p>
          <a:endParaRPr lang="en-US"/>
        </a:p>
      </dgm:t>
    </dgm:pt>
    <dgm:pt modelId="{8B65A066-158C-F048-8509-BE90F52CF7A8}" type="sibTrans" cxnId="{270E9BCF-0933-E149-8736-FBCC5F9FAEC4}">
      <dgm:prSet/>
      <dgm:spPr/>
      <dgm:t>
        <a:bodyPr/>
        <a:lstStyle/>
        <a:p>
          <a:endParaRPr lang="en-US"/>
        </a:p>
      </dgm:t>
    </dgm:pt>
    <dgm:pt modelId="{736D73F9-F9D7-C445-9548-06517A746B26}">
      <dgm:prSet custT="1"/>
      <dgm:spPr/>
      <dgm:t>
        <a:bodyPr/>
        <a:lstStyle/>
        <a:p>
          <a:r>
            <a:rPr lang="es-ES_tradnl" sz="1800" b="1" dirty="0"/>
            <a:t>Social</a:t>
          </a:r>
          <a:endParaRPr lang="es-ES_tradnl" sz="1700" b="1" dirty="0"/>
        </a:p>
        <a:p>
          <a:r>
            <a:rPr lang="es-ES_tradnl" sz="1700" dirty="0"/>
            <a:t>Cómo las organizaciones y las practicas institucionalizan la diferencia hasta inscribirla como desigualdad</a:t>
          </a:r>
          <a:endParaRPr lang="en-US" sz="1700" dirty="0"/>
        </a:p>
      </dgm:t>
    </dgm:pt>
    <dgm:pt modelId="{C513444A-AF00-244D-994E-C2F4C508CCAF}" type="parTrans" cxnId="{851CC2C5-BB28-3F45-8B07-4FD230C1E4E0}">
      <dgm:prSet/>
      <dgm:spPr/>
      <dgm:t>
        <a:bodyPr/>
        <a:lstStyle/>
        <a:p>
          <a:endParaRPr lang="en-US"/>
        </a:p>
      </dgm:t>
    </dgm:pt>
    <dgm:pt modelId="{E8B1436B-DB3A-2545-AEEE-5DDC38FB5343}" type="sibTrans" cxnId="{851CC2C5-BB28-3F45-8B07-4FD230C1E4E0}">
      <dgm:prSet/>
      <dgm:spPr/>
      <dgm:t>
        <a:bodyPr/>
        <a:lstStyle/>
        <a:p>
          <a:endParaRPr lang="en-US"/>
        </a:p>
      </dgm:t>
    </dgm:pt>
    <dgm:pt modelId="{48EE79FC-84EB-014E-8AB8-7B12F611A6B9}" type="pres">
      <dgm:prSet presAssocID="{2D5A49A0-F288-C041-9D00-24FA89AE6BA4}" presName="Name0" presStyleCnt="0">
        <dgm:presLayoutVars>
          <dgm:dir/>
          <dgm:animLvl val="lvl"/>
          <dgm:resizeHandles val="exact"/>
        </dgm:presLayoutVars>
      </dgm:prSet>
      <dgm:spPr/>
    </dgm:pt>
    <dgm:pt modelId="{88FF62F3-2C57-3C4F-BAA4-CD084F23799B}" type="pres">
      <dgm:prSet presAssocID="{2D5A49A0-F288-C041-9D00-24FA89AE6BA4}" presName="dummy" presStyleCnt="0"/>
      <dgm:spPr/>
    </dgm:pt>
    <dgm:pt modelId="{08FA31A0-8BFD-2D41-91D9-8EC4DF7A7CFE}" type="pres">
      <dgm:prSet presAssocID="{2D5A49A0-F288-C041-9D00-24FA89AE6BA4}" presName="linH" presStyleCnt="0"/>
      <dgm:spPr/>
    </dgm:pt>
    <dgm:pt modelId="{4B30A272-FF3F-7F44-B852-A46BA14AEC00}" type="pres">
      <dgm:prSet presAssocID="{2D5A49A0-F288-C041-9D00-24FA89AE6BA4}" presName="padding1" presStyleCnt="0"/>
      <dgm:spPr/>
    </dgm:pt>
    <dgm:pt modelId="{324C5FE9-DE80-FD41-A058-58660A6B1514}" type="pres">
      <dgm:prSet presAssocID="{33AC531A-0359-EC45-8557-3F13207CBF36}" presName="linV" presStyleCnt="0"/>
      <dgm:spPr/>
    </dgm:pt>
    <dgm:pt modelId="{413F7C15-AD1C-6042-A760-CD3E12A382A5}" type="pres">
      <dgm:prSet presAssocID="{33AC531A-0359-EC45-8557-3F13207CBF36}" presName="spVertical1" presStyleCnt="0"/>
      <dgm:spPr/>
    </dgm:pt>
    <dgm:pt modelId="{F4F8ADBA-45D9-934C-A792-F1B19CEF0E83}" type="pres">
      <dgm:prSet presAssocID="{33AC531A-0359-EC45-8557-3F13207CBF36}" presName="parTx" presStyleLbl="revTx" presStyleIdx="0" presStyleCnt="2" custScaleX="84959">
        <dgm:presLayoutVars>
          <dgm:chMax val="0"/>
          <dgm:chPref val="0"/>
          <dgm:bulletEnabled val="1"/>
        </dgm:presLayoutVars>
      </dgm:prSet>
      <dgm:spPr/>
    </dgm:pt>
    <dgm:pt modelId="{5D17946D-1624-4843-9765-C543F6861434}" type="pres">
      <dgm:prSet presAssocID="{33AC531A-0359-EC45-8557-3F13207CBF36}" presName="spVertical2" presStyleCnt="0"/>
      <dgm:spPr/>
    </dgm:pt>
    <dgm:pt modelId="{6053E311-4867-8447-A8DF-42EDCB9CFF2F}" type="pres">
      <dgm:prSet presAssocID="{33AC531A-0359-EC45-8557-3F13207CBF36}" presName="spVertical3" presStyleCnt="0"/>
      <dgm:spPr/>
    </dgm:pt>
    <dgm:pt modelId="{E44016D3-425B-C347-88AC-C2486F720288}" type="pres">
      <dgm:prSet presAssocID="{8B65A066-158C-F048-8509-BE90F52CF7A8}" presName="space" presStyleCnt="0"/>
      <dgm:spPr/>
    </dgm:pt>
    <dgm:pt modelId="{2C46EB29-B672-854E-924C-5712E019E924}" type="pres">
      <dgm:prSet presAssocID="{736D73F9-F9D7-C445-9548-06517A746B26}" presName="linV" presStyleCnt="0"/>
      <dgm:spPr/>
    </dgm:pt>
    <dgm:pt modelId="{8E980D74-78E1-D44B-B585-F76B8842A55C}" type="pres">
      <dgm:prSet presAssocID="{736D73F9-F9D7-C445-9548-06517A746B26}" presName="spVertical1" presStyleCnt="0"/>
      <dgm:spPr/>
    </dgm:pt>
    <dgm:pt modelId="{4C4B09BB-9785-F749-AB9F-0C8B2A8390E7}" type="pres">
      <dgm:prSet presAssocID="{736D73F9-F9D7-C445-9548-06517A746B26}" presName="parTx" presStyleLbl="revTx" presStyleIdx="1" presStyleCnt="2" custScaleX="137251">
        <dgm:presLayoutVars>
          <dgm:chMax val="0"/>
          <dgm:chPref val="0"/>
          <dgm:bulletEnabled val="1"/>
        </dgm:presLayoutVars>
      </dgm:prSet>
      <dgm:spPr/>
    </dgm:pt>
    <dgm:pt modelId="{2195B700-E07C-4F40-BAA4-2CF2D1A47075}" type="pres">
      <dgm:prSet presAssocID="{736D73F9-F9D7-C445-9548-06517A746B26}" presName="spVertical2" presStyleCnt="0"/>
      <dgm:spPr/>
    </dgm:pt>
    <dgm:pt modelId="{7CE66B95-20D4-7E4F-8111-B18EF4747135}" type="pres">
      <dgm:prSet presAssocID="{736D73F9-F9D7-C445-9548-06517A746B26}" presName="spVertical3" presStyleCnt="0"/>
      <dgm:spPr/>
    </dgm:pt>
    <dgm:pt modelId="{44426CAD-52BF-BE4C-BCA5-DFE29B8D90BB}" type="pres">
      <dgm:prSet presAssocID="{2D5A49A0-F288-C041-9D00-24FA89AE6BA4}" presName="padding2" presStyleCnt="0"/>
      <dgm:spPr/>
    </dgm:pt>
    <dgm:pt modelId="{90CBE7DB-6C75-BC42-AC5D-5D327FF9CFD3}" type="pres">
      <dgm:prSet presAssocID="{2D5A49A0-F288-C041-9D00-24FA89AE6BA4}" presName="negArrow" presStyleCnt="0"/>
      <dgm:spPr/>
    </dgm:pt>
    <dgm:pt modelId="{C1E30E3F-FCAD-5743-B5D7-5053ACEDEA5A}" type="pres">
      <dgm:prSet presAssocID="{2D5A49A0-F288-C041-9D00-24FA89AE6BA4}" presName="backgroundArrow" presStyleLbl="node1" presStyleIdx="0" presStyleCnt="1"/>
      <dgm:spPr/>
    </dgm:pt>
  </dgm:ptLst>
  <dgm:cxnLst>
    <dgm:cxn modelId="{9906AD3F-832E-A54E-850F-C50F7485F284}" type="presOf" srcId="{736D73F9-F9D7-C445-9548-06517A746B26}" destId="{4C4B09BB-9785-F749-AB9F-0C8B2A8390E7}" srcOrd="0" destOrd="0" presId="urn:microsoft.com/office/officeart/2005/8/layout/hProcess3"/>
    <dgm:cxn modelId="{9BE00D8A-0F31-D74E-829B-828BBE3FBB44}" type="presOf" srcId="{2D5A49A0-F288-C041-9D00-24FA89AE6BA4}" destId="{48EE79FC-84EB-014E-8AB8-7B12F611A6B9}" srcOrd="0" destOrd="0" presId="urn:microsoft.com/office/officeart/2005/8/layout/hProcess3"/>
    <dgm:cxn modelId="{230DA4A9-DAA4-CB44-A0B9-F8739214D737}" type="presOf" srcId="{33AC531A-0359-EC45-8557-3F13207CBF36}" destId="{F4F8ADBA-45D9-934C-A792-F1B19CEF0E83}" srcOrd="0" destOrd="0" presId="urn:microsoft.com/office/officeart/2005/8/layout/hProcess3"/>
    <dgm:cxn modelId="{851CC2C5-BB28-3F45-8B07-4FD230C1E4E0}" srcId="{2D5A49A0-F288-C041-9D00-24FA89AE6BA4}" destId="{736D73F9-F9D7-C445-9548-06517A746B26}" srcOrd="1" destOrd="0" parTransId="{C513444A-AF00-244D-994E-C2F4C508CCAF}" sibTransId="{E8B1436B-DB3A-2545-AEEE-5DDC38FB5343}"/>
    <dgm:cxn modelId="{270E9BCF-0933-E149-8736-FBCC5F9FAEC4}" srcId="{2D5A49A0-F288-C041-9D00-24FA89AE6BA4}" destId="{33AC531A-0359-EC45-8557-3F13207CBF36}" srcOrd="0" destOrd="0" parTransId="{47D6EFB2-B786-5F46-94B4-563E6A8A71CB}" sibTransId="{8B65A066-158C-F048-8509-BE90F52CF7A8}"/>
    <dgm:cxn modelId="{A96E5B56-F077-6B4C-A94B-8CF3D3C0F63E}" type="presParOf" srcId="{48EE79FC-84EB-014E-8AB8-7B12F611A6B9}" destId="{88FF62F3-2C57-3C4F-BAA4-CD084F23799B}" srcOrd="0" destOrd="0" presId="urn:microsoft.com/office/officeart/2005/8/layout/hProcess3"/>
    <dgm:cxn modelId="{53966625-E22D-994B-A344-48C3088084A8}" type="presParOf" srcId="{48EE79FC-84EB-014E-8AB8-7B12F611A6B9}" destId="{08FA31A0-8BFD-2D41-91D9-8EC4DF7A7CFE}" srcOrd="1" destOrd="0" presId="urn:microsoft.com/office/officeart/2005/8/layout/hProcess3"/>
    <dgm:cxn modelId="{110AB5EF-CA40-BD47-B92C-826D4F63D320}" type="presParOf" srcId="{08FA31A0-8BFD-2D41-91D9-8EC4DF7A7CFE}" destId="{4B30A272-FF3F-7F44-B852-A46BA14AEC00}" srcOrd="0" destOrd="0" presId="urn:microsoft.com/office/officeart/2005/8/layout/hProcess3"/>
    <dgm:cxn modelId="{51F46CC9-D152-9F4C-BE1B-570F712B46EC}" type="presParOf" srcId="{08FA31A0-8BFD-2D41-91D9-8EC4DF7A7CFE}" destId="{324C5FE9-DE80-FD41-A058-58660A6B1514}" srcOrd="1" destOrd="0" presId="urn:microsoft.com/office/officeart/2005/8/layout/hProcess3"/>
    <dgm:cxn modelId="{8ABE786F-63DD-3340-8855-9D5333633B34}" type="presParOf" srcId="{324C5FE9-DE80-FD41-A058-58660A6B1514}" destId="{413F7C15-AD1C-6042-A760-CD3E12A382A5}" srcOrd="0" destOrd="0" presId="urn:microsoft.com/office/officeart/2005/8/layout/hProcess3"/>
    <dgm:cxn modelId="{A5BA9A15-6BFF-3D42-AC54-3F1AEB700D9E}" type="presParOf" srcId="{324C5FE9-DE80-FD41-A058-58660A6B1514}" destId="{F4F8ADBA-45D9-934C-A792-F1B19CEF0E83}" srcOrd="1" destOrd="0" presId="urn:microsoft.com/office/officeart/2005/8/layout/hProcess3"/>
    <dgm:cxn modelId="{3E965CF8-B4B0-0744-96A4-F595C782E7F0}" type="presParOf" srcId="{324C5FE9-DE80-FD41-A058-58660A6B1514}" destId="{5D17946D-1624-4843-9765-C543F6861434}" srcOrd="2" destOrd="0" presId="urn:microsoft.com/office/officeart/2005/8/layout/hProcess3"/>
    <dgm:cxn modelId="{179B8236-01D8-FB47-AF58-41D78CC13033}" type="presParOf" srcId="{324C5FE9-DE80-FD41-A058-58660A6B1514}" destId="{6053E311-4867-8447-A8DF-42EDCB9CFF2F}" srcOrd="3" destOrd="0" presId="urn:microsoft.com/office/officeart/2005/8/layout/hProcess3"/>
    <dgm:cxn modelId="{4179AAD8-A60A-CC4B-91FD-5FEAB6F978E0}" type="presParOf" srcId="{08FA31A0-8BFD-2D41-91D9-8EC4DF7A7CFE}" destId="{E44016D3-425B-C347-88AC-C2486F720288}" srcOrd="2" destOrd="0" presId="urn:microsoft.com/office/officeart/2005/8/layout/hProcess3"/>
    <dgm:cxn modelId="{5DC2A995-B9BC-A54E-BBCD-08AC85FD13C8}" type="presParOf" srcId="{08FA31A0-8BFD-2D41-91D9-8EC4DF7A7CFE}" destId="{2C46EB29-B672-854E-924C-5712E019E924}" srcOrd="3" destOrd="0" presId="urn:microsoft.com/office/officeart/2005/8/layout/hProcess3"/>
    <dgm:cxn modelId="{52FF14C8-DC7F-CA4A-9C6B-94E8C8F1D432}" type="presParOf" srcId="{2C46EB29-B672-854E-924C-5712E019E924}" destId="{8E980D74-78E1-D44B-B585-F76B8842A55C}" srcOrd="0" destOrd="0" presId="urn:microsoft.com/office/officeart/2005/8/layout/hProcess3"/>
    <dgm:cxn modelId="{1D68C093-E9FD-D241-BF32-C5B3FF0D9AA8}" type="presParOf" srcId="{2C46EB29-B672-854E-924C-5712E019E924}" destId="{4C4B09BB-9785-F749-AB9F-0C8B2A8390E7}" srcOrd="1" destOrd="0" presId="urn:microsoft.com/office/officeart/2005/8/layout/hProcess3"/>
    <dgm:cxn modelId="{92338A28-3800-8C4B-A14B-ED50E4F1E1F7}" type="presParOf" srcId="{2C46EB29-B672-854E-924C-5712E019E924}" destId="{2195B700-E07C-4F40-BAA4-2CF2D1A47075}" srcOrd="2" destOrd="0" presId="urn:microsoft.com/office/officeart/2005/8/layout/hProcess3"/>
    <dgm:cxn modelId="{8A296DC7-6385-D242-8B00-92CA9387DEBB}" type="presParOf" srcId="{2C46EB29-B672-854E-924C-5712E019E924}" destId="{7CE66B95-20D4-7E4F-8111-B18EF4747135}" srcOrd="3" destOrd="0" presId="urn:microsoft.com/office/officeart/2005/8/layout/hProcess3"/>
    <dgm:cxn modelId="{749DB4F7-B9AE-3149-9F94-50DD1BA79B67}" type="presParOf" srcId="{08FA31A0-8BFD-2D41-91D9-8EC4DF7A7CFE}" destId="{44426CAD-52BF-BE4C-BCA5-DFE29B8D90BB}" srcOrd="4" destOrd="0" presId="urn:microsoft.com/office/officeart/2005/8/layout/hProcess3"/>
    <dgm:cxn modelId="{3EF9A78E-3131-684D-AE94-6806352CCC41}" type="presParOf" srcId="{08FA31A0-8BFD-2D41-91D9-8EC4DF7A7CFE}" destId="{90CBE7DB-6C75-BC42-AC5D-5D327FF9CFD3}" srcOrd="5" destOrd="0" presId="urn:microsoft.com/office/officeart/2005/8/layout/hProcess3"/>
    <dgm:cxn modelId="{1ED7FBD7-2D1A-C742-9C57-0F8DC648FD94}" type="presParOf" srcId="{08FA31A0-8BFD-2D41-91D9-8EC4DF7A7CFE}" destId="{C1E30E3F-FCAD-5743-B5D7-5053ACEDEA5A}" srcOrd="6"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11F230-2C51-40B9-8C47-24F315DD0AA4}"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C34D625D-71B8-49E1-A771-269AD7DE6DBC}">
      <dgm:prSet/>
      <dgm:spPr/>
      <dgm:t>
        <a:bodyPr/>
        <a:lstStyle/>
        <a:p>
          <a:r>
            <a:rPr lang="es-ES_tradnl"/>
            <a:t>Mujeres negras conceptualizaron el género como un eje de opresión, que interacciona con otros ejes de opresión mucho antes.</a:t>
          </a:r>
          <a:endParaRPr lang="en-US"/>
        </a:p>
      </dgm:t>
    </dgm:pt>
    <dgm:pt modelId="{F29D16DF-9491-4D01-AA6E-60B4A99C1A9E}" type="parTrans" cxnId="{97689AEE-B8FE-403D-8002-872E8D6B6852}">
      <dgm:prSet/>
      <dgm:spPr/>
      <dgm:t>
        <a:bodyPr/>
        <a:lstStyle/>
        <a:p>
          <a:endParaRPr lang="en-US"/>
        </a:p>
      </dgm:t>
    </dgm:pt>
    <dgm:pt modelId="{E6324005-1CD4-4593-95EB-269D29D6FD7B}" type="sibTrans" cxnId="{97689AEE-B8FE-403D-8002-872E8D6B6852}">
      <dgm:prSet/>
      <dgm:spPr/>
      <dgm:t>
        <a:bodyPr/>
        <a:lstStyle/>
        <a:p>
          <a:endParaRPr lang="en-US"/>
        </a:p>
      </dgm:t>
    </dgm:pt>
    <dgm:pt modelId="{151B096A-4F2B-4C22-BF11-69C29C6A3F32}">
      <dgm:prSet/>
      <dgm:spPr/>
      <dgm:t>
        <a:bodyPr/>
        <a:lstStyle/>
        <a:p>
          <a:r>
            <a:rPr lang="es-ES_tradnl"/>
            <a:t>Crítica por asumir que la mujer blanca occidental representa a todas las mujeres.</a:t>
          </a:r>
          <a:endParaRPr lang="en-US"/>
        </a:p>
      </dgm:t>
    </dgm:pt>
    <dgm:pt modelId="{DB71C005-D662-4338-B115-5DFDE1C53FF1}" type="parTrans" cxnId="{91E09778-737E-4BAE-9A5A-B7CFE247BDC7}">
      <dgm:prSet/>
      <dgm:spPr/>
      <dgm:t>
        <a:bodyPr/>
        <a:lstStyle/>
        <a:p>
          <a:endParaRPr lang="en-US"/>
        </a:p>
      </dgm:t>
    </dgm:pt>
    <dgm:pt modelId="{03135475-1394-4F78-8668-6C4CFB9584DD}" type="sibTrans" cxnId="{91E09778-737E-4BAE-9A5A-B7CFE247BDC7}">
      <dgm:prSet/>
      <dgm:spPr/>
      <dgm:t>
        <a:bodyPr/>
        <a:lstStyle/>
        <a:p>
          <a:endParaRPr lang="en-US"/>
        </a:p>
      </dgm:t>
    </dgm:pt>
    <dgm:pt modelId="{3A20B844-FDDD-834A-BF93-D00853330590}" type="pres">
      <dgm:prSet presAssocID="{B311F230-2C51-40B9-8C47-24F315DD0AA4}" presName="hierChild1" presStyleCnt="0">
        <dgm:presLayoutVars>
          <dgm:chPref val="1"/>
          <dgm:dir/>
          <dgm:animOne val="branch"/>
          <dgm:animLvl val="lvl"/>
          <dgm:resizeHandles/>
        </dgm:presLayoutVars>
      </dgm:prSet>
      <dgm:spPr/>
    </dgm:pt>
    <dgm:pt modelId="{E4413046-AB83-5649-B486-B70CAC18A42E}" type="pres">
      <dgm:prSet presAssocID="{C34D625D-71B8-49E1-A771-269AD7DE6DBC}" presName="hierRoot1" presStyleCnt="0"/>
      <dgm:spPr/>
    </dgm:pt>
    <dgm:pt modelId="{48C46154-25D8-7246-B76D-BE2DECA9F8A2}" type="pres">
      <dgm:prSet presAssocID="{C34D625D-71B8-49E1-A771-269AD7DE6DBC}" presName="composite" presStyleCnt="0"/>
      <dgm:spPr/>
    </dgm:pt>
    <dgm:pt modelId="{5581F5E1-5F0B-9449-B9F9-BC72664D4DDA}" type="pres">
      <dgm:prSet presAssocID="{C34D625D-71B8-49E1-A771-269AD7DE6DBC}" presName="background" presStyleLbl="node0" presStyleIdx="0" presStyleCnt="2"/>
      <dgm:spPr/>
    </dgm:pt>
    <dgm:pt modelId="{94293001-C800-5540-B07D-B20A583AA06F}" type="pres">
      <dgm:prSet presAssocID="{C34D625D-71B8-49E1-A771-269AD7DE6DBC}" presName="text" presStyleLbl="fgAcc0" presStyleIdx="0" presStyleCnt="2">
        <dgm:presLayoutVars>
          <dgm:chPref val="3"/>
        </dgm:presLayoutVars>
      </dgm:prSet>
      <dgm:spPr/>
    </dgm:pt>
    <dgm:pt modelId="{1B208878-CF1F-DA4E-B4F1-1DE1C81B60AD}" type="pres">
      <dgm:prSet presAssocID="{C34D625D-71B8-49E1-A771-269AD7DE6DBC}" presName="hierChild2" presStyleCnt="0"/>
      <dgm:spPr/>
    </dgm:pt>
    <dgm:pt modelId="{B9F9FF4E-91DF-4845-9C84-0BD3ECECB901}" type="pres">
      <dgm:prSet presAssocID="{151B096A-4F2B-4C22-BF11-69C29C6A3F32}" presName="hierRoot1" presStyleCnt="0"/>
      <dgm:spPr/>
    </dgm:pt>
    <dgm:pt modelId="{09AEF111-17F5-4D43-93FA-65D220CFAC69}" type="pres">
      <dgm:prSet presAssocID="{151B096A-4F2B-4C22-BF11-69C29C6A3F32}" presName="composite" presStyleCnt="0"/>
      <dgm:spPr/>
    </dgm:pt>
    <dgm:pt modelId="{9F9EFA9C-9D94-E84D-A926-B9223E4C3732}" type="pres">
      <dgm:prSet presAssocID="{151B096A-4F2B-4C22-BF11-69C29C6A3F32}" presName="background" presStyleLbl="node0" presStyleIdx="1" presStyleCnt="2"/>
      <dgm:spPr/>
    </dgm:pt>
    <dgm:pt modelId="{B52B611A-FA39-7F42-91C8-85A106664096}" type="pres">
      <dgm:prSet presAssocID="{151B096A-4F2B-4C22-BF11-69C29C6A3F32}" presName="text" presStyleLbl="fgAcc0" presStyleIdx="1" presStyleCnt="2">
        <dgm:presLayoutVars>
          <dgm:chPref val="3"/>
        </dgm:presLayoutVars>
      </dgm:prSet>
      <dgm:spPr/>
    </dgm:pt>
    <dgm:pt modelId="{47C2F0A4-7E83-4F42-9D65-0E1558A469A8}" type="pres">
      <dgm:prSet presAssocID="{151B096A-4F2B-4C22-BF11-69C29C6A3F32}" presName="hierChild2" presStyleCnt="0"/>
      <dgm:spPr/>
    </dgm:pt>
  </dgm:ptLst>
  <dgm:cxnLst>
    <dgm:cxn modelId="{388E100B-4C58-444A-83F3-1157C0D3D5CA}" type="presOf" srcId="{151B096A-4F2B-4C22-BF11-69C29C6A3F32}" destId="{B52B611A-FA39-7F42-91C8-85A106664096}" srcOrd="0" destOrd="0" presId="urn:microsoft.com/office/officeart/2005/8/layout/hierarchy1"/>
    <dgm:cxn modelId="{3CD2C342-B97B-5446-BC44-4DEB53ECCF34}" type="presOf" srcId="{B311F230-2C51-40B9-8C47-24F315DD0AA4}" destId="{3A20B844-FDDD-834A-BF93-D00853330590}" srcOrd="0" destOrd="0" presId="urn:microsoft.com/office/officeart/2005/8/layout/hierarchy1"/>
    <dgm:cxn modelId="{91E09778-737E-4BAE-9A5A-B7CFE247BDC7}" srcId="{B311F230-2C51-40B9-8C47-24F315DD0AA4}" destId="{151B096A-4F2B-4C22-BF11-69C29C6A3F32}" srcOrd="1" destOrd="0" parTransId="{DB71C005-D662-4338-B115-5DFDE1C53FF1}" sibTransId="{03135475-1394-4F78-8668-6C4CFB9584DD}"/>
    <dgm:cxn modelId="{97689AEE-B8FE-403D-8002-872E8D6B6852}" srcId="{B311F230-2C51-40B9-8C47-24F315DD0AA4}" destId="{C34D625D-71B8-49E1-A771-269AD7DE6DBC}" srcOrd="0" destOrd="0" parTransId="{F29D16DF-9491-4D01-AA6E-60B4A99C1A9E}" sibTransId="{E6324005-1CD4-4593-95EB-269D29D6FD7B}"/>
    <dgm:cxn modelId="{12458AF0-E52C-A445-951E-8205A175D81E}" type="presOf" srcId="{C34D625D-71B8-49E1-A771-269AD7DE6DBC}" destId="{94293001-C800-5540-B07D-B20A583AA06F}" srcOrd="0" destOrd="0" presId="urn:microsoft.com/office/officeart/2005/8/layout/hierarchy1"/>
    <dgm:cxn modelId="{55EFE92E-C623-4F49-8C71-63EA4FB1734B}" type="presParOf" srcId="{3A20B844-FDDD-834A-BF93-D00853330590}" destId="{E4413046-AB83-5649-B486-B70CAC18A42E}" srcOrd="0" destOrd="0" presId="urn:microsoft.com/office/officeart/2005/8/layout/hierarchy1"/>
    <dgm:cxn modelId="{7A7ABE60-3476-D84B-AAA0-E153F15DADB6}" type="presParOf" srcId="{E4413046-AB83-5649-B486-B70CAC18A42E}" destId="{48C46154-25D8-7246-B76D-BE2DECA9F8A2}" srcOrd="0" destOrd="0" presId="urn:microsoft.com/office/officeart/2005/8/layout/hierarchy1"/>
    <dgm:cxn modelId="{DDDAFD2D-EB42-A34C-A5C7-3C56C9B708EB}" type="presParOf" srcId="{48C46154-25D8-7246-B76D-BE2DECA9F8A2}" destId="{5581F5E1-5F0B-9449-B9F9-BC72664D4DDA}" srcOrd="0" destOrd="0" presId="urn:microsoft.com/office/officeart/2005/8/layout/hierarchy1"/>
    <dgm:cxn modelId="{35D9E1A9-0BE6-8145-ABD0-FBD035600880}" type="presParOf" srcId="{48C46154-25D8-7246-B76D-BE2DECA9F8A2}" destId="{94293001-C800-5540-B07D-B20A583AA06F}" srcOrd="1" destOrd="0" presId="urn:microsoft.com/office/officeart/2005/8/layout/hierarchy1"/>
    <dgm:cxn modelId="{EC8F3A8D-B988-3740-930D-3B29357F0A69}" type="presParOf" srcId="{E4413046-AB83-5649-B486-B70CAC18A42E}" destId="{1B208878-CF1F-DA4E-B4F1-1DE1C81B60AD}" srcOrd="1" destOrd="0" presId="urn:microsoft.com/office/officeart/2005/8/layout/hierarchy1"/>
    <dgm:cxn modelId="{4ABFB4AF-4ACC-FF4F-9BE2-2DD387D66DEE}" type="presParOf" srcId="{3A20B844-FDDD-834A-BF93-D00853330590}" destId="{B9F9FF4E-91DF-4845-9C84-0BD3ECECB901}" srcOrd="1" destOrd="0" presId="urn:microsoft.com/office/officeart/2005/8/layout/hierarchy1"/>
    <dgm:cxn modelId="{70B845D6-9179-5448-B563-ED8925AC4D24}" type="presParOf" srcId="{B9F9FF4E-91DF-4845-9C84-0BD3ECECB901}" destId="{09AEF111-17F5-4D43-93FA-65D220CFAC69}" srcOrd="0" destOrd="0" presId="urn:microsoft.com/office/officeart/2005/8/layout/hierarchy1"/>
    <dgm:cxn modelId="{217B6970-713B-5948-8843-994E58938785}" type="presParOf" srcId="{09AEF111-17F5-4D43-93FA-65D220CFAC69}" destId="{9F9EFA9C-9D94-E84D-A926-B9223E4C3732}" srcOrd="0" destOrd="0" presId="urn:microsoft.com/office/officeart/2005/8/layout/hierarchy1"/>
    <dgm:cxn modelId="{5BDF4203-20AB-584C-B52D-C22A76519CB2}" type="presParOf" srcId="{09AEF111-17F5-4D43-93FA-65D220CFAC69}" destId="{B52B611A-FA39-7F42-91C8-85A106664096}" srcOrd="1" destOrd="0" presId="urn:microsoft.com/office/officeart/2005/8/layout/hierarchy1"/>
    <dgm:cxn modelId="{C13F563E-891B-4248-9A5B-075B6AE822BE}" type="presParOf" srcId="{B9F9FF4E-91DF-4845-9C84-0BD3ECECB901}" destId="{47C2F0A4-7E83-4F42-9D65-0E1558A469A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4908C7-FCDC-E945-868F-91CA997F3C23}">
      <dsp:nvSpPr>
        <dsp:cNvPr id="0" name=""/>
        <dsp:cNvSpPr/>
      </dsp:nvSpPr>
      <dsp:spPr>
        <a:xfrm>
          <a:off x="69706" y="0"/>
          <a:ext cx="3965818" cy="132556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_tradnl" sz="2000" kern="1200" dirty="0"/>
            <a:t>Bases: conceptos y perspectivas teóricas fundamentales (C1-6)</a:t>
          </a:r>
          <a:endParaRPr lang="en-CL" sz="2000" kern="1200" dirty="0"/>
        </a:p>
      </dsp:txBody>
      <dsp:txXfrm>
        <a:off x="108530" y="38824"/>
        <a:ext cx="3888170" cy="1247915"/>
      </dsp:txXfrm>
    </dsp:sp>
    <dsp:sp modelId="{46DF3D97-F217-CE40-B88B-3DFAC05481BB}">
      <dsp:nvSpPr>
        <dsp:cNvPr id="0" name=""/>
        <dsp:cNvSpPr/>
      </dsp:nvSpPr>
      <dsp:spPr>
        <a:xfrm>
          <a:off x="4415610" y="171020"/>
          <a:ext cx="805780" cy="983522"/>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415610" y="367724"/>
        <a:ext cx="564046" cy="590114"/>
      </dsp:txXfrm>
    </dsp:sp>
    <dsp:sp modelId="{86ED2A72-794C-884D-8506-AA1AC3BA1955}">
      <dsp:nvSpPr>
        <dsp:cNvPr id="0" name=""/>
        <dsp:cNvSpPr/>
      </dsp:nvSpPr>
      <dsp:spPr>
        <a:xfrm>
          <a:off x="5555864" y="0"/>
          <a:ext cx="3965818" cy="1325563"/>
        </a:xfrm>
        <a:prstGeom prst="roundRect">
          <a:avLst>
            <a:gd name="adj" fmla="val 10000"/>
          </a:avLst>
        </a:prstGeom>
        <a:solidFill>
          <a:schemeClr val="accent4">
            <a:hueOff val="20121819"/>
            <a:satOff val="201"/>
            <a:lumOff val="725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_tradnl" sz="2000" kern="1200" dirty="0"/>
            <a:t>Aplicación de conceptos y teorías a diversos ámbitos de la vida social (C7-14)</a:t>
          </a:r>
          <a:endParaRPr lang="en-CL" sz="2000" kern="1200" dirty="0"/>
        </a:p>
      </dsp:txBody>
      <dsp:txXfrm>
        <a:off x="5594688" y="38824"/>
        <a:ext cx="3888170" cy="12479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FD1E8-0E71-4B78-8E95-FA11BB06C384}">
      <dsp:nvSpPr>
        <dsp:cNvPr id="0" name=""/>
        <dsp:cNvSpPr/>
      </dsp:nvSpPr>
      <dsp:spPr>
        <a:xfrm>
          <a:off x="0" y="2771"/>
          <a:ext cx="10077450" cy="5904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FA047A-F58C-4197-8022-6E8DDF0CD66C}">
      <dsp:nvSpPr>
        <dsp:cNvPr id="0" name=""/>
        <dsp:cNvSpPr/>
      </dsp:nvSpPr>
      <dsp:spPr>
        <a:xfrm>
          <a:off x="178601" y="135616"/>
          <a:ext cx="324730" cy="3247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598E79-D511-40E0-AC8B-DA0EA212D713}">
      <dsp:nvSpPr>
        <dsp:cNvPr id="0" name=""/>
        <dsp:cNvSpPr/>
      </dsp:nvSpPr>
      <dsp:spPr>
        <a:xfrm>
          <a:off x="681934" y="2771"/>
          <a:ext cx="9395515" cy="590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6" tIns="62486" rIns="62486" bIns="62486" numCol="1" spcCol="1270" anchor="ctr" anchorCtr="0">
          <a:noAutofit/>
        </a:bodyPr>
        <a:lstStyle/>
        <a:p>
          <a:pPr marL="0" lvl="0" indent="0" algn="l" defTabSz="666750">
            <a:lnSpc>
              <a:spcPct val="100000"/>
            </a:lnSpc>
            <a:spcBef>
              <a:spcPct val="0"/>
            </a:spcBef>
            <a:spcAft>
              <a:spcPct val="35000"/>
            </a:spcAft>
            <a:buNone/>
          </a:pPr>
          <a:r>
            <a:rPr lang="en-US" sz="1500" b="1" kern="1200" dirty="0"/>
            <a:t>Abstract/</a:t>
          </a:r>
          <a:r>
            <a:rPr lang="en-US" sz="1500" b="1" kern="1200" dirty="0" err="1"/>
            <a:t>Resumen</a:t>
          </a:r>
          <a:r>
            <a:rPr lang="en-US" sz="1500" b="1" kern="1200" dirty="0"/>
            <a:t>: </a:t>
          </a:r>
          <a:r>
            <a:rPr lang="en-US" sz="1500" kern="1200" dirty="0"/>
            <a:t>Visión general de </a:t>
          </a:r>
          <a:r>
            <a:rPr lang="en-US" sz="1500" kern="1200" dirty="0" err="1"/>
            <a:t>todo</a:t>
          </a:r>
          <a:r>
            <a:rPr lang="en-US" sz="1500" kern="1200" dirty="0"/>
            <a:t> el </a:t>
          </a:r>
          <a:r>
            <a:rPr lang="en-US" sz="1500" kern="1200" dirty="0" err="1"/>
            <a:t>documento</a:t>
          </a:r>
          <a:r>
            <a:rPr lang="en-US" sz="1500" kern="1200" dirty="0"/>
            <a:t> </a:t>
          </a:r>
          <a:r>
            <a:rPr lang="en-US" sz="1500" b="1" kern="1200" dirty="0"/>
            <a:t>**Leer </a:t>
          </a:r>
          <a:r>
            <a:rPr lang="en-US" sz="1500" b="1" kern="1200" dirty="0" err="1"/>
            <a:t>siempre</a:t>
          </a:r>
          <a:r>
            <a:rPr lang="en-US" sz="1500" b="1" kern="1200" dirty="0"/>
            <a:t> y </a:t>
          </a:r>
          <a:r>
            <a:rPr lang="en-US" sz="1500" b="1" kern="1200" dirty="0" err="1"/>
            <a:t>en</a:t>
          </a:r>
          <a:r>
            <a:rPr lang="en-US" sz="1500" b="1" kern="1200" dirty="0"/>
            <a:t> </a:t>
          </a:r>
          <a:r>
            <a:rPr lang="en-US" sz="1500" b="1" kern="1200" dirty="0" err="1"/>
            <a:t>detalle</a:t>
          </a:r>
          <a:r>
            <a:rPr lang="en-US" sz="1500" b="1" kern="1200" dirty="0"/>
            <a:t>**</a:t>
          </a:r>
          <a:endParaRPr lang="en-US" sz="1500" kern="1200" dirty="0"/>
        </a:p>
      </dsp:txBody>
      <dsp:txXfrm>
        <a:off x="681934" y="2771"/>
        <a:ext cx="9395515" cy="590419"/>
      </dsp:txXfrm>
    </dsp:sp>
    <dsp:sp modelId="{B70D5C06-8326-48F3-A344-72B2558D35D6}">
      <dsp:nvSpPr>
        <dsp:cNvPr id="0" name=""/>
        <dsp:cNvSpPr/>
      </dsp:nvSpPr>
      <dsp:spPr>
        <a:xfrm>
          <a:off x="0" y="740796"/>
          <a:ext cx="10077450" cy="5904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4F2D05-E6CC-4DE8-8834-4B91311429EC}">
      <dsp:nvSpPr>
        <dsp:cNvPr id="0" name=""/>
        <dsp:cNvSpPr/>
      </dsp:nvSpPr>
      <dsp:spPr>
        <a:xfrm>
          <a:off x="178601" y="873640"/>
          <a:ext cx="324730" cy="3247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8BF8B7-2A24-46E7-B264-12CCFA2C8609}">
      <dsp:nvSpPr>
        <dsp:cNvPr id="0" name=""/>
        <dsp:cNvSpPr/>
      </dsp:nvSpPr>
      <dsp:spPr>
        <a:xfrm>
          <a:off x="681934" y="740796"/>
          <a:ext cx="9395515" cy="590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6" tIns="62486" rIns="62486" bIns="62486" numCol="1" spcCol="1270" anchor="ctr" anchorCtr="0">
          <a:noAutofit/>
        </a:bodyPr>
        <a:lstStyle/>
        <a:p>
          <a:pPr marL="0" lvl="0" indent="0" algn="l" defTabSz="666750">
            <a:lnSpc>
              <a:spcPct val="100000"/>
            </a:lnSpc>
            <a:spcBef>
              <a:spcPct val="0"/>
            </a:spcBef>
            <a:spcAft>
              <a:spcPct val="35000"/>
            </a:spcAft>
            <a:buNone/>
          </a:pPr>
          <a:r>
            <a:rPr lang="en-US" sz="1500" b="1" kern="1200"/>
            <a:t>Introducción: </a:t>
          </a:r>
          <a:r>
            <a:rPr lang="en-US" sz="1500" kern="1200"/>
            <a:t>Presentación del estudio, proporcionando información de fondo sobre lo que ya se ha hecho. </a:t>
          </a:r>
          <a:r>
            <a:rPr lang="en-US" sz="1500" b="1" kern="1200"/>
            <a:t>Escanear o leer las oraciones clave.</a:t>
          </a:r>
          <a:endParaRPr lang="en-US" sz="1500" kern="1200"/>
        </a:p>
      </dsp:txBody>
      <dsp:txXfrm>
        <a:off x="681934" y="740796"/>
        <a:ext cx="9395515" cy="590419"/>
      </dsp:txXfrm>
    </dsp:sp>
    <dsp:sp modelId="{CC1116C7-3E39-442B-BD83-E9BBBF21C49F}">
      <dsp:nvSpPr>
        <dsp:cNvPr id="0" name=""/>
        <dsp:cNvSpPr/>
      </dsp:nvSpPr>
      <dsp:spPr>
        <a:xfrm>
          <a:off x="0" y="1478821"/>
          <a:ext cx="10077450" cy="5904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89A7E3-5F43-4DE1-8402-C17D3604839F}">
      <dsp:nvSpPr>
        <dsp:cNvPr id="0" name=""/>
        <dsp:cNvSpPr/>
      </dsp:nvSpPr>
      <dsp:spPr>
        <a:xfrm>
          <a:off x="178601" y="1611665"/>
          <a:ext cx="324730" cy="32473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131DB9-A194-4B01-A435-6451DDF500A5}">
      <dsp:nvSpPr>
        <dsp:cNvPr id="0" name=""/>
        <dsp:cNvSpPr/>
      </dsp:nvSpPr>
      <dsp:spPr>
        <a:xfrm>
          <a:off x="681934" y="1478821"/>
          <a:ext cx="9395515" cy="590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6" tIns="62486" rIns="62486" bIns="62486" numCol="1" spcCol="1270" anchor="ctr" anchorCtr="0">
          <a:noAutofit/>
        </a:bodyPr>
        <a:lstStyle/>
        <a:p>
          <a:pPr marL="0" lvl="0" indent="0" algn="l" defTabSz="666750">
            <a:lnSpc>
              <a:spcPct val="100000"/>
            </a:lnSpc>
            <a:spcBef>
              <a:spcPct val="0"/>
            </a:spcBef>
            <a:spcAft>
              <a:spcPct val="35000"/>
            </a:spcAft>
            <a:buNone/>
          </a:pPr>
          <a:r>
            <a:rPr lang="en-US" sz="1500" b="1" kern="1200" dirty="0" err="1"/>
            <a:t>Métodos</a:t>
          </a:r>
          <a:r>
            <a:rPr lang="en-US" sz="1500" b="1" kern="1200" dirty="0"/>
            <a:t>: </a:t>
          </a:r>
          <a:r>
            <a:rPr lang="en-US" sz="1500" kern="1200" dirty="0"/>
            <a:t>¿</a:t>
          </a:r>
          <a:r>
            <a:rPr lang="en-US" sz="1500" kern="1200" dirty="0" err="1"/>
            <a:t>Qué</a:t>
          </a:r>
          <a:r>
            <a:rPr lang="en-US" sz="1500" kern="1200" dirty="0"/>
            <a:t> </a:t>
          </a:r>
          <a:r>
            <a:rPr lang="en-US" sz="1500" kern="1200" dirty="0" err="1"/>
            <a:t>hicieron</a:t>
          </a:r>
          <a:r>
            <a:rPr lang="en-US" sz="1500" kern="1200" dirty="0"/>
            <a:t> </a:t>
          </a:r>
          <a:r>
            <a:rPr lang="en-US" sz="1500" kern="1200" dirty="0" err="1"/>
            <a:t>en</a:t>
          </a:r>
          <a:r>
            <a:rPr lang="en-US" sz="1500" kern="1200" dirty="0"/>
            <a:t> </a:t>
          </a:r>
          <a:r>
            <a:rPr lang="en-US" sz="1500" kern="1200" dirty="0" err="1"/>
            <a:t>el</a:t>
          </a:r>
          <a:r>
            <a:rPr lang="en-US" sz="1500" kern="1200" dirty="0"/>
            <a:t> </a:t>
          </a:r>
          <a:r>
            <a:rPr lang="en-US" sz="1500" kern="1200" dirty="0" err="1"/>
            <a:t>estudio</a:t>
          </a:r>
          <a:r>
            <a:rPr lang="en-US" sz="1500" kern="1200" dirty="0"/>
            <a:t>? </a:t>
          </a:r>
          <a:r>
            <a:rPr lang="en-US" sz="1500" b="1" kern="1200" dirty="0" err="1"/>
            <a:t>Escanear</a:t>
          </a:r>
          <a:r>
            <a:rPr lang="en-US" sz="1500" b="1" kern="1200" dirty="0"/>
            <a:t> o leer las </a:t>
          </a:r>
          <a:r>
            <a:rPr lang="en-US" sz="1500" b="1" kern="1200" dirty="0" err="1"/>
            <a:t>oraciones</a:t>
          </a:r>
          <a:r>
            <a:rPr lang="en-US" sz="1500" b="1" kern="1200" dirty="0"/>
            <a:t> clave.</a:t>
          </a:r>
          <a:endParaRPr lang="en-US" sz="1500" kern="1200" dirty="0"/>
        </a:p>
      </dsp:txBody>
      <dsp:txXfrm>
        <a:off x="681934" y="1478821"/>
        <a:ext cx="9395515" cy="590419"/>
      </dsp:txXfrm>
    </dsp:sp>
    <dsp:sp modelId="{A1ABF480-FA77-4B7D-8EBF-F7F0E35EAC46}">
      <dsp:nvSpPr>
        <dsp:cNvPr id="0" name=""/>
        <dsp:cNvSpPr/>
      </dsp:nvSpPr>
      <dsp:spPr>
        <a:xfrm>
          <a:off x="0" y="2216845"/>
          <a:ext cx="10077450" cy="5904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5FA7D1-5D72-4D85-8DB3-CC7583AEA996}">
      <dsp:nvSpPr>
        <dsp:cNvPr id="0" name=""/>
        <dsp:cNvSpPr/>
      </dsp:nvSpPr>
      <dsp:spPr>
        <a:xfrm>
          <a:off x="178601" y="2349690"/>
          <a:ext cx="324730" cy="324730"/>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D116EE-606E-44EA-9FBB-09D83DD49159}">
      <dsp:nvSpPr>
        <dsp:cNvPr id="0" name=""/>
        <dsp:cNvSpPr/>
      </dsp:nvSpPr>
      <dsp:spPr>
        <a:xfrm>
          <a:off x="681934" y="2216845"/>
          <a:ext cx="9395515" cy="590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6" tIns="62486" rIns="62486" bIns="62486" numCol="1" spcCol="1270" anchor="ctr" anchorCtr="0">
          <a:noAutofit/>
        </a:bodyPr>
        <a:lstStyle/>
        <a:p>
          <a:pPr marL="0" lvl="0" indent="0" algn="l" defTabSz="666750">
            <a:lnSpc>
              <a:spcPct val="100000"/>
            </a:lnSpc>
            <a:spcBef>
              <a:spcPct val="0"/>
            </a:spcBef>
            <a:spcAft>
              <a:spcPct val="35000"/>
            </a:spcAft>
            <a:buNone/>
          </a:pPr>
          <a:r>
            <a:rPr lang="en-US" sz="1500" b="1" kern="1200"/>
            <a:t>Resultados: </a:t>
          </a:r>
          <a:r>
            <a:rPr lang="en-US" sz="1500" kern="1200"/>
            <a:t>¿Qué encontraron? </a:t>
          </a:r>
          <a:r>
            <a:rPr lang="en-US" sz="1500" b="1" kern="1200"/>
            <a:t>Escanear o leer las oraciones clave.</a:t>
          </a:r>
          <a:endParaRPr lang="en-US" sz="1500" kern="1200"/>
        </a:p>
      </dsp:txBody>
      <dsp:txXfrm>
        <a:off x="681934" y="2216845"/>
        <a:ext cx="9395515" cy="590419"/>
      </dsp:txXfrm>
    </dsp:sp>
    <dsp:sp modelId="{D39C9EC4-0C8C-4DD0-BD41-07195FD0402E}">
      <dsp:nvSpPr>
        <dsp:cNvPr id="0" name=""/>
        <dsp:cNvSpPr/>
      </dsp:nvSpPr>
      <dsp:spPr>
        <a:xfrm>
          <a:off x="0" y="2954870"/>
          <a:ext cx="10077450" cy="5904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9A5999-1125-41A8-9F2D-BCC86A6200CB}">
      <dsp:nvSpPr>
        <dsp:cNvPr id="0" name=""/>
        <dsp:cNvSpPr/>
      </dsp:nvSpPr>
      <dsp:spPr>
        <a:xfrm>
          <a:off x="178601" y="3087714"/>
          <a:ext cx="324730" cy="3247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C00967-ABE9-4E27-8C8C-7EAFD59F89D7}">
      <dsp:nvSpPr>
        <dsp:cNvPr id="0" name=""/>
        <dsp:cNvSpPr/>
      </dsp:nvSpPr>
      <dsp:spPr>
        <a:xfrm>
          <a:off x="681934" y="2954870"/>
          <a:ext cx="9395515" cy="590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86" tIns="62486" rIns="62486" bIns="62486" numCol="1" spcCol="1270" anchor="ctr" anchorCtr="0">
          <a:noAutofit/>
        </a:bodyPr>
        <a:lstStyle/>
        <a:p>
          <a:pPr marL="0" lvl="0" indent="0" algn="l" defTabSz="666750">
            <a:lnSpc>
              <a:spcPct val="100000"/>
            </a:lnSpc>
            <a:spcBef>
              <a:spcPct val="0"/>
            </a:spcBef>
            <a:spcAft>
              <a:spcPct val="35000"/>
            </a:spcAft>
            <a:buNone/>
          </a:pPr>
          <a:r>
            <a:rPr lang="en-US" sz="1500" b="1" kern="1200" dirty="0" err="1"/>
            <a:t>Discusión</a:t>
          </a:r>
          <a:r>
            <a:rPr lang="en-US" sz="1500" b="1" kern="1200" dirty="0"/>
            <a:t>/</a:t>
          </a:r>
          <a:r>
            <a:rPr lang="en-US" sz="1500" b="1" kern="1200" dirty="0" err="1"/>
            <a:t>Conclusión</a:t>
          </a:r>
          <a:r>
            <a:rPr lang="en-US" sz="1500" b="1" kern="1200" dirty="0"/>
            <a:t>: </a:t>
          </a:r>
          <a:r>
            <a:rPr lang="en-US" sz="1500" kern="1200" dirty="0"/>
            <a:t>¿</a:t>
          </a:r>
          <a:r>
            <a:rPr lang="en-US" sz="1500" kern="1200" dirty="0" err="1"/>
            <a:t>Cuáles</a:t>
          </a:r>
          <a:r>
            <a:rPr lang="en-US" sz="1500" kern="1200" dirty="0"/>
            <a:t> son las </a:t>
          </a:r>
          <a:r>
            <a:rPr lang="en-US" sz="1500" kern="1200" dirty="0" err="1"/>
            <a:t>conclusiones</a:t>
          </a:r>
          <a:r>
            <a:rPr lang="en-US" sz="1500" kern="1200" dirty="0"/>
            <a:t> </a:t>
          </a:r>
          <a:r>
            <a:rPr lang="en-US" sz="1500" kern="1200" dirty="0" err="1"/>
            <a:t>generales</a:t>
          </a:r>
          <a:r>
            <a:rPr lang="en-US" sz="1500" kern="1200" dirty="0"/>
            <a:t> que se </a:t>
          </a:r>
          <a:r>
            <a:rPr lang="en-US" sz="1500" kern="1200" dirty="0" err="1"/>
            <a:t>pueden</a:t>
          </a:r>
          <a:r>
            <a:rPr lang="en-US" sz="1500" kern="1200" dirty="0"/>
            <a:t> </a:t>
          </a:r>
          <a:r>
            <a:rPr lang="en-US" sz="1500" kern="1200" dirty="0" err="1"/>
            <a:t>extraer</a:t>
          </a:r>
          <a:r>
            <a:rPr lang="en-US" sz="1500" kern="1200" dirty="0"/>
            <a:t> y </a:t>
          </a:r>
          <a:r>
            <a:rPr lang="en-US" sz="1500" kern="1200" dirty="0" err="1"/>
            <a:t>por</a:t>
          </a:r>
          <a:r>
            <a:rPr lang="en-US" sz="1500" kern="1200" dirty="0"/>
            <a:t> </a:t>
          </a:r>
          <a:r>
            <a:rPr lang="en-US" sz="1500" kern="1200" dirty="0" err="1"/>
            <a:t>qué</a:t>
          </a:r>
          <a:r>
            <a:rPr lang="en-US" sz="1500" kern="1200" dirty="0"/>
            <a:t> es </a:t>
          </a:r>
          <a:r>
            <a:rPr lang="en-US" sz="1500" kern="1200" dirty="0" err="1"/>
            <a:t>esto</a:t>
          </a:r>
          <a:r>
            <a:rPr lang="en-US" sz="1500" kern="1200" dirty="0"/>
            <a:t> </a:t>
          </a:r>
          <a:r>
            <a:rPr lang="en-US" sz="1500" kern="1200" dirty="0" err="1"/>
            <a:t>importante</a:t>
          </a:r>
          <a:r>
            <a:rPr lang="en-US" sz="1500" b="0" kern="1200" dirty="0"/>
            <a:t>? </a:t>
          </a:r>
          <a:r>
            <a:rPr lang="en-US" sz="1500" b="1" kern="1200" dirty="0"/>
            <a:t>A menudo es </a:t>
          </a:r>
          <a:r>
            <a:rPr lang="en-US" sz="1500" b="1" kern="1200" dirty="0" err="1"/>
            <a:t>útil</a:t>
          </a:r>
          <a:r>
            <a:rPr lang="en-US" sz="1500" b="1" kern="1200" dirty="0"/>
            <a:t> leer </a:t>
          </a:r>
          <a:r>
            <a:rPr lang="en-US" sz="1500" b="1" kern="1200" dirty="0" err="1"/>
            <a:t>los</a:t>
          </a:r>
          <a:r>
            <a:rPr lang="en-US" sz="1500" b="1" kern="1200" dirty="0"/>
            <a:t> </a:t>
          </a:r>
          <a:r>
            <a:rPr lang="en-US" sz="1500" b="1" kern="1200" dirty="0" err="1"/>
            <a:t>primeros</a:t>
          </a:r>
          <a:r>
            <a:rPr lang="en-US" sz="1500" b="1" kern="1200" dirty="0"/>
            <a:t> </a:t>
          </a:r>
          <a:r>
            <a:rPr lang="en-US" sz="1500" b="1" kern="1200" dirty="0" err="1"/>
            <a:t>párrafos</a:t>
          </a:r>
          <a:r>
            <a:rPr lang="en-US" sz="1500" b="1" kern="1200" dirty="0"/>
            <a:t> y </a:t>
          </a:r>
          <a:r>
            <a:rPr lang="en-US" sz="1500" b="1" kern="1200" dirty="0" err="1"/>
            <a:t>luego</a:t>
          </a:r>
          <a:r>
            <a:rPr lang="en-US" sz="1500" b="1" kern="1200" dirty="0"/>
            <a:t> </a:t>
          </a:r>
          <a:r>
            <a:rPr lang="en-US" sz="1500" b="1" kern="1200" dirty="0" err="1"/>
            <a:t>escanear</a:t>
          </a:r>
          <a:r>
            <a:rPr lang="en-US" sz="1500" b="1" kern="1200" dirty="0"/>
            <a:t> o leer las </a:t>
          </a:r>
          <a:r>
            <a:rPr lang="en-US" sz="1500" b="1" kern="1200" dirty="0" err="1"/>
            <a:t>oraciones</a:t>
          </a:r>
          <a:r>
            <a:rPr lang="en-US" sz="1500" b="1" kern="1200" dirty="0"/>
            <a:t> clave.</a:t>
          </a:r>
          <a:endParaRPr lang="en-US" sz="1500" kern="1200" dirty="0"/>
        </a:p>
      </dsp:txBody>
      <dsp:txXfrm>
        <a:off x="681934" y="2954870"/>
        <a:ext cx="9395515" cy="5904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E30E3F-FCAD-5743-B5D7-5053ACEDEA5A}">
      <dsp:nvSpPr>
        <dsp:cNvPr id="0" name=""/>
        <dsp:cNvSpPr/>
      </dsp:nvSpPr>
      <dsp:spPr>
        <a:xfrm>
          <a:off x="0" y="27202"/>
          <a:ext cx="9477460" cy="3888000"/>
        </a:xfrm>
        <a:prstGeom prst="rightArrow">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C4B09BB-9785-F749-AB9F-0C8B2A8390E7}">
      <dsp:nvSpPr>
        <dsp:cNvPr id="0" name=""/>
        <dsp:cNvSpPr/>
      </dsp:nvSpPr>
      <dsp:spPr>
        <a:xfrm>
          <a:off x="4388524" y="999202"/>
          <a:ext cx="4141189" cy="194400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Social</a:t>
          </a:r>
          <a:endParaRPr lang="es-ES_tradnl" sz="1700" b="1" kern="1200" dirty="0"/>
        </a:p>
        <a:p>
          <a:pPr marL="0" lvl="0" indent="0" algn="ctr" defTabSz="800100">
            <a:lnSpc>
              <a:spcPct val="90000"/>
            </a:lnSpc>
            <a:spcBef>
              <a:spcPct val="0"/>
            </a:spcBef>
            <a:spcAft>
              <a:spcPct val="35000"/>
            </a:spcAft>
            <a:buNone/>
          </a:pPr>
          <a:r>
            <a:rPr lang="es-ES_tradnl" sz="1700" kern="1200" dirty="0"/>
            <a:t>Cómo las organizaciones y las practicas institucionalizan la diferencia hasta inscribirla como desigualdad</a:t>
          </a:r>
          <a:endParaRPr lang="en-US" sz="1700" kern="1200" dirty="0"/>
        </a:p>
      </dsp:txBody>
      <dsp:txXfrm>
        <a:off x="4388524" y="999202"/>
        <a:ext cx="4141189" cy="1944000"/>
      </dsp:txXfrm>
    </dsp:sp>
    <dsp:sp modelId="{F4F8ADBA-45D9-934C-A792-F1B19CEF0E83}">
      <dsp:nvSpPr>
        <dsp:cNvPr id="0" name=""/>
        <dsp:cNvSpPr/>
      </dsp:nvSpPr>
      <dsp:spPr>
        <a:xfrm>
          <a:off x="994749" y="999202"/>
          <a:ext cx="2563415" cy="194400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Individual</a:t>
          </a:r>
          <a:endParaRPr lang="es-ES_tradnl" sz="1700" b="1" kern="1200" dirty="0"/>
        </a:p>
        <a:p>
          <a:pPr marL="0" lvl="0" indent="0" algn="ctr" defTabSz="800100">
            <a:lnSpc>
              <a:spcPct val="90000"/>
            </a:lnSpc>
            <a:spcBef>
              <a:spcPct val="0"/>
            </a:spcBef>
            <a:spcAft>
              <a:spcPct val="35000"/>
            </a:spcAft>
            <a:buNone/>
          </a:pPr>
          <a:r>
            <a:rPr lang="es-ES_tradnl" sz="1700" kern="1200" dirty="0"/>
            <a:t>Cuestionamiento a supuesta naturalidad originaria</a:t>
          </a:r>
        </a:p>
      </dsp:txBody>
      <dsp:txXfrm>
        <a:off x="994749" y="999202"/>
        <a:ext cx="2563415" cy="1944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81F5E1-5F0B-9449-B9F9-BC72664D4DDA}">
      <dsp:nvSpPr>
        <dsp:cNvPr id="0" name=""/>
        <dsp:cNvSpPr/>
      </dsp:nvSpPr>
      <dsp:spPr>
        <a:xfrm>
          <a:off x="791" y="608445"/>
          <a:ext cx="2778471" cy="17643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293001-C800-5540-B07D-B20A583AA06F}">
      <dsp:nvSpPr>
        <dsp:cNvPr id="0" name=""/>
        <dsp:cNvSpPr/>
      </dsp:nvSpPr>
      <dsp:spPr>
        <a:xfrm>
          <a:off x="309510" y="901728"/>
          <a:ext cx="2778471" cy="17643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_tradnl" sz="1600" kern="1200"/>
            <a:t>Mujeres negras conceptualizaron el género como un eje de opresión, que interacciona con otros ejes de opresión mucho antes.</a:t>
          </a:r>
          <a:endParaRPr lang="en-US" sz="1600" kern="1200"/>
        </a:p>
      </dsp:txBody>
      <dsp:txXfrm>
        <a:off x="361185" y="953403"/>
        <a:ext cx="2675121" cy="1660979"/>
      </dsp:txXfrm>
    </dsp:sp>
    <dsp:sp modelId="{9F9EFA9C-9D94-E84D-A926-B9223E4C3732}">
      <dsp:nvSpPr>
        <dsp:cNvPr id="0" name=""/>
        <dsp:cNvSpPr/>
      </dsp:nvSpPr>
      <dsp:spPr>
        <a:xfrm>
          <a:off x="3396701" y="608445"/>
          <a:ext cx="2778471" cy="17643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2B611A-FA39-7F42-91C8-85A106664096}">
      <dsp:nvSpPr>
        <dsp:cNvPr id="0" name=""/>
        <dsp:cNvSpPr/>
      </dsp:nvSpPr>
      <dsp:spPr>
        <a:xfrm>
          <a:off x="3705420" y="901728"/>
          <a:ext cx="2778471" cy="17643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_tradnl" sz="1600" kern="1200"/>
            <a:t>Crítica por asumir que la mujer blanca occidental representa a todas las mujeres.</a:t>
          </a:r>
          <a:endParaRPr lang="en-US" sz="1600" kern="1200"/>
        </a:p>
      </dsp:txBody>
      <dsp:txXfrm>
        <a:off x="3757095" y="953403"/>
        <a:ext cx="2675121" cy="166097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s-ES_tradnl"/>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6FA5CC44-19B9-524A-A2AD-BA3283F2BA28}" type="datetimeFigureOut">
              <a:rPr lang="es-ES_tradnl" smtClean="0"/>
              <a:t>12/8/26</a:t>
            </a:fld>
            <a:endParaRPr lang="es-ES_tradnl"/>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s-ES_tradnl"/>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D408404-1019-D046-A570-EEF3AEB680B9}" type="slidenum">
              <a:rPr lang="es-ES_tradnl" smtClean="0"/>
              <a:t>‹#›</a:t>
            </a:fld>
            <a:endParaRPr lang="es-ES_tradnl"/>
          </a:p>
        </p:txBody>
      </p:sp>
    </p:spTree>
    <p:extLst>
      <p:ext uri="{BB962C8B-B14F-4D97-AF65-F5344CB8AC3E}">
        <p14:creationId xmlns:p14="http://schemas.microsoft.com/office/powerpoint/2010/main" val="2953025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1</a:t>
            </a:fld>
            <a:endParaRPr lang="es-ES_tradnl"/>
          </a:p>
        </p:txBody>
      </p:sp>
    </p:spTree>
    <p:extLst>
      <p:ext uri="{BB962C8B-B14F-4D97-AF65-F5344CB8AC3E}">
        <p14:creationId xmlns:p14="http://schemas.microsoft.com/office/powerpoint/2010/main" val="2590371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2</a:t>
            </a:fld>
            <a:endParaRPr lang="es-ES_tradnl"/>
          </a:p>
        </p:txBody>
      </p:sp>
    </p:spTree>
    <p:extLst>
      <p:ext uri="{BB962C8B-B14F-4D97-AF65-F5344CB8AC3E}">
        <p14:creationId xmlns:p14="http://schemas.microsoft.com/office/powerpoint/2010/main" val="344110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err="1"/>
              <a:t>Posicionalidad</a:t>
            </a:r>
            <a:r>
              <a:rPr lang="es-ES_tradnl" dirty="0"/>
              <a:t>: mujer, soy profesora e investigadora, tengo el privilegio de contar con educación de posgrado en el extranjero, </a:t>
            </a:r>
            <a:r>
              <a:rPr lang="es-ES_tradnl" dirty="0" err="1"/>
              <a:t>vivi</a:t>
            </a:r>
            <a:r>
              <a:rPr lang="es-ES_tradnl" dirty="0"/>
              <a:t> en USA por 7 años y llegué hace poco a Chile </a:t>
            </a:r>
            <a:r>
              <a:rPr lang="es-ES_tradnl" dirty="0" err="1"/>
              <a:t>asi</a:t>
            </a:r>
            <a:r>
              <a:rPr lang="es-ES_tradnl" dirty="0"/>
              <a:t> que vengo con una formación y marco muy americano que estoy trabajando activamente por ampliar.  Muchas lecturas en ingles, pero al menos una en español cada semana.</a:t>
            </a:r>
          </a:p>
          <a:p>
            <a:r>
              <a:rPr lang="es-ES_tradnl" dirty="0"/>
              <a:t>Tengo una pareja hombre y un hijo de 2 años, lo que de muchas maneras sitúa mi experiencia personal con respecto al género y la desigualdad con respecto a esos temas como alguien que lo vive “de adentro”, pero para muchas otras cosas, lo veo ”de afuera” y es importante reconocer eso.</a:t>
            </a:r>
          </a:p>
          <a:p>
            <a:r>
              <a:rPr lang="es-ES_tradnl" dirty="0"/>
              <a:t>Primera vez que hago este curso en pregrado. Veo la sala de clases como un lugar de aprendizaje colectivo, yo también vengo a aprender de ustedes, de su generación, de sus ideas y </a:t>
            </a:r>
            <a:r>
              <a:rPr lang="es-ES_tradnl" dirty="0" err="1"/>
              <a:t>viviencias</a:t>
            </a:r>
            <a:r>
              <a:rPr lang="es-ES_tradnl" dirty="0"/>
              <a:t>. </a:t>
            </a:r>
          </a:p>
          <a:p>
            <a:r>
              <a:rPr lang="es-ES_tradnl" dirty="0"/>
              <a:t>Todo lo que no cabe en este curso, es una introducción, una mirada general, con un foco en aquellos temas que yo manejo más directamente también. Se pueden hacer muchos cursos de sociología del género, todos muy diferentes, y todo igualmente válidos e importantes. Este es sólo uno de ellos.</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3</a:t>
            </a:fld>
            <a:endParaRPr lang="es-ES_tradnl"/>
          </a:p>
        </p:txBody>
      </p:sp>
    </p:spTree>
    <p:extLst>
      <p:ext uri="{BB962C8B-B14F-4D97-AF65-F5344CB8AC3E}">
        <p14:creationId xmlns:p14="http://schemas.microsoft.com/office/powerpoint/2010/main" val="908284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4</a:t>
            </a:fld>
            <a:endParaRPr lang="es-ES_tradnl"/>
          </a:p>
        </p:txBody>
      </p:sp>
    </p:spTree>
    <p:extLst>
      <p:ext uri="{BB962C8B-B14F-4D97-AF65-F5344CB8AC3E}">
        <p14:creationId xmlns:p14="http://schemas.microsoft.com/office/powerpoint/2010/main" val="1900387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Debería tomar unos 12 minutos.</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5</a:t>
            </a:fld>
            <a:endParaRPr lang="es-ES_tradnl"/>
          </a:p>
        </p:txBody>
      </p:sp>
    </p:spTree>
    <p:extLst>
      <p:ext uri="{BB962C8B-B14F-4D97-AF65-F5344CB8AC3E}">
        <p14:creationId xmlns:p14="http://schemas.microsoft.com/office/powerpoint/2010/main" val="1299514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Aquí debería ya llevar 24-30 min aprox.</a:t>
            </a:r>
          </a:p>
          <a:p>
            <a:r>
              <a:rPr lang="es-ES_tradnl" dirty="0"/>
              <a:t>5 min</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6</a:t>
            </a:fld>
            <a:endParaRPr lang="es-ES_tradnl"/>
          </a:p>
        </p:txBody>
      </p:sp>
    </p:spTree>
    <p:extLst>
      <p:ext uri="{BB962C8B-B14F-4D97-AF65-F5344CB8AC3E}">
        <p14:creationId xmlns:p14="http://schemas.microsoft.com/office/powerpoint/2010/main" val="4178044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4 min</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7</a:t>
            </a:fld>
            <a:endParaRPr lang="es-ES_tradnl"/>
          </a:p>
        </p:txBody>
      </p:sp>
    </p:spTree>
    <p:extLst>
      <p:ext uri="{BB962C8B-B14F-4D97-AF65-F5344CB8AC3E}">
        <p14:creationId xmlns:p14="http://schemas.microsoft.com/office/powerpoint/2010/main" val="2143494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8</a:t>
            </a:fld>
            <a:endParaRPr lang="es-ES_tradnl"/>
          </a:p>
        </p:txBody>
      </p:sp>
    </p:spTree>
    <p:extLst>
      <p:ext uri="{BB962C8B-B14F-4D97-AF65-F5344CB8AC3E}">
        <p14:creationId xmlns:p14="http://schemas.microsoft.com/office/powerpoint/2010/main" val="1609361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s-ES_tradnl" dirty="0"/>
              <a:t>Todos podemos opinar, independiente de nuestra postura política o ideológica, siempre manteniendo el respeto hacia las demás personas.</a:t>
            </a:r>
          </a:p>
          <a:p>
            <a:pPr marL="342900" lvl="1" indent="-342900"/>
            <a:r>
              <a:rPr lang="es-ES_tradnl" sz="2000" dirty="0"/>
              <a:t>No dejar de opinar por miedo a decir algo incorrecto. Si no estamos seguros cómo decir algo, preguntar cómo hacerlo de mejor manera. Conversar y discutir de manera abierta nos permite aprender mejor.</a:t>
            </a:r>
            <a:r>
              <a:rPr lang="es-ES_tradnl" dirty="0"/>
              <a:t> </a:t>
            </a:r>
          </a:p>
          <a:p>
            <a:pPr marL="342900" indent="-342900">
              <a:buFont typeface="Arial" panose="020B0604020202020204" pitchFamily="34" charset="0"/>
              <a:buChar char="•"/>
            </a:pPr>
            <a:r>
              <a:rPr lang="es-ES_tradnl" dirty="0"/>
              <a:t>No asumir que todos saben lo mismo que yo. Si vamos a referir a alguna idea o autores que no son parte del curso, dar una pequeña explicación del argumento al que nos referimos.</a:t>
            </a:r>
          </a:p>
          <a:p>
            <a:pPr marL="342900" indent="-342900">
              <a:buFont typeface="Arial" panose="020B0604020202020204" pitchFamily="34" charset="0"/>
              <a:buChar char="•"/>
            </a:pPr>
            <a:r>
              <a:rPr lang="es-ES_tradnl" dirty="0"/>
              <a:t>6-8 min.</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9</a:t>
            </a:fld>
            <a:endParaRPr lang="es-ES_tradnl"/>
          </a:p>
        </p:txBody>
      </p:sp>
    </p:spTree>
    <p:extLst>
      <p:ext uri="{BB962C8B-B14F-4D97-AF65-F5344CB8AC3E}">
        <p14:creationId xmlns:p14="http://schemas.microsoft.com/office/powerpoint/2010/main" val="1022475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5 min</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10</a:t>
            </a:fld>
            <a:endParaRPr lang="es-ES_tradnl"/>
          </a:p>
        </p:txBody>
      </p:sp>
    </p:spTree>
    <p:extLst>
      <p:ext uri="{BB962C8B-B14F-4D97-AF65-F5344CB8AC3E}">
        <p14:creationId xmlns:p14="http://schemas.microsoft.com/office/powerpoint/2010/main" val="1025264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12</a:t>
            </a:fld>
            <a:endParaRPr lang="es-ES_tradnl"/>
          </a:p>
        </p:txBody>
      </p:sp>
    </p:spTree>
    <p:extLst>
      <p:ext uri="{BB962C8B-B14F-4D97-AF65-F5344CB8AC3E}">
        <p14:creationId xmlns:p14="http://schemas.microsoft.com/office/powerpoint/2010/main" val="2624050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13</a:t>
            </a:fld>
            <a:endParaRPr lang="es-ES_tradnl"/>
          </a:p>
        </p:txBody>
      </p:sp>
    </p:spTree>
    <p:extLst>
      <p:ext uri="{BB962C8B-B14F-4D97-AF65-F5344CB8AC3E}">
        <p14:creationId xmlns:p14="http://schemas.microsoft.com/office/powerpoint/2010/main" val="2726299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14</a:t>
            </a:fld>
            <a:endParaRPr lang="es-ES_tradnl"/>
          </a:p>
        </p:txBody>
      </p:sp>
    </p:spTree>
    <p:extLst>
      <p:ext uri="{BB962C8B-B14F-4D97-AF65-F5344CB8AC3E}">
        <p14:creationId xmlns:p14="http://schemas.microsoft.com/office/powerpoint/2010/main" val="3485651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min discussion </a:t>
            </a:r>
            <a:r>
              <a:rPr lang="en-US" dirty="0" err="1"/>
              <a:t>en</a:t>
            </a:r>
            <a:r>
              <a:rPr lang="en-US" dirty="0"/>
              <a:t> </a:t>
            </a:r>
            <a:r>
              <a:rPr lang="en-US" dirty="0" err="1"/>
              <a:t>grupo</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min de </a:t>
            </a:r>
            <a:r>
              <a:rPr lang="en-US" dirty="0" err="1"/>
              <a:t>plenario</a:t>
            </a:r>
            <a:endParaRPr lang="es-ES_tradnl"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15</a:t>
            </a:fld>
            <a:endParaRPr lang="es-ES_tradnl"/>
          </a:p>
        </p:txBody>
      </p:sp>
    </p:spTree>
    <p:extLst>
      <p:ext uri="{BB962C8B-B14F-4D97-AF65-F5344CB8AC3E}">
        <p14:creationId xmlns:p14="http://schemas.microsoft.com/office/powerpoint/2010/main" val="3626317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16</a:t>
            </a:fld>
            <a:endParaRPr lang="es-ES_tradnl"/>
          </a:p>
        </p:txBody>
      </p:sp>
    </p:spTree>
    <p:extLst>
      <p:ext uri="{BB962C8B-B14F-4D97-AF65-F5344CB8AC3E}">
        <p14:creationId xmlns:p14="http://schemas.microsoft.com/office/powerpoint/2010/main" val="19844621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err="1"/>
              <a:t>Género</a:t>
            </a:r>
            <a:r>
              <a:rPr lang="en-US" sz="1800" dirty="0"/>
              <a:t> </a:t>
            </a:r>
            <a:r>
              <a:rPr lang="en-US" sz="1800" dirty="0" err="1"/>
              <a:t>como</a:t>
            </a:r>
            <a:r>
              <a:rPr lang="en-US" sz="1800" dirty="0"/>
              <a:t> variable. Es </a:t>
            </a:r>
            <a:r>
              <a:rPr lang="en-US" sz="1800" dirty="0" err="1"/>
              <a:t>importante</a:t>
            </a:r>
            <a:r>
              <a:rPr lang="en-US" sz="1800" dirty="0"/>
              <a:t> e util </a:t>
            </a:r>
            <a:r>
              <a:rPr lang="en-US" sz="1800" dirty="0" err="1"/>
              <a:t>pero</a:t>
            </a:r>
            <a:r>
              <a:rPr lang="en-US" sz="1800" dirty="0"/>
              <a:t> </a:t>
            </a:r>
            <a:r>
              <a:rPr lang="en-US" sz="1800" dirty="0" err="1"/>
              <a:t>también</a:t>
            </a:r>
            <a:r>
              <a:rPr lang="en-US" sz="1800" dirty="0"/>
              <a:t> hay que </a:t>
            </a:r>
            <a:r>
              <a:rPr lang="en-US" sz="1800" dirty="0" err="1"/>
              <a:t>ir</a:t>
            </a:r>
            <a:r>
              <a:rPr lang="en-US" sz="1800" dirty="0"/>
              <a:t> </a:t>
            </a:r>
            <a:r>
              <a:rPr lang="en-US" sz="1800" dirty="0" err="1"/>
              <a:t>más</a:t>
            </a:r>
            <a:r>
              <a:rPr lang="en-US" sz="1800" dirty="0"/>
              <a:t> </a:t>
            </a:r>
            <a:r>
              <a:rPr lang="en-US" sz="1800" dirty="0" err="1"/>
              <a:t>allá</a:t>
            </a:r>
            <a:r>
              <a:rPr lang="en-US" sz="1800" dirty="0"/>
              <a:t> para </a:t>
            </a:r>
            <a:r>
              <a:rPr lang="en-US" sz="1800" dirty="0" err="1"/>
              <a:t>entender</a:t>
            </a:r>
            <a:r>
              <a:rPr lang="en-US" sz="1800" dirty="0"/>
              <a:t> </a:t>
            </a:r>
            <a:r>
              <a:rPr lang="en-US" sz="1800" dirty="0" err="1"/>
              <a:t>cómo</a:t>
            </a:r>
            <a:r>
              <a:rPr lang="en-US" sz="1800" dirty="0"/>
              <a:t> la </a:t>
            </a:r>
            <a:r>
              <a:rPr lang="en-US" sz="1800" dirty="0" err="1"/>
              <a:t>diferenciación</a:t>
            </a:r>
            <a:r>
              <a:rPr lang="en-US" sz="1800" dirty="0"/>
              <a:t> de </a:t>
            </a:r>
            <a:r>
              <a:rPr lang="en-US" sz="1800" dirty="0" err="1"/>
              <a:t>género</a:t>
            </a:r>
            <a:r>
              <a:rPr lang="en-US" sz="1800" dirty="0"/>
              <a:t> y las </a:t>
            </a:r>
            <a:r>
              <a:rPr lang="en-US" sz="1800" dirty="0" err="1"/>
              <a:t>desventajas</a:t>
            </a:r>
            <a:r>
              <a:rPr lang="en-US" sz="1800" dirty="0"/>
              <a:t> de las </a:t>
            </a:r>
            <a:r>
              <a:rPr lang="en-US" sz="1800" dirty="0" err="1"/>
              <a:t>mujeres</a:t>
            </a:r>
            <a:r>
              <a:rPr lang="en-US" sz="1800" dirty="0"/>
              <a:t> se </a:t>
            </a:r>
            <a:r>
              <a:rPr lang="en-US" sz="1800" dirty="0" err="1"/>
              <a:t>producen</a:t>
            </a:r>
            <a:r>
              <a:rPr lang="en-US" sz="1800" dirty="0"/>
              <a:t> y </a:t>
            </a:r>
            <a:r>
              <a:rPr lang="en-US" sz="1800" dirty="0" err="1"/>
              <a:t>reproducen</a:t>
            </a:r>
            <a:r>
              <a:rPr lang="en-US" sz="1800" dirty="0"/>
              <a:t> </a:t>
            </a:r>
            <a:r>
              <a:rPr lang="en-US" sz="1800" dirty="0" err="1"/>
              <a:t>en</a:t>
            </a:r>
            <a:r>
              <a:rPr lang="en-US" sz="1800" dirty="0"/>
              <a:t> la </a:t>
            </a:r>
            <a:r>
              <a:rPr lang="en-US" sz="1800" dirty="0" err="1"/>
              <a:t>sociedad</a:t>
            </a:r>
            <a:r>
              <a:rPr lang="en-US" sz="1800" dirty="0"/>
              <a:t>, </a:t>
            </a:r>
            <a:r>
              <a:rPr lang="en-US" sz="1800" dirty="0" err="1"/>
              <a:t>considerando</a:t>
            </a:r>
            <a:r>
              <a:rPr lang="en-US" sz="1800" dirty="0"/>
              <a:t> la </a:t>
            </a:r>
            <a:r>
              <a:rPr lang="en-US" sz="1800" dirty="0" err="1"/>
              <a:t>diversidad</a:t>
            </a:r>
            <a:r>
              <a:rPr lang="en-US" sz="1800" dirty="0"/>
              <a:t> de </a:t>
            </a:r>
            <a:r>
              <a:rPr lang="en-US" sz="1800" dirty="0" err="1"/>
              <a:t>experiencias</a:t>
            </a:r>
            <a:r>
              <a:rPr lang="en-US" sz="1800" dirty="0"/>
              <a:t>.</a:t>
            </a:r>
          </a:p>
          <a:p>
            <a:endParaRPr lang="en-US" sz="1800" dirty="0"/>
          </a:p>
          <a:p>
            <a:r>
              <a:rPr lang="en-US" sz="1800" b="1" dirty="0"/>
              <a:t>PREGUNTAS</a:t>
            </a:r>
          </a:p>
          <a:p>
            <a:r>
              <a:rPr lang="en-US" sz="1800" dirty="0" err="1"/>
              <a:t>Esta</a:t>
            </a:r>
            <a:r>
              <a:rPr lang="en-US" sz="1800" dirty="0"/>
              <a:t> </a:t>
            </a:r>
            <a:r>
              <a:rPr lang="en-US" sz="1800" dirty="0" err="1"/>
              <a:t>crítica</a:t>
            </a:r>
            <a:r>
              <a:rPr lang="en-US" sz="1800" dirty="0"/>
              <a:t> </a:t>
            </a:r>
            <a:r>
              <a:rPr lang="en-US" sz="1800" dirty="0" err="1"/>
              <a:t>feminista</a:t>
            </a:r>
            <a:r>
              <a:rPr lang="en-US" sz="1800" dirty="0"/>
              <a:t> a la </a:t>
            </a:r>
            <a:r>
              <a:rPr lang="en-US" sz="1800" dirty="0" err="1"/>
              <a:t>sociología</a:t>
            </a:r>
            <a:r>
              <a:rPr lang="en-US" sz="1800" dirty="0"/>
              <a:t> se </a:t>
            </a:r>
            <a:r>
              <a:rPr lang="en-US" sz="1800" dirty="0" err="1"/>
              <a:t>escribió</a:t>
            </a:r>
            <a:r>
              <a:rPr lang="en-US" sz="1800" dirty="0"/>
              <a:t> </a:t>
            </a:r>
            <a:r>
              <a:rPr lang="en-US" sz="1800" dirty="0" err="1"/>
              <a:t>en</a:t>
            </a:r>
            <a:r>
              <a:rPr lang="en-US" sz="1800" dirty="0"/>
              <a:t> 1985. ¿</a:t>
            </a:r>
            <a:r>
              <a:rPr lang="en-US" sz="1800" dirty="0" err="1"/>
              <a:t>Cuánto</a:t>
            </a:r>
            <a:r>
              <a:rPr lang="en-US" sz="1800" dirty="0"/>
              <a:t> </a:t>
            </a:r>
            <a:r>
              <a:rPr lang="en-US" sz="1800" dirty="0" err="1"/>
              <a:t>creen</a:t>
            </a:r>
            <a:r>
              <a:rPr lang="en-US" sz="1800" dirty="0"/>
              <a:t> que ha </a:t>
            </a:r>
            <a:r>
              <a:rPr lang="en-US" sz="1800" dirty="0" err="1"/>
              <a:t>cambiado</a:t>
            </a:r>
            <a:r>
              <a:rPr lang="en-US" sz="1800" dirty="0"/>
              <a:t> y </a:t>
            </a:r>
            <a:r>
              <a:rPr lang="en-US" sz="1800" dirty="0" err="1"/>
              <a:t>cómo</a:t>
            </a:r>
            <a:r>
              <a:rPr lang="en-US" sz="1800" dirty="0"/>
              <a:t>? ¿</a:t>
            </a:r>
            <a:r>
              <a:rPr lang="en-US" sz="1800" dirty="0" err="1"/>
              <a:t>Qué</a:t>
            </a:r>
            <a:r>
              <a:rPr lang="en-US" sz="1800" dirty="0"/>
              <a:t> </a:t>
            </a:r>
            <a:r>
              <a:rPr lang="en-US" sz="1800" dirty="0" err="1"/>
              <a:t>cosas</a:t>
            </a:r>
            <a:r>
              <a:rPr lang="en-US" sz="1800" dirty="0"/>
              <a:t> no </a:t>
            </a:r>
            <a:r>
              <a:rPr lang="en-US" sz="1800" dirty="0" err="1"/>
              <a:t>han</a:t>
            </a:r>
            <a:r>
              <a:rPr lang="en-US" sz="1800" dirty="0"/>
              <a:t> </a:t>
            </a:r>
            <a:r>
              <a:rPr lang="en-US" sz="1800" dirty="0" err="1"/>
              <a:t>cambiado</a:t>
            </a:r>
            <a:r>
              <a:rPr lang="en-US" sz="1800" dirty="0"/>
              <a:t>?</a:t>
            </a:r>
          </a:p>
          <a:p>
            <a:r>
              <a:rPr lang="en-US" sz="1800" dirty="0"/>
              <a:t>- </a:t>
            </a:r>
            <a:r>
              <a:rPr lang="en-US" sz="1800" dirty="0" err="1"/>
              <a:t>En</a:t>
            </a:r>
            <a:r>
              <a:rPr lang="en-US" sz="1800" dirty="0"/>
              <a:t> </a:t>
            </a:r>
            <a:r>
              <a:rPr lang="en-US" sz="1800" dirty="0" err="1"/>
              <a:t>muchos</a:t>
            </a:r>
            <a:r>
              <a:rPr lang="en-US" sz="1800" dirty="0"/>
              <a:t> </a:t>
            </a:r>
            <a:r>
              <a:rPr lang="en-US" sz="1800" dirty="0" err="1"/>
              <a:t>sentidos</a:t>
            </a:r>
            <a:r>
              <a:rPr lang="en-US" sz="1800" dirty="0"/>
              <a:t>, </a:t>
            </a:r>
            <a:r>
              <a:rPr lang="en-US" sz="1800" dirty="0" err="1"/>
              <a:t>sigue</a:t>
            </a:r>
            <a:r>
              <a:rPr lang="en-US" sz="1800" dirty="0"/>
              <a:t> </a:t>
            </a:r>
            <a:r>
              <a:rPr lang="en-US" sz="1800" dirty="0" err="1"/>
              <a:t>siendo</a:t>
            </a:r>
            <a:r>
              <a:rPr lang="en-US" sz="1800" dirty="0"/>
              <a:t> un </a:t>
            </a:r>
            <a:r>
              <a:rPr lang="en-US" sz="1800" dirty="0" err="1"/>
              <a:t>área</a:t>
            </a:r>
            <a:r>
              <a:rPr lang="en-US" sz="1800" dirty="0"/>
              <a:t> de </a:t>
            </a:r>
            <a:r>
              <a:rPr lang="en-US" sz="1800" dirty="0" err="1"/>
              <a:t>estudio</a:t>
            </a:r>
            <a:r>
              <a:rPr lang="en-US" sz="1800" dirty="0"/>
              <a:t> </a:t>
            </a:r>
            <a:r>
              <a:rPr lang="en-US" sz="1800" dirty="0" err="1"/>
              <a:t>periferica</a:t>
            </a:r>
            <a:r>
              <a:rPr lang="en-US" sz="1800" dirty="0"/>
              <a:t> y no </a:t>
            </a:r>
            <a:r>
              <a:rPr lang="en-US" sz="1800" dirty="0" err="1"/>
              <a:t>totalmente</a:t>
            </a:r>
            <a:r>
              <a:rPr lang="en-US" sz="1800" dirty="0"/>
              <a:t> </a:t>
            </a:r>
            <a:r>
              <a:rPr lang="en-US" sz="1800" dirty="0" err="1"/>
              <a:t>incorporada</a:t>
            </a:r>
            <a:r>
              <a:rPr lang="en-US" sz="1800" dirty="0"/>
              <a:t> </a:t>
            </a:r>
            <a:r>
              <a:rPr lang="en-US" sz="1800" dirty="0" err="1"/>
              <a:t>en</a:t>
            </a:r>
            <a:r>
              <a:rPr lang="en-US" sz="1800" dirty="0"/>
              <a:t> </a:t>
            </a:r>
            <a:r>
              <a:rPr lang="en-US" sz="1800" dirty="0" err="1"/>
              <a:t>el</a:t>
            </a:r>
            <a:r>
              <a:rPr lang="en-US" sz="1800" dirty="0"/>
              <a:t> mainstream (</a:t>
            </a:r>
            <a:r>
              <a:rPr lang="en-US" sz="1800" dirty="0" err="1"/>
              <a:t>aunque</a:t>
            </a:r>
            <a:r>
              <a:rPr lang="en-US" sz="1800" dirty="0"/>
              <a:t> </a:t>
            </a:r>
            <a:r>
              <a:rPr lang="en-US" sz="1800" dirty="0" err="1"/>
              <a:t>muchisimos</a:t>
            </a:r>
            <a:r>
              <a:rPr lang="en-US" sz="1800" dirty="0"/>
              <a:t> </a:t>
            </a:r>
            <a:r>
              <a:rPr lang="en-US" sz="1800" dirty="0" err="1"/>
              <a:t>avances</a:t>
            </a:r>
            <a:r>
              <a:rPr lang="en-US" sz="1800" dirty="0"/>
              <a:t>)</a:t>
            </a:r>
          </a:p>
          <a:p>
            <a:r>
              <a:rPr lang="en-US" sz="1800" dirty="0"/>
              <a:t>- </a:t>
            </a:r>
            <a:r>
              <a:rPr lang="en-US" sz="1800" dirty="0" err="1"/>
              <a:t>género</a:t>
            </a:r>
            <a:r>
              <a:rPr lang="en-US" sz="1800" dirty="0"/>
              <a:t> </a:t>
            </a:r>
            <a:r>
              <a:rPr lang="en-US" sz="1800" dirty="0" err="1"/>
              <a:t>como</a:t>
            </a:r>
            <a:r>
              <a:rPr lang="en-US" sz="1800" dirty="0"/>
              <a:t> variable </a:t>
            </a:r>
            <a:r>
              <a:rPr lang="en-US" sz="1800" dirty="0" err="1"/>
              <a:t>sigue</a:t>
            </a:r>
            <a:r>
              <a:rPr lang="en-US" sz="1800" dirty="0"/>
              <a:t> </a:t>
            </a:r>
            <a:r>
              <a:rPr lang="en-US" sz="1800" dirty="0" err="1"/>
              <a:t>pasando</a:t>
            </a:r>
            <a:r>
              <a:rPr lang="en-US" sz="1800" dirty="0"/>
              <a:t> </a:t>
            </a:r>
            <a:r>
              <a:rPr lang="en-US" sz="1800" dirty="0" err="1"/>
              <a:t>harto</a:t>
            </a:r>
            <a:r>
              <a:rPr lang="en-US" sz="1800" dirty="0"/>
              <a:t>, y se ha </a:t>
            </a:r>
            <a:r>
              <a:rPr lang="en-US" sz="1800" dirty="0" err="1"/>
              <a:t>extendido</a:t>
            </a:r>
            <a:r>
              <a:rPr lang="en-US" sz="1800" dirty="0"/>
              <a:t> a la </a:t>
            </a:r>
            <a:r>
              <a:rPr lang="en-US" sz="1800" dirty="0" err="1"/>
              <a:t>interseccionalidad</a:t>
            </a:r>
            <a:r>
              <a:rPr lang="en-US" sz="1800" dirty="0"/>
              <a:t>… </a:t>
            </a:r>
            <a:r>
              <a:rPr lang="en-US" sz="1800" dirty="0" err="1"/>
              <a:t>como</a:t>
            </a:r>
            <a:r>
              <a:rPr lang="en-US" sz="1800" dirty="0"/>
              <a:t> </a:t>
            </a:r>
            <a:r>
              <a:rPr lang="en-US" sz="1800" dirty="0" err="1"/>
              <a:t>incluyo</a:t>
            </a:r>
            <a:r>
              <a:rPr lang="en-US" sz="1800" dirty="0"/>
              <a:t> </a:t>
            </a:r>
            <a:r>
              <a:rPr lang="en-US" sz="1800" dirty="0" err="1"/>
              <a:t>estas</a:t>
            </a:r>
            <a:r>
              <a:rPr lang="en-US" sz="1800" dirty="0"/>
              <a:t> variables y </a:t>
            </a:r>
            <a:r>
              <a:rPr lang="en-US" sz="1800" dirty="0" err="1"/>
              <a:t>listo</a:t>
            </a:r>
            <a:r>
              <a:rPr lang="en-US" sz="1800" dirty="0"/>
              <a:t>, sin </a:t>
            </a:r>
            <a:r>
              <a:rPr lang="en-US" sz="1800" dirty="0" err="1"/>
              <a:t>problematizar</a:t>
            </a:r>
            <a:r>
              <a:rPr lang="en-US" sz="1800" dirty="0"/>
              <a:t> </a:t>
            </a:r>
            <a:r>
              <a:rPr lang="en-US" sz="1800" dirty="0" err="1"/>
              <a:t>ni</a:t>
            </a:r>
            <a:r>
              <a:rPr lang="en-US" sz="1800" dirty="0"/>
              <a:t> </a:t>
            </a:r>
            <a:r>
              <a:rPr lang="en-US" sz="1800" dirty="0" err="1"/>
              <a:t>cuestionar</a:t>
            </a:r>
            <a:r>
              <a:rPr lang="en-US" sz="1800" dirty="0"/>
              <a:t> tanto.</a:t>
            </a:r>
          </a:p>
          <a:p>
            <a:endParaRPr lang="en-US"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18</a:t>
            </a:fld>
            <a:endParaRPr lang="es-ES_tradnl"/>
          </a:p>
        </p:txBody>
      </p:sp>
    </p:spTree>
    <p:extLst>
      <p:ext uri="{BB962C8B-B14F-4D97-AF65-F5344CB8AC3E}">
        <p14:creationId xmlns:p14="http://schemas.microsoft.com/office/powerpoint/2010/main" val="1635645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err="1"/>
              <a:t>Estudios</a:t>
            </a:r>
            <a:r>
              <a:rPr lang="en-US" sz="1800" dirty="0"/>
              <a:t> de </a:t>
            </a:r>
            <a:r>
              <a:rPr lang="en-US" sz="1800" dirty="0" err="1"/>
              <a:t>género</a:t>
            </a:r>
            <a:r>
              <a:rPr lang="en-US" sz="1800" dirty="0"/>
              <a:t> se </a:t>
            </a:r>
            <a:r>
              <a:rPr lang="en-US" sz="1800" dirty="0" err="1"/>
              <a:t>inician</a:t>
            </a:r>
            <a:r>
              <a:rPr lang="en-US" sz="1800" dirty="0"/>
              <a:t> </a:t>
            </a:r>
            <a:r>
              <a:rPr lang="en-US" sz="1800" dirty="0" err="1"/>
              <a:t>formalmente</a:t>
            </a:r>
            <a:r>
              <a:rPr lang="en-US" sz="1800" dirty="0"/>
              <a:t> </a:t>
            </a:r>
            <a:r>
              <a:rPr lang="en-US" sz="1800" dirty="0" err="1"/>
              <a:t>en</a:t>
            </a:r>
            <a:r>
              <a:rPr lang="en-US" sz="1800" dirty="0"/>
              <a:t> </a:t>
            </a:r>
            <a:r>
              <a:rPr lang="en-US" sz="1800" dirty="0" err="1"/>
              <a:t>los</a:t>
            </a:r>
            <a:r>
              <a:rPr lang="en-US" sz="1800" dirty="0"/>
              <a:t> 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t>Considerar</a:t>
            </a:r>
            <a:r>
              <a:rPr lang="en-US" sz="1800" dirty="0"/>
              <a:t> que </a:t>
            </a:r>
            <a:r>
              <a:rPr lang="en-US" sz="1800" dirty="0" err="1"/>
              <a:t>esta</a:t>
            </a:r>
            <a:r>
              <a:rPr lang="en-US" sz="1800" dirty="0"/>
              <a:t> </a:t>
            </a:r>
            <a:r>
              <a:rPr lang="en-US" sz="1800" dirty="0" err="1"/>
              <a:t>cronología</a:t>
            </a:r>
            <a:r>
              <a:rPr lang="en-US" sz="1800" dirty="0"/>
              <a:t> </a:t>
            </a:r>
            <a:r>
              <a:rPr lang="en-US" sz="1800" dirty="0" err="1"/>
              <a:t>tiene</a:t>
            </a:r>
            <a:r>
              <a:rPr lang="en-US" sz="1800" dirty="0"/>
              <a:t> </a:t>
            </a:r>
            <a:r>
              <a:rPr lang="en-US" sz="1800" dirty="0" err="1"/>
              <a:t>centralidad</a:t>
            </a:r>
            <a:r>
              <a:rPr lang="en-US" sz="1800" dirty="0"/>
              <a:t> </a:t>
            </a:r>
            <a:r>
              <a:rPr lang="en-US" sz="1800" dirty="0" err="1"/>
              <a:t>limitada</a:t>
            </a:r>
            <a:r>
              <a:rPr lang="en-US" sz="1800" dirty="0"/>
              <a:t> a EEUU y </a:t>
            </a:r>
            <a:r>
              <a:rPr lang="en-US" sz="1800" dirty="0" err="1"/>
              <a:t>Reino</a:t>
            </a:r>
            <a:r>
              <a:rPr lang="en-US" sz="1800" dirty="0"/>
              <a:t> </a:t>
            </a:r>
            <a:r>
              <a:rPr lang="en-US" sz="1800" dirty="0" err="1"/>
              <a:t>Unido</a:t>
            </a:r>
            <a:r>
              <a:rPr lang="en-US" sz="1800" dirty="0"/>
              <a:t>.</a:t>
            </a:r>
            <a:endParaRPr lang="es-ES_tradnl" sz="1800"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19</a:t>
            </a:fld>
            <a:endParaRPr lang="es-ES_tradnl"/>
          </a:p>
        </p:txBody>
      </p:sp>
    </p:spTree>
    <p:extLst>
      <p:ext uri="{BB962C8B-B14F-4D97-AF65-F5344CB8AC3E}">
        <p14:creationId xmlns:p14="http://schemas.microsoft.com/office/powerpoint/2010/main" val="1655207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87152-4E43-DFF0-A9D2-0692BC2C3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DEB1F-72E8-A635-BEC1-A873C3406B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6DAF2-02E5-81D0-158C-67EFF326B0C7}"/>
              </a:ext>
            </a:extLst>
          </p:cNvPr>
          <p:cNvSpPr>
            <a:spLocks noGrp="1"/>
          </p:cNvSpPr>
          <p:nvPr>
            <p:ph type="body" idx="1"/>
          </p:nvPr>
        </p:nvSpPr>
        <p:spPr/>
        <p:txBody>
          <a:bodyPr/>
          <a:lstStyle/>
          <a:p>
            <a:endParaRPr lang="es-ES_tradnl" dirty="0"/>
          </a:p>
        </p:txBody>
      </p:sp>
      <p:sp>
        <p:nvSpPr>
          <p:cNvPr id="4" name="Slide Number Placeholder 3">
            <a:extLst>
              <a:ext uri="{FF2B5EF4-FFF2-40B4-BE49-F238E27FC236}">
                <a16:creationId xmlns:a16="http://schemas.microsoft.com/office/drawing/2014/main" id="{4E698B7E-6828-5FAA-86A1-E45E020A1CB0}"/>
              </a:ext>
            </a:extLst>
          </p:cNvPr>
          <p:cNvSpPr>
            <a:spLocks noGrp="1"/>
          </p:cNvSpPr>
          <p:nvPr>
            <p:ph type="sldNum" sz="quarter" idx="5"/>
          </p:nvPr>
        </p:nvSpPr>
        <p:spPr/>
        <p:txBody>
          <a:bodyPr/>
          <a:lstStyle/>
          <a:p>
            <a:fld id="{2D408404-1019-D046-A570-EEF3AEB680B9}" type="slidenum">
              <a:rPr lang="es-ES_tradnl" smtClean="0"/>
              <a:t>20</a:t>
            </a:fld>
            <a:endParaRPr lang="es-ES_tradnl"/>
          </a:p>
        </p:txBody>
      </p:sp>
    </p:spTree>
    <p:extLst>
      <p:ext uri="{BB962C8B-B14F-4D97-AF65-F5344CB8AC3E}">
        <p14:creationId xmlns:p14="http://schemas.microsoft.com/office/powerpoint/2010/main" val="674181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indent="0">
              <a:buNone/>
            </a:pPr>
            <a:r>
              <a:rPr lang="es-ES_tradnl" sz="1800" dirty="0"/>
              <a:t>Como vamos a ver en la </a:t>
            </a:r>
            <a:r>
              <a:rPr lang="es-ES_tradnl" sz="1800" dirty="0" err="1"/>
              <a:t>prox</a:t>
            </a:r>
            <a:r>
              <a:rPr lang="es-ES_tradnl" sz="1800" dirty="0"/>
              <a:t> clases</a:t>
            </a:r>
          </a:p>
          <a:p>
            <a:pPr lvl="1" indent="0">
              <a:buNone/>
            </a:pPr>
            <a:r>
              <a:rPr lang="es-ES_tradnl" sz="1800" dirty="0"/>
              <a:t>La sociología desafía mostrando o argumentando que:</a:t>
            </a:r>
          </a:p>
          <a:p>
            <a:pPr marL="285750" lvl="1" indent="-285750"/>
            <a:r>
              <a:rPr lang="es-ES_tradnl" sz="1800" dirty="0"/>
              <a:t>El sexo es interpretado y categorizado a través de procesos sociales</a:t>
            </a:r>
          </a:p>
          <a:p>
            <a:pPr marL="285750" lvl="1" indent="-285750"/>
            <a:r>
              <a:rPr lang="es-ES_tradnl" sz="1800" dirty="0"/>
              <a:t>Las diferencias biológicas y físicas en realidad son pequeñas y no logran explicar las diferencias que vemos en la sociedad</a:t>
            </a:r>
          </a:p>
          <a:p>
            <a:pPr marL="285750" lvl="1" indent="-285750"/>
            <a:r>
              <a:rPr lang="es-ES_tradnl" sz="1800" dirty="0"/>
              <a:t>El ambiente y contexto social afecta en cómo los genes se manifiestan o en lo que resultan. Nuestra biología no es tan inmutable ni difícil de cambiar como se pensaba antes</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21</a:t>
            </a:fld>
            <a:endParaRPr lang="es-ES_tradnl"/>
          </a:p>
        </p:txBody>
      </p:sp>
    </p:spTree>
    <p:extLst>
      <p:ext uri="{BB962C8B-B14F-4D97-AF65-F5344CB8AC3E}">
        <p14:creationId xmlns:p14="http://schemas.microsoft.com/office/powerpoint/2010/main" val="749213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sz="1800" dirty="0"/>
              <a:t>Creo este inventario para medir la androginia. Con </a:t>
            </a:r>
            <a:r>
              <a:rPr lang="es-ES_tradnl" sz="1800" dirty="0" err="1"/>
              <a:t>items</a:t>
            </a:r>
            <a:r>
              <a:rPr lang="es-ES_tradnl" sz="1800" dirty="0"/>
              <a:t> </a:t>
            </a:r>
            <a:r>
              <a:rPr lang="es-ES_tradnl" sz="1800" dirty="0" err="1"/>
              <a:t>estereotipicamente</a:t>
            </a:r>
            <a:r>
              <a:rPr lang="es-ES_tradnl" sz="1800" dirty="0"/>
              <a:t> masculinos, femeninos, nuestros.</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22</a:t>
            </a:fld>
            <a:endParaRPr lang="es-ES_tradnl"/>
          </a:p>
        </p:txBody>
      </p:sp>
    </p:spTree>
    <p:extLst>
      <p:ext uri="{BB962C8B-B14F-4D97-AF65-F5344CB8AC3E}">
        <p14:creationId xmlns:p14="http://schemas.microsoft.com/office/powerpoint/2010/main" val="1988237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sz="1800" dirty="0"/>
              <a:t>No hay un solo rol universal de mujer y de hombre.</a:t>
            </a:r>
          </a:p>
          <a:p>
            <a:endParaRPr lang="es-ES_tradnl"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La socialización alimenta el mito de que el género ocurre de manera natural e inevitable.</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23</a:t>
            </a:fld>
            <a:endParaRPr lang="es-ES_tradnl"/>
          </a:p>
        </p:txBody>
      </p:sp>
    </p:spTree>
    <p:extLst>
      <p:ext uri="{BB962C8B-B14F-4D97-AF65-F5344CB8AC3E}">
        <p14:creationId xmlns:p14="http://schemas.microsoft.com/office/powerpoint/2010/main" val="1426407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Gran limitación es que hoy en día hablamos de hacer </a:t>
            </a:r>
            <a:r>
              <a:rPr lang="es-ES_tradnl" sz="1800" i="1" dirty="0"/>
              <a:t>géneros</a:t>
            </a:r>
            <a:r>
              <a:rPr lang="es-ES_tradnl" sz="1800" dirty="0"/>
              <a:t>, ya que hay mucha variación entre tipos de masculinidad, feminidad, y no binarie. </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24</a:t>
            </a:fld>
            <a:endParaRPr lang="es-ES_tradnl"/>
          </a:p>
        </p:txBody>
      </p:sp>
    </p:spTree>
    <p:extLst>
      <p:ext uri="{BB962C8B-B14F-4D97-AF65-F5344CB8AC3E}">
        <p14:creationId xmlns:p14="http://schemas.microsoft.com/office/powerpoint/2010/main" val="4147068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s-ES_tradnl" sz="1800" dirty="0"/>
              <a:t>Ejemplos de estudios basados en teoría de Kanter</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_tradnl" sz="1800" dirty="0"/>
              <a:t>Por ejemplo, en las organizaciones la </a:t>
            </a:r>
            <a:r>
              <a:rPr lang="es-ES_tradnl" sz="1800" dirty="0" err="1"/>
              <a:t>teoria</a:t>
            </a:r>
            <a:r>
              <a:rPr lang="es-ES_tradnl" sz="1800" dirty="0"/>
              <a:t> de Kanter </a:t>
            </a:r>
            <a:r>
              <a:rPr lang="es-ES_tradnl" sz="1800" dirty="0" err="1"/>
              <a:t>predeceia</a:t>
            </a:r>
            <a:r>
              <a:rPr lang="es-ES_tradnl" sz="1800" dirty="0"/>
              <a:t> que si las mujeres tomaban roles de poder y los hombres roles de </a:t>
            </a:r>
            <a:r>
              <a:rPr lang="es-ES_tradnl" sz="1800" dirty="0" err="1"/>
              <a:t>minoria</a:t>
            </a:r>
            <a:r>
              <a:rPr lang="es-ES_tradnl" sz="1800" dirty="0"/>
              <a:t>, se </a:t>
            </a:r>
            <a:r>
              <a:rPr lang="es-ES_tradnl" sz="1800" dirty="0" err="1"/>
              <a:t>revertirian</a:t>
            </a:r>
            <a:r>
              <a:rPr lang="es-ES_tradnl" sz="1800" dirty="0"/>
              <a:t> las diferencias. Pero la evidencia no mostro eso, en casos en que los hombres eran </a:t>
            </a:r>
            <a:r>
              <a:rPr lang="es-ES_tradnl" sz="1800" dirty="0" err="1"/>
              <a:t>minoria</a:t>
            </a:r>
            <a:r>
              <a:rPr lang="es-ES_tradnl" sz="1800" dirty="0"/>
              <a:t>, no era marginalizados, </a:t>
            </a:r>
            <a:r>
              <a:rPr lang="es-ES_tradnl" sz="1800" dirty="0" err="1"/>
              <a:t>seguian</a:t>
            </a:r>
            <a:r>
              <a:rPr lang="es-ES_tradnl" sz="1800" dirty="0"/>
              <a:t> </a:t>
            </a:r>
            <a:r>
              <a:rPr lang="es-ES_tradnl" sz="1800" dirty="0" err="1"/>
              <a:t>aventajadaos</a:t>
            </a:r>
            <a:r>
              <a:rPr lang="es-ES_tradnl" sz="1800" dirty="0"/>
              <a:t> (</a:t>
            </a:r>
            <a:r>
              <a:rPr lang="es-ES_tradnl" sz="1800" dirty="0" err="1"/>
              <a:t>glass</a:t>
            </a:r>
            <a:r>
              <a:rPr lang="es-ES_tradnl" sz="1800" dirty="0"/>
              <a:t> </a:t>
            </a:r>
            <a:r>
              <a:rPr lang="es-ES_tradnl" sz="1800" dirty="0" err="1"/>
              <a:t>escalators</a:t>
            </a:r>
            <a:r>
              <a:rPr lang="es-ES_tradnl" sz="1800" dirty="0"/>
              <a:t>--</a:t>
            </a:r>
            <a:r>
              <a:rPr lang="es-ES_tradnl" sz="1800" dirty="0" err="1"/>
              <a:t>not</a:t>
            </a:r>
            <a:r>
              <a:rPr lang="es-ES_tradnl" sz="1800" dirty="0"/>
              <a:t> </a:t>
            </a:r>
            <a:r>
              <a:rPr lang="es-ES_tradnl" sz="1800" dirty="0" err="1"/>
              <a:t>all</a:t>
            </a:r>
            <a:r>
              <a:rPr lang="es-ES_tradnl" sz="1800" dirty="0"/>
              <a:t> </a:t>
            </a:r>
            <a:r>
              <a:rPr lang="es-ES_tradnl" sz="1800" dirty="0" err="1"/>
              <a:t>men</a:t>
            </a:r>
            <a:r>
              <a:rPr lang="es-ES_tradnl" sz="1800" dirty="0"/>
              <a:t>, </a:t>
            </a:r>
            <a:r>
              <a:rPr lang="es-ES_tradnl" sz="1800" dirty="0" err="1"/>
              <a:t>white</a:t>
            </a:r>
            <a:r>
              <a:rPr lang="es-ES_tradnl" sz="1800" dirty="0"/>
              <a:t> </a:t>
            </a:r>
            <a:r>
              <a:rPr lang="es-ES_tradnl" sz="1800" dirty="0" err="1"/>
              <a:t>men</a:t>
            </a:r>
            <a:r>
              <a:rPr lang="es-ES_tradnl" sz="1800" dirty="0"/>
              <a:t>.)</a:t>
            </a:r>
          </a:p>
          <a:p>
            <a:pPr marL="457200" lvl="1" indent="0">
              <a:buFont typeface="Arial" panose="020B0604020202020204" pitchFamily="34" charset="0"/>
              <a:buNone/>
            </a:pPr>
            <a:endParaRPr lang="es-ES_tradnl" sz="1800" dirty="0"/>
          </a:p>
          <a:p>
            <a:pPr marL="0" lvl="0" indent="0">
              <a:buFont typeface="Arial" panose="020B0604020202020204" pitchFamily="34" charset="0"/>
              <a:buNone/>
            </a:pPr>
            <a:r>
              <a:rPr lang="es-ES_tradnl" sz="1800" dirty="0"/>
              <a:t>No podemos ignorar </a:t>
            </a:r>
            <a:r>
              <a:rPr lang="es-ES_tradnl" sz="1800" b="1" dirty="0"/>
              <a:t>el género internalizado a nivel individual ni las expectativas </a:t>
            </a:r>
            <a:r>
              <a:rPr lang="es-ES_tradnl" sz="1800" dirty="0"/>
              <a:t>que tenemos que cumplir en las interacciones.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_tradnl" sz="1800"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25</a:t>
            </a:fld>
            <a:endParaRPr lang="es-ES_tradnl"/>
          </a:p>
        </p:txBody>
      </p:sp>
    </p:spTree>
    <p:extLst>
      <p:ext uri="{BB962C8B-B14F-4D97-AF65-F5344CB8AC3E}">
        <p14:creationId xmlns:p14="http://schemas.microsoft.com/office/powerpoint/2010/main" val="14865816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sz="1800" dirty="0"/>
              <a:t>¿cómo la sociología a reaccionado a esta crítica? ¿qué cambios observamos?</a:t>
            </a:r>
          </a:p>
          <a:p>
            <a:r>
              <a:rPr lang="es-ES_tradnl" sz="1800" dirty="0"/>
              <a:t>¿cómo creen se ha dado este debate en </a:t>
            </a:r>
            <a:r>
              <a:rPr lang="es-ES_tradnl" sz="1800" dirty="0" err="1"/>
              <a:t>latinoamerica</a:t>
            </a:r>
            <a:r>
              <a:rPr lang="es-ES_tradnl" sz="1800" dirty="0"/>
              <a:t>?</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26</a:t>
            </a:fld>
            <a:endParaRPr lang="es-ES_tradnl"/>
          </a:p>
        </p:txBody>
      </p:sp>
    </p:spTree>
    <p:extLst>
      <p:ext uri="{BB962C8B-B14F-4D97-AF65-F5344CB8AC3E}">
        <p14:creationId xmlns:p14="http://schemas.microsoft.com/office/powerpoint/2010/main" val="4207884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 Hay expectativas que </a:t>
            </a:r>
            <a:r>
              <a:rPr lang="es-ES_tradnl" sz="1800" dirty="0" err="1"/>
              <a:t>estan</a:t>
            </a:r>
            <a:r>
              <a:rPr lang="es-ES_tradnl" sz="1800" dirty="0"/>
              <a:t> asociadas al status de hombre y de mujer. Los estereotipos de genero como un motor que reproduce desigualdades.</a:t>
            </a:r>
          </a:p>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 Estructuras organizacionales: </a:t>
            </a:r>
            <a:r>
              <a:rPr lang="es-ES_tradnl" sz="1800" dirty="0" err="1"/>
              <a:t>Jerarquia</a:t>
            </a:r>
            <a:r>
              <a:rPr lang="es-ES_tradnl" sz="1800" dirty="0"/>
              <a:t> esta diseñado para aventajar a quienes no tienen responsabilidades de cuidado. </a:t>
            </a:r>
          </a:p>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 La </a:t>
            </a:r>
            <a:r>
              <a:rPr lang="es-ES_tradnl" sz="1800" dirty="0" err="1"/>
              <a:t>teoria</a:t>
            </a:r>
            <a:r>
              <a:rPr lang="es-ES_tradnl" sz="1800" dirty="0"/>
              <a:t> queer enfatiza </a:t>
            </a:r>
            <a:r>
              <a:rPr lang="es-ES_tradnl" sz="1800" dirty="0" err="1"/>
              <a:t>multiples</a:t>
            </a:r>
            <a:r>
              <a:rPr lang="es-ES_tradnl" sz="1800" dirty="0"/>
              <a:t> identidades, y cuestiona como se crean y sostienen esas </a:t>
            </a:r>
            <a:r>
              <a:rPr lang="es-ES_tradnl" sz="1800" dirty="0" err="1"/>
              <a:t>categorias</a:t>
            </a:r>
            <a:r>
              <a:rPr lang="es-ES_tradnl" sz="18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_tradnl" sz="1800"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27</a:t>
            </a:fld>
            <a:endParaRPr lang="es-ES_tradnl"/>
          </a:p>
        </p:txBody>
      </p:sp>
    </p:spTree>
    <p:extLst>
      <p:ext uri="{BB962C8B-B14F-4D97-AF65-F5344CB8AC3E}">
        <p14:creationId xmlns:p14="http://schemas.microsoft.com/office/powerpoint/2010/main" val="40763555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28</a:t>
            </a:fld>
            <a:endParaRPr lang="es-ES_tradnl"/>
          </a:p>
        </p:txBody>
      </p:sp>
    </p:spTree>
    <p:extLst>
      <p:ext uri="{BB962C8B-B14F-4D97-AF65-F5344CB8AC3E}">
        <p14:creationId xmlns:p14="http://schemas.microsoft.com/office/powerpoint/2010/main" val="30980312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  ¿</a:t>
            </a:r>
            <a:r>
              <a:rPr lang="en-US" sz="1800" dirty="0" err="1"/>
              <a:t>Cómo</a:t>
            </a:r>
            <a:r>
              <a:rPr lang="en-US" sz="1800" dirty="0"/>
              <a:t> </a:t>
            </a:r>
            <a:r>
              <a:rPr lang="en-US" sz="1800" dirty="0" err="1"/>
              <a:t>informa</a:t>
            </a:r>
            <a:r>
              <a:rPr lang="en-US" sz="1800" dirty="0"/>
              <a:t> </a:t>
            </a:r>
            <a:r>
              <a:rPr lang="en-US" sz="1800" dirty="0" err="1"/>
              <a:t>esta</a:t>
            </a:r>
            <a:r>
              <a:rPr lang="en-US" sz="1800" dirty="0"/>
              <a:t> </a:t>
            </a:r>
            <a:r>
              <a:rPr lang="en-US" sz="1800" dirty="0" err="1"/>
              <a:t>crítica</a:t>
            </a:r>
            <a:r>
              <a:rPr lang="en-US" sz="1800" dirty="0"/>
              <a:t> </a:t>
            </a:r>
            <a:r>
              <a:rPr lang="en-US" sz="1800" dirty="0" err="1"/>
              <a:t>nuestro</a:t>
            </a:r>
            <a:r>
              <a:rPr lang="en-US" sz="1800" dirty="0"/>
              <a:t> </a:t>
            </a:r>
            <a:r>
              <a:rPr lang="en-US" sz="1800" dirty="0" err="1"/>
              <a:t>conocimiento</a:t>
            </a:r>
            <a:r>
              <a:rPr lang="en-US" sz="1800" dirty="0"/>
              <a:t> de la </a:t>
            </a:r>
            <a:r>
              <a:rPr lang="en-US" sz="1800" dirty="0" err="1"/>
              <a:t>disciplina</a:t>
            </a:r>
            <a:r>
              <a:rPr lang="en-US" sz="1800" dirty="0"/>
              <a:t> y </a:t>
            </a:r>
            <a:r>
              <a:rPr lang="en-US" sz="1800" dirty="0" err="1"/>
              <a:t>cómo</a:t>
            </a:r>
            <a:r>
              <a:rPr lang="en-US" sz="1800" dirty="0"/>
              <a:t> </a:t>
            </a:r>
            <a:r>
              <a:rPr lang="en-US" sz="1800" dirty="0" err="1"/>
              <a:t>ilumina</a:t>
            </a:r>
            <a:r>
              <a:rPr lang="en-US" sz="1800" dirty="0"/>
              <a:t> </a:t>
            </a:r>
            <a:r>
              <a:rPr lang="en-US" sz="1800" dirty="0" err="1"/>
              <a:t>el</a:t>
            </a:r>
            <a:r>
              <a:rPr lang="en-US" sz="1800" dirty="0"/>
              <a:t> </a:t>
            </a:r>
            <a:r>
              <a:rPr lang="en-US" sz="1800" dirty="0" err="1"/>
              <a:t>desarrollo</a:t>
            </a:r>
            <a:r>
              <a:rPr lang="en-US" sz="1800" dirty="0"/>
              <a:t> de la </a:t>
            </a:r>
            <a:r>
              <a:rPr lang="en-US" sz="1800" dirty="0" err="1"/>
              <a:t>investigación</a:t>
            </a:r>
            <a:r>
              <a:rPr lang="en-US" sz="1800" dirty="0"/>
              <a:t> </a:t>
            </a:r>
            <a:r>
              <a:rPr lang="en-US" sz="1800" dirty="0" err="1"/>
              <a:t>feminista</a:t>
            </a:r>
            <a:r>
              <a:rPr lang="en-US" sz="1800" dirty="0"/>
              <a:t> </a:t>
            </a:r>
            <a:r>
              <a:rPr lang="en-US" sz="1800" dirty="0" err="1"/>
              <a:t>en</a:t>
            </a:r>
            <a:r>
              <a:rPr lang="en-US" sz="1800" dirty="0"/>
              <a:t> </a:t>
            </a:r>
            <a:r>
              <a:rPr lang="en-US" sz="1800" dirty="0" err="1"/>
              <a:t>Latinoamérica</a:t>
            </a:r>
            <a:r>
              <a:rPr lang="en-US" sz="1800" dirty="0"/>
              <a:t>?</a:t>
            </a:r>
          </a:p>
          <a:p>
            <a:r>
              <a:rPr lang="en-US" sz="1800" dirty="0"/>
              <a:t>¿</a:t>
            </a:r>
            <a:r>
              <a:rPr lang="en-US" sz="1800" dirty="0" err="1"/>
              <a:t>Qué</a:t>
            </a:r>
            <a:r>
              <a:rPr lang="en-US" sz="1800" dirty="0"/>
              <a:t> </a:t>
            </a:r>
            <a:r>
              <a:rPr lang="en-US" sz="1800" dirty="0" err="1"/>
              <a:t>opinan</a:t>
            </a:r>
            <a:r>
              <a:rPr lang="en-US" sz="1800" dirty="0"/>
              <a:t> </a:t>
            </a:r>
            <a:r>
              <a:rPr lang="en-US" sz="1800" dirty="0" err="1"/>
              <a:t>sobre</a:t>
            </a:r>
            <a:r>
              <a:rPr lang="en-US" sz="1800" dirty="0"/>
              <a:t> </a:t>
            </a:r>
            <a:r>
              <a:rPr lang="en-US" sz="1800" dirty="0" err="1"/>
              <a:t>este</a:t>
            </a:r>
            <a:r>
              <a:rPr lang="en-US" sz="1800" dirty="0"/>
              <a:t> </a:t>
            </a:r>
            <a:r>
              <a:rPr lang="en-US" sz="1800" dirty="0" err="1"/>
              <a:t>consenso</a:t>
            </a:r>
            <a:r>
              <a:rPr lang="en-US" sz="1800" dirty="0"/>
              <a:t>? ¿Les </a:t>
            </a:r>
            <a:r>
              <a:rPr lang="en-US" sz="1800" dirty="0" err="1"/>
              <a:t>parece</a:t>
            </a:r>
            <a:r>
              <a:rPr lang="en-US" sz="1800" dirty="0"/>
              <a:t> </a:t>
            </a:r>
            <a:r>
              <a:rPr lang="en-US" sz="1800" dirty="0" err="1"/>
              <a:t>razonable</a:t>
            </a:r>
            <a:r>
              <a:rPr lang="en-US" sz="1800" dirty="0"/>
              <a:t>?¿Falta o </a:t>
            </a:r>
            <a:r>
              <a:rPr lang="en-US" sz="1800" dirty="0" err="1"/>
              <a:t>sobra</a:t>
            </a:r>
            <a:r>
              <a:rPr lang="en-US" sz="1800" dirty="0"/>
              <a:t> algo?</a:t>
            </a:r>
          </a:p>
          <a:p>
            <a:r>
              <a:rPr lang="en-US" sz="1800" dirty="0"/>
              <a:t>¿Como se </a:t>
            </a:r>
            <a:r>
              <a:rPr lang="en-US" sz="1800" dirty="0" err="1"/>
              <a:t>ajusta</a:t>
            </a:r>
            <a:r>
              <a:rPr lang="en-US" sz="1800" dirty="0"/>
              <a:t> o no </a:t>
            </a:r>
            <a:r>
              <a:rPr lang="en-US" sz="1800" dirty="0" err="1"/>
              <a:t>este</a:t>
            </a:r>
            <a:r>
              <a:rPr lang="en-US" sz="1800" dirty="0"/>
              <a:t> </a:t>
            </a:r>
            <a:r>
              <a:rPr lang="en-US" sz="1800" dirty="0" err="1"/>
              <a:t>consenso</a:t>
            </a:r>
            <a:r>
              <a:rPr lang="en-US" sz="1800" dirty="0"/>
              <a:t> a las </a:t>
            </a:r>
            <a:r>
              <a:rPr lang="en-US" sz="1800" dirty="0" err="1"/>
              <a:t>expectativas</a:t>
            </a:r>
            <a:r>
              <a:rPr lang="en-US" sz="1800" dirty="0"/>
              <a:t> que </a:t>
            </a:r>
            <a:r>
              <a:rPr lang="en-US" sz="1800" dirty="0" err="1"/>
              <a:t>ustedes</a:t>
            </a:r>
            <a:r>
              <a:rPr lang="en-US" sz="1800" dirty="0"/>
              <a:t> </a:t>
            </a:r>
            <a:r>
              <a:rPr lang="en-US" sz="1800" dirty="0" err="1"/>
              <a:t>tenían</a:t>
            </a:r>
            <a:r>
              <a:rPr lang="en-US" sz="1800" dirty="0"/>
              <a:t> con </a:t>
            </a:r>
            <a:r>
              <a:rPr lang="en-US" sz="1800" dirty="0" err="1"/>
              <a:t>respecto</a:t>
            </a:r>
            <a:r>
              <a:rPr lang="en-US" sz="1800" dirty="0"/>
              <a:t> a lo que es </a:t>
            </a:r>
            <a:r>
              <a:rPr lang="en-US" sz="1800" dirty="0" err="1"/>
              <a:t>el</a:t>
            </a:r>
            <a:r>
              <a:rPr lang="en-US" sz="1800" dirty="0"/>
              <a:t> </a:t>
            </a:r>
            <a:r>
              <a:rPr lang="en-US" sz="1800" dirty="0" err="1"/>
              <a:t>género</a:t>
            </a:r>
            <a:r>
              <a:rPr lang="en-US" sz="1800" dirty="0"/>
              <a:t>?</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29</a:t>
            </a:fld>
            <a:endParaRPr lang="es-ES_tradnl"/>
          </a:p>
        </p:txBody>
      </p:sp>
    </p:spTree>
    <p:extLst>
      <p:ext uri="{BB962C8B-B14F-4D97-AF65-F5344CB8AC3E}">
        <p14:creationId xmlns:p14="http://schemas.microsoft.com/office/powerpoint/2010/main" val="8580029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30</a:t>
            </a:fld>
            <a:endParaRPr lang="es-ES_tradnl"/>
          </a:p>
        </p:txBody>
      </p:sp>
    </p:spTree>
    <p:extLst>
      <p:ext uri="{BB962C8B-B14F-4D97-AF65-F5344CB8AC3E}">
        <p14:creationId xmlns:p14="http://schemas.microsoft.com/office/powerpoint/2010/main" val="2933924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530352" y="1122363"/>
            <a:ext cx="10072922" cy="197834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530352" y="3509963"/>
            <a:ext cx="10072922" cy="1747837"/>
          </a:xfrm>
        </p:spPr>
        <p:txBody>
          <a:bodyPr>
            <a:normAutofit/>
          </a:bodyPr>
          <a:lstStyle>
            <a:lvl1pPr marL="0" indent="0" algn="l">
              <a:buNone/>
              <a:defRPr sz="2000" i="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530352" y="136525"/>
            <a:ext cx="2743200" cy="365125"/>
          </a:xfrm>
        </p:spPr>
        <p:txBody>
          <a:bodyPr/>
          <a:lstStyle>
            <a:lvl1pPr algn="l">
              <a:defRPr/>
            </a:lvl1pPr>
          </a:lstStyle>
          <a:p>
            <a:fld id="{524C6359-9BB8-4148-8114-537E698DA205}" type="datetime1">
              <a:rPr lang="en-US" smtClean="0"/>
              <a:t>8/12/26</a:t>
            </a:fld>
            <a:endParaRPr lang="en-US" dirty="0"/>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530352"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5E279D86-4533-45F1-B0AA-D237399A5ED5}"/>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764FD722-CB31-4326-ADD8-CBA52FD1FF59}"/>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24E4BCEC-8B0A-444E-8509-1B3BB0449E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9DB36622-1DC7-4B17-8984-588BA8999FF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51B97AF0-1974-42B9-B5FC-A332C52E827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5A298AD-BE5D-4BE1-8CDF-DBFB42D63FE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71808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8/12/26</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AC552FEA-472E-4E74-B31D-531852C1908D}"/>
              </a:ext>
              <a:ext uri="{C183D7F6-B498-43B3-948B-1728B52AA6E4}">
                <adec:decorative xmlns:adec="http://schemas.microsoft.com/office/drawing/2017/decorative" val="1"/>
              </a:ext>
            </a:extLst>
          </p:cNvPr>
          <p:cNvGrpSpPr/>
          <p:nvPr/>
        </p:nvGrpSpPr>
        <p:grpSpPr>
          <a:xfrm>
            <a:off x="530225" y="2310597"/>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41DF3078-C636-4776-A616-D5BF3BC280C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0D1A27FA-1310-4BC3-A071-1566746B2FB1}"/>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99ACB9EB-84FE-4B33-9EF9-4EC7DAC25DD5}"/>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826E5EFB-0EF9-4DB8-99CB-5DD72009DB2C}"/>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86238E12-0689-4123-8B2E-E1CCFCC4C88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8538CF67-A00E-4955-A447-001BE02E771A}"/>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05584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8/12/26</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37B4CDD2-E09A-418A-9131-FBDEE440A1F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8852E5FB-B268-4CCA-8E55-803038F7A00D}"/>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A1C9CBB3-97C0-4A35-9088-C69233F5CEE7}"/>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1610871-AEE9-46EB-9D27-BA1D9D688124}"/>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27478059-2A11-484D-A2D7-199F74778E50}"/>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0EC0886-DDB9-47F1-9414-C121C1D3F954}"/>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66A10427-DF20-4284-B215-EABA4D366E20}"/>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9673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525717" y="2521885"/>
            <a:ext cx="4645152"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5992136" y="2521885"/>
            <a:ext cx="4611138"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463255ED-7101-4D18-A8AE-3B5E4CB87EA5}" type="datetime1">
              <a:rPr lang="en-US" smtClean="0"/>
              <a:t>8/12/26</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0CB61A83-9419-49FC-8074-2AB3D34FA88B}"/>
              </a:ext>
              <a:ext uri="{C183D7F6-B498-43B3-948B-1728B52AA6E4}">
                <adec:decorative xmlns:adec="http://schemas.microsoft.com/office/drawing/2017/decorative" val="1"/>
              </a:ext>
            </a:extLst>
          </p:cNvPr>
          <p:cNvGrpSpPr/>
          <p:nvPr/>
        </p:nvGrpSpPr>
        <p:grpSpPr>
          <a:xfrm>
            <a:off x="530225" y="2319637"/>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BCD12E57-97FB-48D8-81CC-7C37E8947CB4}"/>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E487641C-E83B-4134-88C9-1D23D5FA1836}"/>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B99AB7A6-A88C-44E1-A9DE-4126B957F88A}"/>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FF0D518-1D17-44C7-BF73-7C980481DB5B}"/>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A7A3E12-61E8-41A0-A459-15BF375FA945}"/>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9E5E4A56-9100-4D60-8A34-0FE116F41FF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031224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530352" y="787067"/>
            <a:ext cx="100729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530352" y="2521884"/>
            <a:ext cx="4845387"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530352" y="3366390"/>
            <a:ext cx="4845387"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5734025" y="2521884"/>
            <a:ext cx="4869249"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5734025" y="3366390"/>
            <a:ext cx="4869249"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CD52F23D-51F6-4C94-8CD5-B9ABBF67EE23}" type="datetime1">
              <a:rPr lang="en-US" smtClean="0"/>
              <a:t>8/12/26</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123618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525718" y="787068"/>
            <a:ext cx="10077556"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D51A702F-6367-4FD1-89A8-3744BE6BA9A2}" type="datetime1">
              <a:rPr lang="en-US" smtClean="0"/>
              <a:t>8/12/26</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6" name="Graphic 78">
            <a:extLst>
              <a:ext uri="{FF2B5EF4-FFF2-40B4-BE49-F238E27FC236}">
                <a16:creationId xmlns:a16="http://schemas.microsoft.com/office/drawing/2014/main" id="{AC45ECC6-E29C-40EF-A7C9-5A17DAFD4299}"/>
              </a:ext>
              <a:ext uri="{C183D7F6-B498-43B3-948B-1728B52AA6E4}">
                <adec:decorative xmlns:adec="http://schemas.microsoft.com/office/drawing/2017/decorative" val="1"/>
              </a:ext>
            </a:extLst>
          </p:cNvPr>
          <p:cNvGrpSpPr/>
          <p:nvPr/>
        </p:nvGrpSpPr>
        <p:grpSpPr>
          <a:xfrm>
            <a:off x="530225" y="2352330"/>
            <a:ext cx="972241" cy="45719"/>
            <a:chOff x="4886325" y="3371754"/>
            <a:chExt cx="2418492" cy="113728"/>
          </a:xfrm>
          <a:solidFill>
            <a:schemeClr val="accent1"/>
          </a:solidFill>
        </p:grpSpPr>
        <p:sp>
          <p:nvSpPr>
            <p:cNvPr id="7" name="Graphic 78">
              <a:extLst>
                <a:ext uri="{FF2B5EF4-FFF2-40B4-BE49-F238E27FC236}">
                  <a16:creationId xmlns:a16="http://schemas.microsoft.com/office/drawing/2014/main" id="{8DA0D497-8E8F-426A-8172-894BE03F70F6}"/>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8" name="Graphic 78">
              <a:extLst>
                <a:ext uri="{FF2B5EF4-FFF2-40B4-BE49-F238E27FC236}">
                  <a16:creationId xmlns:a16="http://schemas.microsoft.com/office/drawing/2014/main" id="{8C0459EF-3B70-4083-8845-3A9AF847E805}"/>
                </a:ext>
              </a:extLst>
            </p:cNvPr>
            <p:cNvGrpSpPr/>
            <p:nvPr/>
          </p:nvGrpSpPr>
          <p:grpSpPr>
            <a:xfrm>
              <a:off x="4886709" y="3371754"/>
              <a:ext cx="2418108" cy="113728"/>
              <a:chOff x="4886709" y="3371754"/>
              <a:chExt cx="2418108" cy="113728"/>
            </a:xfrm>
            <a:grpFill/>
          </p:grpSpPr>
          <p:sp>
            <p:nvSpPr>
              <p:cNvPr id="9" name="Graphic 78">
                <a:extLst>
                  <a:ext uri="{FF2B5EF4-FFF2-40B4-BE49-F238E27FC236}">
                    <a16:creationId xmlns:a16="http://schemas.microsoft.com/office/drawing/2014/main" id="{53BF2B58-70F8-4288-85AB-CBDA723CDFCC}"/>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0" name="Graphic 78">
                <a:extLst>
                  <a:ext uri="{FF2B5EF4-FFF2-40B4-BE49-F238E27FC236}">
                    <a16:creationId xmlns:a16="http://schemas.microsoft.com/office/drawing/2014/main" id="{A569E551-A5A0-4A8F-B999-3A6D104814A2}"/>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0FB69EB5-D9AC-46E7-934E-32999C39B2E6}"/>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6EABC49A-B4ED-44E4-ADB7-E432734A7C9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614650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4A6E99BD-4B4F-4460-B452-0E8146ACCF8F}" type="datetime1">
              <a:rPr lang="en-US" smtClean="0"/>
              <a:t>8/12/26</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772165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530352" y="787068"/>
            <a:ext cx="4315386" cy="2223152"/>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987425"/>
            <a:ext cx="5420086"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530352" y="3429000"/>
            <a:ext cx="4315386"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EB6FD34C-1867-42A9-AC54-D15ADD8A65E7}" type="datetime1">
              <a:rPr lang="en-US" smtClean="0"/>
              <a:t>8/12/26</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839DB371-B90D-44CB-A4AF-C7BDBFD0A87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0C845011-2FC2-40F7-B0C6-49CBBA72B9C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2BC78B8-5139-436F-AD47-3CC03903FDDC}"/>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F9DC17BA-1278-45C9-B1BF-B9F1518E1F29}"/>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9637B9F-CC26-4669-81F0-A942B4F72D61}"/>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2BB8F115-0030-47B4-BAF4-C15D1EA27B11}"/>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662F9949-4F1A-4708-824B-E876E9BEDA1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229524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530352" y="787068"/>
            <a:ext cx="3932237" cy="2223152"/>
          </a:xfrm>
        </p:spPr>
        <p:txBody>
          <a:bodyPr anchor="b">
            <a:no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987425"/>
            <a:ext cx="54200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530352"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336133E9-A654-4C17-8C3C-DDCAC83D6EBF}" type="datetime1">
              <a:rPr lang="en-US" smtClean="0"/>
              <a:t>8/12/26</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7627CBC2-9DC2-4EE8-A2D5-849E30F2201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9FB4AEFC-63AB-4831-8EC1-E8145604D8D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11E1337-D5DA-408D-91F3-A6A35FCDD0B9}"/>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1E473FA4-FD80-4D04-AAC5-63B9A4D80778}"/>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FCB457B9-48DE-4921-8C3F-996598075B1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53C9DB95-9A61-4553-8D82-D2BE26FCBC6E}"/>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0EAE371F-24C9-4738-834F-FAF5A5C9ACE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277017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A4649BD0-10DB-43E7-8F22-40B3D51B8FC3}" type="datetime1">
              <a:rPr lang="en-US" smtClean="0"/>
              <a:t>8/12/26</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12EF7969-DB38-4989-A65C-9D190A245515}"/>
              </a:ext>
              <a:ext uri="{C183D7F6-B498-43B3-948B-1728B52AA6E4}">
                <adec:decorative xmlns:adec="http://schemas.microsoft.com/office/drawing/2017/decorative" val="1"/>
              </a:ext>
            </a:extLst>
          </p:cNvPr>
          <p:cNvGrpSpPr/>
          <p:nvPr/>
        </p:nvGrpSpPr>
        <p:grpSpPr>
          <a:xfrm>
            <a:off x="530225" y="2333456"/>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2145BE25-C437-45FE-A3D3-BBAAF108CC9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4A9D0FA0-682C-4076-B779-D865AEEFC66C}"/>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AB60163C-1A2D-4F00-BC61-8A3C11E2D2BE}"/>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3FF8D873-9CF9-4A0A-A7B8-875C0B8233D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2B645470-F624-4417-A8A4-FC242E43C9DB}"/>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ECC7EFEF-6B2A-4210-9275-0077ACF2827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202554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7974374" y="787067"/>
            <a:ext cx="2628900" cy="538989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525719" y="787067"/>
            <a:ext cx="7039402" cy="538989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0A16C79C-F566-427A-93F6-434A4E613134}" type="datetime1">
              <a:rPr lang="en-US" smtClean="0"/>
              <a:t>8/12/26</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88F505F-2957-41FC-9AAA-962853A6719E}"/>
              </a:ext>
              <a:ext uri="{C183D7F6-B498-43B3-948B-1728B52AA6E4}">
                <adec:decorative xmlns:adec="http://schemas.microsoft.com/office/drawing/2017/decorative" val="1"/>
              </a:ext>
            </a:extLst>
          </p:cNvPr>
          <p:cNvGrpSpPr/>
          <p:nvPr/>
        </p:nvGrpSpPr>
        <p:grpSpPr>
          <a:xfrm rot="5400000">
            <a:off x="7283627" y="1250328"/>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091A36EB-8545-4EFE-B619-165D36D644D1}"/>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8D075D29-6706-486B-A55A-13866882BA88}"/>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FAE751A-10F0-48F2-BBC3-D2FE499B34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52289CAF-683C-4BCC-8AA5-95A3BF799B0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BC8403A-C46F-4DA1-A015-00A80215F289}"/>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A797D957-3A2C-42DF-B73E-CBB47BE036B7}"/>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766490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35959F4-53DA-47FF-BC24-1E5B75C69876}"/>
              </a:ext>
            </a:extLst>
          </p:cNvPr>
          <p:cNvSpPr/>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0" name="Group 19">
            <a:extLst>
              <a:ext uri="{FF2B5EF4-FFF2-40B4-BE49-F238E27FC236}">
                <a16:creationId xmlns:a16="http://schemas.microsoft.com/office/drawing/2014/main" id="{A7CF83E8-F6F0-41E3-B580-7412A04DDFB5}"/>
              </a:ext>
            </a:extLst>
          </p:cNvPr>
          <p:cNvGrpSpPr/>
          <p:nvPr/>
        </p:nvGrpSpPr>
        <p:grpSpPr>
          <a:xfrm>
            <a:off x="10776050" y="5204030"/>
            <a:ext cx="886141" cy="802497"/>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Lst>
            </p:cNvPr>
            <p:cNvSpPr/>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Lst>
            </p:cNvPr>
            <p:cNvSpPr/>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Lst>
            </p:cNvPr>
            <p:cNvSpPr/>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Lst>
            </p:cNvPr>
            <p:cNvSpPr/>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Lst>
            </p:cNvPr>
            <p:cNvSpPr/>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Lst>
            </p:cNvPr>
            <p:cNvSpPr/>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Lst>
            </p:cNvPr>
            <p:cNvSpPr/>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reeform: Shape 7">
            <a:extLst>
              <a:ext uri="{FF2B5EF4-FFF2-40B4-BE49-F238E27FC236}">
                <a16:creationId xmlns:a16="http://schemas.microsoft.com/office/drawing/2014/main" id="{59226104-0061-4319-8237-9C001BF85D49}"/>
              </a:ext>
            </a:extLst>
          </p:cNvPr>
          <p:cNvSpPr/>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525717" y="787068"/>
            <a:ext cx="1007755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525717" y="2521885"/>
            <a:ext cx="10077557" cy="3549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525718" y="136525"/>
            <a:ext cx="2743200"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fld id="{8769D389-4C4C-4FD7-9E6B-9F44477F0EB8}" type="datetime1">
              <a:rPr lang="en-US" smtClean="0"/>
              <a:t>8/12/26</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525718" y="6356350"/>
            <a:ext cx="3450659"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endParaRPr lang="en-US"/>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655367" y="6356350"/>
            <a:ext cx="529809" cy="365125"/>
          </a:xfrm>
          <a:prstGeom prst="rect">
            <a:avLst/>
          </a:prstGeom>
        </p:spPr>
        <p:txBody>
          <a:bodyPr vert="horz" lIns="91440" tIns="45720" rIns="91440" bIns="45720" rtlCol="0" anchor="ctr"/>
          <a:lstStyle>
            <a:lvl1pPr algn="ctr">
              <a:defRPr sz="900" cap="none" spc="110" baseline="0">
                <a:solidFill>
                  <a:schemeClr val="tx1">
                    <a:lumMod val="65000"/>
                    <a:lumOff val="35000"/>
                  </a:schemeClr>
                </a:solidFill>
              </a:defRPr>
            </a:lvl1pPr>
          </a:lstStyle>
          <a:p>
            <a:fld id="{E1076ED0-0DB3-4879-AAE5-5C20D22C1DF4}" type="slidenum">
              <a:rPr lang="en-US" smtClean="0"/>
              <a:t>‹#›</a:t>
            </a:fld>
            <a:endParaRPr lang="en-US"/>
          </a:p>
        </p:txBody>
      </p:sp>
    </p:spTree>
    <p:extLst>
      <p:ext uri="{BB962C8B-B14F-4D97-AF65-F5344CB8AC3E}">
        <p14:creationId xmlns:p14="http://schemas.microsoft.com/office/powerpoint/2010/main" val="244226066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3600" i="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foto.wuestenigel.com/the-concept-of-gender-discrimination-in-recruitmen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mappingignorance.org/2017/05/10/sexual-differences-in-the-human-brain/"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21.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4" name="Picture 3" descr="Símbolo de transgénero recortado">
            <a:extLst>
              <a:ext uri="{FF2B5EF4-FFF2-40B4-BE49-F238E27FC236}">
                <a16:creationId xmlns:a16="http://schemas.microsoft.com/office/drawing/2014/main" id="{6957D455-3056-0EC1-4362-F6803E304850}"/>
              </a:ext>
            </a:extLst>
          </p:cNvPr>
          <p:cNvPicPr>
            <a:picLocks noChangeAspect="1"/>
          </p:cNvPicPr>
          <p:nvPr/>
        </p:nvPicPr>
        <p:blipFill rotWithShape="1">
          <a:blip r:embed="rId3">
            <a:alphaModFix amt="40000"/>
          </a:blip>
          <a:srcRect t="10672" r="-1" b="5037"/>
          <a:stretch/>
        </p:blipFill>
        <p:spPr>
          <a:xfrm>
            <a:off x="20" y="10"/>
            <a:ext cx="12188932" cy="6857990"/>
          </a:xfrm>
          <a:prstGeom prst="rect">
            <a:avLst/>
          </a:prstGeom>
        </p:spPr>
      </p:pic>
      <p:sp>
        <p:nvSpPr>
          <p:cNvPr id="2" name="Title 1">
            <a:extLst>
              <a:ext uri="{FF2B5EF4-FFF2-40B4-BE49-F238E27FC236}">
                <a16:creationId xmlns:a16="http://schemas.microsoft.com/office/drawing/2014/main" id="{62C34F54-43E5-3A9D-3AFD-EB44079419E5}"/>
              </a:ext>
            </a:extLst>
          </p:cNvPr>
          <p:cNvSpPr>
            <a:spLocks noGrp="1"/>
          </p:cNvSpPr>
          <p:nvPr>
            <p:ph type="ctrTitle"/>
          </p:nvPr>
        </p:nvSpPr>
        <p:spPr>
          <a:xfrm>
            <a:off x="1549238" y="1145080"/>
            <a:ext cx="9090476" cy="2179601"/>
          </a:xfrm>
        </p:spPr>
        <p:txBody>
          <a:bodyPr anchor="b">
            <a:normAutofit/>
          </a:bodyPr>
          <a:lstStyle/>
          <a:p>
            <a:pPr algn="ctr"/>
            <a:r>
              <a:rPr lang="es-ES_tradnl" sz="4400" dirty="0">
                <a:solidFill>
                  <a:srgbClr val="FFFFFF"/>
                </a:solidFill>
              </a:rPr>
              <a:t>Sociología del Género</a:t>
            </a:r>
          </a:p>
        </p:txBody>
      </p:sp>
      <p:sp>
        <p:nvSpPr>
          <p:cNvPr id="3" name="Subtitle 2">
            <a:extLst>
              <a:ext uri="{FF2B5EF4-FFF2-40B4-BE49-F238E27FC236}">
                <a16:creationId xmlns:a16="http://schemas.microsoft.com/office/drawing/2014/main" id="{CC9D9D2C-9698-D49A-FB85-C64BE81AD507}"/>
              </a:ext>
            </a:extLst>
          </p:cNvPr>
          <p:cNvSpPr>
            <a:spLocks noGrp="1"/>
          </p:cNvSpPr>
          <p:nvPr>
            <p:ph type="subTitle" idx="1"/>
          </p:nvPr>
        </p:nvSpPr>
        <p:spPr>
          <a:xfrm>
            <a:off x="2999029" y="3774105"/>
            <a:ext cx="6190895" cy="1633040"/>
          </a:xfrm>
        </p:spPr>
        <p:txBody>
          <a:bodyPr anchor="t">
            <a:normAutofit/>
          </a:bodyPr>
          <a:lstStyle/>
          <a:p>
            <a:pPr algn="ctr"/>
            <a:r>
              <a:rPr lang="es-ES_tradnl" dirty="0">
                <a:solidFill>
                  <a:srgbClr val="FFFFFF"/>
                </a:solidFill>
              </a:rPr>
              <a:t>SOL191</a:t>
            </a:r>
          </a:p>
          <a:p>
            <a:pPr algn="ctr"/>
            <a:endParaRPr lang="es-ES_tradnl" dirty="0">
              <a:solidFill>
                <a:srgbClr val="FFFFFF"/>
              </a:solidFill>
            </a:endParaRPr>
          </a:p>
          <a:p>
            <a:pPr algn="ctr"/>
            <a:r>
              <a:rPr lang="es-ES_tradnl" sz="2800" dirty="0">
                <a:solidFill>
                  <a:srgbClr val="FFFFFF"/>
                </a:solidFill>
              </a:rPr>
              <a:t>Clase 1: Introducción</a:t>
            </a:r>
          </a:p>
        </p:txBody>
      </p:sp>
      <p:sp>
        <p:nvSpPr>
          <p:cNvPr id="35" name="Freeform: Shape 34">
            <a:extLst>
              <a:ext uri="{FF2B5EF4-FFF2-40B4-BE49-F238E27FC236}">
                <a16:creationId xmlns:a16="http://schemas.microsoft.com/office/drawing/2014/main" id="{25A2CBEC-4F23-437D-9D03-9968C9B79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94120" y="-1094120"/>
            <a:ext cx="1085312" cy="3273554"/>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7"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8356" y="3533292"/>
            <a:ext cx="972241" cy="45718"/>
            <a:chOff x="4886325" y="3371754"/>
            <a:chExt cx="2418492" cy="113728"/>
          </a:xfrm>
          <a:solidFill>
            <a:schemeClr val="accent1"/>
          </a:solidFill>
        </p:grpSpPr>
        <p:sp>
          <p:nvSpPr>
            <p:cNvPr id="38"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9"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0"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dirty="0"/>
              </a:p>
            </p:txBody>
          </p:sp>
        </p:grpSp>
      </p:grpSp>
      <p:sp>
        <p:nvSpPr>
          <p:cNvPr id="45" name="Freeform: Shape 44">
            <a:extLst>
              <a:ext uri="{FF2B5EF4-FFF2-40B4-BE49-F238E27FC236}">
                <a16:creationId xmlns:a16="http://schemas.microsoft.com/office/drawing/2014/main" id="{6264A856-A4F6-4068-9AC3-7B38A00DA7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7" name="Group 46">
            <a:extLst>
              <a:ext uri="{FF2B5EF4-FFF2-40B4-BE49-F238E27FC236}">
                <a16:creationId xmlns:a16="http://schemas.microsoft.com/office/drawing/2014/main" id="{C2983E8C-44FB-463B-B6B0-B53E96ACCD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48" name="Freeform: Shape 47">
              <a:extLst>
                <a:ext uri="{FF2B5EF4-FFF2-40B4-BE49-F238E27FC236}">
                  <a16:creationId xmlns:a16="http://schemas.microsoft.com/office/drawing/2014/main" id="{16AD7FCC-3422-42C3-A2AD-69ADFEA6E3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Freeform: Shape 48">
              <a:extLst>
                <a:ext uri="{FF2B5EF4-FFF2-40B4-BE49-F238E27FC236}">
                  <a16:creationId xmlns:a16="http://schemas.microsoft.com/office/drawing/2014/main" id="{C4ECA670-C540-4DCE-8F03-EC843D518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Freeform: Shape 49">
              <a:extLst>
                <a:ext uri="{FF2B5EF4-FFF2-40B4-BE49-F238E27FC236}">
                  <a16:creationId xmlns:a16="http://schemas.microsoft.com/office/drawing/2014/main" id="{7ECB6083-DDE0-460C-987E-E64587630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Graphic 12">
              <a:extLst>
                <a:ext uri="{FF2B5EF4-FFF2-40B4-BE49-F238E27FC236}">
                  <a16:creationId xmlns:a16="http://schemas.microsoft.com/office/drawing/2014/main" id="{378004C4-6786-473C-BB2A-AAA6EF115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2" name="Graphic 15">
              <a:extLst>
                <a:ext uri="{FF2B5EF4-FFF2-40B4-BE49-F238E27FC236}">
                  <a16:creationId xmlns:a16="http://schemas.microsoft.com/office/drawing/2014/main" id="{455376B6-DAB5-4A34-A8BE-15DE02CAF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3" name="Graphic 15">
              <a:extLst>
                <a:ext uri="{FF2B5EF4-FFF2-40B4-BE49-F238E27FC236}">
                  <a16:creationId xmlns:a16="http://schemas.microsoft.com/office/drawing/2014/main" id="{EC2A85A1-668E-48DF-A484-FADE64BE6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D16C5EE-54EB-4800-8860-E622EEDE8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983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62C45-6F9B-3F35-1D1F-BE92DE8AC27A}"/>
              </a:ext>
            </a:extLst>
          </p:cNvPr>
          <p:cNvSpPr>
            <a:spLocks noGrp="1"/>
          </p:cNvSpPr>
          <p:nvPr>
            <p:ph type="title"/>
          </p:nvPr>
        </p:nvSpPr>
        <p:spPr/>
        <p:txBody>
          <a:bodyPr/>
          <a:lstStyle/>
          <a:p>
            <a:r>
              <a:rPr lang="es-ES_tradnl" dirty="0"/>
              <a:t>Plan de clase</a:t>
            </a:r>
          </a:p>
        </p:txBody>
      </p:sp>
      <p:sp>
        <p:nvSpPr>
          <p:cNvPr id="3" name="Content Placeholder 2">
            <a:extLst>
              <a:ext uri="{FF2B5EF4-FFF2-40B4-BE49-F238E27FC236}">
                <a16:creationId xmlns:a16="http://schemas.microsoft.com/office/drawing/2014/main" id="{D630D56E-3D4C-66ED-17D2-3C3A813004A8}"/>
              </a:ext>
            </a:extLst>
          </p:cNvPr>
          <p:cNvSpPr>
            <a:spLocks noGrp="1"/>
          </p:cNvSpPr>
          <p:nvPr>
            <p:ph idx="1"/>
          </p:nvPr>
        </p:nvSpPr>
        <p:spPr/>
        <p:txBody>
          <a:bodyPr/>
          <a:lstStyle/>
          <a:p>
            <a:pPr marL="457200" indent="-457200">
              <a:buFont typeface="Arial" panose="020B0604020202020204" pitchFamily="34" charset="0"/>
              <a:buChar char="•"/>
            </a:pPr>
            <a:r>
              <a:rPr lang="es-ES_tradnl" dirty="0"/>
              <a:t>Empezar a conocernos  (15 min)</a:t>
            </a:r>
          </a:p>
          <a:p>
            <a:pPr marL="457200" indent="-457200">
              <a:buFont typeface="Arial" panose="020B0604020202020204" pitchFamily="34" charset="0"/>
              <a:buChar char="•"/>
            </a:pPr>
            <a:r>
              <a:rPr lang="es-ES_tradnl" dirty="0"/>
              <a:t>El curso y el programa  (15 min)</a:t>
            </a:r>
          </a:p>
          <a:p>
            <a:pPr marL="457200" indent="-457200">
              <a:buFont typeface="Arial" panose="020B0604020202020204" pitchFamily="34" charset="0"/>
              <a:buChar char="•"/>
            </a:pPr>
            <a:r>
              <a:rPr lang="es-ES_tradnl" dirty="0"/>
              <a:t>Buenas prácticas y lectura de artículos  (12 min)</a:t>
            </a:r>
          </a:p>
          <a:p>
            <a:pPr marL="457200" indent="-457200">
              <a:buFont typeface="Arial" panose="020B0604020202020204" pitchFamily="34" charset="0"/>
              <a:buChar char="•"/>
            </a:pPr>
            <a:r>
              <a:rPr lang="es-ES_tradnl" dirty="0"/>
              <a:t>Dudas, preguntas, sugerencias  (5 min)</a:t>
            </a:r>
          </a:p>
          <a:p>
            <a:pPr marL="457200" indent="-457200">
              <a:buFont typeface="Arial" panose="020B0604020202020204" pitchFamily="34" charset="0"/>
              <a:buChar char="•"/>
            </a:pPr>
            <a:r>
              <a:rPr lang="es-ES_tradnl" dirty="0"/>
              <a:t>Actividad en grupo: Termómetro de la verdad  (30 min)</a:t>
            </a:r>
          </a:p>
          <a:p>
            <a:pPr marL="457200" indent="-457200">
              <a:buFont typeface="Arial" panose="020B0604020202020204" pitchFamily="34" charset="0"/>
              <a:buChar char="•"/>
            </a:pPr>
            <a:r>
              <a:rPr lang="es-ES_tradnl" dirty="0"/>
              <a:t>Recorrido a los estudios de sociología del género  (25 min)</a:t>
            </a:r>
          </a:p>
          <a:p>
            <a:pPr marL="457200" indent="-457200">
              <a:buFont typeface="+mj-lt"/>
              <a:buAutoNum type="arabicPeriod"/>
            </a:pPr>
            <a:endParaRPr lang="es-ES_tradnl" dirty="0"/>
          </a:p>
          <a:p>
            <a:pPr marL="457200" indent="-457200">
              <a:buFont typeface="+mj-lt"/>
              <a:buAutoNum type="arabicPeriod"/>
            </a:pPr>
            <a:endParaRPr lang="es-ES_tradnl" dirty="0"/>
          </a:p>
          <a:p>
            <a:pPr marL="457200" indent="-457200">
              <a:buFont typeface="+mj-lt"/>
              <a:buAutoNum type="arabicPeriod"/>
            </a:pPr>
            <a:endParaRPr lang="es-ES_tradnl" dirty="0"/>
          </a:p>
          <a:p>
            <a:pPr marL="457200" indent="-457200">
              <a:buFont typeface="+mj-lt"/>
              <a:buAutoNum type="arabicPeriod"/>
            </a:pPr>
            <a:endParaRPr lang="es-ES_tradnl" dirty="0"/>
          </a:p>
        </p:txBody>
      </p:sp>
    </p:spTree>
    <p:extLst>
      <p:ext uri="{BB962C8B-B14F-4D97-AF65-F5344CB8AC3E}">
        <p14:creationId xmlns:p14="http://schemas.microsoft.com/office/powerpoint/2010/main" val="3438397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4343449A-8A18-16DF-A438-BA5025ABDFD8}"/>
              </a:ext>
            </a:extLst>
          </p:cNvPr>
          <p:cNvSpPr>
            <a:spLocks noGrp="1"/>
          </p:cNvSpPr>
          <p:nvPr>
            <p:ph type="title"/>
          </p:nvPr>
        </p:nvSpPr>
        <p:spPr>
          <a:xfrm>
            <a:off x="525717" y="787068"/>
            <a:ext cx="4663649" cy="1455091"/>
          </a:xfrm>
        </p:spPr>
        <p:txBody>
          <a:bodyPr>
            <a:normAutofit/>
          </a:bodyPr>
          <a:lstStyle/>
          <a:p>
            <a:r>
              <a:rPr lang="es-ES_tradnl" dirty="0"/>
              <a:t>Un poco sobre mí</a:t>
            </a:r>
          </a:p>
        </p:txBody>
      </p:sp>
      <p:sp>
        <p:nvSpPr>
          <p:cNvPr id="36" name="Freeform: Shape 35">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39"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0"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1"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4"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02F1F1F4-1DEA-86F2-905A-DC6643B10BE7}"/>
              </a:ext>
            </a:extLst>
          </p:cNvPr>
          <p:cNvSpPr>
            <a:spLocks noGrp="1"/>
          </p:cNvSpPr>
          <p:nvPr>
            <p:ph idx="1"/>
          </p:nvPr>
        </p:nvSpPr>
        <p:spPr>
          <a:xfrm>
            <a:off x="525717" y="2796427"/>
            <a:ext cx="5428063" cy="3705475"/>
          </a:xfrm>
        </p:spPr>
        <p:txBody>
          <a:bodyPr>
            <a:normAutofit fontScale="92500" lnSpcReduction="10000"/>
          </a:bodyPr>
          <a:lstStyle/>
          <a:p>
            <a:r>
              <a:rPr lang="es-ES_tradnl" dirty="0"/>
              <a:t>Tania Hutt (ella/la)</a:t>
            </a:r>
          </a:p>
          <a:p>
            <a:r>
              <a:rPr lang="es-ES_tradnl" dirty="0"/>
              <a:t>Socióloga, </a:t>
            </a:r>
            <a:r>
              <a:rPr lang="es-ES_tradnl" dirty="0" err="1"/>
              <a:t>Ph.D</a:t>
            </a:r>
            <a:r>
              <a:rPr lang="es-ES_tradnl" dirty="0"/>
              <a:t>.</a:t>
            </a:r>
          </a:p>
          <a:p>
            <a:pPr marL="342900" indent="-342900">
              <a:buFont typeface="Arial" panose="020B0604020202020204" pitchFamily="34" charset="0"/>
              <a:buChar char="•"/>
            </a:pPr>
            <a:r>
              <a:rPr lang="es-ES_tradnl" dirty="0"/>
              <a:t>Desigualdad de género en el mercado laboral, discriminación en procesos de selección y evaluación.</a:t>
            </a:r>
          </a:p>
          <a:p>
            <a:pPr marL="342900" indent="-342900">
              <a:buFont typeface="Arial" panose="020B0604020202020204" pitchFamily="34" charset="0"/>
              <a:buChar char="•"/>
            </a:pPr>
            <a:r>
              <a:rPr lang="es-ES_tradnl" dirty="0"/>
              <a:t>Trayectorias laborales durante la transición a la maternidad.</a:t>
            </a:r>
          </a:p>
          <a:p>
            <a:pPr marL="342900" indent="-342900">
              <a:buFont typeface="Arial" panose="020B0604020202020204" pitchFamily="34" charset="0"/>
              <a:buChar char="•"/>
            </a:pPr>
            <a:r>
              <a:rPr lang="es-ES_tradnl" dirty="0"/>
              <a:t>Estereotipos y discriminación por maternidad y maternidad futura.</a:t>
            </a:r>
          </a:p>
          <a:p>
            <a:pPr marL="342900" indent="-342900">
              <a:buFont typeface="Arial" panose="020B0604020202020204" pitchFamily="34" charset="0"/>
              <a:buChar char="•"/>
            </a:pPr>
            <a:r>
              <a:rPr lang="es-ES_tradnl" dirty="0"/>
              <a:t>Sobre mi </a:t>
            </a:r>
            <a:r>
              <a:rPr lang="es-ES_tradnl" dirty="0" err="1"/>
              <a:t>posicionalidad</a:t>
            </a:r>
            <a:r>
              <a:rPr lang="es-ES_tradnl" dirty="0"/>
              <a:t> en el curso</a:t>
            </a:r>
          </a:p>
          <a:p>
            <a:endParaRPr lang="es-ES_tradnl" dirty="0"/>
          </a:p>
        </p:txBody>
      </p:sp>
      <p:pic>
        <p:nvPicPr>
          <p:cNvPr id="5" name="Picture 4" descr="A group of miniature people standing in a row&#10;&#10;Description automatically generated">
            <a:extLst>
              <a:ext uri="{FF2B5EF4-FFF2-40B4-BE49-F238E27FC236}">
                <a16:creationId xmlns:a16="http://schemas.microsoft.com/office/drawing/2014/main" id="{0C5A3E49-CB09-AA6F-19AE-F5C3FE32545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953780" y="1473200"/>
            <a:ext cx="5660211" cy="3820642"/>
          </a:xfrm>
          <a:prstGeom prst="rect">
            <a:avLst/>
          </a:prstGeom>
        </p:spPr>
      </p:pic>
      <p:sp>
        <p:nvSpPr>
          <p:cNvPr id="46" name="Freeform: Shape 45">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8" name="Group 47">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49" name="Freeform: Shape 48">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Freeform: Shape 49">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Freeform: Shape 50">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2"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3"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4"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Box 5">
            <a:extLst>
              <a:ext uri="{FF2B5EF4-FFF2-40B4-BE49-F238E27FC236}">
                <a16:creationId xmlns:a16="http://schemas.microsoft.com/office/drawing/2014/main" id="{ACBD3F34-44AC-C138-B221-42B802E9A3B9}"/>
              </a:ext>
            </a:extLst>
          </p:cNvPr>
          <p:cNvSpPr txBox="1"/>
          <p:nvPr/>
        </p:nvSpPr>
        <p:spPr>
          <a:xfrm>
            <a:off x="9066478" y="7231646"/>
            <a:ext cx="2460930" cy="200055"/>
          </a:xfrm>
          <a:prstGeom prst="rect">
            <a:avLst/>
          </a:prstGeom>
          <a:solidFill>
            <a:srgbClr val="000000"/>
          </a:solidFill>
        </p:spPr>
        <p:txBody>
          <a:bodyPr wrap="none" rtlCol="0">
            <a:spAutoFit/>
          </a:bodyPr>
          <a:lstStyle/>
          <a:p>
            <a:pPr algn="r">
              <a:spcAft>
                <a:spcPts val="600"/>
              </a:spcAft>
            </a:pPr>
            <a:r>
              <a:rPr lang="es-ES_tradnl" sz="700" dirty="0">
                <a:solidFill>
                  <a:srgbClr val="FFFFFF"/>
                </a:solidFill>
                <a:hlinkClick r:id="rId4" tooltip="https://foto.wuestenigel.com/the-concept-of-gender-discrimination-in-recruitment/">
                  <a:extLst>
                    <a:ext uri="{A12FA001-AC4F-418D-AE19-62706E023703}">
                      <ahyp:hlinkClr xmlns:ahyp="http://schemas.microsoft.com/office/drawing/2018/hyperlinkcolor" val="tx"/>
                    </a:ext>
                  </a:extLst>
                </a:hlinkClick>
              </a:rPr>
              <a:t>This Photo</a:t>
            </a:r>
            <a:r>
              <a:rPr lang="es-ES_tradnl" sz="700" dirty="0">
                <a:solidFill>
                  <a:srgbClr val="FFFFFF"/>
                </a:solidFill>
              </a:rPr>
              <a:t> </a:t>
            </a:r>
            <a:r>
              <a:rPr lang="es-ES_tradnl" sz="700" dirty="0" err="1">
                <a:solidFill>
                  <a:srgbClr val="FFFFFF"/>
                </a:solidFill>
              </a:rPr>
              <a:t>by</a:t>
            </a:r>
            <a:r>
              <a:rPr lang="es-ES_tradnl" sz="700" dirty="0">
                <a:solidFill>
                  <a:srgbClr val="FFFFFF"/>
                </a:solidFill>
              </a:rPr>
              <a:t> </a:t>
            </a:r>
            <a:r>
              <a:rPr lang="es-ES_tradnl" sz="700" dirty="0" err="1">
                <a:solidFill>
                  <a:srgbClr val="FFFFFF"/>
                </a:solidFill>
              </a:rPr>
              <a:t>Unknown</a:t>
            </a:r>
            <a:r>
              <a:rPr lang="es-ES_tradnl" sz="700" dirty="0">
                <a:solidFill>
                  <a:srgbClr val="FFFFFF"/>
                </a:solidFill>
              </a:rPr>
              <a:t> </a:t>
            </a:r>
            <a:r>
              <a:rPr lang="es-ES_tradnl" sz="700" dirty="0" err="1">
                <a:solidFill>
                  <a:srgbClr val="FFFFFF"/>
                </a:solidFill>
              </a:rPr>
              <a:t>Author</a:t>
            </a:r>
            <a:r>
              <a:rPr lang="es-ES_tradnl" sz="700" dirty="0">
                <a:solidFill>
                  <a:srgbClr val="FFFFFF"/>
                </a:solidFill>
              </a:rPr>
              <a:t> </a:t>
            </a:r>
            <a:r>
              <a:rPr lang="es-ES_tradnl" sz="700" dirty="0" err="1">
                <a:solidFill>
                  <a:srgbClr val="FFFFFF"/>
                </a:solidFill>
              </a:rPr>
              <a:t>is</a:t>
            </a:r>
            <a:r>
              <a:rPr lang="es-ES_tradnl" sz="700" dirty="0">
                <a:solidFill>
                  <a:srgbClr val="FFFFFF"/>
                </a:solidFill>
              </a:rPr>
              <a:t> </a:t>
            </a:r>
            <a:r>
              <a:rPr lang="es-ES_tradnl" sz="700" dirty="0" err="1">
                <a:solidFill>
                  <a:srgbClr val="FFFFFF"/>
                </a:solidFill>
              </a:rPr>
              <a:t>licensed</a:t>
            </a:r>
            <a:r>
              <a:rPr lang="es-ES_tradnl" sz="700" dirty="0">
                <a:solidFill>
                  <a:srgbClr val="FFFFFF"/>
                </a:solidFill>
              </a:rPr>
              <a:t> </a:t>
            </a:r>
            <a:r>
              <a:rPr lang="es-ES_tradnl" sz="700" dirty="0" err="1">
                <a:solidFill>
                  <a:srgbClr val="FFFFFF"/>
                </a:solidFill>
              </a:rPr>
              <a:t>under</a:t>
            </a:r>
            <a:r>
              <a:rPr lang="es-ES_tradnl" sz="700" dirty="0">
                <a:solidFill>
                  <a:srgbClr val="FFFFFF"/>
                </a:solidFill>
              </a:rPr>
              <a:t> </a:t>
            </a:r>
            <a:r>
              <a:rPr lang="es-ES_tradnl" sz="700" dirty="0">
                <a:solidFill>
                  <a:srgbClr val="FFFFFF"/>
                </a:solidFill>
                <a:hlinkClick r:id="rId5" tooltip="https://creativecommons.org/licenses/by/3.0/">
                  <a:extLst>
                    <a:ext uri="{A12FA001-AC4F-418D-AE19-62706E023703}">
                      <ahyp:hlinkClr xmlns:ahyp="http://schemas.microsoft.com/office/drawing/2018/hyperlinkcolor" val="tx"/>
                    </a:ext>
                  </a:extLst>
                </a:hlinkClick>
              </a:rPr>
              <a:t>CC BY</a:t>
            </a:r>
            <a:endParaRPr lang="es-ES_tradnl" sz="700" dirty="0">
              <a:solidFill>
                <a:srgbClr val="FFFFFF"/>
              </a:solidFill>
            </a:endParaRPr>
          </a:p>
        </p:txBody>
      </p:sp>
    </p:spTree>
    <p:extLst>
      <p:ext uri="{BB962C8B-B14F-4D97-AF65-F5344CB8AC3E}">
        <p14:creationId xmlns:p14="http://schemas.microsoft.com/office/powerpoint/2010/main" val="3801742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015C42ED-259C-A24E-3060-08F5CDFBC8CD}"/>
              </a:ext>
            </a:extLst>
          </p:cNvPr>
          <p:cNvSpPr>
            <a:spLocks noGrp="1"/>
          </p:cNvSpPr>
          <p:nvPr>
            <p:ph type="title"/>
          </p:nvPr>
        </p:nvSpPr>
        <p:spPr>
          <a:xfrm>
            <a:off x="525717" y="787068"/>
            <a:ext cx="5566263" cy="1455091"/>
          </a:xfrm>
        </p:spPr>
        <p:txBody>
          <a:bodyPr>
            <a:normAutofit/>
          </a:bodyPr>
          <a:lstStyle/>
          <a:p>
            <a:r>
              <a:rPr lang="es-ES_tradnl" dirty="0"/>
              <a:t>Ayudantes</a:t>
            </a:r>
          </a:p>
        </p:txBody>
      </p:sp>
      <p:sp>
        <p:nvSpPr>
          <p:cNvPr id="38" name="Freeform: Shape 37">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0"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41"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2"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3"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4"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5"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6"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19D2C5C9-9A68-CDA9-BEB8-59086218AC3C}"/>
              </a:ext>
            </a:extLst>
          </p:cNvPr>
          <p:cNvSpPr>
            <a:spLocks noGrp="1"/>
          </p:cNvSpPr>
          <p:nvPr>
            <p:ph idx="1"/>
          </p:nvPr>
        </p:nvSpPr>
        <p:spPr>
          <a:xfrm>
            <a:off x="525717" y="2796427"/>
            <a:ext cx="5566263" cy="3274503"/>
          </a:xfrm>
        </p:spPr>
        <p:txBody>
          <a:bodyPr>
            <a:normAutofit/>
          </a:bodyPr>
          <a:lstStyle/>
          <a:p>
            <a:pPr>
              <a:lnSpc>
                <a:spcPct val="100000"/>
              </a:lnSpc>
              <a:spcBef>
                <a:spcPts val="0"/>
              </a:spcBef>
            </a:pPr>
            <a:r>
              <a:rPr lang="es-ES_tradnl" b="1" dirty="0"/>
              <a:t>Valentina </a:t>
            </a:r>
            <a:r>
              <a:rPr lang="es-ES_tradnl" b="1" dirty="0" err="1"/>
              <a:t>Lagreze</a:t>
            </a:r>
            <a:r>
              <a:rPr lang="es-ES_tradnl" b="1" dirty="0"/>
              <a:t>, </a:t>
            </a:r>
            <a:r>
              <a:rPr lang="en-CL" dirty="0"/>
              <a:t>estudiante de primer año de Magíster en Sociología, interesada en</a:t>
            </a:r>
          </a:p>
          <a:p>
            <a:pPr>
              <a:lnSpc>
                <a:spcPct val="100000"/>
              </a:lnSpc>
              <a:spcBef>
                <a:spcPts val="0"/>
              </a:spcBef>
            </a:pPr>
            <a:r>
              <a:rPr lang="en-CL" dirty="0"/>
              <a:t>sociología del delito y desigualdad.</a:t>
            </a:r>
          </a:p>
          <a:p>
            <a:pPr>
              <a:lnSpc>
                <a:spcPct val="100000"/>
              </a:lnSpc>
              <a:spcBef>
                <a:spcPts val="0"/>
              </a:spcBef>
            </a:pPr>
            <a:endParaRPr lang="en-CL" dirty="0"/>
          </a:p>
          <a:p>
            <a:pPr>
              <a:lnSpc>
                <a:spcPct val="100000"/>
              </a:lnSpc>
              <a:spcBef>
                <a:spcPts val="0"/>
              </a:spcBef>
            </a:pPr>
            <a:endParaRPr lang="es-ES_tradnl" b="1" dirty="0"/>
          </a:p>
          <a:p>
            <a:pPr>
              <a:lnSpc>
                <a:spcPct val="100000"/>
              </a:lnSpc>
              <a:spcBef>
                <a:spcPts val="0"/>
              </a:spcBef>
            </a:pPr>
            <a:r>
              <a:rPr lang="es-ES_tradnl" b="1" dirty="0"/>
              <a:t>Isidora Núñez,</a:t>
            </a:r>
            <a:r>
              <a:rPr lang="es-ES_tradnl" dirty="0"/>
              <a:t> </a:t>
            </a:r>
            <a:r>
              <a:rPr lang="en-CL" dirty="0"/>
              <a:t>estudiante de primer año de Magíster en Sociología, interesada en</a:t>
            </a:r>
          </a:p>
          <a:p>
            <a:pPr>
              <a:lnSpc>
                <a:spcPct val="100000"/>
              </a:lnSpc>
              <a:spcBef>
                <a:spcPts val="0"/>
              </a:spcBef>
            </a:pPr>
            <a:r>
              <a:rPr lang="en-CL" dirty="0"/>
              <a:t>sociología de Género y Política.</a:t>
            </a:r>
          </a:p>
          <a:p>
            <a:endParaRPr lang="en-CL" dirty="0"/>
          </a:p>
        </p:txBody>
      </p:sp>
      <p:pic>
        <p:nvPicPr>
          <p:cNvPr id="7" name="Picture 6">
            <a:extLst>
              <a:ext uri="{FF2B5EF4-FFF2-40B4-BE49-F238E27FC236}">
                <a16:creationId xmlns:a16="http://schemas.microsoft.com/office/drawing/2014/main" id="{EFBF0D7E-BB4A-9A90-C118-4EBDE39E04E3}"/>
              </a:ext>
            </a:extLst>
          </p:cNvPr>
          <p:cNvPicPr>
            <a:picLocks noChangeAspect="1"/>
          </p:cNvPicPr>
          <p:nvPr/>
        </p:nvPicPr>
        <p:blipFill>
          <a:blip r:embed="rId3"/>
          <a:srcRect t="22357" r="-1" b="20356"/>
          <a:stretch>
            <a:fillRect/>
          </a:stretch>
        </p:blipFill>
        <p:spPr>
          <a:xfrm>
            <a:off x="7299670" y="530828"/>
            <a:ext cx="4349957" cy="2723412"/>
          </a:xfrm>
          <a:prstGeom prst="rect">
            <a:avLst/>
          </a:prstGeom>
        </p:spPr>
      </p:pic>
      <p:pic>
        <p:nvPicPr>
          <p:cNvPr id="5" name="Picture 4">
            <a:extLst>
              <a:ext uri="{FF2B5EF4-FFF2-40B4-BE49-F238E27FC236}">
                <a16:creationId xmlns:a16="http://schemas.microsoft.com/office/drawing/2014/main" id="{1B4F7A52-022A-DBD2-679B-7D65DF726D78}"/>
              </a:ext>
            </a:extLst>
          </p:cNvPr>
          <p:cNvPicPr>
            <a:picLocks noChangeAspect="1"/>
          </p:cNvPicPr>
          <p:nvPr/>
        </p:nvPicPr>
        <p:blipFill>
          <a:blip r:embed="rId4"/>
          <a:srcRect r="1" b="6206"/>
          <a:stretch>
            <a:fillRect/>
          </a:stretch>
        </p:blipFill>
        <p:spPr>
          <a:xfrm>
            <a:off x="7299670" y="3505187"/>
            <a:ext cx="4349957" cy="2723412"/>
          </a:xfrm>
          <a:prstGeom prst="rect">
            <a:avLst/>
          </a:prstGeom>
        </p:spPr>
      </p:pic>
      <p:sp>
        <p:nvSpPr>
          <p:cNvPr id="48" name="Freeform: Shape 47">
            <a:extLst>
              <a:ext uri="{FF2B5EF4-FFF2-40B4-BE49-F238E27FC236}">
                <a16:creationId xmlns:a16="http://schemas.microsoft.com/office/drawing/2014/main" id="{D5B4F0F5-BE58-4EC0-B650-A71A07437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25066"/>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0" name="Group 49">
            <a:extLst>
              <a:ext uri="{FF2B5EF4-FFF2-40B4-BE49-F238E27FC236}">
                <a16:creationId xmlns:a16="http://schemas.microsoft.com/office/drawing/2014/main" id="{E700C1F5-B637-45FE-96CC-270D263A59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51" name="Freeform: Shape 50">
              <a:extLst>
                <a:ext uri="{FF2B5EF4-FFF2-40B4-BE49-F238E27FC236}">
                  <a16:creationId xmlns:a16="http://schemas.microsoft.com/office/drawing/2014/main" id="{83DA22C9-3830-4323-9087-6D7C1E6AA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2" name="Freeform: Shape 51">
              <a:extLst>
                <a:ext uri="{FF2B5EF4-FFF2-40B4-BE49-F238E27FC236}">
                  <a16:creationId xmlns:a16="http://schemas.microsoft.com/office/drawing/2014/main" id="{A5AC4DA9-FD16-4055-8D2D-95D615C03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3" name="Freeform: Shape 52">
              <a:extLst>
                <a:ext uri="{FF2B5EF4-FFF2-40B4-BE49-F238E27FC236}">
                  <a16:creationId xmlns:a16="http://schemas.microsoft.com/office/drawing/2014/main" id="{8BA7D58E-9AB5-4B54-A635-2E86BEC7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4" name="Graphic 12">
              <a:extLst>
                <a:ext uri="{FF2B5EF4-FFF2-40B4-BE49-F238E27FC236}">
                  <a16:creationId xmlns:a16="http://schemas.microsoft.com/office/drawing/2014/main" id="{B7D72779-BBD2-4D64-B6B1-E052E227E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5" name="Graphic 15">
              <a:extLst>
                <a:ext uri="{FF2B5EF4-FFF2-40B4-BE49-F238E27FC236}">
                  <a16:creationId xmlns:a16="http://schemas.microsoft.com/office/drawing/2014/main" id="{569BD34C-BFEF-4FB1-A094-2D9E687CD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6" name="Graphic 15">
              <a:extLst>
                <a:ext uri="{FF2B5EF4-FFF2-40B4-BE49-F238E27FC236}">
                  <a16:creationId xmlns:a16="http://schemas.microsoft.com/office/drawing/2014/main" id="{DC258A66-ED52-4FA3-96CE-7932E91F5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EC6A48C-21EF-4485-9836-044550003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09855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C62C0-F41E-220D-4081-BFF2AAE984A2}"/>
              </a:ext>
            </a:extLst>
          </p:cNvPr>
          <p:cNvSpPr>
            <a:spLocks noGrp="1"/>
          </p:cNvSpPr>
          <p:nvPr>
            <p:ph type="title"/>
          </p:nvPr>
        </p:nvSpPr>
        <p:spPr/>
        <p:txBody>
          <a:bodyPr/>
          <a:lstStyle/>
          <a:p>
            <a:r>
              <a:rPr lang="es-ES_tradnl" dirty="0"/>
              <a:t>Introducciones: 20 segundos!</a:t>
            </a:r>
          </a:p>
        </p:txBody>
      </p:sp>
      <p:sp>
        <p:nvSpPr>
          <p:cNvPr id="3" name="Content Placeholder 2">
            <a:extLst>
              <a:ext uri="{FF2B5EF4-FFF2-40B4-BE49-F238E27FC236}">
                <a16:creationId xmlns:a16="http://schemas.microsoft.com/office/drawing/2014/main" id="{422DB47F-04B5-342D-CE6A-40B516432141}"/>
              </a:ext>
            </a:extLst>
          </p:cNvPr>
          <p:cNvSpPr>
            <a:spLocks noGrp="1"/>
          </p:cNvSpPr>
          <p:nvPr>
            <p:ph idx="1"/>
          </p:nvPr>
        </p:nvSpPr>
        <p:spPr>
          <a:xfrm>
            <a:off x="525717" y="2521885"/>
            <a:ext cx="6371029" cy="4002901"/>
          </a:xfrm>
        </p:spPr>
        <p:txBody>
          <a:bodyPr>
            <a:normAutofit/>
          </a:bodyPr>
          <a:lstStyle/>
          <a:p>
            <a:pPr marL="342900" indent="-342900">
              <a:buFont typeface="Arial" panose="020B0604020202020204" pitchFamily="34" charset="0"/>
              <a:buChar char="•"/>
            </a:pPr>
            <a:r>
              <a:rPr lang="es-ES_tradnl" sz="2400" dirty="0"/>
              <a:t>Tu nombre</a:t>
            </a:r>
          </a:p>
          <a:p>
            <a:pPr marL="342900" indent="-342900">
              <a:buFont typeface="Arial" panose="020B0604020202020204" pitchFamily="34" charset="0"/>
              <a:buChar char="•"/>
            </a:pPr>
            <a:r>
              <a:rPr lang="es-ES_tradnl" sz="2400" dirty="0"/>
              <a:t>Opcional: pronombres</a:t>
            </a:r>
          </a:p>
          <a:p>
            <a:pPr marL="342900" indent="-342900">
              <a:buFont typeface="Arial" panose="020B0604020202020204" pitchFamily="34" charset="0"/>
              <a:buChar char="•"/>
            </a:pPr>
            <a:r>
              <a:rPr lang="es-ES_tradnl" sz="2400" dirty="0"/>
              <a:t>Comparte un libro, serie, película, podcast, que hayas visto hace poco y recomiendas al curso</a:t>
            </a:r>
          </a:p>
          <a:p>
            <a:pPr marL="800100" lvl="2" indent="-342900"/>
            <a:r>
              <a:rPr lang="es-ES_tradnl" sz="2000" dirty="0"/>
              <a:t>Mejor aún si tiene algo interesante con respecto a género</a:t>
            </a:r>
          </a:p>
        </p:txBody>
      </p:sp>
      <p:pic>
        <p:nvPicPr>
          <p:cNvPr id="5" name="Picture 4">
            <a:extLst>
              <a:ext uri="{FF2B5EF4-FFF2-40B4-BE49-F238E27FC236}">
                <a16:creationId xmlns:a16="http://schemas.microsoft.com/office/drawing/2014/main" id="{A4213090-63C5-E9A9-D58A-981BF1737594}"/>
              </a:ext>
            </a:extLst>
          </p:cNvPr>
          <p:cNvPicPr>
            <a:picLocks noChangeAspect="1"/>
          </p:cNvPicPr>
          <p:nvPr/>
        </p:nvPicPr>
        <p:blipFill>
          <a:blip r:embed="rId3"/>
          <a:stretch>
            <a:fillRect/>
          </a:stretch>
        </p:blipFill>
        <p:spPr>
          <a:xfrm>
            <a:off x="9604251" y="3772695"/>
            <a:ext cx="2062032" cy="2590492"/>
          </a:xfrm>
          <a:prstGeom prst="rect">
            <a:avLst/>
          </a:prstGeom>
        </p:spPr>
      </p:pic>
      <p:pic>
        <p:nvPicPr>
          <p:cNvPr id="7" name="Picture 6">
            <a:extLst>
              <a:ext uri="{FF2B5EF4-FFF2-40B4-BE49-F238E27FC236}">
                <a16:creationId xmlns:a16="http://schemas.microsoft.com/office/drawing/2014/main" id="{0831C37C-76D8-60BA-01B9-279E17605C67}"/>
              </a:ext>
            </a:extLst>
          </p:cNvPr>
          <p:cNvPicPr>
            <a:picLocks noChangeAspect="1"/>
          </p:cNvPicPr>
          <p:nvPr/>
        </p:nvPicPr>
        <p:blipFill>
          <a:blip r:embed="rId4"/>
          <a:stretch>
            <a:fillRect/>
          </a:stretch>
        </p:blipFill>
        <p:spPr>
          <a:xfrm>
            <a:off x="7432316" y="3704324"/>
            <a:ext cx="1764393" cy="2656284"/>
          </a:xfrm>
          <a:prstGeom prst="rect">
            <a:avLst/>
          </a:prstGeom>
        </p:spPr>
      </p:pic>
    </p:spTree>
    <p:extLst>
      <p:ext uri="{BB962C8B-B14F-4D97-AF65-F5344CB8AC3E}">
        <p14:creationId xmlns:p14="http://schemas.microsoft.com/office/powerpoint/2010/main" val="1355179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A33D2-D1A8-28DE-F253-C92B93A0FA36}"/>
              </a:ext>
            </a:extLst>
          </p:cNvPr>
          <p:cNvSpPr>
            <a:spLocks noGrp="1"/>
          </p:cNvSpPr>
          <p:nvPr>
            <p:ph type="title"/>
          </p:nvPr>
        </p:nvSpPr>
        <p:spPr/>
        <p:txBody>
          <a:bodyPr/>
          <a:lstStyle/>
          <a:p>
            <a:r>
              <a:rPr lang="es-ES_tradnl" dirty="0"/>
              <a:t>Hoja de ruta del curso</a:t>
            </a:r>
          </a:p>
        </p:txBody>
      </p:sp>
      <p:graphicFrame>
        <p:nvGraphicFramePr>
          <p:cNvPr id="4" name="Content Placeholder 3">
            <a:extLst>
              <a:ext uri="{FF2B5EF4-FFF2-40B4-BE49-F238E27FC236}">
                <a16:creationId xmlns:a16="http://schemas.microsoft.com/office/drawing/2014/main" id="{7284A10C-7F5F-74E5-E567-997875C05A31}"/>
              </a:ext>
            </a:extLst>
          </p:cNvPr>
          <p:cNvGraphicFramePr>
            <a:graphicFrameLocks noGrp="1"/>
          </p:cNvGraphicFramePr>
          <p:nvPr>
            <p:ph idx="1"/>
            <p:extLst>
              <p:ext uri="{D42A27DB-BD31-4B8C-83A1-F6EECF244321}">
                <p14:modId xmlns:p14="http://schemas.microsoft.com/office/powerpoint/2010/main" val="138407374"/>
              </p:ext>
            </p:extLst>
          </p:nvPr>
        </p:nvGraphicFramePr>
        <p:xfrm>
          <a:off x="803653" y="2545024"/>
          <a:ext cx="9521683"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7FF56BA-9CF4-7427-1D6C-9EBAD4DC68FB}"/>
              </a:ext>
            </a:extLst>
          </p:cNvPr>
          <p:cNvSpPr txBox="1"/>
          <p:nvPr/>
        </p:nvSpPr>
        <p:spPr>
          <a:xfrm>
            <a:off x="3804177" y="4259267"/>
            <a:ext cx="1290931" cy="400110"/>
          </a:xfrm>
          <a:prstGeom prst="rect">
            <a:avLst/>
          </a:prstGeom>
          <a:solidFill>
            <a:schemeClr val="accent6">
              <a:lumMod val="60000"/>
              <a:lumOff val="40000"/>
            </a:schemeClr>
          </a:solidFill>
        </p:spPr>
        <p:txBody>
          <a:bodyPr wrap="none" rtlCol="0">
            <a:spAutoFit/>
          </a:bodyPr>
          <a:lstStyle/>
          <a:p>
            <a:r>
              <a:rPr lang="es-ES_tradnl" sz="2000" b="1" dirty="0"/>
              <a:t>Prueba 1</a:t>
            </a:r>
          </a:p>
        </p:txBody>
      </p:sp>
      <p:sp>
        <p:nvSpPr>
          <p:cNvPr id="15" name="TextBox 14">
            <a:extLst>
              <a:ext uri="{FF2B5EF4-FFF2-40B4-BE49-F238E27FC236}">
                <a16:creationId xmlns:a16="http://schemas.microsoft.com/office/drawing/2014/main" id="{95FD668E-A6BE-4703-C85B-865CF8BC1719}"/>
              </a:ext>
            </a:extLst>
          </p:cNvPr>
          <p:cNvSpPr txBox="1"/>
          <p:nvPr/>
        </p:nvSpPr>
        <p:spPr>
          <a:xfrm>
            <a:off x="6274676" y="4597266"/>
            <a:ext cx="3231931" cy="400110"/>
          </a:xfrm>
          <a:prstGeom prst="rect">
            <a:avLst/>
          </a:prstGeom>
          <a:solidFill>
            <a:schemeClr val="tx2">
              <a:lumMod val="25000"/>
              <a:lumOff val="75000"/>
            </a:schemeClr>
          </a:solidFill>
        </p:spPr>
        <p:txBody>
          <a:bodyPr wrap="square" rtlCol="0">
            <a:spAutoFit/>
          </a:bodyPr>
          <a:lstStyle/>
          <a:p>
            <a:pPr algn="ctr"/>
            <a:r>
              <a:rPr lang="es-ES_tradnl" sz="2000" b="1" dirty="0"/>
              <a:t>Proyecto grupal</a:t>
            </a:r>
          </a:p>
        </p:txBody>
      </p:sp>
      <p:sp>
        <p:nvSpPr>
          <p:cNvPr id="16" name="TextBox 15">
            <a:extLst>
              <a:ext uri="{FF2B5EF4-FFF2-40B4-BE49-F238E27FC236}">
                <a16:creationId xmlns:a16="http://schemas.microsoft.com/office/drawing/2014/main" id="{1BBF3693-5746-1DD4-13CA-20501A97290D}"/>
              </a:ext>
            </a:extLst>
          </p:cNvPr>
          <p:cNvSpPr txBox="1"/>
          <p:nvPr/>
        </p:nvSpPr>
        <p:spPr>
          <a:xfrm>
            <a:off x="10325336" y="4345260"/>
            <a:ext cx="1336431" cy="400110"/>
          </a:xfrm>
          <a:prstGeom prst="rect">
            <a:avLst/>
          </a:prstGeom>
          <a:solidFill>
            <a:schemeClr val="accent6">
              <a:lumMod val="60000"/>
              <a:lumOff val="40000"/>
            </a:schemeClr>
          </a:solidFill>
        </p:spPr>
        <p:txBody>
          <a:bodyPr wrap="none" rtlCol="0">
            <a:spAutoFit/>
          </a:bodyPr>
          <a:lstStyle>
            <a:defPPr>
              <a:defRPr lang="en-US"/>
            </a:defPPr>
            <a:lvl1pPr>
              <a:defRPr sz="2000" b="1"/>
            </a:lvl1pPr>
          </a:lstStyle>
          <a:p>
            <a:r>
              <a:rPr lang="es-ES_tradnl"/>
              <a:t>Prueba 2</a:t>
            </a:r>
            <a:endParaRPr lang="es-ES_tradnl" dirty="0"/>
          </a:p>
        </p:txBody>
      </p:sp>
      <p:sp>
        <p:nvSpPr>
          <p:cNvPr id="17" name="TextBox 16">
            <a:extLst>
              <a:ext uri="{FF2B5EF4-FFF2-40B4-BE49-F238E27FC236}">
                <a16:creationId xmlns:a16="http://schemas.microsoft.com/office/drawing/2014/main" id="{5B749879-A750-8E6E-32F2-5EB131736585}"/>
              </a:ext>
            </a:extLst>
          </p:cNvPr>
          <p:cNvSpPr txBox="1"/>
          <p:nvPr/>
        </p:nvSpPr>
        <p:spPr>
          <a:xfrm>
            <a:off x="803653" y="6093942"/>
            <a:ext cx="9521683" cy="400110"/>
          </a:xfrm>
          <a:prstGeom prst="rect">
            <a:avLst/>
          </a:prstGeom>
          <a:solidFill>
            <a:schemeClr val="accent2"/>
          </a:solidFill>
        </p:spPr>
        <p:txBody>
          <a:bodyPr wrap="square" rtlCol="0">
            <a:spAutoFit/>
          </a:bodyPr>
          <a:lstStyle/>
          <a:p>
            <a:pPr algn="ctr"/>
            <a:r>
              <a:rPr lang="es-ES_tradnl" sz="2000" b="1" dirty="0"/>
              <a:t>Actividades en clases y participación</a:t>
            </a:r>
          </a:p>
        </p:txBody>
      </p:sp>
      <p:sp>
        <p:nvSpPr>
          <p:cNvPr id="3" name="TextBox 2">
            <a:extLst>
              <a:ext uri="{FF2B5EF4-FFF2-40B4-BE49-F238E27FC236}">
                <a16:creationId xmlns:a16="http://schemas.microsoft.com/office/drawing/2014/main" id="{0666BE0F-62DA-7E14-E42D-084AE0406EB2}"/>
              </a:ext>
            </a:extLst>
          </p:cNvPr>
          <p:cNvSpPr txBox="1"/>
          <p:nvPr/>
        </p:nvSpPr>
        <p:spPr>
          <a:xfrm>
            <a:off x="233851" y="4197157"/>
            <a:ext cx="461665" cy="2419660"/>
          </a:xfrm>
          <a:prstGeom prst="rect">
            <a:avLst/>
          </a:prstGeom>
          <a:solidFill>
            <a:schemeClr val="accent6">
              <a:lumMod val="60000"/>
              <a:lumOff val="40000"/>
            </a:schemeClr>
          </a:solidFill>
        </p:spPr>
        <p:txBody>
          <a:bodyPr vert="vert270" wrap="square" rtlCol="0">
            <a:spAutoFit/>
          </a:bodyPr>
          <a:lstStyle/>
          <a:p>
            <a:pPr algn="ctr"/>
            <a:r>
              <a:rPr lang="es-ES_tradnl" dirty="0"/>
              <a:t>Evaluaciones</a:t>
            </a:r>
          </a:p>
        </p:txBody>
      </p:sp>
      <p:sp>
        <p:nvSpPr>
          <p:cNvPr id="6" name="TextBox 5">
            <a:extLst>
              <a:ext uri="{FF2B5EF4-FFF2-40B4-BE49-F238E27FC236}">
                <a16:creationId xmlns:a16="http://schemas.microsoft.com/office/drawing/2014/main" id="{55E3E225-490B-89E3-D2A9-10E28EECFD70}"/>
              </a:ext>
            </a:extLst>
          </p:cNvPr>
          <p:cNvSpPr txBox="1"/>
          <p:nvPr/>
        </p:nvSpPr>
        <p:spPr>
          <a:xfrm>
            <a:off x="233851" y="2545024"/>
            <a:ext cx="461665" cy="1325563"/>
          </a:xfrm>
          <a:prstGeom prst="rect">
            <a:avLst/>
          </a:prstGeom>
          <a:solidFill>
            <a:schemeClr val="accent6">
              <a:lumMod val="60000"/>
              <a:lumOff val="40000"/>
            </a:schemeClr>
          </a:solidFill>
        </p:spPr>
        <p:txBody>
          <a:bodyPr vert="vert270" wrap="square" rtlCol="0">
            <a:spAutoFit/>
          </a:bodyPr>
          <a:lstStyle/>
          <a:p>
            <a:pPr algn="ctr"/>
            <a:r>
              <a:rPr lang="es-ES_tradnl" dirty="0"/>
              <a:t>Contenido</a:t>
            </a:r>
          </a:p>
        </p:txBody>
      </p:sp>
    </p:spTree>
    <p:extLst>
      <p:ext uri="{BB962C8B-B14F-4D97-AF65-F5344CB8AC3E}">
        <p14:creationId xmlns:p14="http://schemas.microsoft.com/office/powerpoint/2010/main" val="3053856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16C64-59BF-CE57-CCE9-0C4F29BF04D0}"/>
              </a:ext>
            </a:extLst>
          </p:cNvPr>
          <p:cNvSpPr>
            <a:spLocks noGrp="1"/>
          </p:cNvSpPr>
          <p:nvPr>
            <p:ph type="title"/>
          </p:nvPr>
        </p:nvSpPr>
        <p:spPr/>
        <p:txBody>
          <a:bodyPr/>
          <a:lstStyle/>
          <a:p>
            <a:r>
              <a:rPr lang="es-ES_tradnl" dirty="0"/>
              <a:t>Por favor revisar el programa en detalle</a:t>
            </a:r>
          </a:p>
        </p:txBody>
      </p:sp>
      <p:sp>
        <p:nvSpPr>
          <p:cNvPr id="3" name="Content Placeholder 2">
            <a:extLst>
              <a:ext uri="{FF2B5EF4-FFF2-40B4-BE49-F238E27FC236}">
                <a16:creationId xmlns:a16="http://schemas.microsoft.com/office/drawing/2014/main" id="{95C050EA-B9D0-6584-681E-77359D77C66C}"/>
              </a:ext>
            </a:extLst>
          </p:cNvPr>
          <p:cNvSpPr>
            <a:spLocks noGrp="1"/>
          </p:cNvSpPr>
          <p:nvPr>
            <p:ph idx="1"/>
          </p:nvPr>
        </p:nvSpPr>
        <p:spPr>
          <a:xfrm>
            <a:off x="525717" y="2521885"/>
            <a:ext cx="10077557" cy="4005524"/>
          </a:xfrm>
        </p:spPr>
        <p:txBody>
          <a:bodyPr>
            <a:normAutofit/>
          </a:bodyPr>
          <a:lstStyle/>
          <a:p>
            <a:r>
              <a:rPr lang="es-ES_tradnl" dirty="0"/>
              <a:t>Políticas del curso con respecto a integridad académica y justificación de inasistencias.</a:t>
            </a:r>
          </a:p>
          <a:p>
            <a:r>
              <a:rPr lang="es-ES_tradnl" dirty="0"/>
              <a:t>Detalle sobre las evaluaciones</a:t>
            </a:r>
          </a:p>
          <a:p>
            <a:r>
              <a:rPr lang="es-ES_tradnl" dirty="0"/>
              <a:t>Calendarización completa (siempre sujeta a pequeños cambios): revisar ayudantías y fechas de entregas.</a:t>
            </a:r>
          </a:p>
          <a:p>
            <a:r>
              <a:rPr lang="es-ES_tradnl" dirty="0"/>
              <a:t>Sobre las lecturas:</a:t>
            </a:r>
          </a:p>
          <a:p>
            <a:r>
              <a:rPr lang="es-ES_tradnl" dirty="0"/>
              <a:t>	Mínimas marcadas con **</a:t>
            </a:r>
          </a:p>
          <a:p>
            <a:r>
              <a:rPr lang="es-ES_tradnl" dirty="0"/>
              <a:t>	Las demás son opcionales pero recomendadas</a:t>
            </a:r>
          </a:p>
          <a:p>
            <a:r>
              <a:rPr lang="es-ES_tradnl" dirty="0"/>
              <a:t>	Todo disponible en link en calendario en el programa</a:t>
            </a:r>
          </a:p>
        </p:txBody>
      </p:sp>
    </p:spTree>
    <p:extLst>
      <p:ext uri="{BB962C8B-B14F-4D97-AF65-F5344CB8AC3E}">
        <p14:creationId xmlns:p14="http://schemas.microsoft.com/office/powerpoint/2010/main" val="92038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BC2B596F-F482-CECB-FCC5-76520DAC487E}"/>
              </a:ext>
            </a:extLst>
          </p:cNvPr>
          <p:cNvSpPr>
            <a:spLocks noGrp="1"/>
          </p:cNvSpPr>
          <p:nvPr>
            <p:ph type="title"/>
          </p:nvPr>
        </p:nvSpPr>
        <p:spPr>
          <a:xfrm>
            <a:off x="525717" y="787068"/>
            <a:ext cx="5566263" cy="1455091"/>
          </a:xfrm>
        </p:spPr>
        <p:txBody>
          <a:bodyPr>
            <a:normAutofit/>
          </a:bodyPr>
          <a:lstStyle/>
          <a:p>
            <a:r>
              <a:rPr lang="es-ES_tradnl" dirty="0"/>
              <a:t>Buenas prácticas</a:t>
            </a:r>
          </a:p>
        </p:txBody>
      </p:sp>
      <p:sp>
        <p:nvSpPr>
          <p:cNvPr id="11" name="Freeform: Shape 10">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14"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5"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6"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7"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8"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0BC74D06-78FC-061B-A16C-0488DA9B5137}"/>
              </a:ext>
            </a:extLst>
          </p:cNvPr>
          <p:cNvSpPr>
            <a:spLocks noGrp="1"/>
          </p:cNvSpPr>
          <p:nvPr>
            <p:ph idx="1"/>
          </p:nvPr>
        </p:nvSpPr>
        <p:spPr>
          <a:xfrm>
            <a:off x="377317" y="2815559"/>
            <a:ext cx="5903751" cy="3787755"/>
          </a:xfrm>
        </p:spPr>
        <p:txBody>
          <a:bodyPr>
            <a:normAutofit/>
          </a:bodyPr>
          <a:lstStyle/>
          <a:p>
            <a:pPr marL="457200" indent="-457200">
              <a:buFont typeface="+mj-lt"/>
              <a:buAutoNum type="arabicPeriod"/>
            </a:pPr>
            <a:r>
              <a:rPr lang="es-ES_tradnl" dirty="0"/>
              <a:t>Preparación antes de la clase: lectura profunda y reflexiva de los materiales</a:t>
            </a:r>
          </a:p>
          <a:p>
            <a:pPr marL="457200" indent="-457200">
              <a:buFont typeface="+mj-lt"/>
              <a:buAutoNum type="arabicPeriod"/>
            </a:pPr>
            <a:r>
              <a:rPr lang="es-ES_tradnl" dirty="0"/>
              <a:t>Profesionalismo y compromiso</a:t>
            </a:r>
          </a:p>
          <a:p>
            <a:pPr marL="914400" lvl="2" indent="-457200">
              <a:buFont typeface="Arial" panose="020B0604020202020204" pitchFamily="34" charset="0"/>
              <a:buChar char="•"/>
            </a:pPr>
            <a:r>
              <a:rPr lang="es-ES_tradnl" sz="2000" dirty="0"/>
              <a:t>Asistencia y puntualidad</a:t>
            </a:r>
          </a:p>
          <a:p>
            <a:pPr marL="457200" indent="-457200">
              <a:buFont typeface="+mj-lt"/>
              <a:buAutoNum type="arabicPeriod"/>
            </a:pPr>
            <a:r>
              <a:rPr lang="es-ES_tradnl" dirty="0"/>
              <a:t>Uso de pantallas: en silencio y guardados, al menos que sea necesario</a:t>
            </a:r>
          </a:p>
          <a:p>
            <a:pPr marL="457200" indent="-457200">
              <a:buFont typeface="+mj-lt"/>
              <a:buAutoNum type="arabicPeriod"/>
            </a:pPr>
            <a:r>
              <a:rPr lang="es-ES_tradnl" dirty="0"/>
              <a:t>Participación en clases: escuchar de manera atenta y contribuir con tus ideas, preguntas y reflexiones</a:t>
            </a:r>
          </a:p>
        </p:txBody>
      </p:sp>
      <p:pic>
        <p:nvPicPr>
          <p:cNvPr id="5" name="Picture 4" descr="Amplio grupo de paracaidistas en el aire">
            <a:extLst>
              <a:ext uri="{FF2B5EF4-FFF2-40B4-BE49-F238E27FC236}">
                <a16:creationId xmlns:a16="http://schemas.microsoft.com/office/drawing/2014/main" id="{BF499E59-57E7-F01A-57C9-D8A11A49C640}"/>
              </a:ext>
            </a:extLst>
          </p:cNvPr>
          <p:cNvPicPr>
            <a:picLocks noChangeAspect="1"/>
          </p:cNvPicPr>
          <p:nvPr/>
        </p:nvPicPr>
        <p:blipFill rotWithShape="1">
          <a:blip r:embed="rId3"/>
          <a:srcRect l="23141" r="21973"/>
          <a:stretch/>
        </p:blipFill>
        <p:spPr>
          <a:xfrm>
            <a:off x="6531789" y="10"/>
            <a:ext cx="5660211" cy="6857990"/>
          </a:xfrm>
          <a:prstGeom prst="rect">
            <a:avLst/>
          </a:prstGeom>
        </p:spPr>
      </p:pic>
      <p:sp>
        <p:nvSpPr>
          <p:cNvPr id="21" name="Freeform: Shape 20">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3" name="Group 22">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4" name="Freeform: Shape 23">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6" name="Freeform: Shape 25">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8"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9"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59678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12AE-AF2C-9EF5-867E-A6169287EF35}"/>
              </a:ext>
            </a:extLst>
          </p:cNvPr>
          <p:cNvSpPr>
            <a:spLocks noGrp="1"/>
          </p:cNvSpPr>
          <p:nvPr>
            <p:ph type="title"/>
          </p:nvPr>
        </p:nvSpPr>
        <p:spPr/>
        <p:txBody>
          <a:bodyPr/>
          <a:lstStyle/>
          <a:p>
            <a:r>
              <a:rPr lang="es-ES_tradnl" dirty="0"/>
              <a:t>Acuerdo de buenas prácticas: creando un ambiente seguro</a:t>
            </a:r>
          </a:p>
        </p:txBody>
      </p:sp>
      <p:sp>
        <p:nvSpPr>
          <p:cNvPr id="3" name="Content Placeholder 2">
            <a:extLst>
              <a:ext uri="{FF2B5EF4-FFF2-40B4-BE49-F238E27FC236}">
                <a16:creationId xmlns:a16="http://schemas.microsoft.com/office/drawing/2014/main" id="{B892EC79-9620-6FF9-7B7C-9F81D3B5F9AC}"/>
              </a:ext>
            </a:extLst>
          </p:cNvPr>
          <p:cNvSpPr>
            <a:spLocks noGrp="1"/>
          </p:cNvSpPr>
          <p:nvPr>
            <p:ph idx="1"/>
          </p:nvPr>
        </p:nvSpPr>
        <p:spPr/>
        <p:txBody>
          <a:bodyPr>
            <a:normAutofit/>
          </a:bodyPr>
          <a:lstStyle/>
          <a:p>
            <a:pPr algn="ctr"/>
            <a:r>
              <a:rPr lang="es-ES_tradnl" sz="2800" dirty="0"/>
              <a:t>¿Qué debemos o no debemos hacer para tener discusiones respetuosas y fructíferas en el curso?</a:t>
            </a:r>
          </a:p>
          <a:p>
            <a:pPr algn="ctr"/>
            <a:r>
              <a:rPr lang="es-ES_tradnl" sz="2800" dirty="0"/>
              <a:t>¿Qué te haría sentir que estamos en un ambiente seguro y cómodo para dar tu opinión?</a:t>
            </a:r>
          </a:p>
          <a:p>
            <a:pPr algn="ctr"/>
            <a:r>
              <a:rPr lang="es-ES_tradnl" sz="2800" dirty="0"/>
              <a:t>¿Cómo aseguramos que todas las personas se sientan incluidas y con una voz?</a:t>
            </a:r>
          </a:p>
        </p:txBody>
      </p:sp>
    </p:spTree>
    <p:extLst>
      <p:ext uri="{BB962C8B-B14F-4D97-AF65-F5344CB8AC3E}">
        <p14:creationId xmlns:p14="http://schemas.microsoft.com/office/powerpoint/2010/main" val="2713730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556D-6963-D40B-9763-6CC80BB724AE}"/>
              </a:ext>
            </a:extLst>
          </p:cNvPr>
          <p:cNvSpPr>
            <a:spLocks noGrp="1"/>
          </p:cNvSpPr>
          <p:nvPr>
            <p:ph type="title"/>
          </p:nvPr>
        </p:nvSpPr>
        <p:spPr/>
        <p:txBody>
          <a:bodyPr/>
          <a:lstStyle/>
          <a:p>
            <a:r>
              <a:rPr lang="es-ES_tradnl" dirty="0"/>
              <a:t>Sugerencias para la lectura de artículos científicos</a:t>
            </a:r>
          </a:p>
        </p:txBody>
      </p:sp>
      <p:sp>
        <p:nvSpPr>
          <p:cNvPr id="10" name="Content 10"/>
          <p:cNvSpPr>
            <a:spLocks noGrp="1"/>
          </p:cNvSpPr>
          <p:nvPr>
            <p:ph idx="1"/>
          </p:nvPr>
        </p:nvSpPr>
        <p:spPr>
          <a:xfrm>
            <a:off x="525717" y="2696704"/>
            <a:ext cx="10734950" cy="3703295"/>
          </a:xfrm>
        </p:spPr>
        <p:txBody>
          <a:bodyPr/>
          <a:lstStyle/>
          <a:p>
            <a:pPr marL="457200" indent="-457200">
              <a:buFont typeface="Arial" panose="020B0604020202020204" pitchFamily="34" charset="0"/>
              <a:buChar char="•"/>
            </a:pPr>
            <a:r>
              <a:rPr lang="es-ES_tradnl" b="1" dirty="0"/>
              <a:t>Lee abstract, intro y conclusión primero — luego el cuerpo</a:t>
            </a:r>
          </a:p>
          <a:p>
            <a:pPr marL="457200" indent="-457200">
              <a:buFont typeface="Arial" panose="020B0604020202020204" pitchFamily="34" charset="0"/>
              <a:buChar char="•"/>
            </a:pPr>
            <a:r>
              <a:rPr lang="es-ES_tradnl" dirty="0"/>
              <a:t>Identifica el argumento central: ¿qué afirma el texto y cómo lo demuestra?</a:t>
            </a:r>
          </a:p>
          <a:p>
            <a:pPr marL="457200" indent="-457200">
              <a:buFont typeface="Arial" panose="020B0604020202020204" pitchFamily="34" charset="0"/>
              <a:buChar char="•"/>
            </a:pPr>
            <a:r>
              <a:rPr lang="es-ES_tradnl" dirty="0"/>
              <a:t>Anota lo que no entendiste — eso es lo que traes a clases</a:t>
            </a:r>
          </a:p>
          <a:p>
            <a:pPr marL="457200" indent="-457200">
              <a:buFont typeface="Arial" panose="020B0604020202020204" pitchFamily="34" charset="0"/>
              <a:buChar char="•"/>
            </a:pPr>
            <a:r>
              <a:rPr lang="es-ES_tradnl" dirty="0"/>
              <a:t>Trae una pregunta o desacuerdo: no necesitas compartir la postura del autor/a</a:t>
            </a:r>
          </a:p>
          <a:p>
            <a:pPr marL="457200" indent="-457200">
              <a:buNone/>
            </a:pPr>
            <a:r>
              <a:rPr lang="es-ES_tradnl" i="1" dirty="0"/>
              <a:t>No necesitas entenderlo todo perfectamente ni memorizar cada dato.</a:t>
            </a:r>
          </a:p>
        </p:txBody>
      </p:sp>
    </p:spTree>
    <p:extLst>
      <p:ext uri="{BB962C8B-B14F-4D97-AF65-F5344CB8AC3E}">
        <p14:creationId xmlns:p14="http://schemas.microsoft.com/office/powerpoint/2010/main" val="795208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0FD1D-4396-E307-EC98-79B22D8E2947}"/>
              </a:ext>
            </a:extLst>
          </p:cNvPr>
          <p:cNvSpPr>
            <a:spLocks noGrp="1"/>
          </p:cNvSpPr>
          <p:nvPr>
            <p:ph type="title"/>
          </p:nvPr>
        </p:nvSpPr>
        <p:spPr/>
        <p:txBody>
          <a:bodyPr/>
          <a:lstStyle/>
          <a:p>
            <a:r>
              <a:rPr lang="es-ES_tradnl" dirty="0"/>
              <a:t>Sugerencias para la lectura de artículos científicos</a:t>
            </a:r>
          </a:p>
        </p:txBody>
      </p:sp>
      <p:graphicFrame>
        <p:nvGraphicFramePr>
          <p:cNvPr id="4" name="Content Placeholder 2">
            <a:extLst>
              <a:ext uri="{FF2B5EF4-FFF2-40B4-BE49-F238E27FC236}">
                <a16:creationId xmlns:a16="http://schemas.microsoft.com/office/drawing/2014/main" id="{2BEF8B71-D7E8-8ED6-1DA4-0A1E6F1EE684}"/>
              </a:ext>
            </a:extLst>
          </p:cNvPr>
          <p:cNvGraphicFramePr>
            <a:graphicFrameLocks noGrp="1"/>
          </p:cNvGraphicFramePr>
          <p:nvPr>
            <p:ph idx="1"/>
            <p:extLst>
              <p:ext uri="{D42A27DB-BD31-4B8C-83A1-F6EECF244321}">
                <p14:modId xmlns:p14="http://schemas.microsoft.com/office/powerpoint/2010/main" val="2763321479"/>
              </p:ext>
            </p:extLst>
          </p:nvPr>
        </p:nvGraphicFramePr>
        <p:xfrm>
          <a:off x="525463" y="2522538"/>
          <a:ext cx="10077450" cy="3548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1052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4" name="Picture 33" descr="Notas adhesivas con signos de interrogación">
            <a:extLst>
              <a:ext uri="{FF2B5EF4-FFF2-40B4-BE49-F238E27FC236}">
                <a16:creationId xmlns:a16="http://schemas.microsoft.com/office/drawing/2014/main" id="{0D37C929-7708-D3F2-6EB6-CF13D4A8AD30}"/>
              </a:ext>
            </a:extLst>
          </p:cNvPr>
          <p:cNvPicPr>
            <a:picLocks noChangeAspect="1"/>
          </p:cNvPicPr>
          <p:nvPr/>
        </p:nvPicPr>
        <p:blipFill rotWithShape="1">
          <a:blip r:embed="rId3"/>
          <a:srcRect t="10151" r="-1" b="5557"/>
          <a:stretch/>
        </p:blipFill>
        <p:spPr>
          <a:xfrm>
            <a:off x="20" y="10"/>
            <a:ext cx="12188932" cy="6857990"/>
          </a:xfrm>
          <a:prstGeom prst="rect">
            <a:avLst/>
          </a:prstGeom>
        </p:spPr>
      </p:pic>
      <p:sp>
        <p:nvSpPr>
          <p:cNvPr id="35" name="Rectangle 34">
            <a:extLst>
              <a:ext uri="{FF2B5EF4-FFF2-40B4-BE49-F238E27FC236}">
                <a16:creationId xmlns:a16="http://schemas.microsoft.com/office/drawing/2014/main" id="{ABC37145-583D-4973-AE68-23CB73494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524" y="0"/>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7598D55F-7C82-1A58-E306-B41C4836EC52}"/>
              </a:ext>
            </a:extLst>
          </p:cNvPr>
          <p:cNvSpPr>
            <a:spLocks noGrp="1"/>
          </p:cNvSpPr>
          <p:nvPr>
            <p:ph type="subTitle" idx="1"/>
          </p:nvPr>
        </p:nvSpPr>
        <p:spPr>
          <a:xfrm>
            <a:off x="6652366" y="1204332"/>
            <a:ext cx="5040785" cy="1351444"/>
          </a:xfrm>
        </p:spPr>
        <p:txBody>
          <a:bodyPr anchor="t">
            <a:normAutofit/>
          </a:bodyPr>
          <a:lstStyle/>
          <a:p>
            <a:endParaRPr lang="es-ES_tradnl">
              <a:solidFill>
                <a:srgbClr val="FFFFFF"/>
              </a:solidFill>
            </a:endParaRPr>
          </a:p>
        </p:txBody>
      </p:sp>
      <p:grpSp>
        <p:nvGrpSpPr>
          <p:cNvPr id="36" name="Graphic 78">
            <a:extLst>
              <a:ext uri="{FF2B5EF4-FFF2-40B4-BE49-F238E27FC236}">
                <a16:creationId xmlns:a16="http://schemas.microsoft.com/office/drawing/2014/main" id="{674FBD09-398F-4886-8D52-3CCAB16ED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57951" y="971370"/>
            <a:ext cx="972241" cy="45718"/>
            <a:chOff x="4886325" y="3371754"/>
            <a:chExt cx="2418492" cy="113728"/>
          </a:xfrm>
          <a:solidFill>
            <a:schemeClr val="accent1"/>
          </a:solidFill>
        </p:grpSpPr>
        <p:sp>
          <p:nvSpPr>
            <p:cNvPr id="37" name="Graphic 78">
              <a:extLst>
                <a:ext uri="{FF2B5EF4-FFF2-40B4-BE49-F238E27FC236}">
                  <a16:creationId xmlns:a16="http://schemas.microsoft.com/office/drawing/2014/main" id="{794E9BAB-B9ED-4E72-B558-1E4B87537E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6" name="Graphic 78">
              <a:extLst>
                <a:ext uri="{FF2B5EF4-FFF2-40B4-BE49-F238E27FC236}">
                  <a16:creationId xmlns:a16="http://schemas.microsoft.com/office/drawing/2014/main" id="{809A1029-A1BA-4EF8-959B-2AF852A34D8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8" name="Graphic 78">
                <a:extLst>
                  <a:ext uri="{FF2B5EF4-FFF2-40B4-BE49-F238E27FC236}">
                    <a16:creationId xmlns:a16="http://schemas.microsoft.com/office/drawing/2014/main" id="{1618CAAA-B087-4302-8144-EFDD1D9FD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D71D93E1-AEA4-4F92-BA99-24786C8A1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CE7112A6-6EAE-4620-B089-30D687AA0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6F45DEA9-D350-4D7C-B408-D0250EE30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2" name="Freeform: Shape 21">
            <a:extLst>
              <a:ext uri="{FF2B5EF4-FFF2-40B4-BE49-F238E27FC236}">
                <a16:creationId xmlns:a16="http://schemas.microsoft.com/office/drawing/2014/main" id="{A37A46C7-8B27-4C69-A8D1-516FBC1EF2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76817"/>
            <a:ext cx="4185210" cy="2202204"/>
          </a:xfrm>
          <a:custGeom>
            <a:avLst/>
            <a:gdLst>
              <a:gd name="connsiteX0" fmla="*/ 0 w 4238069"/>
              <a:gd name="connsiteY0" fmla="*/ 0 h 1903025"/>
              <a:gd name="connsiteX1" fmla="*/ 113310 w 4238069"/>
              <a:gd name="connsiteY1" fmla="*/ 8960 h 1903025"/>
              <a:gd name="connsiteX2" fmla="*/ 291503 w 4238069"/>
              <a:gd name="connsiteY2" fmla="*/ 37000 h 1903025"/>
              <a:gd name="connsiteX3" fmla="*/ 3082930 w 4238069"/>
              <a:gd name="connsiteY3" fmla="*/ 1104916 h 1903025"/>
              <a:gd name="connsiteX4" fmla="*/ 3881548 w 4238069"/>
              <a:gd name="connsiteY4" fmla="*/ 1668276 h 1903025"/>
              <a:gd name="connsiteX5" fmla="*/ 4238069 w 4238069"/>
              <a:gd name="connsiteY5" fmla="*/ 1903025 h 1903025"/>
              <a:gd name="connsiteX6" fmla="*/ 0 w 4238069"/>
              <a:gd name="connsiteY6" fmla="*/ 1903025 h 19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8069" h="1903025">
                <a:moveTo>
                  <a:pt x="0" y="0"/>
                </a:moveTo>
                <a:lnTo>
                  <a:pt x="113310" y="8960"/>
                </a:lnTo>
                <a:cubicBezTo>
                  <a:pt x="173365" y="16155"/>
                  <a:pt x="232870" y="25632"/>
                  <a:pt x="291503" y="37000"/>
                </a:cubicBezTo>
                <a:cubicBezTo>
                  <a:pt x="1250780" y="222537"/>
                  <a:pt x="2264787" y="499636"/>
                  <a:pt x="3082930" y="1104916"/>
                </a:cubicBezTo>
                <a:cubicBezTo>
                  <a:pt x="3348371" y="1301283"/>
                  <a:pt x="3614239" y="1488349"/>
                  <a:pt x="3881548" y="1668276"/>
                </a:cubicBezTo>
                <a:lnTo>
                  <a:pt x="4238069" y="1903025"/>
                </a:lnTo>
                <a:lnTo>
                  <a:pt x="0" y="190302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3" name="Group 42">
            <a:extLst>
              <a:ext uri="{FF2B5EF4-FFF2-40B4-BE49-F238E27FC236}">
                <a16:creationId xmlns:a16="http://schemas.microsoft.com/office/drawing/2014/main" id="{553453FD-7767-485F-BAF4-00C9DA3055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68557" y="4424829"/>
            <a:ext cx="886141" cy="802496"/>
            <a:chOff x="10948005" y="3272152"/>
            <a:chExt cx="868640" cy="786648"/>
          </a:xfrm>
          <a:solidFill>
            <a:schemeClr val="accent6"/>
          </a:solidFill>
        </p:grpSpPr>
        <p:sp>
          <p:nvSpPr>
            <p:cNvPr id="44" name="Freeform: Shape 24">
              <a:extLst>
                <a:ext uri="{FF2B5EF4-FFF2-40B4-BE49-F238E27FC236}">
                  <a16:creationId xmlns:a16="http://schemas.microsoft.com/office/drawing/2014/main" id="{82F1A995-9785-46F3-82E0-F9D08A9CE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5" name="Freeform: Shape 25">
              <a:extLst>
                <a:ext uri="{FF2B5EF4-FFF2-40B4-BE49-F238E27FC236}">
                  <a16:creationId xmlns:a16="http://schemas.microsoft.com/office/drawing/2014/main" id="{73B01ED6-F6B2-42CA-BA1C-419FA3B8B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6" name="Freeform: Shape 26">
              <a:extLst>
                <a:ext uri="{FF2B5EF4-FFF2-40B4-BE49-F238E27FC236}">
                  <a16:creationId xmlns:a16="http://schemas.microsoft.com/office/drawing/2014/main" id="{1380B7B3-FC5A-4FBF-81FF-B8D7B35984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7" name="Graphic 12">
              <a:extLst>
                <a:ext uri="{FF2B5EF4-FFF2-40B4-BE49-F238E27FC236}">
                  <a16:creationId xmlns:a16="http://schemas.microsoft.com/office/drawing/2014/main" id="{C106BDF4-FA50-48FA-9E43-3C336BE81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48" name="Graphic 15">
              <a:extLst>
                <a:ext uri="{FF2B5EF4-FFF2-40B4-BE49-F238E27FC236}">
                  <a16:creationId xmlns:a16="http://schemas.microsoft.com/office/drawing/2014/main" id="{2B32087A-3A42-42E4-924C-387D71FBCC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49" name="Graphic 15">
              <a:extLst>
                <a:ext uri="{FF2B5EF4-FFF2-40B4-BE49-F238E27FC236}">
                  <a16:creationId xmlns:a16="http://schemas.microsoft.com/office/drawing/2014/main" id="{F2F40815-4CE2-433E-BE64-F9DAD58D23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0" name="Freeform: Shape 30">
              <a:extLst>
                <a:ext uri="{FF2B5EF4-FFF2-40B4-BE49-F238E27FC236}">
                  <a16:creationId xmlns:a16="http://schemas.microsoft.com/office/drawing/2014/main" id="{E2E1C49B-D1A1-46C0-9937-A7A363EEF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itle 6">
            <a:extLst>
              <a:ext uri="{FF2B5EF4-FFF2-40B4-BE49-F238E27FC236}">
                <a16:creationId xmlns:a16="http://schemas.microsoft.com/office/drawing/2014/main" id="{974221F7-6556-CA09-545F-41B870B90018}"/>
              </a:ext>
            </a:extLst>
          </p:cNvPr>
          <p:cNvSpPr>
            <a:spLocks noGrp="1"/>
          </p:cNvSpPr>
          <p:nvPr>
            <p:ph type="ctrTitle"/>
          </p:nvPr>
        </p:nvSpPr>
        <p:spPr/>
        <p:txBody>
          <a:bodyPr/>
          <a:lstStyle/>
          <a:p>
            <a:endParaRPr lang="es-ES_tradnl"/>
          </a:p>
        </p:txBody>
      </p:sp>
    </p:spTree>
    <p:extLst>
      <p:ext uri="{BB962C8B-B14F-4D97-AF65-F5344CB8AC3E}">
        <p14:creationId xmlns:p14="http://schemas.microsoft.com/office/powerpoint/2010/main" val="943843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B94CA5B9-DC35-385C-2BD7-C0F93C9095B7}"/>
              </a:ext>
            </a:extLst>
          </p:cNvPr>
          <p:cNvSpPr>
            <a:spLocks noGrp="1"/>
          </p:cNvSpPr>
          <p:nvPr>
            <p:ph type="title"/>
          </p:nvPr>
        </p:nvSpPr>
        <p:spPr>
          <a:xfrm>
            <a:off x="525717" y="787068"/>
            <a:ext cx="5566263" cy="1455091"/>
          </a:xfrm>
        </p:spPr>
        <p:txBody>
          <a:bodyPr vert="horz" lIns="91440" tIns="45720" rIns="91440" bIns="45720" rtlCol="0">
            <a:normAutofit/>
          </a:bodyPr>
          <a:lstStyle/>
          <a:p>
            <a:r>
              <a:rPr lang="en-US"/>
              <a:t>Actividad: Termómetro de la verdad</a:t>
            </a:r>
          </a:p>
        </p:txBody>
      </p:sp>
      <p:sp>
        <p:nvSpPr>
          <p:cNvPr id="58" name="Freeform: Shape 57">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0"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61"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62"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63"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64"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65"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66"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 name="Content Placeholder 3">
            <a:extLst>
              <a:ext uri="{FF2B5EF4-FFF2-40B4-BE49-F238E27FC236}">
                <a16:creationId xmlns:a16="http://schemas.microsoft.com/office/drawing/2014/main" id="{3033D7D0-E0E5-8C09-1F6C-3F291ECEA3DA}"/>
              </a:ext>
            </a:extLst>
          </p:cNvPr>
          <p:cNvSpPr>
            <a:spLocks noGrp="1"/>
          </p:cNvSpPr>
          <p:nvPr>
            <p:ph idx="1"/>
          </p:nvPr>
        </p:nvSpPr>
        <p:spPr>
          <a:xfrm>
            <a:off x="289151" y="2796427"/>
            <a:ext cx="5991917" cy="3817667"/>
          </a:xfrm>
        </p:spPr>
        <p:txBody>
          <a:bodyPr>
            <a:normAutofit/>
          </a:bodyPr>
          <a:lstStyle/>
          <a:p>
            <a:pPr>
              <a:lnSpc>
                <a:spcPct val="100000"/>
              </a:lnSpc>
            </a:pPr>
            <a:r>
              <a:rPr lang="es-ES_tradnl" sz="1800" dirty="0"/>
              <a:t>Grupos de discusión de máximo 5 personas.</a:t>
            </a:r>
          </a:p>
          <a:p>
            <a:pPr>
              <a:lnSpc>
                <a:spcPct val="100000"/>
              </a:lnSpc>
            </a:pPr>
            <a:r>
              <a:rPr lang="es-ES_tradnl" sz="1800" dirty="0"/>
              <a:t>Una tarjeta a la vez. Una persona la lee en voz alta.</a:t>
            </a:r>
          </a:p>
          <a:p>
            <a:pPr>
              <a:lnSpc>
                <a:spcPct val="100000"/>
              </a:lnSpc>
            </a:pPr>
            <a:r>
              <a:rPr lang="es-ES_tradnl" sz="1800" dirty="0"/>
              <a:t>Cada persona del grupo da su opinión.</a:t>
            </a:r>
          </a:p>
          <a:p>
            <a:pPr>
              <a:lnSpc>
                <a:spcPct val="100000"/>
              </a:lnSpc>
            </a:pPr>
            <a:r>
              <a:rPr lang="es-ES_tradnl" sz="1800" b="1" i="1" dirty="0"/>
              <a:t>¿qué tan verdad o mentira crees que es esta afirmación y por qué?</a:t>
            </a:r>
          </a:p>
          <a:p>
            <a:pPr>
              <a:lnSpc>
                <a:spcPct val="100000"/>
              </a:lnSpc>
            </a:pPr>
            <a:r>
              <a:rPr lang="es-ES_tradnl" sz="1800" dirty="0"/>
              <a:t>Luego de escuchar a todas las personas del grupo, se discute y busca un consenso.</a:t>
            </a:r>
          </a:p>
          <a:p>
            <a:pPr>
              <a:lnSpc>
                <a:spcPct val="100000"/>
              </a:lnSpc>
            </a:pPr>
            <a:r>
              <a:rPr lang="es-ES_tradnl" sz="1800" dirty="0"/>
              <a:t>La idea es que NO voten, si no conversar hasta que llegar un acuerdo.</a:t>
            </a:r>
          </a:p>
        </p:txBody>
      </p:sp>
      <p:pic>
        <p:nvPicPr>
          <p:cNvPr id="52" name="Picture 51">
            <a:extLst>
              <a:ext uri="{FF2B5EF4-FFF2-40B4-BE49-F238E27FC236}">
                <a16:creationId xmlns:a16="http://schemas.microsoft.com/office/drawing/2014/main" id="{FD4B861E-4E86-33A6-0EF8-279B80D4DB34}"/>
              </a:ext>
            </a:extLst>
          </p:cNvPr>
          <p:cNvPicPr>
            <a:picLocks noChangeAspect="1"/>
          </p:cNvPicPr>
          <p:nvPr/>
        </p:nvPicPr>
        <p:blipFill rotWithShape="1">
          <a:blip r:embed="rId3"/>
          <a:srcRect l="32350" r="21225"/>
          <a:stretch/>
        </p:blipFill>
        <p:spPr>
          <a:xfrm>
            <a:off x="6531789" y="10"/>
            <a:ext cx="5660211" cy="6857990"/>
          </a:xfrm>
          <a:prstGeom prst="rect">
            <a:avLst/>
          </a:prstGeom>
        </p:spPr>
      </p:pic>
      <p:sp>
        <p:nvSpPr>
          <p:cNvPr id="68" name="Freeform: Shape 67">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70" name="Group 69">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71" name="Freeform: Shape 70">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72" name="Freeform: Shape 71">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73" name="Freeform: Shape 72">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74"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75"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76"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47706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EEDE275-A0B1-23B3-60F2-39F2C265C5F2}"/>
              </a:ext>
            </a:extLst>
          </p:cNvPr>
          <p:cNvSpPr>
            <a:spLocks noGrp="1"/>
          </p:cNvSpPr>
          <p:nvPr>
            <p:ph idx="1"/>
          </p:nvPr>
        </p:nvSpPr>
        <p:spPr/>
        <p:txBody>
          <a:bodyPr/>
          <a:lstStyle/>
          <a:p>
            <a:endParaRPr lang="es-ES_tradnl"/>
          </a:p>
        </p:txBody>
      </p:sp>
      <p:sp>
        <p:nvSpPr>
          <p:cNvPr id="8" name="Title 7">
            <a:extLst>
              <a:ext uri="{FF2B5EF4-FFF2-40B4-BE49-F238E27FC236}">
                <a16:creationId xmlns:a16="http://schemas.microsoft.com/office/drawing/2014/main" id="{8329FC33-4C4B-0F08-62C5-383372A1C2F7}"/>
              </a:ext>
            </a:extLst>
          </p:cNvPr>
          <p:cNvSpPr>
            <a:spLocks noGrp="1"/>
          </p:cNvSpPr>
          <p:nvPr>
            <p:ph type="title"/>
          </p:nvPr>
        </p:nvSpPr>
        <p:spPr/>
        <p:txBody>
          <a:bodyPr/>
          <a:lstStyle/>
          <a:p>
            <a:endParaRPr lang="es-ES_tradnl"/>
          </a:p>
        </p:txBody>
      </p:sp>
      <p:pic>
        <p:nvPicPr>
          <p:cNvPr id="4" name="Content Placeholder 4" descr="A group of rectangular white and blue rectangles&#10;&#10;Description automatically generated">
            <a:extLst>
              <a:ext uri="{FF2B5EF4-FFF2-40B4-BE49-F238E27FC236}">
                <a16:creationId xmlns:a16="http://schemas.microsoft.com/office/drawing/2014/main" id="{C0DEB5F4-29E0-2D58-CD7A-79635268A05F}"/>
              </a:ext>
            </a:extLst>
          </p:cNvPr>
          <p:cNvPicPr>
            <a:picLocks noChangeAspect="1"/>
          </p:cNvPicPr>
          <p:nvPr/>
        </p:nvPicPr>
        <p:blipFill>
          <a:blip r:embed="rId3"/>
          <a:stretch>
            <a:fillRect/>
          </a:stretch>
        </p:blipFill>
        <p:spPr>
          <a:xfrm>
            <a:off x="123825" y="1700150"/>
            <a:ext cx="11944350" cy="3762471"/>
          </a:xfrm>
          <a:prstGeom prst="rect">
            <a:avLst/>
          </a:prstGeom>
        </p:spPr>
      </p:pic>
    </p:spTree>
    <p:extLst>
      <p:ext uri="{BB962C8B-B14F-4D97-AF65-F5344CB8AC3E}">
        <p14:creationId xmlns:p14="http://schemas.microsoft.com/office/powerpoint/2010/main" val="3257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12E6D-11C2-1410-2B8A-049A6DCCC96D}"/>
              </a:ext>
            </a:extLst>
          </p:cNvPr>
          <p:cNvSpPr>
            <a:spLocks noGrp="1"/>
          </p:cNvSpPr>
          <p:nvPr>
            <p:ph type="title"/>
          </p:nvPr>
        </p:nvSpPr>
        <p:spPr/>
        <p:txBody>
          <a:bodyPr/>
          <a:lstStyle/>
          <a:p>
            <a:r>
              <a:rPr lang="es-ES_tradnl" dirty="0"/>
              <a:t>Plenario</a:t>
            </a:r>
          </a:p>
        </p:txBody>
      </p:sp>
      <p:sp>
        <p:nvSpPr>
          <p:cNvPr id="3" name="Content Placeholder 2">
            <a:extLst>
              <a:ext uri="{FF2B5EF4-FFF2-40B4-BE49-F238E27FC236}">
                <a16:creationId xmlns:a16="http://schemas.microsoft.com/office/drawing/2014/main" id="{289D80F8-8AAF-F20B-D5E2-B08B8518889A}"/>
              </a:ext>
            </a:extLst>
          </p:cNvPr>
          <p:cNvSpPr>
            <a:spLocks noGrp="1"/>
          </p:cNvSpPr>
          <p:nvPr>
            <p:ph idx="1"/>
          </p:nvPr>
        </p:nvSpPr>
        <p:spPr/>
        <p:txBody>
          <a:bodyPr>
            <a:normAutofit/>
          </a:bodyPr>
          <a:lstStyle/>
          <a:p>
            <a:pPr marL="457200" indent="-457200">
              <a:buFont typeface="+mj-lt"/>
              <a:buAutoNum type="arabicPeriod"/>
            </a:pPr>
            <a:r>
              <a:rPr lang="es-ES_tradnl" sz="2400" dirty="0"/>
              <a:t>Elegir la afirmación más controversial</a:t>
            </a:r>
          </a:p>
          <a:p>
            <a:pPr marL="457200" indent="-457200">
              <a:buFont typeface="+mj-lt"/>
              <a:buAutoNum type="arabicPeriod"/>
            </a:pPr>
            <a:r>
              <a:rPr lang="es-ES_tradnl" sz="2400" dirty="0"/>
              <a:t>Leer la afirmación y la decisión del grupo</a:t>
            </a:r>
          </a:p>
          <a:p>
            <a:pPr marL="457200" indent="-457200">
              <a:buFont typeface="+mj-lt"/>
              <a:buAutoNum type="arabicPeriod"/>
            </a:pPr>
            <a:r>
              <a:rPr lang="es-ES_tradnl" sz="2400" dirty="0"/>
              <a:t>¿Qué fue lo que más les costó de la actividad?</a:t>
            </a:r>
          </a:p>
          <a:p>
            <a:pPr marL="457200" indent="-457200">
              <a:buFont typeface="+mj-lt"/>
              <a:buAutoNum type="arabicPeriod"/>
            </a:pPr>
            <a:r>
              <a:rPr lang="es-ES_tradnl" sz="2400" dirty="0"/>
              <a:t>¿Qué cosas ayudaron a avanzar en la discusión?</a:t>
            </a:r>
          </a:p>
          <a:p>
            <a:pPr marL="457200" indent="-457200">
              <a:buFont typeface="+mj-lt"/>
              <a:buAutoNum type="arabicPeriod"/>
            </a:pPr>
            <a:r>
              <a:rPr lang="es-ES_tradnl" sz="2400" dirty="0"/>
              <a:t>¿Qué cosas les sorprendieron de la discusión?</a:t>
            </a:r>
          </a:p>
          <a:p>
            <a:endParaRPr lang="es-ES_tradnl" sz="2400" dirty="0"/>
          </a:p>
        </p:txBody>
      </p:sp>
      <p:pic>
        <p:nvPicPr>
          <p:cNvPr id="5" name="Picture 4" descr="A group of rectangular white and blue rectangles&#10;&#10;Description automatically generated">
            <a:extLst>
              <a:ext uri="{FF2B5EF4-FFF2-40B4-BE49-F238E27FC236}">
                <a16:creationId xmlns:a16="http://schemas.microsoft.com/office/drawing/2014/main" id="{99C163AC-CB31-BBD5-D4AD-D3CCD2E81B75}"/>
              </a:ext>
            </a:extLst>
          </p:cNvPr>
          <p:cNvPicPr>
            <a:picLocks noChangeAspect="1"/>
          </p:cNvPicPr>
          <p:nvPr/>
        </p:nvPicPr>
        <p:blipFill>
          <a:blip r:embed="rId3"/>
          <a:stretch>
            <a:fillRect/>
          </a:stretch>
        </p:blipFill>
        <p:spPr>
          <a:xfrm>
            <a:off x="-6326667" y="10982252"/>
            <a:ext cx="5664200" cy="1778000"/>
          </a:xfrm>
          <a:prstGeom prst="rect">
            <a:avLst/>
          </a:prstGeom>
        </p:spPr>
      </p:pic>
    </p:spTree>
    <p:extLst>
      <p:ext uri="{BB962C8B-B14F-4D97-AF65-F5344CB8AC3E}">
        <p14:creationId xmlns:p14="http://schemas.microsoft.com/office/powerpoint/2010/main" val="264916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5" name="Picture 4" descr="Una imagen en primer plano de los peones de ajedrez">
            <a:extLst>
              <a:ext uri="{FF2B5EF4-FFF2-40B4-BE49-F238E27FC236}">
                <a16:creationId xmlns:a16="http://schemas.microsoft.com/office/drawing/2014/main" id="{9B0B47FB-ECAA-C773-6B11-0CA354555601}"/>
              </a:ext>
            </a:extLst>
          </p:cNvPr>
          <p:cNvPicPr>
            <a:picLocks noChangeAspect="1"/>
          </p:cNvPicPr>
          <p:nvPr/>
        </p:nvPicPr>
        <p:blipFill rotWithShape="1">
          <a:blip r:embed="rId3">
            <a:alphaModFix amt="40000"/>
          </a:blip>
          <a:srcRect t="14427" r="-1" b="-1"/>
          <a:stretch/>
        </p:blipFill>
        <p:spPr>
          <a:xfrm>
            <a:off x="20" y="10"/>
            <a:ext cx="12188932" cy="6857990"/>
          </a:xfrm>
          <a:prstGeom prst="rect">
            <a:avLst/>
          </a:prstGeom>
        </p:spPr>
      </p:pic>
      <p:sp>
        <p:nvSpPr>
          <p:cNvPr id="2" name="Title 1">
            <a:extLst>
              <a:ext uri="{FF2B5EF4-FFF2-40B4-BE49-F238E27FC236}">
                <a16:creationId xmlns:a16="http://schemas.microsoft.com/office/drawing/2014/main" id="{2ED8170B-199D-9D9F-2F8B-E384A16D34E8}"/>
              </a:ext>
            </a:extLst>
          </p:cNvPr>
          <p:cNvSpPr>
            <a:spLocks noGrp="1"/>
          </p:cNvSpPr>
          <p:nvPr>
            <p:ph type="ctrTitle"/>
          </p:nvPr>
        </p:nvSpPr>
        <p:spPr>
          <a:xfrm>
            <a:off x="1549238" y="1145080"/>
            <a:ext cx="9090476" cy="2179601"/>
          </a:xfrm>
        </p:spPr>
        <p:txBody>
          <a:bodyPr anchor="b">
            <a:normAutofit/>
          </a:bodyPr>
          <a:lstStyle/>
          <a:p>
            <a:pPr algn="ctr"/>
            <a:r>
              <a:rPr lang="es-ES_tradnl" sz="4800" dirty="0">
                <a:solidFill>
                  <a:srgbClr val="FFFFFF"/>
                </a:solidFill>
              </a:rPr>
              <a:t>¿Por qué una sociología del género?</a:t>
            </a:r>
          </a:p>
        </p:txBody>
      </p:sp>
      <p:sp>
        <p:nvSpPr>
          <p:cNvPr id="11" name="Freeform: Shape 10">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491506" y="-615180"/>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8356" y="3533292"/>
            <a:ext cx="972241" cy="45718"/>
            <a:chOff x="4886325" y="3371754"/>
            <a:chExt cx="2418492" cy="113728"/>
          </a:xfrm>
          <a:solidFill>
            <a:schemeClr val="accent1"/>
          </a:solidFill>
        </p:grpSpPr>
        <p:sp>
          <p:nvSpPr>
            <p:cNvPr id="14"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5"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6"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7"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8"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dirty="0"/>
              </a:p>
            </p:txBody>
          </p:sp>
        </p:grpSp>
      </p:grpSp>
      <p:sp>
        <p:nvSpPr>
          <p:cNvPr id="21" name="Freeform: Shape 20">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516668"/>
            <a:ext cx="4187283"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3" name="Group 22">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969850"/>
            <a:ext cx="886141" cy="802496"/>
            <a:chOff x="10948005" y="3272152"/>
            <a:chExt cx="868640" cy="786648"/>
          </a:xfrm>
          <a:solidFill>
            <a:schemeClr val="accent1"/>
          </a:solidFill>
        </p:grpSpPr>
        <p:sp>
          <p:nvSpPr>
            <p:cNvPr id="24" name="Freeform: Shape 23">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6" name="Freeform: Shape 25">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8"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9"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Subtitle 5">
            <a:extLst>
              <a:ext uri="{FF2B5EF4-FFF2-40B4-BE49-F238E27FC236}">
                <a16:creationId xmlns:a16="http://schemas.microsoft.com/office/drawing/2014/main" id="{B61AEB1F-4253-7529-C592-887896A00F0C}"/>
              </a:ext>
            </a:extLst>
          </p:cNvPr>
          <p:cNvSpPr>
            <a:spLocks noGrp="1"/>
          </p:cNvSpPr>
          <p:nvPr>
            <p:ph type="subTitle" idx="1"/>
          </p:nvPr>
        </p:nvSpPr>
        <p:spPr>
          <a:xfrm>
            <a:off x="633032" y="4165467"/>
            <a:ext cx="10072922" cy="1747837"/>
          </a:xfrm>
        </p:spPr>
        <p:txBody>
          <a:bodyPr/>
          <a:lstStyle/>
          <a:p>
            <a:pPr algn="ctr"/>
            <a:r>
              <a:rPr lang="es-ES_tradnl" dirty="0">
                <a:solidFill>
                  <a:schemeClr val="bg1"/>
                </a:solidFill>
              </a:rPr>
              <a:t>Un breve recorrido a la sociología del género</a:t>
            </a:r>
          </a:p>
        </p:txBody>
      </p:sp>
    </p:spTree>
    <p:extLst>
      <p:ext uri="{BB962C8B-B14F-4D97-AF65-F5344CB8AC3E}">
        <p14:creationId xmlns:p14="http://schemas.microsoft.com/office/powerpoint/2010/main" val="70594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4291A6-A212-2603-D776-377F16ACF793}"/>
              </a:ext>
            </a:extLst>
          </p:cNvPr>
          <p:cNvSpPr txBox="1"/>
          <p:nvPr/>
        </p:nvSpPr>
        <p:spPr>
          <a:xfrm>
            <a:off x="1465490" y="1665981"/>
            <a:ext cx="8854168" cy="1323439"/>
          </a:xfrm>
          <a:prstGeom prst="rect">
            <a:avLst/>
          </a:prstGeom>
          <a:noFill/>
        </p:spPr>
        <p:txBody>
          <a:bodyPr wrap="square">
            <a:spAutoFit/>
          </a:bodyPr>
          <a:lstStyle/>
          <a:p>
            <a:pPr marL="342900" lvl="0" indent="-342900" algn="ctr">
              <a:buFont typeface="Arial" panose="020B0604020202020204" pitchFamily="34" charset="0"/>
              <a:buChar char="•"/>
            </a:pPr>
            <a:r>
              <a:rPr lang="en-CL" sz="2000" i="1" dirty="0"/>
              <a:t>Suecia vs. Arabia Saudita</a:t>
            </a:r>
            <a:r>
              <a:rPr lang="en-CL" sz="2000" dirty="0"/>
              <a:t>: misma biología humana, expectativas de género radicalmente distintas</a:t>
            </a:r>
          </a:p>
          <a:p>
            <a:pPr marL="342900" lvl="0" indent="-342900" algn="ctr">
              <a:buFont typeface="Arial" panose="020B0604020202020204" pitchFamily="34" charset="0"/>
              <a:buChar char="•"/>
            </a:pPr>
            <a:r>
              <a:rPr lang="en-CL" sz="2000" i="1" dirty="0"/>
              <a:t>Chile 1960 vs. Chile 2024</a:t>
            </a:r>
            <a:r>
              <a:rPr lang="en-CL" sz="2000" dirty="0"/>
              <a:t>: la participación laboral femenina pasó de ~25% a ~50%</a:t>
            </a:r>
          </a:p>
        </p:txBody>
      </p:sp>
      <p:sp>
        <p:nvSpPr>
          <p:cNvPr id="7" name="TextBox 6">
            <a:extLst>
              <a:ext uri="{FF2B5EF4-FFF2-40B4-BE49-F238E27FC236}">
                <a16:creationId xmlns:a16="http://schemas.microsoft.com/office/drawing/2014/main" id="{37002B50-8EF5-7C41-DC25-B350634BA054}"/>
              </a:ext>
            </a:extLst>
          </p:cNvPr>
          <p:cNvSpPr txBox="1"/>
          <p:nvPr/>
        </p:nvSpPr>
        <p:spPr>
          <a:xfrm>
            <a:off x="1587273" y="3641034"/>
            <a:ext cx="9017453" cy="2677656"/>
          </a:xfrm>
          <a:prstGeom prst="rect">
            <a:avLst/>
          </a:prstGeom>
          <a:solidFill>
            <a:schemeClr val="tx2">
              <a:lumMod val="25000"/>
              <a:lumOff val="75000"/>
              <a:alpha val="83000"/>
            </a:schemeClr>
          </a:solidFill>
        </p:spPr>
        <p:txBody>
          <a:bodyPr wrap="square" anchor="ctr">
            <a:spAutoFit/>
          </a:bodyPr>
          <a:lstStyle/>
          <a:p>
            <a:pPr algn="ctr"/>
            <a:r>
              <a:rPr lang="en-CL" sz="2800" dirty="0"/>
              <a:t>Si el género fuera solo biología, sería igual en todos lados y en todos los tiempos. </a:t>
            </a:r>
          </a:p>
          <a:p>
            <a:pPr algn="ctr"/>
            <a:endParaRPr lang="en-CL" sz="2800" dirty="0"/>
          </a:p>
          <a:p>
            <a:pPr algn="ctr"/>
            <a:r>
              <a:rPr lang="en-CL" sz="2800" dirty="0"/>
              <a:t>No lo es. Eso es lo que hace posible y </a:t>
            </a:r>
            <a:r>
              <a:rPr lang="en-CL" sz="2800" i="1" dirty="0"/>
              <a:t>necesaria</a:t>
            </a:r>
            <a:r>
              <a:rPr lang="en-CL" sz="2800" dirty="0"/>
              <a:t> una sociología del género.</a:t>
            </a:r>
            <a:endParaRPr lang="es-ES_tradnl" sz="2800" dirty="0"/>
          </a:p>
          <a:p>
            <a:endParaRPr lang="es-ES_tradnl" sz="2800" dirty="0"/>
          </a:p>
        </p:txBody>
      </p:sp>
    </p:spTree>
    <p:extLst>
      <p:ext uri="{BB962C8B-B14F-4D97-AF65-F5344CB8AC3E}">
        <p14:creationId xmlns:p14="http://schemas.microsoft.com/office/powerpoint/2010/main" val="3095202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72B59-FF8A-67DE-F20F-35D5D1C86310}"/>
              </a:ext>
            </a:extLst>
          </p:cNvPr>
          <p:cNvSpPr>
            <a:spLocks noGrp="1"/>
          </p:cNvSpPr>
          <p:nvPr>
            <p:ph type="title"/>
          </p:nvPr>
        </p:nvSpPr>
        <p:spPr/>
        <p:txBody>
          <a:bodyPr>
            <a:normAutofit/>
          </a:bodyPr>
          <a:lstStyle/>
          <a:p>
            <a:r>
              <a:rPr lang="es-ES_tradnl" dirty="0"/>
              <a:t>Crítica feminista a las ciencias sociales</a:t>
            </a:r>
            <a:br>
              <a:rPr lang="es-ES_tradnl" dirty="0"/>
            </a:br>
            <a:r>
              <a:rPr lang="es-ES_tradnl" sz="2200" dirty="0"/>
              <a:t>(</a:t>
            </a:r>
            <a:r>
              <a:rPr lang="es-ES_tradnl" sz="2200" dirty="0" err="1"/>
              <a:t>Acker</a:t>
            </a:r>
            <a:r>
              <a:rPr lang="es-ES_tradnl" sz="2200" dirty="0"/>
              <a:t> 1992; </a:t>
            </a:r>
            <a:r>
              <a:rPr lang="es-ES_tradnl" sz="2200" dirty="0" err="1"/>
              <a:t>Ferree</a:t>
            </a:r>
            <a:r>
              <a:rPr lang="es-ES_tradnl" sz="2200" dirty="0"/>
              <a:t> &amp; Hess 1987; Stacey &amp; Thorne 1985)</a:t>
            </a:r>
          </a:p>
        </p:txBody>
      </p:sp>
      <p:sp>
        <p:nvSpPr>
          <p:cNvPr id="3" name="Content Placeholder 2">
            <a:extLst>
              <a:ext uri="{FF2B5EF4-FFF2-40B4-BE49-F238E27FC236}">
                <a16:creationId xmlns:a16="http://schemas.microsoft.com/office/drawing/2014/main" id="{32ED0853-FF0D-780F-A4EF-27F1B1C09F2A}"/>
              </a:ext>
            </a:extLst>
          </p:cNvPr>
          <p:cNvSpPr>
            <a:spLocks noGrp="1"/>
          </p:cNvSpPr>
          <p:nvPr>
            <p:ph idx="1"/>
          </p:nvPr>
        </p:nvSpPr>
        <p:spPr>
          <a:xfrm>
            <a:off x="525717" y="2521885"/>
            <a:ext cx="10502501" cy="3991457"/>
          </a:xfrm>
        </p:spPr>
        <p:txBody>
          <a:bodyPr>
            <a:noAutofit/>
          </a:bodyPr>
          <a:lstStyle/>
          <a:p>
            <a:pPr marL="342900" indent="-342900">
              <a:buFont typeface="Arial" panose="020B0604020202020204" pitchFamily="34" charset="0"/>
              <a:buChar char="•"/>
            </a:pPr>
            <a:r>
              <a:rPr lang="es-ES_tradnl" dirty="0"/>
              <a:t>Exclusión y devaluación de las mujeres</a:t>
            </a:r>
          </a:p>
          <a:p>
            <a:pPr marL="342900" indent="-342900">
              <a:buFont typeface="Arial" panose="020B0604020202020204" pitchFamily="34" charset="0"/>
              <a:buChar char="•"/>
            </a:pPr>
            <a:r>
              <a:rPr lang="es-ES_tradnl" dirty="0"/>
              <a:t>Hombre-centrismo que ha posicionado a las mujeres sólo en relación a los hombres.</a:t>
            </a:r>
          </a:p>
          <a:p>
            <a:pPr marL="342900" indent="-342900">
              <a:buFont typeface="Arial" panose="020B0604020202020204" pitchFamily="34" charset="0"/>
              <a:buChar char="•"/>
            </a:pPr>
            <a:r>
              <a:rPr lang="es-ES_tradnl" dirty="0"/>
              <a:t>Inclusión de mujeres en los paradigmas existentes es muy superficial: "agregar a las mujeres y revolver”</a:t>
            </a:r>
          </a:p>
          <a:p>
            <a:pPr marL="800100" lvl="2" indent="-342900">
              <a:buFont typeface="Arial" panose="020B0604020202020204" pitchFamily="34" charset="0"/>
              <a:buChar char="•"/>
            </a:pPr>
            <a:r>
              <a:rPr lang="es-ES_tradnl" sz="2000" dirty="0"/>
              <a:t>Implica repensar marcos conceptuales básicos</a:t>
            </a:r>
          </a:p>
          <a:p>
            <a:pPr marL="342900" lvl="1" indent="-342900"/>
            <a:r>
              <a:rPr lang="es-ES_tradnl" sz="2000" dirty="0"/>
              <a:t>Ignora variaciones dentro de un mismo grupo, cosificando las diferencias grupales como atributos individuales.</a:t>
            </a:r>
          </a:p>
          <a:p>
            <a:pPr marL="342900" lvl="1" indent="-342900"/>
            <a:r>
              <a:rPr lang="es-ES_tradnl" sz="2000" dirty="0"/>
              <a:t>Género como área de estudio periférica</a:t>
            </a:r>
          </a:p>
          <a:p>
            <a:pPr marL="342900" lvl="1" indent="-342900"/>
            <a:r>
              <a:rPr lang="es-ES_tradnl" sz="2000" dirty="0"/>
              <a:t>Género como variable</a:t>
            </a:r>
          </a:p>
        </p:txBody>
      </p:sp>
    </p:spTree>
    <p:extLst>
      <p:ext uri="{BB962C8B-B14F-4D97-AF65-F5344CB8AC3E}">
        <p14:creationId xmlns:p14="http://schemas.microsoft.com/office/powerpoint/2010/main" val="2805684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946B8-84D4-BA4E-FB43-11DBBAA8A691}"/>
              </a:ext>
            </a:extLst>
          </p:cNvPr>
          <p:cNvSpPr>
            <a:spLocks noGrp="1"/>
          </p:cNvSpPr>
          <p:nvPr>
            <p:ph type="title"/>
          </p:nvPr>
        </p:nvSpPr>
        <p:spPr/>
        <p:txBody>
          <a:bodyPr>
            <a:normAutofit/>
          </a:bodyPr>
          <a:lstStyle/>
          <a:p>
            <a:r>
              <a:rPr lang="es-ES_tradnl" dirty="0"/>
              <a:t>Etapas en la investigación de género</a:t>
            </a:r>
            <a:br>
              <a:rPr lang="es-ES_tradnl" dirty="0"/>
            </a:br>
            <a:r>
              <a:rPr lang="en-US" sz="2200" dirty="0"/>
              <a:t>(Acker 1992; </a:t>
            </a:r>
            <a:r>
              <a:rPr lang="en-US" sz="2200" dirty="0" err="1"/>
              <a:t>Bokser</a:t>
            </a:r>
            <a:r>
              <a:rPr lang="en-US" sz="2200" dirty="0"/>
              <a:t> Misses-</a:t>
            </a:r>
            <a:r>
              <a:rPr lang="en-US" sz="2200" dirty="0" err="1"/>
              <a:t>Liwerant</a:t>
            </a:r>
            <a:r>
              <a:rPr lang="en-US" sz="2200" dirty="0"/>
              <a:t> (2020): </a:t>
            </a:r>
            <a:r>
              <a:rPr lang="en-US" sz="2200" dirty="0" err="1"/>
              <a:t>Ferre</a:t>
            </a:r>
            <a:r>
              <a:rPr lang="en-US" sz="2200" dirty="0"/>
              <a:t> &amp; Hess 1987; </a:t>
            </a:r>
            <a:r>
              <a:rPr lang="en-US" sz="2200" dirty="0" err="1"/>
              <a:t>Risman</a:t>
            </a:r>
            <a:r>
              <a:rPr lang="en-US" sz="2200" dirty="0"/>
              <a:t> 2018)</a:t>
            </a:r>
            <a:endParaRPr lang="es-ES_tradnl" sz="2200" dirty="0"/>
          </a:p>
        </p:txBody>
      </p:sp>
      <p:graphicFrame>
        <p:nvGraphicFramePr>
          <p:cNvPr id="8" name="Content Placeholder 7">
            <a:extLst>
              <a:ext uri="{FF2B5EF4-FFF2-40B4-BE49-F238E27FC236}">
                <a16:creationId xmlns:a16="http://schemas.microsoft.com/office/drawing/2014/main" id="{566BE35C-30BC-C4FE-DC4A-C19871FF0AD7}"/>
              </a:ext>
            </a:extLst>
          </p:cNvPr>
          <p:cNvGraphicFramePr>
            <a:graphicFrameLocks noGrp="1"/>
          </p:cNvGraphicFramePr>
          <p:nvPr>
            <p:ph idx="1"/>
            <p:extLst>
              <p:ext uri="{D42A27DB-BD31-4B8C-83A1-F6EECF244321}">
                <p14:modId xmlns:p14="http://schemas.microsoft.com/office/powerpoint/2010/main" val="1231786075"/>
              </p:ext>
            </p:extLst>
          </p:nvPr>
        </p:nvGraphicFramePr>
        <p:xfrm>
          <a:off x="940963" y="2245035"/>
          <a:ext cx="9477460" cy="3942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8660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C44E6-BE27-5F14-5398-ED0A69471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1AD01-F145-FFA6-4F75-37A690ED3203}"/>
              </a:ext>
            </a:extLst>
          </p:cNvPr>
          <p:cNvSpPr>
            <a:spLocks noGrp="1"/>
          </p:cNvSpPr>
          <p:nvPr>
            <p:ph type="title"/>
          </p:nvPr>
        </p:nvSpPr>
        <p:spPr/>
        <p:txBody>
          <a:bodyPr>
            <a:normAutofit/>
          </a:bodyPr>
          <a:lstStyle/>
          <a:p>
            <a:r>
              <a:rPr lang="es-ES_tradnl" dirty="0"/>
              <a:t>Etapas en la investigación de género</a:t>
            </a:r>
            <a:br>
              <a:rPr lang="es-ES_tradnl" dirty="0"/>
            </a:br>
            <a:r>
              <a:rPr lang="en-US" sz="2400" dirty="0"/>
              <a:t>(Acker 1992; </a:t>
            </a:r>
            <a:r>
              <a:rPr lang="en-US" sz="2400" dirty="0" err="1"/>
              <a:t>Ferre</a:t>
            </a:r>
            <a:r>
              <a:rPr lang="en-US" sz="2400" dirty="0"/>
              <a:t> &amp; Hess 1987; </a:t>
            </a:r>
            <a:r>
              <a:rPr lang="en-US" sz="2400" dirty="0" err="1"/>
              <a:t>Risman</a:t>
            </a:r>
            <a:r>
              <a:rPr lang="en-US" sz="2400" dirty="0"/>
              <a:t> 2018)</a:t>
            </a:r>
            <a:endParaRPr lang="es-ES_tradnl" sz="2400" dirty="0"/>
          </a:p>
        </p:txBody>
      </p:sp>
      <p:sp>
        <p:nvSpPr>
          <p:cNvPr id="3" name="Content Placeholder 2">
            <a:extLst>
              <a:ext uri="{FF2B5EF4-FFF2-40B4-BE49-F238E27FC236}">
                <a16:creationId xmlns:a16="http://schemas.microsoft.com/office/drawing/2014/main" id="{8ED56259-89DB-FEC3-D291-FBC172916A0C}"/>
              </a:ext>
            </a:extLst>
          </p:cNvPr>
          <p:cNvSpPr>
            <a:spLocks noGrp="1"/>
          </p:cNvSpPr>
          <p:nvPr>
            <p:ph idx="1"/>
          </p:nvPr>
        </p:nvSpPr>
        <p:spPr/>
        <p:txBody>
          <a:bodyPr>
            <a:normAutofit/>
          </a:bodyPr>
          <a:lstStyle/>
          <a:p>
            <a:pPr marL="457200" indent="-457200">
              <a:buAutoNum type="arabicPeriod"/>
            </a:pPr>
            <a:r>
              <a:rPr lang="es-ES_tradnl" dirty="0"/>
              <a:t>Diferencias entre sexos</a:t>
            </a:r>
          </a:p>
          <a:p>
            <a:pPr marL="457200" indent="-457200">
              <a:buAutoNum type="arabicPeriod"/>
            </a:pPr>
            <a:r>
              <a:rPr lang="es-ES_tradnl" dirty="0"/>
              <a:t>Sexo como rol</a:t>
            </a:r>
          </a:p>
          <a:p>
            <a:pPr marL="457200" indent="-457200">
              <a:buAutoNum type="arabicPeriod"/>
            </a:pPr>
            <a:r>
              <a:rPr lang="es-ES_tradnl" dirty="0"/>
              <a:t>Género como respuesta al “sexo como rol”</a:t>
            </a:r>
          </a:p>
          <a:p>
            <a:pPr marL="457200" indent="-457200">
              <a:buAutoNum type="arabicPeriod"/>
            </a:pPr>
            <a:r>
              <a:rPr lang="es-ES_tradnl" dirty="0"/>
              <a:t>Compresión social del género</a:t>
            </a:r>
          </a:p>
          <a:p>
            <a:pPr marL="914400" lvl="2" indent="-457200">
              <a:buFont typeface="Arial" panose="020B0604020202020204" pitchFamily="34" charset="0"/>
              <a:buChar char="•"/>
            </a:pPr>
            <a:r>
              <a:rPr lang="es-ES_tradnl" dirty="0"/>
              <a:t>El género es algo que “hacemos” no que “somos”</a:t>
            </a:r>
          </a:p>
          <a:p>
            <a:pPr marL="914400" lvl="2" indent="-457200">
              <a:buFont typeface="Arial" panose="020B0604020202020204" pitchFamily="34" charset="0"/>
              <a:buChar char="•"/>
            </a:pPr>
            <a:r>
              <a:rPr lang="es-ES_tradnl" dirty="0"/>
              <a:t>Teorías estructurales de género como sistema</a:t>
            </a:r>
          </a:p>
          <a:p>
            <a:pPr marL="457200" indent="-457200">
              <a:buAutoNum type="arabicPeriod" startAt="4"/>
            </a:pPr>
            <a:r>
              <a:rPr lang="es-ES_tradnl" dirty="0"/>
              <a:t>Crítica al feminismo blanco</a:t>
            </a:r>
          </a:p>
          <a:p>
            <a:pPr marL="457200" indent="-457200">
              <a:buAutoNum type="arabicPeriod" startAt="4"/>
            </a:pPr>
            <a:r>
              <a:rPr lang="es-ES_tradnl" dirty="0"/>
              <a:t>Siglo 21: líneas teóricas recientes</a:t>
            </a:r>
          </a:p>
          <a:p>
            <a:endParaRPr lang="es-ES_tradnl" dirty="0"/>
          </a:p>
        </p:txBody>
      </p:sp>
    </p:spTree>
    <p:extLst>
      <p:ext uri="{BB962C8B-B14F-4D97-AF65-F5344CB8AC3E}">
        <p14:creationId xmlns:p14="http://schemas.microsoft.com/office/powerpoint/2010/main" val="3808839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43E84F78-8FA7-0424-BDB1-144D72EF673F}"/>
              </a:ext>
            </a:extLst>
          </p:cNvPr>
          <p:cNvSpPr>
            <a:spLocks noGrp="1"/>
          </p:cNvSpPr>
          <p:nvPr>
            <p:ph type="title"/>
          </p:nvPr>
        </p:nvSpPr>
        <p:spPr>
          <a:xfrm>
            <a:off x="525717" y="787068"/>
            <a:ext cx="4663649" cy="1455091"/>
          </a:xfrm>
        </p:spPr>
        <p:txBody>
          <a:bodyPr>
            <a:normAutofit/>
          </a:bodyPr>
          <a:lstStyle/>
          <a:p>
            <a:r>
              <a:rPr lang="es-ES_tradnl" dirty="0"/>
              <a:t>1. Diferencias entre sexos</a:t>
            </a:r>
          </a:p>
        </p:txBody>
      </p:sp>
      <p:sp>
        <p:nvSpPr>
          <p:cNvPr id="13" name="Freeform: Shape 12">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5"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16"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7"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8"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0"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1"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EDAD2799-6D97-5F1C-B140-718905901DFD}"/>
              </a:ext>
            </a:extLst>
          </p:cNvPr>
          <p:cNvSpPr>
            <a:spLocks noGrp="1"/>
          </p:cNvSpPr>
          <p:nvPr>
            <p:ph idx="1"/>
          </p:nvPr>
        </p:nvSpPr>
        <p:spPr>
          <a:xfrm>
            <a:off x="525717" y="2796427"/>
            <a:ext cx="5975330" cy="3274503"/>
          </a:xfrm>
        </p:spPr>
        <p:txBody>
          <a:bodyPr>
            <a:normAutofit/>
          </a:bodyPr>
          <a:lstStyle/>
          <a:p>
            <a:pPr>
              <a:lnSpc>
                <a:spcPct val="100000"/>
              </a:lnSpc>
            </a:pPr>
            <a:r>
              <a:rPr lang="es-ES_tradnl" dirty="0"/>
              <a:t>Principal foco en las </a:t>
            </a:r>
            <a:r>
              <a:rPr lang="es-ES_tradnl" b="1" dirty="0"/>
              <a:t>diferencias biológicas entre hombres y mujeres</a:t>
            </a:r>
            <a:r>
              <a:rPr lang="es-ES_tradnl" dirty="0"/>
              <a:t> que históricamente se han usado para justificar y explicar la dominación de los hombres.</a:t>
            </a:r>
          </a:p>
          <a:p>
            <a:pPr marL="342900" indent="-342900">
              <a:lnSpc>
                <a:spcPct val="100000"/>
              </a:lnSpc>
              <a:buFont typeface="Arial" panose="020B0604020202020204" pitchFamily="34" charset="0"/>
              <a:buChar char="•"/>
            </a:pPr>
            <a:r>
              <a:rPr lang="es-ES_tradnl" dirty="0"/>
              <a:t>Sexo = diferencias biológicas entre los cuerpos de hombres y mujeres (visión binaria)</a:t>
            </a:r>
          </a:p>
          <a:p>
            <a:pPr marL="342900" lvl="1" indent="-342900">
              <a:lnSpc>
                <a:spcPct val="100000"/>
              </a:lnSpc>
            </a:pPr>
            <a:r>
              <a:rPr lang="es-ES_tradnl" sz="2000" dirty="0"/>
              <a:t>Hormonas afectan el desarrollo del cerebro y estas diferencias explican la feminidad, masculinidad, y las diferencias de género</a:t>
            </a:r>
          </a:p>
          <a:p>
            <a:pPr lvl="1" indent="0">
              <a:lnSpc>
                <a:spcPct val="100000"/>
              </a:lnSpc>
              <a:buNone/>
            </a:pPr>
            <a:endParaRPr lang="es-ES_tradnl" sz="2000" dirty="0"/>
          </a:p>
          <a:p>
            <a:pPr>
              <a:lnSpc>
                <a:spcPct val="100000"/>
              </a:lnSpc>
            </a:pPr>
            <a:endParaRPr lang="es-ES_tradnl" dirty="0"/>
          </a:p>
        </p:txBody>
      </p:sp>
      <p:pic>
        <p:nvPicPr>
          <p:cNvPr id="5" name="Picture 4" descr="A person and person's brain&#10;&#10;Description automatically generated">
            <a:extLst>
              <a:ext uri="{FF2B5EF4-FFF2-40B4-BE49-F238E27FC236}">
                <a16:creationId xmlns:a16="http://schemas.microsoft.com/office/drawing/2014/main" id="{372172DF-412D-4A3B-1838-ABB1A483B96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002636" y="2260494"/>
            <a:ext cx="4691795" cy="2639134"/>
          </a:xfrm>
          <a:prstGeom prst="rect">
            <a:avLst/>
          </a:prstGeom>
        </p:spPr>
      </p:pic>
      <p:sp>
        <p:nvSpPr>
          <p:cNvPr id="23" name="Freeform: Shape 22">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5" name="Group 24">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6" name="Freeform: Shape 25">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Freeform: Shape 26">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8" name="Freeform: Shape 27">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9"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30"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1"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Box 5">
            <a:extLst>
              <a:ext uri="{FF2B5EF4-FFF2-40B4-BE49-F238E27FC236}">
                <a16:creationId xmlns:a16="http://schemas.microsoft.com/office/drawing/2014/main" id="{3B2730CD-E6E8-C2B8-F554-4C448A8AA0AF}"/>
              </a:ext>
            </a:extLst>
          </p:cNvPr>
          <p:cNvSpPr txBox="1"/>
          <p:nvPr/>
        </p:nvSpPr>
        <p:spPr>
          <a:xfrm>
            <a:off x="8822842" y="4775400"/>
            <a:ext cx="2791149" cy="200055"/>
          </a:xfrm>
          <a:prstGeom prst="rect">
            <a:avLst/>
          </a:prstGeom>
          <a:solidFill>
            <a:srgbClr val="000000"/>
          </a:solidFill>
        </p:spPr>
        <p:txBody>
          <a:bodyPr wrap="none" rtlCol="0">
            <a:spAutoFit/>
          </a:bodyPr>
          <a:lstStyle/>
          <a:p>
            <a:pPr algn="r">
              <a:spcAft>
                <a:spcPts val="600"/>
              </a:spcAft>
            </a:pPr>
            <a:r>
              <a:rPr lang="es-ES_tradnl" sz="700">
                <a:solidFill>
                  <a:srgbClr val="FFFFFF"/>
                </a:solidFill>
                <a:hlinkClick r:id="rId4" tooltip="https://mappingignorance.org/2017/05/10/sexual-differences-in-the-human-brain/">
                  <a:extLst>
                    <a:ext uri="{A12FA001-AC4F-418D-AE19-62706E023703}">
                      <ahyp:hlinkClr xmlns:ahyp="http://schemas.microsoft.com/office/drawing/2018/hyperlinkcolor" val="tx"/>
                    </a:ext>
                  </a:extLst>
                </a:hlinkClick>
              </a:rPr>
              <a:t>This Photo</a:t>
            </a:r>
            <a:r>
              <a:rPr lang="es-ES_tradnl" sz="700">
                <a:solidFill>
                  <a:srgbClr val="FFFFFF"/>
                </a:solidFill>
              </a:rPr>
              <a:t> by Unknown Author is licensed under </a:t>
            </a:r>
            <a:r>
              <a:rPr lang="es-ES_tradnl"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s-ES_tradnl" sz="700">
              <a:solidFill>
                <a:srgbClr val="FFFFFF"/>
              </a:solidFill>
            </a:endParaRPr>
          </a:p>
        </p:txBody>
      </p:sp>
    </p:spTree>
    <p:extLst>
      <p:ext uri="{BB962C8B-B14F-4D97-AF65-F5344CB8AC3E}">
        <p14:creationId xmlns:p14="http://schemas.microsoft.com/office/powerpoint/2010/main" val="3823001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F8BAB400-0A41-E599-E03D-21BC382B37A7}"/>
              </a:ext>
            </a:extLst>
          </p:cNvPr>
          <p:cNvSpPr>
            <a:spLocks noGrp="1"/>
          </p:cNvSpPr>
          <p:nvPr>
            <p:ph type="title"/>
          </p:nvPr>
        </p:nvSpPr>
        <p:spPr>
          <a:xfrm>
            <a:off x="525717" y="787068"/>
            <a:ext cx="4663649" cy="1455091"/>
          </a:xfrm>
        </p:spPr>
        <p:txBody>
          <a:bodyPr>
            <a:normAutofit/>
          </a:bodyPr>
          <a:lstStyle/>
          <a:p>
            <a:r>
              <a:rPr lang="es-ES_tradnl" dirty="0"/>
              <a:t>2. Sexo como rol (psicología)</a:t>
            </a:r>
          </a:p>
        </p:txBody>
      </p:sp>
      <p:sp>
        <p:nvSpPr>
          <p:cNvPr id="17" name="Freeform: Shape 16">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9"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20"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1"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2"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3"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4"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5"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359A5A2D-4436-1930-C27A-FBE683F78E78}"/>
              </a:ext>
            </a:extLst>
          </p:cNvPr>
          <p:cNvSpPr>
            <a:spLocks noGrp="1"/>
          </p:cNvSpPr>
          <p:nvPr>
            <p:ph idx="1"/>
          </p:nvPr>
        </p:nvSpPr>
        <p:spPr>
          <a:xfrm>
            <a:off x="345701" y="2779384"/>
            <a:ext cx="6137503" cy="3672915"/>
          </a:xfrm>
        </p:spPr>
        <p:txBody>
          <a:bodyPr>
            <a:normAutofit lnSpcReduction="10000"/>
          </a:bodyPr>
          <a:lstStyle/>
          <a:p>
            <a:pPr marL="800100" indent="-342900">
              <a:lnSpc>
                <a:spcPct val="100000"/>
              </a:lnSpc>
              <a:buFont typeface="Arial" panose="020B0604020202020204" pitchFamily="34" charset="0"/>
              <a:buChar char="•"/>
            </a:pPr>
            <a:r>
              <a:rPr lang="es-ES_tradnl" dirty="0"/>
              <a:t>Desafía la idea de que la feminidad y masculinidad se pueden medir en escalas unidimensionales (polos opuestos)</a:t>
            </a:r>
          </a:p>
          <a:p>
            <a:pPr marL="800100" indent="-342900">
              <a:lnSpc>
                <a:spcPct val="100000"/>
              </a:lnSpc>
              <a:buFont typeface="Arial" panose="020B0604020202020204" pitchFamily="34" charset="0"/>
              <a:buChar char="•"/>
            </a:pPr>
            <a:r>
              <a:rPr lang="es-ES_tradnl" dirty="0" err="1"/>
              <a:t>Bem</a:t>
            </a:r>
            <a:r>
              <a:rPr lang="es-ES_tradnl" dirty="0"/>
              <a:t> planteo que la feminidad y masculinidad eran independientes del sexo de las personas; la masculinidad y feminidad son dimensiones paralelas.</a:t>
            </a:r>
          </a:p>
          <a:p>
            <a:pPr marL="800100" indent="-342900">
              <a:lnSpc>
                <a:spcPct val="100000"/>
              </a:lnSpc>
              <a:buFont typeface="Arial" panose="020B0604020202020204" pitchFamily="34" charset="0"/>
              <a:buChar char="•"/>
            </a:pPr>
            <a:r>
              <a:rPr lang="es-ES_tradnl" dirty="0"/>
              <a:t>Inicio del estudio de los estereotipos de género, diferencia entre los estereotipos descriptivos (lo que algo es) y los prescriptivos (lo que algo debe ser)</a:t>
            </a:r>
          </a:p>
          <a:p>
            <a:pPr>
              <a:lnSpc>
                <a:spcPct val="100000"/>
              </a:lnSpc>
            </a:pPr>
            <a:endParaRPr lang="es-ES_tradnl" dirty="0"/>
          </a:p>
        </p:txBody>
      </p:sp>
      <p:pic>
        <p:nvPicPr>
          <p:cNvPr id="10" name="Picture 9" descr="A white and red text with black text&#10;&#10;Description automatically generated with medium confidence">
            <a:extLst>
              <a:ext uri="{FF2B5EF4-FFF2-40B4-BE49-F238E27FC236}">
                <a16:creationId xmlns:a16="http://schemas.microsoft.com/office/drawing/2014/main" id="{88DAFCB0-0304-5784-3DA8-F58AC9394C28}"/>
              </a:ext>
            </a:extLst>
          </p:cNvPr>
          <p:cNvPicPr>
            <a:picLocks noChangeAspect="1"/>
          </p:cNvPicPr>
          <p:nvPr/>
        </p:nvPicPr>
        <p:blipFill>
          <a:blip r:embed="rId3"/>
          <a:stretch>
            <a:fillRect/>
          </a:stretch>
        </p:blipFill>
        <p:spPr>
          <a:xfrm>
            <a:off x="6852250" y="598272"/>
            <a:ext cx="4786653" cy="5661456"/>
          </a:xfrm>
          <a:prstGeom prst="rect">
            <a:avLst/>
          </a:prstGeom>
        </p:spPr>
      </p:pic>
      <p:sp>
        <p:nvSpPr>
          <p:cNvPr id="27" name="Freeform: Shape 26">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9" name="Group 28">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30" name="Freeform: Shape 29">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1" name="Freeform: Shape 30">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2" name="Freeform: Shape 31">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3"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34"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5"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9405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1A18-0161-8C44-D45B-AC06590AD4C9}"/>
              </a:ext>
            </a:extLst>
          </p:cNvPr>
          <p:cNvSpPr>
            <a:spLocks noGrp="1"/>
          </p:cNvSpPr>
          <p:nvPr>
            <p:ph type="title"/>
          </p:nvPr>
        </p:nvSpPr>
        <p:spPr>
          <a:xfrm>
            <a:off x="525718" y="897904"/>
            <a:ext cx="6179882" cy="1325563"/>
          </a:xfrm>
        </p:spPr>
        <p:txBody>
          <a:bodyPr/>
          <a:lstStyle/>
          <a:p>
            <a:r>
              <a:rPr lang="es-ES_tradnl" dirty="0"/>
              <a:t>3. Género como respuesta a “sexo como rol”</a:t>
            </a:r>
          </a:p>
        </p:txBody>
      </p:sp>
      <p:sp>
        <p:nvSpPr>
          <p:cNvPr id="3" name="Content Placeholder 2">
            <a:extLst>
              <a:ext uri="{FF2B5EF4-FFF2-40B4-BE49-F238E27FC236}">
                <a16:creationId xmlns:a16="http://schemas.microsoft.com/office/drawing/2014/main" id="{E8C602F1-57D7-3BA1-08A0-CB3A77914D1E}"/>
              </a:ext>
            </a:extLst>
          </p:cNvPr>
          <p:cNvSpPr>
            <a:spLocks noGrp="1"/>
          </p:cNvSpPr>
          <p:nvPr>
            <p:ph idx="1"/>
          </p:nvPr>
        </p:nvSpPr>
        <p:spPr>
          <a:xfrm>
            <a:off x="221673" y="2411051"/>
            <a:ext cx="9836727" cy="2465749"/>
          </a:xfrm>
        </p:spPr>
        <p:txBody>
          <a:bodyPr>
            <a:normAutofit/>
          </a:bodyPr>
          <a:lstStyle/>
          <a:p>
            <a:pPr marL="800100" indent="-342900">
              <a:buFont typeface="Arial" panose="020B0604020202020204" pitchFamily="34" charset="0"/>
              <a:buChar char="•"/>
            </a:pPr>
            <a:r>
              <a:rPr lang="es-ES_tradnl" dirty="0"/>
              <a:t>Género = diferencias de tipo relacional y social entre los hombres y las mujeres.</a:t>
            </a:r>
          </a:p>
          <a:p>
            <a:pPr marL="800100" indent="-342900">
              <a:buFont typeface="Arial" panose="020B0604020202020204" pitchFamily="34" charset="0"/>
              <a:buChar char="•"/>
            </a:pPr>
            <a:r>
              <a:rPr lang="es-ES_tradnl" dirty="0"/>
              <a:t>Crítica al uso de "roles" (</a:t>
            </a:r>
            <a:r>
              <a:rPr lang="es-ES_tradnl" dirty="0" err="1"/>
              <a:t>Lopata</a:t>
            </a:r>
            <a:r>
              <a:rPr lang="es-ES_tradnl" dirty="0"/>
              <a:t> &amp; Thorne 1978) porque ignora aspectos de poder y privilegio, lo mira como funciones complementarias e implica una estabilidad a través de espacio-tiempo-grupos. </a:t>
            </a:r>
          </a:p>
        </p:txBody>
      </p:sp>
      <p:pic>
        <p:nvPicPr>
          <p:cNvPr id="9" name="Picture 8" descr="A cake with shoes on the side and football on the side&#10;&#10;Description automatically generated">
            <a:extLst>
              <a:ext uri="{FF2B5EF4-FFF2-40B4-BE49-F238E27FC236}">
                <a16:creationId xmlns:a16="http://schemas.microsoft.com/office/drawing/2014/main" id="{609E046A-E25D-D7B7-6DD8-3118EF07E4E6}"/>
              </a:ext>
            </a:extLst>
          </p:cNvPr>
          <p:cNvPicPr>
            <a:picLocks noChangeAspect="1"/>
          </p:cNvPicPr>
          <p:nvPr/>
        </p:nvPicPr>
        <p:blipFill>
          <a:blip r:embed="rId3"/>
          <a:stretch>
            <a:fillRect/>
          </a:stretch>
        </p:blipFill>
        <p:spPr>
          <a:xfrm>
            <a:off x="8136721" y="4178900"/>
            <a:ext cx="3864086" cy="2679100"/>
          </a:xfrm>
          <a:prstGeom prst="rect">
            <a:avLst/>
          </a:prstGeom>
        </p:spPr>
      </p:pic>
      <p:sp>
        <p:nvSpPr>
          <p:cNvPr id="11" name="TextBox 10">
            <a:extLst>
              <a:ext uri="{FF2B5EF4-FFF2-40B4-BE49-F238E27FC236}">
                <a16:creationId xmlns:a16="http://schemas.microsoft.com/office/drawing/2014/main" id="{23838D5E-E662-673D-03D4-33477D0BCC45}"/>
              </a:ext>
            </a:extLst>
          </p:cNvPr>
          <p:cNvSpPr txBox="1"/>
          <p:nvPr/>
        </p:nvSpPr>
        <p:spPr>
          <a:xfrm>
            <a:off x="221673" y="4331301"/>
            <a:ext cx="7800108" cy="1015663"/>
          </a:xfrm>
          <a:prstGeom prst="rect">
            <a:avLst/>
          </a:prstGeom>
          <a:noFill/>
        </p:spPr>
        <p:txBody>
          <a:bodyPr wrap="square">
            <a:spAutoFit/>
          </a:bodyPr>
          <a:lstStyle/>
          <a:p>
            <a:pPr marL="800100" indent="-342900">
              <a:buFont typeface="Arial" panose="020B0604020202020204" pitchFamily="34" charset="0"/>
              <a:buChar char="•"/>
            </a:pPr>
            <a:r>
              <a:rPr lang="es-ES_tradnl" sz="2000" dirty="0"/>
              <a:t>Socialización de género: cómo las personas que son asignadas a la categoría "hombre" al nacer, son criadas de tal manera que incentivan comportamiento "masculinos".</a:t>
            </a:r>
          </a:p>
        </p:txBody>
      </p:sp>
    </p:spTree>
    <p:extLst>
      <p:ext uri="{BB962C8B-B14F-4D97-AF65-F5344CB8AC3E}">
        <p14:creationId xmlns:p14="http://schemas.microsoft.com/office/powerpoint/2010/main" val="2983956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58C8-40F7-DA02-07ED-278D39DC57CE}"/>
              </a:ext>
            </a:extLst>
          </p:cNvPr>
          <p:cNvSpPr>
            <a:spLocks noGrp="1"/>
          </p:cNvSpPr>
          <p:nvPr>
            <p:ph type="title"/>
          </p:nvPr>
        </p:nvSpPr>
        <p:spPr/>
        <p:txBody>
          <a:bodyPr/>
          <a:lstStyle/>
          <a:p>
            <a:r>
              <a:rPr lang="es-ES_tradnl" dirty="0"/>
              <a:t>4. Hacia una comprensión social del género</a:t>
            </a:r>
          </a:p>
        </p:txBody>
      </p:sp>
      <p:sp>
        <p:nvSpPr>
          <p:cNvPr id="3" name="Content Placeholder 2">
            <a:extLst>
              <a:ext uri="{FF2B5EF4-FFF2-40B4-BE49-F238E27FC236}">
                <a16:creationId xmlns:a16="http://schemas.microsoft.com/office/drawing/2014/main" id="{400F5A91-7CAA-6F9B-3229-64663403E753}"/>
              </a:ext>
            </a:extLst>
          </p:cNvPr>
          <p:cNvSpPr>
            <a:spLocks noGrp="1"/>
          </p:cNvSpPr>
          <p:nvPr>
            <p:ph idx="1"/>
          </p:nvPr>
        </p:nvSpPr>
        <p:spPr/>
        <p:txBody>
          <a:bodyPr>
            <a:normAutofit/>
          </a:bodyPr>
          <a:lstStyle/>
          <a:p>
            <a:pPr marL="457200" lvl="1" indent="0">
              <a:buNone/>
            </a:pPr>
            <a:r>
              <a:rPr lang="es-ES_tradnl" sz="2000" b="1" dirty="0"/>
              <a:t>Teorías de "</a:t>
            </a:r>
            <a:r>
              <a:rPr lang="es-ES_tradnl" sz="2000" b="1" dirty="0" err="1"/>
              <a:t>doing</a:t>
            </a:r>
            <a:r>
              <a:rPr lang="es-ES_tradnl" sz="2000" b="1" dirty="0"/>
              <a:t> </a:t>
            </a:r>
            <a:r>
              <a:rPr lang="es-ES_tradnl" sz="2000" b="1" dirty="0" err="1"/>
              <a:t>gender</a:t>
            </a:r>
            <a:r>
              <a:rPr lang="es-ES_tradnl" sz="2000" b="1" dirty="0"/>
              <a:t>”</a:t>
            </a:r>
          </a:p>
          <a:p>
            <a:pPr marL="742950" lvl="1" indent="-285750"/>
            <a:r>
              <a:rPr lang="es-ES_tradnl" sz="2000" dirty="0"/>
              <a:t>El género es algo que "hacemos", no que "somos" (West &amp; Zimmerman 1987). </a:t>
            </a:r>
          </a:p>
          <a:p>
            <a:pPr marL="742950" lvl="1" indent="-285750"/>
            <a:r>
              <a:rPr lang="es-ES_tradnl" sz="2000" dirty="0"/>
              <a:t>Tenemos la presión de "actuar" nuestro género como se nos espera que lo hagamos. </a:t>
            </a:r>
          </a:p>
          <a:p>
            <a:pPr marL="742950" lvl="1" indent="-285750"/>
            <a:r>
              <a:rPr lang="es-ES_tradnl" sz="2000" dirty="0"/>
              <a:t>Conectado con la teoría de Butler de la performatividad.</a:t>
            </a:r>
          </a:p>
        </p:txBody>
      </p:sp>
    </p:spTree>
    <p:extLst>
      <p:ext uri="{BB962C8B-B14F-4D97-AF65-F5344CB8AC3E}">
        <p14:creationId xmlns:p14="http://schemas.microsoft.com/office/powerpoint/2010/main" val="2548075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71064-CDE9-8B05-698D-E1A7F24C03C5}"/>
              </a:ext>
            </a:extLst>
          </p:cNvPr>
          <p:cNvSpPr>
            <a:spLocks noGrp="1"/>
          </p:cNvSpPr>
          <p:nvPr>
            <p:ph type="title"/>
          </p:nvPr>
        </p:nvSpPr>
        <p:spPr/>
        <p:txBody>
          <a:bodyPr/>
          <a:lstStyle/>
          <a:p>
            <a:r>
              <a:rPr lang="es-ES_tradnl" dirty="0"/>
              <a:t>4. Hacia una comprensión social del género</a:t>
            </a:r>
          </a:p>
        </p:txBody>
      </p:sp>
      <p:sp>
        <p:nvSpPr>
          <p:cNvPr id="3" name="Content Placeholder 2">
            <a:extLst>
              <a:ext uri="{FF2B5EF4-FFF2-40B4-BE49-F238E27FC236}">
                <a16:creationId xmlns:a16="http://schemas.microsoft.com/office/drawing/2014/main" id="{C56DF775-593E-00FD-615A-C17E3249A5CA}"/>
              </a:ext>
            </a:extLst>
          </p:cNvPr>
          <p:cNvSpPr>
            <a:spLocks noGrp="1"/>
          </p:cNvSpPr>
          <p:nvPr>
            <p:ph idx="1"/>
          </p:nvPr>
        </p:nvSpPr>
        <p:spPr>
          <a:xfrm>
            <a:off x="152399" y="2355272"/>
            <a:ext cx="10557164" cy="4364182"/>
          </a:xfrm>
        </p:spPr>
        <p:txBody>
          <a:bodyPr>
            <a:normAutofit/>
          </a:bodyPr>
          <a:lstStyle/>
          <a:p>
            <a:pPr marL="457200" lvl="1" indent="0">
              <a:buNone/>
            </a:pPr>
            <a:r>
              <a:rPr lang="es-ES_tradnl" b="1" dirty="0"/>
              <a:t>Teorías estructurales</a:t>
            </a:r>
          </a:p>
          <a:p>
            <a:pPr marL="742950" lvl="1" indent="-285750"/>
            <a:r>
              <a:rPr lang="es-ES_tradnl" sz="1900" dirty="0"/>
              <a:t>Nacen de las primeras explicaciones estructurales a las diferencias de género en el trabajo (Kanter 1977). </a:t>
            </a:r>
          </a:p>
          <a:p>
            <a:pPr marL="1200150" lvl="2" indent="-285750">
              <a:buFont typeface="Arial" panose="020B0604020202020204" pitchFamily="34" charset="0"/>
              <a:buChar char="•"/>
            </a:pPr>
            <a:r>
              <a:rPr lang="es-ES_tradnl" sz="1700" dirty="0"/>
              <a:t>La desigualdad no se explica por diferencias de personalidad (preferencias, estilos, habilidades) si no de las </a:t>
            </a:r>
            <a:r>
              <a:rPr lang="es-ES_tradnl" sz="1700" b="1" dirty="0"/>
              <a:t>oportunidades disponibles a hombres y mujeres, el poder masculino, la segregación de grupos.</a:t>
            </a:r>
          </a:p>
          <a:p>
            <a:pPr marL="1200150" lvl="2" indent="-285750">
              <a:buFont typeface="Arial" panose="020B0604020202020204" pitchFamily="34" charset="0"/>
              <a:buChar char="•"/>
            </a:pPr>
            <a:r>
              <a:rPr lang="es-ES_tradnl" sz="1800" dirty="0"/>
              <a:t>Las mismas condiciones estructurales generan comportamientos similares entre hombres y mujeres, pero hombres y mujeres rara vez tienen permitido realizar los mismos roles sociales.</a:t>
            </a:r>
            <a:endParaRPr lang="es-ES_tradnl" sz="1700" b="1" dirty="0"/>
          </a:p>
          <a:p>
            <a:pPr marL="742950" lvl="1" indent="-285750"/>
            <a:r>
              <a:rPr lang="es-ES_tradnl" sz="1900" dirty="0"/>
              <a:t>Al avanzar la investigación, apoyo a la idea de que los aspectos estructurales son importantes y a veces más importantes que los aspectos individuales</a:t>
            </a:r>
            <a:r>
              <a:rPr lang="es-ES_tradnl" sz="1900" b="1" dirty="0"/>
              <a:t>, pero no son la única explicación</a:t>
            </a:r>
            <a:r>
              <a:rPr lang="es-ES_tradnl" sz="1900" dirty="0"/>
              <a:t>.</a:t>
            </a:r>
          </a:p>
        </p:txBody>
      </p:sp>
    </p:spTree>
    <p:extLst>
      <p:ext uri="{BB962C8B-B14F-4D97-AF65-F5344CB8AC3E}">
        <p14:creationId xmlns:p14="http://schemas.microsoft.com/office/powerpoint/2010/main" val="1851622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B6F91-4C4B-6C6C-602C-9D8B009737A9}"/>
              </a:ext>
            </a:extLst>
          </p:cNvPr>
          <p:cNvSpPr>
            <a:spLocks noGrp="1"/>
          </p:cNvSpPr>
          <p:nvPr>
            <p:ph type="title"/>
          </p:nvPr>
        </p:nvSpPr>
        <p:spPr>
          <a:xfrm>
            <a:off x="525717" y="787068"/>
            <a:ext cx="5566263" cy="1455091"/>
          </a:xfrm>
        </p:spPr>
        <p:txBody>
          <a:bodyPr>
            <a:normAutofit/>
          </a:bodyPr>
          <a:lstStyle/>
          <a:p>
            <a:r>
              <a:rPr lang="es-ES_tradnl" dirty="0"/>
              <a:t>5. Crítica al feminismo blanco/privilegiado</a:t>
            </a:r>
          </a:p>
        </p:txBody>
      </p:sp>
      <p:graphicFrame>
        <p:nvGraphicFramePr>
          <p:cNvPr id="9" name="Content Placeholder 2">
            <a:extLst>
              <a:ext uri="{FF2B5EF4-FFF2-40B4-BE49-F238E27FC236}">
                <a16:creationId xmlns:a16="http://schemas.microsoft.com/office/drawing/2014/main" id="{64EF398C-622C-B426-CDB0-1A1F2DC5F57B}"/>
              </a:ext>
            </a:extLst>
          </p:cNvPr>
          <p:cNvGraphicFramePr>
            <a:graphicFrameLocks noGrp="1"/>
          </p:cNvGraphicFramePr>
          <p:nvPr>
            <p:ph idx="1"/>
          </p:nvPr>
        </p:nvGraphicFramePr>
        <p:xfrm>
          <a:off x="525717" y="3964827"/>
          <a:ext cx="6484683" cy="32745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ounded Rectangular Callout 5">
            <a:extLst>
              <a:ext uri="{FF2B5EF4-FFF2-40B4-BE49-F238E27FC236}">
                <a16:creationId xmlns:a16="http://schemas.microsoft.com/office/drawing/2014/main" id="{897079EC-A1E8-3998-6542-C1A66779E3FE}"/>
              </a:ext>
            </a:extLst>
          </p:cNvPr>
          <p:cNvSpPr/>
          <p:nvPr/>
        </p:nvSpPr>
        <p:spPr>
          <a:xfrm>
            <a:off x="542373" y="2568189"/>
            <a:ext cx="5566263" cy="1372101"/>
          </a:xfrm>
          <a:prstGeom prst="wedgeRoundRectCallout">
            <a:avLst>
              <a:gd name="adj1" fmla="val -21372"/>
              <a:gd name="adj2" fmla="val 6579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”la </a:t>
            </a:r>
            <a:r>
              <a:rPr lang="en-US" sz="1800" dirty="0" err="1"/>
              <a:t>priorización</a:t>
            </a:r>
            <a:r>
              <a:rPr lang="en-US" sz="1800" dirty="0"/>
              <a:t> del </a:t>
            </a:r>
            <a:r>
              <a:rPr lang="en-US" sz="1800" dirty="0" err="1"/>
              <a:t>género</a:t>
            </a:r>
            <a:r>
              <a:rPr lang="en-US" sz="1800" dirty="0"/>
              <a:t> </a:t>
            </a:r>
            <a:r>
              <a:rPr lang="en-US" sz="1800" dirty="0" err="1"/>
              <a:t>sobre</a:t>
            </a:r>
            <a:r>
              <a:rPr lang="en-US" sz="1800" dirty="0"/>
              <a:t> </a:t>
            </a:r>
            <a:r>
              <a:rPr lang="en-US" sz="1800" dirty="0" err="1"/>
              <a:t>otras</a:t>
            </a:r>
            <a:r>
              <a:rPr lang="en-US" sz="1800" dirty="0"/>
              <a:t> </a:t>
            </a:r>
            <a:r>
              <a:rPr lang="en-US" sz="1800" dirty="0" err="1"/>
              <a:t>identidades</a:t>
            </a:r>
            <a:r>
              <a:rPr lang="en-US" sz="1800" dirty="0"/>
              <a:t> y </a:t>
            </a:r>
            <a:r>
              <a:rPr lang="en-US" sz="1800" dirty="0" err="1"/>
              <a:t>formas</a:t>
            </a:r>
            <a:r>
              <a:rPr lang="en-US" sz="1800" dirty="0"/>
              <a:t> de </a:t>
            </a:r>
            <a:r>
              <a:rPr lang="en-US" sz="1800" dirty="0" err="1"/>
              <a:t>opresión</a:t>
            </a:r>
            <a:r>
              <a:rPr lang="en-US" sz="1800" dirty="0"/>
              <a:t> </a:t>
            </a:r>
            <a:r>
              <a:rPr lang="en-US" sz="1800" dirty="0" err="1"/>
              <a:t>sólo</a:t>
            </a:r>
            <a:r>
              <a:rPr lang="en-US" sz="1800" dirty="0"/>
              <a:t> </a:t>
            </a:r>
            <a:r>
              <a:rPr lang="en-US" sz="1800" dirty="0" err="1"/>
              <a:t>reproducía</a:t>
            </a:r>
            <a:r>
              <a:rPr lang="en-US" sz="1800" dirty="0"/>
              <a:t> </a:t>
            </a:r>
            <a:r>
              <a:rPr lang="en-US" sz="1800" dirty="0" err="1"/>
              <a:t>jerarquías</a:t>
            </a:r>
            <a:r>
              <a:rPr lang="en-US" sz="1800" dirty="0"/>
              <a:t> de </a:t>
            </a:r>
            <a:r>
              <a:rPr lang="en-US" sz="1800" dirty="0" err="1"/>
              <a:t>poder</a:t>
            </a:r>
            <a:r>
              <a:rPr lang="en-US" sz="1800" dirty="0"/>
              <a:t> </a:t>
            </a:r>
            <a:r>
              <a:rPr lang="en-US" sz="1800" dirty="0" err="1"/>
              <a:t>racistas</a:t>
            </a:r>
            <a:r>
              <a:rPr lang="en-US" sz="1800" dirty="0"/>
              <a:t>, </a:t>
            </a:r>
            <a:r>
              <a:rPr lang="en-US" sz="1800" dirty="0" err="1"/>
              <a:t>heterosexistas</a:t>
            </a:r>
            <a:r>
              <a:rPr lang="en-US" sz="1800" dirty="0"/>
              <a:t> e </a:t>
            </a:r>
            <a:r>
              <a:rPr lang="en-US" sz="1800" dirty="0" err="1"/>
              <a:t>imperialistas</a:t>
            </a:r>
            <a:r>
              <a:rPr lang="en-US" sz="1800" dirty="0"/>
              <a:t>” </a:t>
            </a:r>
            <a:r>
              <a:rPr lang="en-US" sz="1800" dirty="0" err="1"/>
              <a:t>Bokser</a:t>
            </a:r>
            <a:r>
              <a:rPr lang="en-US" sz="1800" dirty="0"/>
              <a:t> Misses-</a:t>
            </a:r>
            <a:r>
              <a:rPr lang="en-US" sz="1800" dirty="0" err="1"/>
              <a:t>Liwerant</a:t>
            </a:r>
            <a:r>
              <a:rPr lang="en-US" sz="1800" dirty="0"/>
              <a:t> (2020)</a:t>
            </a:r>
          </a:p>
          <a:p>
            <a:pPr algn="ctr"/>
            <a:endParaRPr lang="es-ES_tradnl" dirty="0"/>
          </a:p>
        </p:txBody>
      </p:sp>
      <p:pic>
        <p:nvPicPr>
          <p:cNvPr id="10" name="Picture 9" descr="A group of people holding signs&#10;&#10;Description automatically generated">
            <a:extLst>
              <a:ext uri="{FF2B5EF4-FFF2-40B4-BE49-F238E27FC236}">
                <a16:creationId xmlns:a16="http://schemas.microsoft.com/office/drawing/2014/main" id="{D1C3435D-E53C-BD11-07D7-65C13258E828}"/>
              </a:ext>
            </a:extLst>
          </p:cNvPr>
          <p:cNvPicPr>
            <a:picLocks noChangeAspect="1"/>
          </p:cNvPicPr>
          <p:nvPr/>
        </p:nvPicPr>
        <p:blipFill>
          <a:blip r:embed="rId8"/>
          <a:stretch>
            <a:fillRect/>
          </a:stretch>
        </p:blipFill>
        <p:spPr>
          <a:xfrm>
            <a:off x="7327299" y="3348741"/>
            <a:ext cx="4338984" cy="3254239"/>
          </a:xfrm>
          <a:prstGeom prst="rect">
            <a:avLst/>
          </a:prstGeom>
        </p:spPr>
      </p:pic>
      <p:pic>
        <p:nvPicPr>
          <p:cNvPr id="13" name="Picture 12" descr="A wall with graffiti on it&#10;&#10;Description automatically generated">
            <a:extLst>
              <a:ext uri="{FF2B5EF4-FFF2-40B4-BE49-F238E27FC236}">
                <a16:creationId xmlns:a16="http://schemas.microsoft.com/office/drawing/2014/main" id="{52452A68-F3A2-4FB3-6A47-6DFF13C13A49}"/>
              </a:ext>
            </a:extLst>
          </p:cNvPr>
          <p:cNvPicPr>
            <a:picLocks noChangeAspect="1"/>
          </p:cNvPicPr>
          <p:nvPr/>
        </p:nvPicPr>
        <p:blipFill>
          <a:blip r:embed="rId9"/>
          <a:stretch>
            <a:fillRect/>
          </a:stretch>
        </p:blipFill>
        <p:spPr>
          <a:xfrm>
            <a:off x="7010400" y="895934"/>
            <a:ext cx="5118977" cy="2207559"/>
          </a:xfrm>
          <a:prstGeom prst="rect">
            <a:avLst/>
          </a:prstGeom>
        </p:spPr>
      </p:pic>
    </p:spTree>
    <p:extLst>
      <p:ext uri="{BB962C8B-B14F-4D97-AF65-F5344CB8AC3E}">
        <p14:creationId xmlns:p14="http://schemas.microsoft.com/office/powerpoint/2010/main" val="198894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A544E-B6F5-0376-189A-4A4108B2D621}"/>
              </a:ext>
            </a:extLst>
          </p:cNvPr>
          <p:cNvSpPr>
            <a:spLocks noGrp="1"/>
          </p:cNvSpPr>
          <p:nvPr>
            <p:ph type="title"/>
          </p:nvPr>
        </p:nvSpPr>
        <p:spPr>
          <a:xfrm>
            <a:off x="525717" y="620813"/>
            <a:ext cx="10077557" cy="1325563"/>
          </a:xfrm>
        </p:spPr>
        <p:txBody>
          <a:bodyPr/>
          <a:lstStyle/>
          <a:p>
            <a:r>
              <a:rPr lang="es-ES_tradnl" dirty="0"/>
              <a:t>6. Siglo 21</a:t>
            </a:r>
          </a:p>
        </p:txBody>
      </p:sp>
      <p:sp>
        <p:nvSpPr>
          <p:cNvPr id="3" name="Content Placeholder 2">
            <a:extLst>
              <a:ext uri="{FF2B5EF4-FFF2-40B4-BE49-F238E27FC236}">
                <a16:creationId xmlns:a16="http://schemas.microsoft.com/office/drawing/2014/main" id="{0A9570C9-2E3B-BB3C-DCAF-5B60C39E5B7F}"/>
              </a:ext>
            </a:extLst>
          </p:cNvPr>
          <p:cNvSpPr>
            <a:spLocks noGrp="1"/>
          </p:cNvSpPr>
          <p:nvPr>
            <p:ph idx="1"/>
          </p:nvPr>
        </p:nvSpPr>
        <p:spPr>
          <a:xfrm>
            <a:off x="525717" y="2521885"/>
            <a:ext cx="10077557" cy="3878915"/>
          </a:xfrm>
        </p:spPr>
        <p:txBody>
          <a:bodyPr>
            <a:normAutofit lnSpcReduction="10000"/>
          </a:bodyPr>
          <a:lstStyle/>
          <a:p>
            <a:pPr marL="800100" indent="-342900">
              <a:buFont typeface="Arial" panose="020B0604020202020204" pitchFamily="34" charset="0"/>
              <a:buChar char="•"/>
            </a:pPr>
            <a:r>
              <a:rPr lang="es-ES_tradnl" b="1" dirty="0"/>
              <a:t>Expectativas de status </a:t>
            </a:r>
            <a:r>
              <a:rPr lang="es-ES_tradnl" dirty="0"/>
              <a:t>enmarcan el género: genero enmarca lo que vemos, cómo categorizamos a las personas de manera inconsciente y cómo reaccionamos a ellas. </a:t>
            </a:r>
          </a:p>
          <a:p>
            <a:pPr marL="800100" indent="-342900">
              <a:buFont typeface="Arial" panose="020B0604020202020204" pitchFamily="34" charset="0"/>
              <a:buChar char="•"/>
            </a:pPr>
            <a:r>
              <a:rPr lang="es-ES_tradnl" b="1" dirty="0"/>
              <a:t>Lógicas culturales</a:t>
            </a:r>
          </a:p>
          <a:p>
            <a:pPr marL="1257300" lvl="2" indent="-342900">
              <a:buFont typeface="Arial" panose="020B0604020202020204" pitchFamily="34" charset="0"/>
              <a:buChar char="•"/>
            </a:pPr>
            <a:r>
              <a:rPr lang="es-ES_tradnl" sz="1800" dirty="0" err="1"/>
              <a:t>Ej</a:t>
            </a:r>
            <a:r>
              <a:rPr lang="es-ES_tradnl" sz="1800" dirty="0"/>
              <a:t>: Las estructuras organizacionales no son neutras. El género está inscrito en el diseño de las organizaciones, la definición de lo que es un trabajo y la jerarquía. </a:t>
            </a:r>
          </a:p>
          <a:p>
            <a:pPr marL="800100" indent="-342900">
              <a:buFont typeface="Arial" panose="020B0604020202020204" pitchFamily="34" charset="0"/>
              <a:buChar char="•"/>
            </a:pPr>
            <a:r>
              <a:rPr lang="es-ES_tradnl" b="1" dirty="0"/>
              <a:t>Teorías queer de género</a:t>
            </a:r>
            <a:r>
              <a:rPr lang="es-ES_tradnl" dirty="0"/>
              <a:t>: desafía las ideas binarias que suponen las teorías de genero al problematizar el privilegio masculino. Trae la sexualidad al centro, la heteronormatividad esta mezclada con la desigualdad de género. </a:t>
            </a:r>
          </a:p>
          <a:p>
            <a:pPr marL="1257300" lvl="2" indent="-342900">
              <a:buFont typeface="Arial" panose="020B0604020202020204" pitchFamily="34" charset="0"/>
              <a:buChar char="•"/>
            </a:pPr>
            <a:r>
              <a:rPr lang="es-ES_tradnl" sz="1800" dirty="0"/>
              <a:t>Importantes estudios de personas trans que ha desafiado la consistencia entre sexo asignado al nacer, género y sexualidad.</a:t>
            </a:r>
          </a:p>
        </p:txBody>
      </p:sp>
    </p:spTree>
    <p:extLst>
      <p:ext uri="{BB962C8B-B14F-4D97-AF65-F5344CB8AC3E}">
        <p14:creationId xmlns:p14="http://schemas.microsoft.com/office/powerpoint/2010/main" val="4049135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DAC39-D84B-08B0-091A-06A099F379A9}"/>
              </a:ext>
            </a:extLst>
          </p:cNvPr>
          <p:cNvSpPr>
            <a:spLocks noGrp="1"/>
          </p:cNvSpPr>
          <p:nvPr>
            <p:ph type="title"/>
          </p:nvPr>
        </p:nvSpPr>
        <p:spPr>
          <a:xfrm>
            <a:off x="525717" y="787068"/>
            <a:ext cx="10077557" cy="4242132"/>
          </a:xfrm>
        </p:spPr>
        <p:txBody>
          <a:bodyPr>
            <a:normAutofit/>
          </a:bodyPr>
          <a:lstStyle/>
          <a:p>
            <a:pPr algn="ctr"/>
            <a:r>
              <a:rPr lang="es-ES_tradnl" sz="5400" dirty="0"/>
              <a:t>¿Qué es el género?</a:t>
            </a:r>
            <a:br>
              <a:rPr lang="es-ES_tradnl" dirty="0"/>
            </a:br>
            <a:br>
              <a:rPr lang="es-ES_tradnl" dirty="0"/>
            </a:br>
            <a:br>
              <a:rPr lang="es-ES_tradnl" dirty="0"/>
            </a:br>
            <a:r>
              <a:rPr lang="es-ES_tradnl" dirty="0"/>
              <a:t>Responde en </a:t>
            </a:r>
            <a:r>
              <a:rPr lang="es-ES_tradnl" dirty="0" err="1"/>
              <a:t>Wooclap</a:t>
            </a:r>
            <a:r>
              <a:rPr lang="es-ES_tradnl" dirty="0"/>
              <a:t>.</a:t>
            </a:r>
          </a:p>
        </p:txBody>
      </p:sp>
    </p:spTree>
    <p:extLst>
      <p:ext uri="{BB962C8B-B14F-4D97-AF65-F5344CB8AC3E}">
        <p14:creationId xmlns:p14="http://schemas.microsoft.com/office/powerpoint/2010/main" val="4067400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4BB9-55BA-F053-EC2C-CD0C88B420AA}"/>
              </a:ext>
            </a:extLst>
          </p:cNvPr>
          <p:cNvSpPr>
            <a:spLocks noGrp="1"/>
          </p:cNvSpPr>
          <p:nvPr>
            <p:ph type="title"/>
          </p:nvPr>
        </p:nvSpPr>
        <p:spPr/>
        <p:txBody>
          <a:bodyPr/>
          <a:lstStyle/>
          <a:p>
            <a:r>
              <a:rPr lang="es-ES_tradnl" dirty="0"/>
              <a:t>Consenso (siempre en construcción)</a:t>
            </a:r>
          </a:p>
        </p:txBody>
      </p:sp>
      <p:sp>
        <p:nvSpPr>
          <p:cNvPr id="3" name="Content Placeholder 2">
            <a:extLst>
              <a:ext uri="{FF2B5EF4-FFF2-40B4-BE49-F238E27FC236}">
                <a16:creationId xmlns:a16="http://schemas.microsoft.com/office/drawing/2014/main" id="{2AC1373C-754E-B544-9C61-229EB1C25030}"/>
              </a:ext>
            </a:extLst>
          </p:cNvPr>
          <p:cNvSpPr>
            <a:spLocks noGrp="1"/>
          </p:cNvSpPr>
          <p:nvPr>
            <p:ph idx="1"/>
          </p:nvPr>
        </p:nvSpPr>
        <p:spPr/>
        <p:txBody>
          <a:bodyPr>
            <a:normAutofit/>
          </a:bodyPr>
          <a:lstStyle/>
          <a:p>
            <a:r>
              <a:rPr lang="es-ES_tradnl" sz="2400" dirty="0"/>
              <a:t>El género es un </a:t>
            </a:r>
            <a:r>
              <a:rPr lang="es-ES_tradnl" sz="2400" b="1" dirty="0"/>
              <a:t>sistema</a:t>
            </a:r>
            <a:r>
              <a:rPr lang="es-ES_tradnl" sz="2400" dirty="0"/>
              <a:t> de estratificación que va más allá de las características individuales y que varía a lo largo de diferentes ejes de desigualdad, como la sexualidad, raza/etnia, clase social, nacionalidad, entre otras. </a:t>
            </a:r>
          </a:p>
          <a:p>
            <a:r>
              <a:rPr lang="es-ES_tradnl" sz="2400" dirty="0"/>
              <a:t>El género es un sistema social que restringe y motiva patrones de comportamiento y genera desigualdades. Es sobre la distribución de poder, propiedad y prestigio. </a:t>
            </a:r>
          </a:p>
        </p:txBody>
      </p:sp>
    </p:spTree>
    <p:extLst>
      <p:ext uri="{BB962C8B-B14F-4D97-AF65-F5344CB8AC3E}">
        <p14:creationId xmlns:p14="http://schemas.microsoft.com/office/powerpoint/2010/main" val="60542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63EE3-363A-DA8C-44D6-48246EAB5B28}"/>
              </a:ext>
            </a:extLst>
          </p:cNvPr>
          <p:cNvSpPr>
            <a:spLocks noGrp="1"/>
          </p:cNvSpPr>
          <p:nvPr>
            <p:ph type="title"/>
          </p:nvPr>
        </p:nvSpPr>
        <p:spPr/>
        <p:txBody>
          <a:bodyPr>
            <a:normAutofit/>
          </a:bodyPr>
          <a:lstStyle/>
          <a:p>
            <a:r>
              <a:rPr lang="es-ES_tradnl" dirty="0"/>
              <a:t>Próxima semana</a:t>
            </a:r>
          </a:p>
        </p:txBody>
      </p:sp>
      <p:sp>
        <p:nvSpPr>
          <p:cNvPr id="3" name="Content Placeholder 2">
            <a:extLst>
              <a:ext uri="{FF2B5EF4-FFF2-40B4-BE49-F238E27FC236}">
                <a16:creationId xmlns:a16="http://schemas.microsoft.com/office/drawing/2014/main" id="{538C295D-0C7E-23F7-EB05-B80577072129}"/>
              </a:ext>
            </a:extLst>
          </p:cNvPr>
          <p:cNvSpPr>
            <a:spLocks noGrp="1"/>
          </p:cNvSpPr>
          <p:nvPr>
            <p:ph idx="1"/>
          </p:nvPr>
        </p:nvSpPr>
        <p:spPr>
          <a:xfrm>
            <a:off x="267027" y="2396836"/>
            <a:ext cx="10802755" cy="4197927"/>
          </a:xfrm>
        </p:spPr>
        <p:txBody>
          <a:bodyPr>
            <a:normAutofit/>
          </a:bodyPr>
          <a:lstStyle/>
          <a:p>
            <a:pPr lvl="1" indent="0">
              <a:spcBef>
                <a:spcPts val="1000"/>
              </a:spcBef>
              <a:spcAft>
                <a:spcPts val="600"/>
              </a:spcAft>
              <a:buNone/>
            </a:pPr>
            <a:r>
              <a:rPr lang="en-US" sz="2400" dirty="0" err="1"/>
              <a:t>Conceptos</a:t>
            </a:r>
            <a:r>
              <a:rPr lang="en-US" sz="2400" dirty="0"/>
              <a:t> </a:t>
            </a:r>
            <a:r>
              <a:rPr lang="en-US" sz="2400" dirty="0" err="1"/>
              <a:t>fundamentales</a:t>
            </a:r>
            <a:r>
              <a:rPr lang="en-US" sz="2400" dirty="0"/>
              <a:t>: </a:t>
            </a:r>
            <a:r>
              <a:rPr lang="en-US" sz="2400" dirty="0" err="1"/>
              <a:t>Binarismo</a:t>
            </a:r>
            <a:r>
              <a:rPr lang="en-US" sz="2400" dirty="0"/>
              <a:t>, </a:t>
            </a:r>
            <a:r>
              <a:rPr lang="en-US" sz="2400" dirty="0" err="1"/>
              <a:t>esencialismo</a:t>
            </a:r>
            <a:r>
              <a:rPr lang="en-US" sz="2400" dirty="0"/>
              <a:t> y </a:t>
            </a:r>
            <a:r>
              <a:rPr lang="en-US" sz="2400" dirty="0" err="1"/>
              <a:t>patriarcado</a:t>
            </a:r>
            <a:r>
              <a:rPr lang="en-US" sz="2400" dirty="0"/>
              <a:t>.</a:t>
            </a:r>
          </a:p>
          <a:p>
            <a:pPr lvl="1" indent="0">
              <a:spcBef>
                <a:spcPts val="1000"/>
              </a:spcBef>
              <a:spcAft>
                <a:spcPts val="600"/>
              </a:spcAft>
              <a:buNone/>
            </a:pPr>
            <a:r>
              <a:rPr lang="en-US" sz="2400" b="1" dirty="0" err="1"/>
              <a:t>Lecturas</a:t>
            </a:r>
            <a:r>
              <a:rPr lang="en-US" sz="2400" b="1" dirty="0"/>
              <a:t> </a:t>
            </a:r>
            <a:r>
              <a:rPr lang="en-US" sz="2400" b="1" dirty="0" err="1"/>
              <a:t>mínimas</a:t>
            </a:r>
            <a:r>
              <a:rPr lang="en-US" sz="2400" b="1" dirty="0"/>
              <a:t>:</a:t>
            </a:r>
          </a:p>
          <a:p>
            <a:pPr lvl="1" indent="0">
              <a:spcBef>
                <a:spcPts val="1000"/>
              </a:spcBef>
              <a:spcAft>
                <a:spcPts val="600"/>
              </a:spcAft>
              <a:buNone/>
            </a:pPr>
            <a:r>
              <a:rPr lang="en-US" sz="2400" dirty="0"/>
              <a:t>Connell - "The Question of Gender” pp. 9-18</a:t>
            </a:r>
            <a:endParaRPr lang="en-US" sz="2400" b="1" dirty="0"/>
          </a:p>
          <a:p>
            <a:pPr lvl="1" indent="0">
              <a:spcBef>
                <a:spcPts val="1000"/>
              </a:spcBef>
              <a:spcAft>
                <a:spcPts val="600"/>
              </a:spcAft>
              <a:buNone/>
            </a:pPr>
            <a:r>
              <a:rPr lang="en-US" sz="2400" dirty="0"/>
              <a:t>Human Rights Watch. 2018. </a:t>
            </a:r>
            <a:r>
              <a:rPr lang="en-US" sz="2400" dirty="0" err="1"/>
              <a:t>Acabar</a:t>
            </a:r>
            <a:r>
              <a:rPr lang="en-US" sz="2400" dirty="0"/>
              <a:t> con la </a:t>
            </a:r>
            <a:r>
              <a:rPr lang="en-US" sz="2400" dirty="0" err="1"/>
              <a:t>alteración</a:t>
            </a:r>
            <a:r>
              <a:rPr lang="en-US" sz="2400" dirty="0"/>
              <a:t> intersexual. </a:t>
            </a:r>
          </a:p>
          <a:p>
            <a:pPr lvl="1" indent="0">
              <a:spcBef>
                <a:spcPts val="1000"/>
              </a:spcBef>
              <a:spcAft>
                <a:spcPts val="600"/>
              </a:spcAft>
              <a:buNone/>
            </a:pPr>
            <a:r>
              <a:rPr lang="en-US" sz="2400" dirty="0"/>
              <a:t>Compton &amp; Bridges (2013). "On Queering Parenting and Gender-Neutrality”.</a:t>
            </a:r>
            <a:endParaRPr lang="en-US" sz="2400" b="1" dirty="0"/>
          </a:p>
          <a:p>
            <a:pPr lvl="1" indent="0">
              <a:spcBef>
                <a:spcPts val="1000"/>
              </a:spcBef>
              <a:spcAft>
                <a:spcPts val="600"/>
              </a:spcAft>
              <a:buNone/>
            </a:pPr>
            <a:endParaRPr lang="en-US" sz="2400" b="1" dirty="0"/>
          </a:p>
        </p:txBody>
      </p:sp>
    </p:spTree>
    <p:extLst>
      <p:ext uri="{BB962C8B-B14F-4D97-AF65-F5344CB8AC3E}">
        <p14:creationId xmlns:p14="http://schemas.microsoft.com/office/powerpoint/2010/main" val="28541578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49aaf32d-47fa-4b67-9d2e-19b4ec34f820"/>
  <p:tag name="SLIDO_EVENT_SECTION_UUID" val="95952c9d-73cb-4153-9248-57bc65f837fd"/>
</p:tagLst>
</file>

<file path=ppt/theme/theme1.xml><?xml version="1.0" encoding="utf-8"?>
<a:theme xmlns:a="http://schemas.openxmlformats.org/drawingml/2006/main" name="RocaVTI">
  <a:themeElements>
    <a:clrScheme name="AnalogousFromLightSeedLeftStep">
      <a:dk1>
        <a:srgbClr val="000000"/>
      </a:dk1>
      <a:lt1>
        <a:srgbClr val="FFFFFF"/>
      </a:lt1>
      <a:dk2>
        <a:srgbClr val="242741"/>
      </a:dk2>
      <a:lt2>
        <a:srgbClr val="E6E2E8"/>
      </a:lt2>
      <a:accent1>
        <a:srgbClr val="89AB74"/>
      </a:accent1>
      <a:accent2>
        <a:srgbClr val="9AA862"/>
      </a:accent2>
      <a:accent3>
        <a:srgbClr val="ADA175"/>
      </a:accent3>
      <a:accent4>
        <a:srgbClr val="C59173"/>
      </a:accent4>
      <a:accent5>
        <a:srgbClr val="D08D90"/>
      </a:accent5>
      <a:accent6>
        <a:srgbClr val="C5739A"/>
      </a:accent6>
      <a:hlink>
        <a:srgbClr val="9469AE"/>
      </a:hlink>
      <a:folHlink>
        <a:srgbClr val="7F7F7F"/>
      </a:folHlink>
    </a:clrScheme>
    <a:fontScheme name="Custom 36">
      <a:majorFont>
        <a:latin typeface="Georgia Pro Semi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ocaVTI" id="{D79FE1D1-0489-4A69-8531-D0B8CDC31CBE}" vid="{CEBA7FE6-C04B-474E-964F-B022887AD1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16281</TotalTime>
  <Words>2716</Words>
  <Application>Microsoft Macintosh PowerPoint</Application>
  <PresentationFormat>Widescreen</PresentationFormat>
  <Paragraphs>231</Paragraphs>
  <Slides>30</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Avenir Next LT Pro</vt:lpstr>
      <vt:lpstr>Avenir Next LT Pro Light</vt:lpstr>
      <vt:lpstr>Calibri</vt:lpstr>
      <vt:lpstr>Georgia Pro Semibold</vt:lpstr>
      <vt:lpstr>RocaVTI</vt:lpstr>
      <vt:lpstr>Sociología del Género</vt:lpstr>
      <vt:lpstr>Plan de clase</vt:lpstr>
      <vt:lpstr>Un poco sobre mí</vt:lpstr>
      <vt:lpstr>Ayudantes</vt:lpstr>
      <vt:lpstr>Introducciones: 20 segundos!</vt:lpstr>
      <vt:lpstr>Hoja de ruta del curso</vt:lpstr>
      <vt:lpstr>Por favor revisar el programa en detalle</vt:lpstr>
      <vt:lpstr>Buenas prácticas</vt:lpstr>
      <vt:lpstr>Acuerdo de buenas prácticas: creando un ambiente seguro</vt:lpstr>
      <vt:lpstr>Sugerencias para la lectura de artículos científicos</vt:lpstr>
      <vt:lpstr>Sugerencias para la lectura de artículos científicos</vt:lpstr>
      <vt:lpstr>PowerPoint Presentation</vt:lpstr>
      <vt:lpstr>Actividad: Termómetro de la verdad</vt:lpstr>
      <vt:lpstr>PowerPoint Presentation</vt:lpstr>
      <vt:lpstr>Plenario</vt:lpstr>
      <vt:lpstr>¿Por qué una sociología del género?</vt:lpstr>
      <vt:lpstr>PowerPoint Presentation</vt:lpstr>
      <vt:lpstr>Crítica feminista a las ciencias sociales (Acker 1992; Ferree &amp; Hess 1987; Stacey &amp; Thorne 1985)</vt:lpstr>
      <vt:lpstr>Etapas en la investigación de género (Acker 1992; Bokser Misses-Liwerant (2020): Ferre &amp; Hess 1987; Risman 2018)</vt:lpstr>
      <vt:lpstr>Etapas en la investigación de género (Acker 1992; Ferre &amp; Hess 1987; Risman 2018)</vt:lpstr>
      <vt:lpstr>1. Diferencias entre sexos</vt:lpstr>
      <vt:lpstr>2. Sexo como rol (psicología)</vt:lpstr>
      <vt:lpstr>3. Género como respuesta a “sexo como rol”</vt:lpstr>
      <vt:lpstr>4. Hacia una comprensión social del género</vt:lpstr>
      <vt:lpstr>4. Hacia una comprensión social del género</vt:lpstr>
      <vt:lpstr>5. Crítica al feminismo blanco/privilegiado</vt:lpstr>
      <vt:lpstr>6. Siglo 21</vt:lpstr>
      <vt:lpstr>¿Qué es el género?   Responde en Wooclap.</vt:lpstr>
      <vt:lpstr>Consenso (siempre en construcción)</vt:lpstr>
      <vt:lpstr>Próxima semana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Sociología del Género</dc:title>
  <dc:creator>Cabello-Hutt, Tania</dc:creator>
  <cp:lastModifiedBy>Tania Hutt</cp:lastModifiedBy>
  <cp:revision>30</cp:revision>
  <cp:lastPrinted>2024-03-12T15:22:39Z</cp:lastPrinted>
  <dcterms:created xsi:type="dcterms:W3CDTF">2023-10-10T15:39:50Z</dcterms:created>
  <dcterms:modified xsi:type="dcterms:W3CDTF">2026-08-12T19:15:08Z</dcterms:modified>
</cp:coreProperties>
</file>